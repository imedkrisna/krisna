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80"/>
  </p:notesMasterIdLst>
  <p:handoutMasterIdLst>
    <p:handoutMasterId r:id="rId81"/>
  </p:handoutMasterIdLst>
  <p:sldIdLst>
    <p:sldId id="330" r:id="rId3"/>
    <p:sldId id="331" r:id="rId4"/>
    <p:sldId id="336" r:id="rId5"/>
    <p:sldId id="337" r:id="rId6"/>
    <p:sldId id="338" r:id="rId7"/>
    <p:sldId id="339" r:id="rId8"/>
    <p:sldId id="340" r:id="rId9"/>
    <p:sldId id="341" r:id="rId10"/>
    <p:sldId id="342" r:id="rId11"/>
    <p:sldId id="343" r:id="rId12"/>
    <p:sldId id="344" r:id="rId13"/>
    <p:sldId id="345" r:id="rId14"/>
    <p:sldId id="346" r:id="rId15"/>
    <p:sldId id="347" r:id="rId16"/>
    <p:sldId id="348" r:id="rId17"/>
    <p:sldId id="334" r:id="rId18"/>
    <p:sldId id="333" r:id="rId19"/>
    <p:sldId id="332" r:id="rId20"/>
    <p:sldId id="349" r:id="rId21"/>
    <p:sldId id="350" r:id="rId22"/>
    <p:sldId id="351" r:id="rId23"/>
    <p:sldId id="352" r:id="rId24"/>
    <p:sldId id="353" r:id="rId25"/>
    <p:sldId id="354" r:id="rId26"/>
    <p:sldId id="355" r:id="rId27"/>
    <p:sldId id="356" r:id="rId28"/>
    <p:sldId id="357" r:id="rId29"/>
    <p:sldId id="358" r:id="rId30"/>
    <p:sldId id="359" r:id="rId31"/>
    <p:sldId id="360" r:id="rId32"/>
    <p:sldId id="361" r:id="rId33"/>
    <p:sldId id="362" r:id="rId34"/>
    <p:sldId id="363" r:id="rId35"/>
    <p:sldId id="364" r:id="rId36"/>
    <p:sldId id="365" r:id="rId37"/>
    <p:sldId id="366" r:id="rId38"/>
    <p:sldId id="367" r:id="rId39"/>
    <p:sldId id="368" r:id="rId40"/>
    <p:sldId id="369" r:id="rId41"/>
    <p:sldId id="370" r:id="rId42"/>
    <p:sldId id="371" r:id="rId43"/>
    <p:sldId id="372" r:id="rId44"/>
    <p:sldId id="373" r:id="rId45"/>
    <p:sldId id="374" r:id="rId46"/>
    <p:sldId id="375" r:id="rId47"/>
    <p:sldId id="376" r:id="rId48"/>
    <p:sldId id="377" r:id="rId49"/>
    <p:sldId id="378" r:id="rId50"/>
    <p:sldId id="379" r:id="rId51"/>
    <p:sldId id="380" r:id="rId52"/>
    <p:sldId id="381" r:id="rId53"/>
    <p:sldId id="382" r:id="rId54"/>
    <p:sldId id="383" r:id="rId55"/>
    <p:sldId id="384" r:id="rId56"/>
    <p:sldId id="385" r:id="rId57"/>
    <p:sldId id="386" r:id="rId58"/>
    <p:sldId id="387" r:id="rId59"/>
    <p:sldId id="388" r:id="rId60"/>
    <p:sldId id="389" r:id="rId61"/>
    <p:sldId id="390" r:id="rId62"/>
    <p:sldId id="391" r:id="rId63"/>
    <p:sldId id="392" r:id="rId64"/>
    <p:sldId id="393" r:id="rId65"/>
    <p:sldId id="394" r:id="rId66"/>
    <p:sldId id="395" r:id="rId67"/>
    <p:sldId id="396" r:id="rId68"/>
    <p:sldId id="397" r:id="rId69"/>
    <p:sldId id="398" r:id="rId70"/>
    <p:sldId id="400" r:id="rId71"/>
    <p:sldId id="401" r:id="rId72"/>
    <p:sldId id="402" r:id="rId73"/>
    <p:sldId id="403" r:id="rId74"/>
    <p:sldId id="404" r:id="rId75"/>
    <p:sldId id="405" r:id="rId76"/>
    <p:sldId id="406" r:id="rId77"/>
    <p:sldId id="407" r:id="rId78"/>
    <p:sldId id="298" r:id="rId79"/>
  </p:sldIdLst>
  <p:sldSz cx="9144000" cy="6858000" type="screen4x3"/>
  <p:notesSz cx="6858000" cy="9144000"/>
  <p:embeddedFontLst>
    <p:embeddedFont>
      <p:font typeface="Noto Sans Symbols" panose="020B0604020202020204" charset="0"/>
      <p:regular r:id="rId82"/>
      <p:bold r:id="rId83"/>
      <p:italic r:id="rId84"/>
      <p:boldItalic r:id="rId85"/>
    </p:embeddedFont>
    <p:embeddedFont>
      <p:font typeface="Times" panose="02020603050405020304" pitchFamily="18" charset="0"/>
      <p:regular r:id="rId86"/>
      <p:bold r:id="rId87"/>
      <p:italic r:id="rId88"/>
      <p:boldItalic r:id="rId89"/>
    </p:embeddedFont>
    <p:embeddedFont>
      <p:font typeface="Verdana" panose="020B0604030504040204" pitchFamily="34" charset="0"/>
      <p:regular r:id="rId90"/>
      <p:bold r:id="rId91"/>
      <p:italic r:id="rId92"/>
      <p:boldItalic r:id="rId9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60" autoAdjust="0"/>
    <p:restoredTop sz="74971" autoAdjust="0"/>
  </p:normalViewPr>
  <p:slideViewPr>
    <p:cSldViewPr snapToGrid="0" snapToObjects="1">
      <p:cViewPr varScale="1">
        <p:scale>
          <a:sx n="82" d="100"/>
          <a:sy n="82" d="100"/>
        </p:scale>
        <p:origin x="2886" y="78"/>
      </p:cViewPr>
      <p:guideLst>
        <p:guide orient="horz" pos="3997"/>
        <p:guide pos="295"/>
        <p:guide orient="horz" pos="4178"/>
        <p:guide orient="horz" pos="119"/>
        <p:guide orient="horz" pos="709"/>
        <p:guide orient="horz" pos="1071"/>
        <p:guide pos="635"/>
      </p:guideLst>
    </p:cSldViewPr>
  </p:slideViewPr>
  <p:outlineViewPr>
    <p:cViewPr>
      <p:scale>
        <a:sx n="33" d="100"/>
        <a:sy n="33" d="100"/>
      </p:scale>
      <p:origin x="0" y="-5592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font" Target="fonts/font9.fntdata"/><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notesMaster" Target="notesMasters/notesMaster1.xml"/><Relationship Id="rId85"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handoutMaster" Target="handoutMasters/handoutMaster1.xml"/><Relationship Id="rId86" Type="http://schemas.openxmlformats.org/officeDocument/2006/relationships/font" Target="fonts/font5.fntdata"/><Relationship Id="rId9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1.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6.fntdata"/><Relationship Id="rId61" Type="http://schemas.openxmlformats.org/officeDocument/2006/relationships/slide" Target="slides/slide59.xml"/><Relationship Id="rId82"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12.fntdata"/><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7042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6574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of the aggregate demand function, D of E P star over P, Y minus T, I, and G, rises diagonally from the positive D-axis at an angle less than 45 degrees from the horizontal.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47479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92660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coordinate system has a vertical axis for exchange rate E in the foreign market, and the bottom coordinate system has a vertical axis for real domestic money holdings in the money market. In the bottom plane, the graph of the real money supply is horizontal at M super S over P. The money demand curve L of R and Y super 1 rises with decreasing steepness through the real money supply curve at point 1 where x = R super 1. In the top plane, the graph of domestic-currency return on foreign-currency deposits falls with decreasing steepness through point 1 prime at (R super 1, E super 1). As the output rises, the money demand curve shifts downward, forming the graph of L of R and Y super 2. This graph rises through point 2 at (R super 2, M super S over P). At x = R super 2, the domestic-currency return plot falls through point 2 prime, where y = E super 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53038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demand curve D = Y rises from the origin, and the initial aggregate demand curve E super 1 rises from the y-axis with a lesser slope, so that it intersects the plot for D = Y at point 1 where x = Y super 1. As currency depreciates, the aggregate demand curve shifts upward, forming the graph of aggregate demand for E super 2. The new curve intersects the plot of D + Y at point 2, where x = Y super 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0620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aggregate demand curve for E super 1 intersects the plot of D = Y at point 1, where x = Y super 1. The corresponding D </a:t>
            </a:r>
            <a:r>
              <a:rPr lang="en-US" dirty="0" err="1"/>
              <a:t>D</a:t>
            </a:r>
            <a:r>
              <a:rPr lang="en-US" dirty="0"/>
              <a:t> curve rises through point 1 at (Y super 1, E super 1). The initial aggregate demand curve then shifts upward to form the aggregate demand curve for E super 2. This curve intersects the plot of D = Y at point 2, which is up and right of point 1, where x = Y super 2. The corresponding D </a:t>
            </a:r>
            <a:r>
              <a:rPr lang="en-US" dirty="0" err="1"/>
              <a:t>D</a:t>
            </a:r>
            <a:r>
              <a:rPr lang="en-US" dirty="0"/>
              <a:t> curve rises through point 2 at (Y super 2, E super 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9427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aggregate demand curve D of E super 0 P star over P, Y minus T, I, and G super 1, rises through the plot for D = Y at x = Y super 1. The corresponding exchange rate curve D </a:t>
            </a:r>
            <a:r>
              <a:rPr lang="en-US" dirty="0" err="1"/>
              <a:t>D</a:t>
            </a:r>
            <a:r>
              <a:rPr lang="en-US" dirty="0"/>
              <a:t> super 1 rises through point 1 at (Y super 1, E super 0). As government spending rises, the initial aggregate demand curve shifts upward, forming the graph of D of E super 0 P star over P, Y minus T, I, and G super 2. This curve rises through the plot of D = Y at a point up and right of the first intersection, where x = Y super 2. Similarly, the D </a:t>
            </a:r>
            <a:r>
              <a:rPr lang="en-US" dirty="0" err="1"/>
              <a:t>D</a:t>
            </a:r>
            <a:r>
              <a:rPr lang="en-US" dirty="0"/>
              <a:t> super 1 curve shifts rightward to form the D </a:t>
            </a:r>
            <a:r>
              <a:rPr lang="en-US" dirty="0" err="1"/>
              <a:t>D</a:t>
            </a:r>
            <a:r>
              <a:rPr lang="en-US" dirty="0"/>
              <a:t> super 2 curve, which rises through point 2 at (Y super 2, E super 0).</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3480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coordinate system has a vertical axis for exchange rate E in the foreign market, and the bottom coordinate system has a vertical axis for real domestic money holdings in the money market. In the bottom plane, the graph of the real money supply is horizontal at M super S over P. The money demand curve L of R and Y super 1 rises with decreasing steepness through the real money supply curve at point 1 where x = R super 1. In the top plane, the graph of domestic-currency return on foreign-currency deposits falls with decreasing steepness through point 1 prime at (R super 1, E super 1). As the output rises, the money demand curve shifts downward, forming the graph of L of R and Y super 2. This graph rises through point 2 at (R super 2, M super S over P). At x = R super 2, the domestic-currency return plot falls through point 2 prime, where y = E super 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0631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Ay </a:t>
            </a:r>
            <a:r>
              <a:rPr lang="en-US" dirty="0" err="1"/>
              <a:t>Ay</a:t>
            </a:r>
            <a:r>
              <a:rPr lang="en-US" dirty="0"/>
              <a:t> falls with decreasing steepness through point 1, at (Y super 1, E super 1) and then point 2, at (Y super 2, E super 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47905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curve intersects the rising D </a:t>
            </a:r>
            <a:r>
              <a:rPr lang="en-US" dirty="0" err="1"/>
              <a:t>D</a:t>
            </a:r>
            <a:r>
              <a:rPr lang="en-US" dirty="0"/>
              <a:t> curve at point 1, which has coordinates (Y super 1, E super 1). Point 2 is above the Ay </a:t>
            </a:r>
            <a:r>
              <a:rPr lang="en-US" dirty="0" err="1"/>
              <a:t>Ay</a:t>
            </a:r>
            <a:r>
              <a:rPr lang="en-US" dirty="0"/>
              <a:t> curve, up and left of point 1 at y = E super 2. Point 3 is directly below point 2, on the Ay </a:t>
            </a:r>
            <a:r>
              <a:rPr lang="en-US" dirty="0" err="1"/>
              <a:t>Ay</a:t>
            </a:r>
            <a:r>
              <a:rPr lang="en-US" dirty="0"/>
              <a:t> curve at E super 3. Movement occurs along the Ay </a:t>
            </a:r>
            <a:r>
              <a:rPr lang="en-US" dirty="0" err="1"/>
              <a:t>Ay</a:t>
            </a:r>
            <a:r>
              <a:rPr lang="en-US" dirty="0"/>
              <a:t> curve from point 3 to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4473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super 1 curve intersects the rising D </a:t>
            </a:r>
            <a:r>
              <a:rPr lang="en-US" dirty="0" err="1"/>
              <a:t>D</a:t>
            </a:r>
            <a:r>
              <a:rPr lang="en-US" dirty="0"/>
              <a:t> curve at point 1 (Y super 1, E super 1). The Ay </a:t>
            </a:r>
            <a:r>
              <a:rPr lang="en-US" dirty="0" err="1"/>
              <a:t>Ay</a:t>
            </a:r>
            <a:r>
              <a:rPr lang="en-US" dirty="0"/>
              <a:t> super 1 curve shifts upward, forming the graph of Ay </a:t>
            </a:r>
            <a:r>
              <a:rPr lang="en-US" dirty="0" err="1"/>
              <a:t>Ay</a:t>
            </a:r>
            <a:r>
              <a:rPr lang="en-US" dirty="0"/>
              <a:t> super 2, which intersects the D </a:t>
            </a:r>
            <a:r>
              <a:rPr lang="en-US" dirty="0" err="1"/>
              <a:t>D</a:t>
            </a:r>
            <a:r>
              <a:rPr lang="en-US" dirty="0"/>
              <a:t> curve at point 2, which has coordinates (Y super 2, E super 2). Point 2 is up and right of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47888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curve intersects the rising D </a:t>
            </a:r>
            <a:r>
              <a:rPr lang="en-US" dirty="0" err="1"/>
              <a:t>D</a:t>
            </a:r>
            <a:r>
              <a:rPr lang="en-US" dirty="0"/>
              <a:t> super 1 curve at point 1, which has coordinates (Y super 1, E super 1). The D </a:t>
            </a:r>
            <a:r>
              <a:rPr lang="en-US" dirty="0" err="1"/>
              <a:t>D</a:t>
            </a:r>
            <a:r>
              <a:rPr lang="en-US" dirty="0"/>
              <a:t> super 1 curve shifts downward to form the graph of D </a:t>
            </a:r>
            <a:r>
              <a:rPr lang="en-US" dirty="0" err="1"/>
              <a:t>D</a:t>
            </a:r>
            <a:r>
              <a:rPr lang="en-US" dirty="0"/>
              <a:t> super 2. The D </a:t>
            </a:r>
            <a:r>
              <a:rPr lang="en-US" dirty="0" err="1"/>
              <a:t>D</a:t>
            </a:r>
            <a:r>
              <a:rPr lang="en-US" dirty="0"/>
              <a:t> super 2 curve intersects the Ay </a:t>
            </a:r>
            <a:r>
              <a:rPr lang="en-US" dirty="0" err="1"/>
              <a:t>Ay</a:t>
            </a:r>
            <a:r>
              <a:rPr lang="en-US" dirty="0"/>
              <a:t> curve at point 2, which has coordinates (Y super 2, E super 1). Point 2 is down and right of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54337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super 1 curve intersects the rising D </a:t>
            </a:r>
            <a:r>
              <a:rPr lang="en-US" dirty="0" err="1"/>
              <a:t>D</a:t>
            </a:r>
            <a:r>
              <a:rPr lang="en-US" dirty="0"/>
              <a:t> super 1 curve at point 1, which has coordinates (Y super f, E super 1). The D </a:t>
            </a:r>
            <a:r>
              <a:rPr lang="en-US" dirty="0" err="1"/>
              <a:t>D</a:t>
            </a:r>
            <a:r>
              <a:rPr lang="en-US" dirty="0"/>
              <a:t> super 1 curve shifts upward to form the graph of D </a:t>
            </a:r>
            <a:r>
              <a:rPr lang="en-US" dirty="0" err="1"/>
              <a:t>D</a:t>
            </a:r>
            <a:r>
              <a:rPr lang="en-US" dirty="0"/>
              <a:t> super 2. The D </a:t>
            </a:r>
            <a:r>
              <a:rPr lang="en-US" dirty="0" err="1"/>
              <a:t>D</a:t>
            </a:r>
            <a:r>
              <a:rPr lang="en-US" dirty="0"/>
              <a:t> super 2 curve intersects the Ay </a:t>
            </a:r>
            <a:r>
              <a:rPr lang="en-US" dirty="0" err="1"/>
              <a:t>Ay</a:t>
            </a:r>
            <a:r>
              <a:rPr lang="en-US" dirty="0"/>
              <a:t> super 1 curve at point 2, which has coordinates (Y super 2, E super 2), so that point 2 is up and left of point 1. The Ay </a:t>
            </a:r>
            <a:r>
              <a:rPr lang="en-US" dirty="0" err="1"/>
              <a:t>Ay</a:t>
            </a:r>
            <a:r>
              <a:rPr lang="en-US" dirty="0"/>
              <a:t> super 1 curve then shifts upward to form the graph of Ay </a:t>
            </a:r>
            <a:r>
              <a:rPr lang="en-US" dirty="0" err="1"/>
              <a:t>Ay</a:t>
            </a:r>
            <a:r>
              <a:rPr lang="en-US" dirty="0"/>
              <a:t> super 2. The Ay </a:t>
            </a:r>
            <a:r>
              <a:rPr lang="en-US" dirty="0" err="1"/>
              <a:t>Ay</a:t>
            </a:r>
            <a:r>
              <a:rPr lang="en-US" dirty="0"/>
              <a:t> super 2 curve intersects the D </a:t>
            </a:r>
            <a:r>
              <a:rPr lang="en-US" dirty="0" err="1"/>
              <a:t>D</a:t>
            </a:r>
            <a:r>
              <a:rPr lang="en-US" dirty="0"/>
              <a:t> super 2 curve at point 3. Point 3 is directly above point 1 at (Y super f, E super 3).</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1267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super 1 curve intersects the rising D </a:t>
            </a:r>
            <a:r>
              <a:rPr lang="en-US" dirty="0" err="1"/>
              <a:t>D</a:t>
            </a:r>
            <a:r>
              <a:rPr lang="en-US" dirty="0"/>
              <a:t> super 1 curve at point 1, which has coordinates (Y super f, E super 1). The Ay </a:t>
            </a:r>
            <a:r>
              <a:rPr lang="en-US" dirty="0" err="1"/>
              <a:t>Ay</a:t>
            </a:r>
            <a:r>
              <a:rPr lang="en-US" dirty="0"/>
              <a:t> super 1 curve shifts downward to form the graph of Ay </a:t>
            </a:r>
            <a:r>
              <a:rPr lang="en-US" dirty="0" err="1"/>
              <a:t>Ay</a:t>
            </a:r>
            <a:r>
              <a:rPr lang="en-US" dirty="0"/>
              <a:t> super 2. The Ay </a:t>
            </a:r>
            <a:r>
              <a:rPr lang="en-US" dirty="0" err="1"/>
              <a:t>Ay</a:t>
            </a:r>
            <a:r>
              <a:rPr lang="en-US" dirty="0"/>
              <a:t> super 2 curve intersects the D </a:t>
            </a:r>
            <a:r>
              <a:rPr lang="en-US" dirty="0" err="1"/>
              <a:t>D</a:t>
            </a:r>
            <a:r>
              <a:rPr lang="en-US" dirty="0"/>
              <a:t> super 1 curve at point 2, which has coordinates (Y super 2, E super 2), so that point 2 is down and left of point 1. The D </a:t>
            </a:r>
            <a:r>
              <a:rPr lang="en-US" dirty="0" err="1"/>
              <a:t>D</a:t>
            </a:r>
            <a:r>
              <a:rPr lang="en-US" dirty="0"/>
              <a:t> super 1 curve then shifts downward to form the graph of D </a:t>
            </a:r>
            <a:r>
              <a:rPr lang="en-US" dirty="0" err="1"/>
              <a:t>D</a:t>
            </a:r>
            <a:r>
              <a:rPr lang="en-US" dirty="0"/>
              <a:t> super 2. The D </a:t>
            </a:r>
            <a:r>
              <a:rPr lang="en-US" dirty="0" err="1"/>
              <a:t>D</a:t>
            </a:r>
            <a:r>
              <a:rPr lang="en-US" dirty="0"/>
              <a:t> super 2 curve intersects the Ay </a:t>
            </a:r>
            <a:r>
              <a:rPr lang="en-US" dirty="0" err="1"/>
              <a:t>Ay</a:t>
            </a:r>
            <a:r>
              <a:rPr lang="en-US" dirty="0"/>
              <a:t> super 2 curve at point 3. Point 3 is directly below point 1 at (Y super f, E super 3).</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83141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super 1 curve intersects the rising D </a:t>
            </a:r>
            <a:r>
              <a:rPr lang="en-US" dirty="0" err="1"/>
              <a:t>D</a:t>
            </a:r>
            <a:r>
              <a:rPr lang="en-US" dirty="0"/>
              <a:t> super 1 curve at point 1, which has coordinates (Y super f, E super 1). The Ay </a:t>
            </a:r>
            <a:r>
              <a:rPr lang="en-US" dirty="0" err="1"/>
              <a:t>Ay</a:t>
            </a:r>
            <a:r>
              <a:rPr lang="en-US" dirty="0"/>
              <a:t> super 1 curve shifts upward to form the graph of Ay </a:t>
            </a:r>
            <a:r>
              <a:rPr lang="en-US" dirty="0" err="1"/>
              <a:t>Ay</a:t>
            </a:r>
            <a:r>
              <a:rPr lang="en-US" dirty="0"/>
              <a:t> super 2. The Ay </a:t>
            </a:r>
            <a:r>
              <a:rPr lang="en-US" dirty="0" err="1"/>
              <a:t>Ay</a:t>
            </a:r>
            <a:r>
              <a:rPr lang="en-US" dirty="0"/>
              <a:t> super 2 curve intersects the D </a:t>
            </a:r>
            <a:r>
              <a:rPr lang="en-US" dirty="0" err="1"/>
              <a:t>D</a:t>
            </a:r>
            <a:r>
              <a:rPr lang="en-US" dirty="0"/>
              <a:t> super 1 curve at point 2, which has coordinates (Y super 2, E super 2). Point 3 forms the midpoint of the segment the D </a:t>
            </a:r>
            <a:r>
              <a:rPr lang="en-US" dirty="0" err="1"/>
              <a:t>D</a:t>
            </a:r>
            <a:r>
              <a:rPr lang="en-US" dirty="0"/>
              <a:t> super 1 curve from point 1 to point 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82928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super 1 curve intersects the rising D </a:t>
            </a:r>
            <a:r>
              <a:rPr lang="en-US" dirty="0" err="1"/>
              <a:t>D</a:t>
            </a:r>
            <a:r>
              <a:rPr lang="en-US" dirty="0"/>
              <a:t> super 1 curve at point 1, which has coordinates (Y super f, E super 1). The Ay </a:t>
            </a:r>
            <a:r>
              <a:rPr lang="en-US" dirty="0" err="1"/>
              <a:t>Ay</a:t>
            </a:r>
            <a:r>
              <a:rPr lang="en-US" dirty="0"/>
              <a:t> super 1 curve then shifts upward to form the graph of Ay </a:t>
            </a:r>
            <a:r>
              <a:rPr lang="en-US" dirty="0" err="1"/>
              <a:t>Ay</a:t>
            </a:r>
            <a:r>
              <a:rPr lang="en-US" dirty="0"/>
              <a:t> super 2. The Ay </a:t>
            </a:r>
            <a:r>
              <a:rPr lang="en-US" dirty="0" err="1"/>
              <a:t>Ay</a:t>
            </a:r>
            <a:r>
              <a:rPr lang="en-US" dirty="0"/>
              <a:t> super 2 curve intersects the D </a:t>
            </a:r>
            <a:r>
              <a:rPr lang="en-US" dirty="0" err="1"/>
              <a:t>D</a:t>
            </a:r>
            <a:r>
              <a:rPr lang="en-US" dirty="0"/>
              <a:t> super 1 curve at point 2, which has coordinates (Y super 2, E super 2), so that point 2 is up and right of point 1. The D </a:t>
            </a:r>
            <a:r>
              <a:rPr lang="en-US" dirty="0" err="1"/>
              <a:t>D</a:t>
            </a:r>
            <a:r>
              <a:rPr lang="en-US" dirty="0"/>
              <a:t> super 1 curve then shifts upward to form the graph of D </a:t>
            </a:r>
            <a:r>
              <a:rPr lang="en-US" dirty="0" err="1"/>
              <a:t>D</a:t>
            </a:r>
            <a:r>
              <a:rPr lang="en-US" dirty="0"/>
              <a:t> super 2, and the Ay </a:t>
            </a:r>
            <a:r>
              <a:rPr lang="en-US" dirty="0" err="1"/>
              <a:t>Ay</a:t>
            </a:r>
            <a:r>
              <a:rPr lang="en-US" dirty="0"/>
              <a:t> super 2 curve shifts downward to form the graph of Ay </a:t>
            </a:r>
            <a:r>
              <a:rPr lang="en-US" dirty="0" err="1"/>
              <a:t>Ay</a:t>
            </a:r>
            <a:r>
              <a:rPr lang="en-US" dirty="0"/>
              <a:t> super 3. The graphs for D </a:t>
            </a:r>
            <a:r>
              <a:rPr lang="en-US" dirty="0" err="1"/>
              <a:t>D</a:t>
            </a:r>
            <a:r>
              <a:rPr lang="en-US" dirty="0"/>
              <a:t> super 2 and Ay </a:t>
            </a:r>
            <a:r>
              <a:rPr lang="en-US" dirty="0" err="1"/>
              <a:t>Ay</a:t>
            </a:r>
            <a:r>
              <a:rPr lang="en-US" dirty="0"/>
              <a:t> super 3 intersect at point 3, which has coordinates (Y super f, E super 3). Point 3 is directly above point 1 and down and left of point 2. As a result, movement is from point 2 to point 3.</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23060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super 1 curve intersects the rising D </a:t>
            </a:r>
            <a:r>
              <a:rPr lang="en-US" dirty="0" err="1"/>
              <a:t>D</a:t>
            </a:r>
            <a:r>
              <a:rPr lang="en-US" dirty="0"/>
              <a:t> super 1 curve at point 1, which has coordinates (Y super f, E super 1). The D </a:t>
            </a:r>
            <a:r>
              <a:rPr lang="en-US" dirty="0" err="1"/>
              <a:t>D</a:t>
            </a:r>
            <a:r>
              <a:rPr lang="en-US" dirty="0"/>
              <a:t> super 1 curve then shifts downward to form the graph of D </a:t>
            </a:r>
            <a:r>
              <a:rPr lang="en-US" dirty="0" err="1"/>
              <a:t>D</a:t>
            </a:r>
            <a:r>
              <a:rPr lang="en-US" dirty="0"/>
              <a:t> super 2, and the Ay </a:t>
            </a:r>
            <a:r>
              <a:rPr lang="en-US" dirty="0" err="1"/>
              <a:t>Ay</a:t>
            </a:r>
            <a:r>
              <a:rPr lang="en-US" dirty="0"/>
              <a:t> super 1 curve shifts downward to form the graph of Ay </a:t>
            </a:r>
            <a:r>
              <a:rPr lang="en-US" dirty="0" err="1"/>
              <a:t>Ay</a:t>
            </a:r>
            <a:r>
              <a:rPr lang="en-US" dirty="0"/>
              <a:t> super 2. The D </a:t>
            </a:r>
            <a:r>
              <a:rPr lang="en-US" dirty="0" err="1"/>
              <a:t>D</a:t>
            </a:r>
            <a:r>
              <a:rPr lang="en-US" dirty="0"/>
              <a:t> super 2 curve intersects the Ay </a:t>
            </a:r>
            <a:r>
              <a:rPr lang="en-US" dirty="0" err="1"/>
              <a:t>Ay</a:t>
            </a:r>
            <a:r>
              <a:rPr lang="en-US" dirty="0"/>
              <a:t> super 2 curve at point 2, which has coordinates (Y super f, E super 2). As a result, point 2 is directly below point 1. At the same time, the Ay </a:t>
            </a:r>
            <a:r>
              <a:rPr lang="en-US" dirty="0" err="1"/>
              <a:t>Ay</a:t>
            </a:r>
            <a:r>
              <a:rPr lang="en-US" dirty="0"/>
              <a:t> super 1 curve intersects the D </a:t>
            </a:r>
            <a:r>
              <a:rPr lang="en-US" dirty="0" err="1"/>
              <a:t>D</a:t>
            </a:r>
            <a:r>
              <a:rPr lang="en-US" dirty="0"/>
              <a:t> super 2 curve at point 3, which is down and right of point 1 and up and right of point 2.</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11081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falling Ay </a:t>
            </a:r>
            <a:r>
              <a:rPr lang="en-US" dirty="0" err="1"/>
              <a:t>Ay</a:t>
            </a:r>
            <a:r>
              <a:rPr lang="en-US" dirty="0"/>
              <a:t> curve intersects the rising D </a:t>
            </a:r>
            <a:r>
              <a:rPr lang="en-US" dirty="0" err="1"/>
              <a:t>D</a:t>
            </a:r>
            <a:r>
              <a:rPr lang="en-US" dirty="0"/>
              <a:t> and X </a:t>
            </a:r>
            <a:r>
              <a:rPr lang="en-US" dirty="0" err="1"/>
              <a:t>X</a:t>
            </a:r>
            <a:r>
              <a:rPr lang="en-US" dirty="0"/>
              <a:t> curves at point 1, which has coordinates (Y super f, E super 1). The D </a:t>
            </a:r>
            <a:r>
              <a:rPr lang="en-US" dirty="0" err="1"/>
              <a:t>D</a:t>
            </a:r>
            <a:r>
              <a:rPr lang="en-US" dirty="0"/>
              <a:t> curve is steeper than the X </a:t>
            </a:r>
            <a:r>
              <a:rPr lang="en-US" dirty="0" err="1"/>
              <a:t>X</a:t>
            </a:r>
            <a:r>
              <a:rPr lang="en-US" dirty="0"/>
              <a:t> curve, and point 2 is on the D </a:t>
            </a:r>
            <a:r>
              <a:rPr lang="en-US" dirty="0" err="1"/>
              <a:t>D</a:t>
            </a:r>
            <a:r>
              <a:rPr lang="en-US" dirty="0"/>
              <a:t> curve up and right of point 1. Point 3 is on the Ay </a:t>
            </a:r>
            <a:r>
              <a:rPr lang="en-US" dirty="0" err="1"/>
              <a:t>Ay</a:t>
            </a:r>
            <a:r>
              <a:rPr lang="en-US" dirty="0"/>
              <a:t> curve, directly below point 2. Point 4 is directly below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96764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consists of three parts. The first part is a horizontal line segment extending rightward from the y-axis to point 1. The second part is the J curve. The J curve begins at point 2, which is directly below point 1, representing the start of real depreciation. The J curve then rises with increasing steepness to point 3, which is level with point 1. The final part of the graph rises with decreasing steepness from point 3 toward a maximum. The vertical distance from point 3 to the maximum represents the long-run effect of real depreciation on the current account.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69805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Times New Roman" panose="02020603050405020304" pitchFamily="18" charset="0"/>
              </a:rPr>
              <a:t>The horizontal axis ranges from 2005 to 20 16 in increments of 1 and vertical axis ranges from 0 to 45 in increments of 5. The import content of exports for the United States is as follows. Year, Percent of value. 2005, 10. 2006, 12. 2007, 13. 2008, 14. 2009, 9. 20 10, 13. 20 11, 14. 20 12, 13. 20 13, 12. 20 14, 11. 20 15, 10.5. 20 16, 10. The import content of exports for Mexico is as follows. Year, Percent of value. 2005, 34. 2006, 34. 2007, 33. 2008, 33. 2009, 33. 20 10, 34. 20 11, 32. 20 12, 35. 20 13, 36. 20 14, 35. 20 15, 36. 20 16, 37. The import content of exports for South Korea is as follows. Year, Percent of value. 2005, 33. 2006, 35. 2007, 35. 2008, 43. 2009, 37. 20 10, 38. 20 11, 44. 20 12, 43. 20 13, 40. 20 14, 38. 20 15, 34. 20 16, 33. The import content of exports for Germany are as follows. Year, Percent of value. 2005, 18. 2006, 20. 2007, 21. 2008, 21. 2009, 17. 20 10, 20. 20 11, 23. 20 12, 23. 20 13, 22. 20 14, 21. 20 15, 21. 20 16, 20. The import content of exports for European Union 28 is  as follows. Year, Percent of value. 2005, 23. 2006, 24. 2007, 24.5. 2008, 25. 2009, 22. 20 10, 25. 20 11, 26.5. 20 12, 25.5. 20 13, 25. 20 14, 24.5. 20 15, 24. 20 16, 24.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49494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of Ay </a:t>
            </a:r>
            <a:r>
              <a:rPr lang="en-US" dirty="0" err="1"/>
              <a:t>Ay</a:t>
            </a:r>
            <a:r>
              <a:rPr lang="en-US" dirty="0"/>
              <a:t> extends rightward through point 1 at (Y super 1, upper E super lower e, over, 1 minus R star. The graph of Ay </a:t>
            </a:r>
            <a:r>
              <a:rPr lang="en-US" dirty="0" err="1"/>
              <a:t>Ay</a:t>
            </a:r>
            <a:r>
              <a:rPr lang="en-US" dirty="0"/>
              <a:t> then falls diagonally through a point at x = Y super f. The D </a:t>
            </a:r>
            <a:r>
              <a:rPr lang="en-US" dirty="0" err="1"/>
              <a:t>D</a:t>
            </a:r>
            <a:r>
              <a:rPr lang="en-US" dirty="0"/>
              <a:t> curve rises through the graph of Ay </a:t>
            </a:r>
            <a:r>
              <a:rPr lang="en-US" dirty="0" err="1"/>
              <a:t>Ay</a:t>
            </a:r>
            <a:r>
              <a:rPr lang="en-US" dirty="0"/>
              <a:t> at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6508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indifference curve falls with decreasing steepness through point 1, which has coordinates (D sub P super 1 = Q sub P super 1, D sub F super 1 = Q sub F super 1).  The corresponding intertemporal constraint is the falling line tangent to the indifference curve at point 1. The second indifference curve falls with decreasing steepness through point 2, which has coordinates (D sub P super 2, D sub F super 2), so that point 2 is up and right of point 1. The corresponding intertemporal budget constraint is the falling line tangent to the indifference curve at point 2. This line also falls through point 2 prime, which has coordinates (Q sub P super 2, D sub F super 1 = Q sub F super 1). Point 2 prime is level with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333655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 each country, the table provides the impact, short-run, and long-run eta values, followed by the impact, short-run, and long-run eta star values, as follows. Austria. Eta: 0.39, 0.71, 1.37. Eta star: 0.03, 0.36, 0.80. Belgium. Eta: 0.18, 0.59, 1.55. Eta star: none, none, 0.70. Britain. Eta: none, none, 0.31. Eta star: 0.60, 0.75, 0.75. Canada. Eta: 0.08, 0.40, 0.71. Eta star: 0.72, 0.72, 0.72. Denmark. Eta: 0.82, 1.13, 1.13. Eta star: 0.55, 0.93, 1.14. France. Eta: 0.20, 0.18, 1.25. Eta star: none, 0.49, 0.60. Germany. Eta: none, none, 1.41. Eta star: 0.57, 0.77, 0.77. Italy. Eta: none, 0.56, 0.64. Eta star: 0.94, 0.94, 0.94. Japan. Eta: 0.59, 1.01, 1.61. Eta star: 0.16, 0.72, 0.97. Netherlands. Eta: 0.24, 0.49, 0.89. Eta star: 0.71, 1.22, 1.22. Norway. Eta: 0.40, 0.74, 1.49. Eta star: none, 0.01, 0.71. Sweden. Eta: 0.27, 0.73, 1.59. Eta star: none, none, 0.94. Switzerland. Eta: 0.28, 0.42, 0.73. Eta star: 0.25, 0.25, 0.25. United States. Eta: 0.18, 0.48, 1.67. Eta star: none, 1.06, 1.06.</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03361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77</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19610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1852155" y="1552575"/>
            <a:ext cx="119610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3247118" y="1552575"/>
            <a:ext cx="119610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651311" y="1552575"/>
            <a:ext cx="119610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47E2C601-75CA-4DEC-AC93-0A6059826DB7}"/>
              </a:ext>
            </a:extLst>
          </p:cNvPr>
          <p:cNvSpPr>
            <a:spLocks noGrp="1"/>
          </p:cNvSpPr>
          <p:nvPr>
            <p:ph sz="quarter" idx="17"/>
          </p:nvPr>
        </p:nvSpPr>
        <p:spPr>
          <a:xfrm>
            <a:off x="6040438" y="1552575"/>
            <a:ext cx="933450"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a:extLst>
              <a:ext uri="{FF2B5EF4-FFF2-40B4-BE49-F238E27FC236}">
                <a16:creationId xmlns:a16="http://schemas.microsoft.com/office/drawing/2014/main" id="{ADD6642E-9332-4ECD-9E04-70A48606696A}"/>
              </a:ext>
            </a:extLst>
          </p:cNvPr>
          <p:cNvSpPr>
            <a:spLocks noGrp="1"/>
          </p:cNvSpPr>
          <p:nvPr>
            <p:ph sz="quarter" idx="18"/>
          </p:nvPr>
        </p:nvSpPr>
        <p:spPr>
          <a:xfrm>
            <a:off x="7291388" y="1552575"/>
            <a:ext cx="1049337"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11307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3" r:id="rId8"/>
    <p:sldLayoutId id="2147483680" r:id="rId9"/>
    <p:sldLayoutId id="2147483681"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9.emf"/><Relationship Id="rId3" Type="http://schemas.openxmlformats.org/officeDocument/2006/relationships/image" Target="../media/image4.wmf"/><Relationship Id="rId7" Type="http://schemas.openxmlformats.org/officeDocument/2006/relationships/image" Target="../media/image6.wmf"/><Relationship Id="rId12" Type="http://schemas.openxmlformats.org/officeDocument/2006/relationships/oleObject" Target="../embeddings/oleObject7.bin"/><Relationship Id="rId17" Type="http://schemas.openxmlformats.org/officeDocument/2006/relationships/image" Target="../media/image11.wmf"/><Relationship Id="rId2" Type="http://schemas.openxmlformats.org/officeDocument/2006/relationships/oleObject" Target="../embeddings/oleObject2.bin"/><Relationship Id="rId16" Type="http://schemas.openxmlformats.org/officeDocument/2006/relationships/oleObject" Target="../embeddings/oleObject9.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8.wmf"/><Relationship Id="rId5" Type="http://schemas.openxmlformats.org/officeDocument/2006/relationships/image" Target="../media/image5.wmf"/><Relationship Id="rId15" Type="http://schemas.openxmlformats.org/officeDocument/2006/relationships/image" Target="../media/image10.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7.wmf"/><Relationship Id="rId1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6.wmf"/><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oleObject" Target="../embeddings/oleObject13.bin"/><Relationship Id="rId5" Type="http://schemas.openxmlformats.org/officeDocument/2006/relationships/image" Target="../media/image15.wmf"/><Relationship Id="rId4"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8.wmf"/><Relationship Id="rId5" Type="http://schemas.openxmlformats.org/officeDocument/2006/relationships/oleObject" Target="../embeddings/oleObject15.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2.jpg"/><Relationship Id="rId7" Type="http://schemas.openxmlformats.org/officeDocument/2006/relationships/image" Target="../media/image24.wmf"/><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oleObject" Target="../embeddings/oleObject20.bin"/><Relationship Id="rId5" Type="http://schemas.openxmlformats.org/officeDocument/2006/relationships/image" Target="../media/image23.wmf"/><Relationship Id="rId4" Type="http://schemas.openxmlformats.org/officeDocument/2006/relationships/oleObject" Target="../embeddings/oleObject19.bin"/><Relationship Id="rId9" Type="http://schemas.openxmlformats.org/officeDocument/2006/relationships/image" Target="../media/image25.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26.jpg"/><Relationship Id="rId7" Type="http://schemas.openxmlformats.org/officeDocument/2006/relationships/image" Target="../media/image28.wmf"/><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oleObject" Target="../embeddings/oleObject23.bin"/><Relationship Id="rId5" Type="http://schemas.openxmlformats.org/officeDocument/2006/relationships/image" Target="../media/image27.wmf"/><Relationship Id="rId4" Type="http://schemas.openxmlformats.org/officeDocument/2006/relationships/oleObject" Target="../embeddings/oleObject22.bin"/><Relationship Id="rId9" Type="http://schemas.openxmlformats.org/officeDocument/2006/relationships/image" Target="../media/image29.wmf"/></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7" Type="http://schemas.openxmlformats.org/officeDocument/2006/relationships/image" Target="../media/image31.wmf"/><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oleObject" Target="../embeddings/oleObject26.bin"/><Relationship Id="rId5" Type="http://schemas.openxmlformats.org/officeDocument/2006/relationships/image" Target="../media/image27.wmf"/><Relationship Id="rId4" Type="http://schemas.openxmlformats.org/officeDocument/2006/relationships/oleObject" Target="../embeddings/oleObject25.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33.wmf"/><Relationship Id="rId4" Type="http://schemas.openxmlformats.org/officeDocument/2006/relationships/oleObject" Target="../embeddings/oleObject27.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8.bin"/><Relationship Id="rId1" Type="http://schemas.openxmlformats.org/officeDocument/2006/relationships/slideLayout" Target="../slideLayouts/slideLayout10.xml"/><Relationship Id="rId5" Type="http://schemas.openxmlformats.org/officeDocument/2006/relationships/image" Target="../media/image35.wmf"/><Relationship Id="rId4" Type="http://schemas.openxmlformats.org/officeDocument/2006/relationships/oleObject" Target="../embeddings/oleObject29.bin"/></Relationships>
</file>

<file path=ppt/slides/_rels/slide2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jpg"/><Relationship Id="rId7" Type="http://schemas.openxmlformats.org/officeDocument/2006/relationships/image" Target="../media/image39.wmf"/><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oleObject" Target="../embeddings/oleObject31.bin"/><Relationship Id="rId5" Type="http://schemas.openxmlformats.org/officeDocument/2006/relationships/image" Target="../media/image38.wmf"/><Relationship Id="rId4" Type="http://schemas.openxmlformats.org/officeDocument/2006/relationships/oleObject" Target="../embeddings/oleObject30.bin"/></Relationships>
</file>

<file path=ppt/slides/_rels/slide32.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2.bin"/><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3.bin"/><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45.wmf"/><Relationship Id="rId4" Type="http://schemas.openxmlformats.org/officeDocument/2006/relationships/oleObject" Target="../embeddings/oleObject34.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47.wmf"/><Relationship Id="rId4" Type="http://schemas.openxmlformats.org/officeDocument/2006/relationships/oleObject" Target="../embeddings/oleObject35.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3.wmf"/><Relationship Id="rId3" Type="http://schemas.openxmlformats.org/officeDocument/2006/relationships/image" Target="../media/image48.jpg"/><Relationship Id="rId7" Type="http://schemas.openxmlformats.org/officeDocument/2006/relationships/image" Target="../media/image50.wmf"/><Relationship Id="rId12" Type="http://schemas.openxmlformats.org/officeDocument/2006/relationships/oleObject" Target="../embeddings/oleObject40.bin"/><Relationship Id="rId2" Type="http://schemas.openxmlformats.org/officeDocument/2006/relationships/notesSlide" Target="../notesSlides/notesSlide15.xml"/><Relationship Id="rId1" Type="http://schemas.openxmlformats.org/officeDocument/2006/relationships/slideLayout" Target="../slideLayouts/slideLayout10.xml"/><Relationship Id="rId6" Type="http://schemas.openxmlformats.org/officeDocument/2006/relationships/oleObject" Target="../embeddings/oleObject37.bin"/><Relationship Id="rId11" Type="http://schemas.openxmlformats.org/officeDocument/2006/relationships/image" Target="../media/image52.wmf"/><Relationship Id="rId5" Type="http://schemas.openxmlformats.org/officeDocument/2006/relationships/image" Target="../media/image49.wmf"/><Relationship Id="rId15" Type="http://schemas.openxmlformats.org/officeDocument/2006/relationships/image" Target="../media/image54.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51.wmf"/><Relationship Id="rId14" Type="http://schemas.openxmlformats.org/officeDocument/2006/relationships/oleObject" Target="../embeddings/oleObject41.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image" Target="../media/image55.jpg"/><Relationship Id="rId7" Type="http://schemas.openxmlformats.org/officeDocument/2006/relationships/image" Target="../media/image57.wmf"/><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oleObject" Target="../embeddings/oleObject43.bin"/><Relationship Id="rId5" Type="http://schemas.openxmlformats.org/officeDocument/2006/relationships/image" Target="../media/image56.wmf"/><Relationship Id="rId4" Type="http://schemas.openxmlformats.org/officeDocument/2006/relationships/oleObject" Target="../embeddings/oleObject42.bin"/><Relationship Id="rId9" Type="http://schemas.openxmlformats.org/officeDocument/2006/relationships/image" Target="../media/image58.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60.wmf"/><Relationship Id="rId4" Type="http://schemas.openxmlformats.org/officeDocument/2006/relationships/oleObject" Target="../embeddings/oleObject4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62.jpg"/><Relationship Id="rId7" Type="http://schemas.openxmlformats.org/officeDocument/2006/relationships/image" Target="../media/image64.wmf"/><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oleObject" Target="../embeddings/oleObject47.bin"/><Relationship Id="rId5" Type="http://schemas.openxmlformats.org/officeDocument/2006/relationships/image" Target="../media/image63.wmf"/><Relationship Id="rId4" Type="http://schemas.openxmlformats.org/officeDocument/2006/relationships/oleObject" Target="../embeddings/oleObject46.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48.bin"/><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69.wmf"/><Relationship Id="rId7" Type="http://schemas.openxmlformats.org/officeDocument/2006/relationships/image" Target="../media/image71.wmf"/><Relationship Id="rId2" Type="http://schemas.openxmlformats.org/officeDocument/2006/relationships/oleObject" Target="../embeddings/oleObject49.bin"/><Relationship Id="rId1" Type="http://schemas.openxmlformats.org/officeDocument/2006/relationships/slideLayout" Target="../slideLayouts/slideLayout9.xml"/><Relationship Id="rId6" Type="http://schemas.openxmlformats.org/officeDocument/2006/relationships/oleObject" Target="../embeddings/oleObject51.bin"/><Relationship Id="rId5" Type="http://schemas.openxmlformats.org/officeDocument/2006/relationships/image" Target="../media/image70.wmf"/><Relationship Id="rId4" Type="http://schemas.openxmlformats.org/officeDocument/2006/relationships/oleObject" Target="../embeddings/oleObject50.bin"/></Relationships>
</file>

<file path=ppt/slides/_rels/slide70.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oleObject" Target="../embeddings/oleObject52.bin"/><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74.wmf"/><Relationship Id="rId4" Type="http://schemas.openxmlformats.org/officeDocument/2006/relationships/oleObject" Target="../embeddings/oleObject53.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7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17</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199" y="3252789"/>
            <a:ext cx="3737429" cy="1037857"/>
          </a:xfrm>
        </p:spPr>
        <p:txBody>
          <a:bodyPr/>
          <a:lstStyle/>
          <a:p>
            <a:pPr algn="ctr"/>
            <a:r>
              <a:rPr lang="en-US" altLang="en-US" dirty="0">
                <a:latin typeface="Arial (Body)"/>
                <a:ea typeface="ヒラギノ角ゴ Pro W3" pitchFamily="-84" charset="-128"/>
              </a:rPr>
              <a:t>Output and the Exchange Rate in the Short Run</a:t>
            </a:r>
            <a:endParaRPr lang="en-US" dirty="0">
              <a:latin typeface="Arial (Body)"/>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51" y="215371"/>
            <a:ext cx="8229600" cy="1097279"/>
          </a:xfrm>
        </p:spPr>
        <p:txBody>
          <a:bodyPr/>
          <a:lstStyle/>
          <a:p>
            <a:r>
              <a:rPr lang="en-US" b="1" dirty="0">
                <a:ea typeface="Verdana" panose="020B0604030504040204" pitchFamily="34" charset="0"/>
                <a:cs typeface="Times New Roman" panose="02020603050405020304" pitchFamily="18" charset="0"/>
              </a:rPr>
              <a:t>Learning Objectives </a:t>
            </a:r>
            <a:r>
              <a:rPr lang="en-US" sz="2000" b="0" dirty="0">
                <a:ea typeface="Verdana" panose="020B0604030504040204" pitchFamily="34" charset="0"/>
                <a:cs typeface="Times New Roman" panose="02020603050405020304" pitchFamily="18" charset="0"/>
              </a:rPr>
              <a:t>(1 of 2)</a:t>
            </a:r>
            <a:endParaRPr lang="en-IN" sz="2000" dirty="0">
              <a:cs typeface="Times New Roman" panose="02020603050405020304" pitchFamily="18" charset="0"/>
            </a:endParaRPr>
          </a:p>
        </p:txBody>
      </p:sp>
      <p:sp>
        <p:nvSpPr>
          <p:cNvPr id="4" name="Content Placeholder 3"/>
          <p:cNvSpPr>
            <a:spLocks noGrp="1"/>
          </p:cNvSpPr>
          <p:nvPr>
            <p:ph sz="quarter" idx="13"/>
          </p:nvPr>
        </p:nvSpPr>
        <p:spPr>
          <a:xfrm>
            <a:off x="457199" y="1556327"/>
            <a:ext cx="8298873" cy="4586896"/>
          </a:xfrm>
        </p:spPr>
        <p:txBody>
          <a:bodyPr/>
          <a:lstStyle/>
          <a:p>
            <a:pPr marL="0" indent="0">
              <a:buNone/>
            </a:pPr>
            <a:r>
              <a:rPr lang="en-US" sz="2400" b="1" dirty="0">
                <a:solidFill>
                  <a:srgbClr val="007FA3"/>
                </a:solidFill>
                <a:latin typeface="Arial (Body)"/>
                <a:ea typeface="Verdana" panose="020B0604030504040204" pitchFamily="34" charset="0"/>
                <a:cs typeface="Verdana" panose="020B0604030504040204" pitchFamily="34" charset="0"/>
              </a:rPr>
              <a:t>17.1</a:t>
            </a:r>
            <a:r>
              <a:rPr lang="en-US" dirty="0">
                <a:latin typeface="Arial (Body)"/>
                <a:ea typeface="Verdana" panose="020B0604030504040204" pitchFamily="34" charset="0"/>
                <a:cs typeface="Verdana" panose="020B0604030504040204" pitchFamily="34" charset="0"/>
              </a:rPr>
              <a:t> </a:t>
            </a:r>
            <a:r>
              <a:rPr lang="en-US" dirty="0">
                <a:latin typeface="Arial (Body)"/>
              </a:rPr>
              <a:t>Explain the role of the real exchange rate in determining the aggregate demand for a country’s output.</a:t>
            </a: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17.2 </a:t>
            </a:r>
            <a:r>
              <a:rPr lang="en-US" dirty="0">
                <a:latin typeface="Arial (Body)"/>
              </a:rPr>
              <a:t>See how an open economy’s short-run equilibrium can be analyzed as the intersection of an asset market equilibrium schedule (</a:t>
            </a:r>
            <a:r>
              <a:rPr lang="en-US" i="1" dirty="0">
                <a:latin typeface="Arial (Body)"/>
              </a:rPr>
              <a:t>A</a:t>
            </a:r>
            <a:r>
              <a:rPr lang="en-US" sz="100" i="1" dirty="0">
                <a:latin typeface="Arial (Body)"/>
              </a:rPr>
              <a:t> </a:t>
            </a:r>
            <a:r>
              <a:rPr lang="en-US" i="1" dirty="0">
                <a:latin typeface="Arial (Body)"/>
              </a:rPr>
              <a:t>A</a:t>
            </a:r>
            <a:r>
              <a:rPr lang="en-US" dirty="0">
                <a:latin typeface="Arial (Body)"/>
              </a:rPr>
              <a:t>) and an output market equilibrium schedule (</a:t>
            </a:r>
            <a:r>
              <a:rPr lang="en-US" i="1" dirty="0">
                <a:latin typeface="Arial (Body)"/>
              </a:rPr>
              <a:t>D</a:t>
            </a:r>
            <a:r>
              <a:rPr lang="en-US" sz="100" i="1" dirty="0">
                <a:latin typeface="Arial (Body)"/>
              </a:rPr>
              <a:t> </a:t>
            </a:r>
            <a:r>
              <a:rPr lang="en-US" i="1" dirty="0">
                <a:latin typeface="Arial (Body)"/>
              </a:rPr>
              <a:t>D</a:t>
            </a:r>
            <a:r>
              <a:rPr lang="en-US" dirty="0">
                <a:latin typeface="Arial (Body)"/>
              </a:rPr>
              <a:t>).</a:t>
            </a: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17.3</a:t>
            </a:r>
            <a:r>
              <a:rPr lang="en-US" dirty="0">
                <a:latin typeface="Arial (Body)"/>
              </a:rPr>
              <a:t> Understand how monetary and fiscal policies affect the exchange rate and national output in the short run.</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51" y="215371"/>
            <a:ext cx="8229600" cy="1097279"/>
          </a:xfrm>
        </p:spPr>
        <p:txBody>
          <a:bodyPr/>
          <a:lstStyle/>
          <a:p>
            <a:r>
              <a:rPr lang="en-US" b="1" dirty="0">
                <a:ea typeface="Verdana" panose="020B0604030504040204" pitchFamily="34" charset="0"/>
                <a:cs typeface="Times New Roman" panose="02020603050405020304" pitchFamily="18" charset="0"/>
              </a:rPr>
              <a:t>Learning Objectives </a:t>
            </a:r>
            <a:r>
              <a:rPr lang="en-US" sz="2000" b="0" dirty="0">
                <a:ea typeface="Verdana" panose="020B0604030504040204" pitchFamily="34" charset="0"/>
                <a:cs typeface="Times New Roman" panose="02020603050405020304" pitchFamily="18" charset="0"/>
              </a:rPr>
              <a:t>(2 of 2)</a:t>
            </a:r>
            <a:endParaRPr lang="en-IN" sz="2000" dirty="0">
              <a:cs typeface="Times New Roman" panose="02020603050405020304" pitchFamily="18" charset="0"/>
            </a:endParaRPr>
          </a:p>
        </p:txBody>
      </p:sp>
      <p:sp>
        <p:nvSpPr>
          <p:cNvPr id="4" name="Content Placeholder 3"/>
          <p:cNvSpPr>
            <a:spLocks noGrp="1"/>
          </p:cNvSpPr>
          <p:nvPr>
            <p:ph sz="quarter" idx="13"/>
          </p:nvPr>
        </p:nvSpPr>
        <p:spPr/>
        <p:txBody>
          <a:bodyPr/>
          <a:lstStyle/>
          <a:p>
            <a:pPr marL="0" indent="0">
              <a:buNone/>
            </a:pPr>
            <a:r>
              <a:rPr lang="en-US" b="1" dirty="0">
                <a:solidFill>
                  <a:srgbClr val="007FA3"/>
                </a:solidFill>
                <a:latin typeface="Arial (Body)"/>
                <a:ea typeface="Verdana" panose="020B0604030504040204" pitchFamily="34" charset="0"/>
                <a:cs typeface="Verdana" panose="020B0604030504040204" pitchFamily="34" charset="0"/>
              </a:rPr>
              <a:t>17.4</a:t>
            </a:r>
            <a:r>
              <a:rPr lang="en-US" dirty="0">
                <a:latin typeface="Arial (Body)"/>
              </a:rPr>
              <a:t> Describe and interpret the long-run effects of permanent macroeconomic policy changes.</a:t>
            </a:r>
          </a:p>
          <a:p>
            <a:pPr marL="0" indent="0">
              <a:buNone/>
              <a:tabLst>
                <a:tab pos="804863" algn="l"/>
              </a:tabLst>
            </a:pPr>
            <a:r>
              <a:rPr lang="en-US" b="1" dirty="0">
                <a:solidFill>
                  <a:srgbClr val="007FA3"/>
                </a:solidFill>
                <a:latin typeface="Arial (Body)"/>
                <a:ea typeface="Verdana" panose="020B0604030504040204" pitchFamily="34" charset="0"/>
                <a:cs typeface="Verdana" panose="020B0604030504040204" pitchFamily="34" charset="0"/>
              </a:rPr>
              <a:t>17.5</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Explain the relationship among macroeconomic policies, the current account balance, and the exchange rate.</a:t>
            </a:r>
          </a:p>
        </p:txBody>
      </p:sp>
    </p:spTree>
    <p:extLst>
      <p:ext uri="{BB962C8B-B14F-4D97-AF65-F5344CB8AC3E}">
        <p14:creationId xmlns:p14="http://schemas.microsoft.com/office/powerpoint/2010/main" val="138106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51" y="215371"/>
            <a:ext cx="8229600" cy="1097279"/>
          </a:xfrm>
        </p:spPr>
        <p:txBody>
          <a:bodyPr/>
          <a:lstStyle/>
          <a:p>
            <a:r>
              <a:rPr lang="en-US" altLang="en-US" sz="3600" dirty="0">
                <a:ea typeface="ヒラギノ角ゴ Pro W3" pitchFamily="-84" charset="-128"/>
                <a:cs typeface="Times New Roman" panose="02020603050405020304" pitchFamily="18" charset="0"/>
              </a:rPr>
              <a:t>Preview</a:t>
            </a:r>
            <a:endParaRPr lang="en-IN" sz="2000" dirty="0">
              <a:cs typeface="Times New Roman" panose="02020603050405020304" pitchFamily="18" charset="0"/>
            </a:endParaRPr>
          </a:p>
        </p:txBody>
      </p:sp>
      <p:sp>
        <p:nvSpPr>
          <p:cNvPr id="4" name="Content Placeholder 3"/>
          <p:cNvSpPr>
            <a:spLocks noGrp="1"/>
          </p:cNvSpPr>
          <p:nvPr>
            <p:ph sz="quarter" idx="13"/>
          </p:nvPr>
        </p:nvSpPr>
        <p:spPr/>
        <p:txBody>
          <a:bodyPr/>
          <a:lstStyle/>
          <a:p>
            <a:pPr eaLnBrk="1" hangingPunct="1"/>
            <a:r>
              <a:rPr lang="en-US" altLang="en-US" sz="2200" dirty="0">
                <a:latin typeface="Arial (Body)"/>
                <a:ea typeface="ヒラギノ角ゴ Pro W3" pitchFamily="-84" charset="-128"/>
              </a:rPr>
              <a:t>Determinants of aggregate demand in the short run</a:t>
            </a:r>
          </a:p>
          <a:p>
            <a:pPr eaLnBrk="1" hangingPunct="1"/>
            <a:r>
              <a:rPr lang="en-US" altLang="en-US" sz="2200" dirty="0">
                <a:latin typeface="Arial (Body)"/>
                <a:ea typeface="ヒラギノ角ゴ Pro W3" pitchFamily="-84" charset="-128"/>
              </a:rPr>
              <a:t>A short-run model of output markets </a:t>
            </a:r>
          </a:p>
          <a:p>
            <a:pPr eaLnBrk="1" hangingPunct="1"/>
            <a:r>
              <a:rPr lang="en-US" altLang="en-US" sz="2200" dirty="0">
                <a:latin typeface="Arial (Body)"/>
                <a:ea typeface="ヒラギノ角ゴ Pro W3" pitchFamily="-84" charset="-128"/>
              </a:rPr>
              <a:t>A short-run model of asset markets</a:t>
            </a:r>
          </a:p>
          <a:p>
            <a:pPr eaLnBrk="1" hangingPunct="1"/>
            <a:r>
              <a:rPr lang="en-US" altLang="en-US" sz="2200" dirty="0">
                <a:latin typeface="Arial (Body)"/>
                <a:ea typeface="ヒラギノ角ゴ Pro W3" pitchFamily="-84" charset="-128"/>
              </a:rPr>
              <a:t>A short-run model for both output markets and asset markets </a:t>
            </a:r>
          </a:p>
          <a:p>
            <a:pPr eaLnBrk="1" hangingPunct="1"/>
            <a:r>
              <a:rPr lang="en-US" altLang="en-US" sz="2200" dirty="0">
                <a:latin typeface="Arial (Body)"/>
                <a:ea typeface="ヒラギノ角ゴ Pro W3" pitchFamily="-84" charset="-128"/>
              </a:rPr>
              <a:t>Effects of temporary and permanent changes in monetary and fiscal policies</a:t>
            </a:r>
          </a:p>
          <a:p>
            <a:pPr eaLnBrk="1" hangingPunct="1"/>
            <a:r>
              <a:rPr lang="en-US" altLang="en-US" sz="2200" dirty="0">
                <a:latin typeface="Arial (Body)"/>
                <a:ea typeface="ヒラギノ角ゴ Pro W3" pitchFamily="-84" charset="-128"/>
              </a:rPr>
              <a:t>Adjustment of the current account over time</a:t>
            </a:r>
          </a:p>
          <a:p>
            <a:pPr eaLnBrk="1" hangingPunct="1"/>
            <a:r>
              <a:rPr lang="en-US" altLang="en-US" sz="2200" b="1" dirty="0">
                <a:latin typeface="Arial (Body)"/>
                <a:ea typeface="ヒラギノ角ゴ Pro W3" pitchFamily="-84" charset="-128"/>
              </a:rPr>
              <a:t>I</a:t>
            </a:r>
            <a:r>
              <a:rPr lang="en-US" altLang="en-US" sz="100" b="1" dirty="0">
                <a:latin typeface="Arial (Body)"/>
                <a:ea typeface="ヒラギノ角ゴ Pro W3" pitchFamily="-84" charset="-128"/>
              </a:rPr>
              <a:t> </a:t>
            </a:r>
            <a:r>
              <a:rPr lang="en-US" altLang="en-US" sz="2200" b="1" dirty="0">
                <a:latin typeface="Arial (Body)"/>
                <a:ea typeface="ヒラギノ角ゴ Pro W3" pitchFamily="-84" charset="-128"/>
              </a:rPr>
              <a:t>S-L</a:t>
            </a:r>
            <a:r>
              <a:rPr lang="en-US" altLang="en-US" sz="100" b="1" dirty="0">
                <a:latin typeface="Arial (Body)"/>
                <a:ea typeface="ヒラギノ角ゴ Pro W3" pitchFamily="-84" charset="-128"/>
              </a:rPr>
              <a:t> </a:t>
            </a:r>
            <a:r>
              <a:rPr lang="en-US" altLang="en-US" sz="2200" b="1" dirty="0">
                <a:latin typeface="Arial (Body)"/>
                <a:ea typeface="ヒラギノ角ゴ Pro W3" pitchFamily="-84" charset="-128"/>
              </a:rPr>
              <a:t>M</a:t>
            </a:r>
            <a:r>
              <a:rPr lang="en-US" altLang="en-US" sz="2200" dirty="0">
                <a:latin typeface="Arial (Body)"/>
                <a:ea typeface="ヒラギノ角ゴ Pro W3" pitchFamily="-84" charset="-128"/>
              </a:rPr>
              <a:t> model</a:t>
            </a:r>
          </a:p>
        </p:txBody>
      </p:sp>
    </p:spTree>
    <p:extLst>
      <p:ext uri="{BB962C8B-B14F-4D97-AF65-F5344CB8AC3E}">
        <p14:creationId xmlns:p14="http://schemas.microsoft.com/office/powerpoint/2010/main" val="4261554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28BF2-8C6B-47A1-A5B1-FC10465C5BEF}"/>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Introduction</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CB8571BC-E5EC-403B-95F7-84EB555FBCDA}"/>
              </a:ext>
            </a:extLst>
          </p:cNvPr>
          <p:cNvSpPr>
            <a:spLocks noGrp="1"/>
          </p:cNvSpPr>
          <p:nvPr>
            <p:ph sz="quarter" idx="13"/>
          </p:nvPr>
        </p:nvSpPr>
        <p:spPr>
          <a:xfrm>
            <a:off x="457200" y="1556326"/>
            <a:ext cx="8229600" cy="4650509"/>
          </a:xfrm>
        </p:spPr>
        <p:txBody>
          <a:bodyPr/>
          <a:lstStyle/>
          <a:p>
            <a:pPr eaLnBrk="1" hangingPunct="1"/>
            <a:r>
              <a:rPr lang="en-US" altLang="en-US" dirty="0">
                <a:latin typeface="Arial (Body)"/>
                <a:ea typeface="ヒラギノ角ゴ Pro W3" pitchFamily="-84" charset="-128"/>
              </a:rPr>
              <a:t>Long-run models are useful when all prices of inputs and outputs have time to adjust.</a:t>
            </a:r>
          </a:p>
          <a:p>
            <a:pPr eaLnBrk="1" hangingPunct="1"/>
            <a:r>
              <a:rPr lang="en-US" altLang="en-US" dirty="0">
                <a:latin typeface="Arial (Body)"/>
                <a:ea typeface="ヒラギノ角ゴ Pro W3" pitchFamily="-84" charset="-128"/>
              </a:rPr>
              <a:t>In the short run, some prices of inputs and outputs may not have time to adjust, due to labor contracts, costs of adjustment, or imperfect information about willingness of customers to pay at different prices.</a:t>
            </a:r>
          </a:p>
          <a:p>
            <a:pPr eaLnBrk="1" hangingPunct="1"/>
            <a:r>
              <a:rPr lang="en-US" altLang="en-US" dirty="0">
                <a:latin typeface="Arial (Body)"/>
                <a:ea typeface="ヒラギノ角ゴ Pro W3" pitchFamily="-84" charset="-128"/>
              </a:rPr>
              <a:t>This chapter builds on the short-run and long-run models of exchange rates to explain how output is related to exchange rates in the short run.</a:t>
            </a:r>
          </a:p>
          <a:p>
            <a:pPr lvl="1" eaLnBrk="1" hangingPunct="1"/>
            <a:r>
              <a:rPr lang="en-US" altLang="en-US" dirty="0">
                <a:latin typeface="Arial (Body)"/>
                <a:ea typeface="ヒラギノ角ゴ Pro W3" pitchFamily="-84" charset="-128"/>
              </a:rPr>
              <a:t>It shows how macroeconomic policies can affect production, employment, and the current account.</a:t>
            </a:r>
          </a:p>
        </p:txBody>
      </p:sp>
    </p:spTree>
    <p:extLst>
      <p:ext uri="{BB962C8B-B14F-4D97-AF65-F5344CB8AC3E}">
        <p14:creationId xmlns:p14="http://schemas.microsoft.com/office/powerpoint/2010/main" val="1679607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C9FC-ACBC-4FB5-9AD6-BB8D49ABF374}"/>
              </a:ext>
            </a:extLst>
          </p:cNvPr>
          <p:cNvSpPr>
            <a:spLocks noGrp="1"/>
          </p:cNvSpPr>
          <p:nvPr>
            <p:ph type="title"/>
          </p:nvPr>
        </p:nvSpPr>
        <p:spPr/>
        <p:txBody>
          <a:bodyPr/>
          <a:lstStyle/>
          <a:p>
            <a:r>
              <a:rPr lang="en-US" altLang="en-US" sz="3200" dirty="0">
                <a:ea typeface="ヒラギノ角ゴ Pro W3" pitchFamily="-84" charset="-128"/>
              </a:rPr>
              <a:t>Determinants of Aggregate Demand </a:t>
            </a:r>
            <a:r>
              <a:rPr lang="en-US" altLang="en-US" sz="2000" b="0" dirty="0">
                <a:ea typeface="ヒラギノ角ゴ Pro W3" pitchFamily="-84" charset="-128"/>
              </a:rPr>
              <a:t>(1 of 3)</a:t>
            </a:r>
            <a:endParaRPr lang="en-IN" sz="2000" dirty="0"/>
          </a:p>
        </p:txBody>
      </p:sp>
      <p:sp>
        <p:nvSpPr>
          <p:cNvPr id="3" name="Content Placeholder 2">
            <a:extLst>
              <a:ext uri="{FF2B5EF4-FFF2-40B4-BE49-F238E27FC236}">
                <a16:creationId xmlns:a16="http://schemas.microsoft.com/office/drawing/2014/main" id="{E96A0A4C-0D68-4558-86EA-CE30D1CB20E3}"/>
              </a:ext>
            </a:extLst>
          </p:cNvPr>
          <p:cNvSpPr>
            <a:spLocks noGrp="1"/>
          </p:cNvSpPr>
          <p:nvPr>
            <p:ph sz="quarter" idx="13"/>
          </p:nvPr>
        </p:nvSpPr>
        <p:spPr>
          <a:xfrm>
            <a:off x="457200" y="1556327"/>
            <a:ext cx="8229600" cy="1276083"/>
          </a:xfrm>
        </p:spPr>
        <p:txBody>
          <a:bodyPr/>
          <a:lstStyle/>
          <a:p>
            <a:r>
              <a:rPr lang="en-US" altLang="en-US" b="1" dirty="0">
                <a:ea typeface="ヒラギノ角ゴ Pro W3" pitchFamily="-84" charset="-128"/>
              </a:rPr>
              <a:t>Aggregate demand</a:t>
            </a:r>
            <a:r>
              <a:rPr lang="en-US" altLang="en-US" i="1" dirty="0">
                <a:solidFill>
                  <a:srgbClr val="FF0000"/>
                </a:solidFill>
                <a:ea typeface="ヒラギノ角ゴ Pro W3" pitchFamily="-84" charset="-128"/>
              </a:rPr>
              <a:t> </a:t>
            </a:r>
            <a:r>
              <a:rPr lang="en-US" altLang="en-US" dirty="0">
                <a:ea typeface="ヒラギノ角ゴ Pro W3" pitchFamily="-84" charset="-128"/>
              </a:rPr>
              <a:t>is the aggregate amount of goods and services that individuals and institutions are willing to buy:</a:t>
            </a:r>
          </a:p>
        </p:txBody>
      </p:sp>
      <p:sp>
        <p:nvSpPr>
          <p:cNvPr id="4" name="Content Placeholder 3">
            <a:extLst>
              <a:ext uri="{FF2B5EF4-FFF2-40B4-BE49-F238E27FC236}">
                <a16:creationId xmlns:a16="http://schemas.microsoft.com/office/drawing/2014/main" id="{7070897B-73DC-48E2-A3F8-3B6F4172FD10}"/>
              </a:ext>
            </a:extLst>
          </p:cNvPr>
          <p:cNvSpPr>
            <a:spLocks noGrp="1"/>
          </p:cNvSpPr>
          <p:nvPr>
            <p:ph sz="quarter" idx="14"/>
          </p:nvPr>
        </p:nvSpPr>
        <p:spPr>
          <a:xfrm>
            <a:off x="457200" y="2957164"/>
            <a:ext cx="8229600" cy="2228153"/>
          </a:xfrm>
        </p:spPr>
        <p:txBody>
          <a:bodyPr/>
          <a:lstStyle/>
          <a:p>
            <a:pPr marL="741600" lvl="1" indent="-428400">
              <a:buFont typeface="+mj-lt"/>
              <a:buAutoNum type="arabicPeriod"/>
            </a:pPr>
            <a:r>
              <a:rPr lang="en-US" dirty="0"/>
              <a:t>consumption expenditure</a:t>
            </a:r>
          </a:p>
          <a:p>
            <a:pPr marL="741600" lvl="1" indent="-428400">
              <a:buFont typeface="+mj-lt"/>
              <a:buAutoNum type="arabicPeriod"/>
            </a:pPr>
            <a:r>
              <a:rPr lang="en-US" dirty="0"/>
              <a:t>investment expenditure</a:t>
            </a:r>
          </a:p>
          <a:p>
            <a:pPr marL="741600" lvl="1" indent="-428400">
              <a:buFont typeface="+mj-lt"/>
              <a:buAutoNum type="arabicPeriod"/>
            </a:pPr>
            <a:r>
              <a:rPr lang="en-US" dirty="0"/>
              <a:t>government purchases</a:t>
            </a:r>
          </a:p>
          <a:p>
            <a:pPr marL="741600" lvl="1" indent="-428400">
              <a:buFont typeface="+mj-lt"/>
              <a:buAutoNum type="arabicPeriod"/>
            </a:pPr>
            <a:r>
              <a:rPr lang="en-US" dirty="0"/>
              <a:t>net expenditure by foreigners: the current account</a:t>
            </a:r>
            <a:endParaRPr lang="en-IN" dirty="0"/>
          </a:p>
        </p:txBody>
      </p:sp>
    </p:spTree>
    <p:extLst>
      <p:ext uri="{BB962C8B-B14F-4D97-AF65-F5344CB8AC3E}">
        <p14:creationId xmlns:p14="http://schemas.microsoft.com/office/powerpoint/2010/main" val="1633737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C9FC-ACBC-4FB5-9AD6-BB8D49ABF374}"/>
              </a:ext>
            </a:extLst>
          </p:cNvPr>
          <p:cNvSpPr>
            <a:spLocks noGrp="1"/>
          </p:cNvSpPr>
          <p:nvPr>
            <p:ph type="title"/>
          </p:nvPr>
        </p:nvSpPr>
        <p:spPr/>
        <p:txBody>
          <a:bodyPr/>
          <a:lstStyle/>
          <a:p>
            <a:r>
              <a:rPr lang="en-US" altLang="en-US" sz="3200" dirty="0">
                <a:ea typeface="ヒラギノ角ゴ Pro W3" pitchFamily="-84" charset="-128"/>
              </a:rPr>
              <a:t>Determinants of Aggregate Demand </a:t>
            </a:r>
            <a:r>
              <a:rPr lang="en-US" altLang="en-US" sz="2000" b="0" dirty="0">
                <a:ea typeface="ヒラギノ角ゴ Pro W3" pitchFamily="-84" charset="-128"/>
              </a:rPr>
              <a:t>(2 of 3)</a:t>
            </a:r>
            <a:endParaRPr lang="en-IN" sz="2000" dirty="0"/>
          </a:p>
        </p:txBody>
      </p:sp>
      <p:sp>
        <p:nvSpPr>
          <p:cNvPr id="3" name="Content Placeholder 2">
            <a:extLst>
              <a:ext uri="{FF2B5EF4-FFF2-40B4-BE49-F238E27FC236}">
                <a16:creationId xmlns:a16="http://schemas.microsoft.com/office/drawing/2014/main" id="{E96A0A4C-0D68-4558-86EA-CE30D1CB20E3}"/>
              </a:ext>
            </a:extLst>
          </p:cNvPr>
          <p:cNvSpPr>
            <a:spLocks noGrp="1"/>
          </p:cNvSpPr>
          <p:nvPr>
            <p:ph sz="quarter" idx="13"/>
          </p:nvPr>
        </p:nvSpPr>
        <p:spPr>
          <a:xfrm>
            <a:off x="457200" y="1556327"/>
            <a:ext cx="8229600" cy="4643751"/>
          </a:xfrm>
        </p:spPr>
        <p:txBody>
          <a:bodyPr/>
          <a:lstStyle/>
          <a:p>
            <a:pPr eaLnBrk="1" hangingPunct="1"/>
            <a:r>
              <a:rPr lang="en-US" altLang="en-US" dirty="0">
                <a:latin typeface="Arial (Body)"/>
                <a:ea typeface="ヒラギノ角ゴ Pro W3" pitchFamily="-84" charset="-128"/>
              </a:rPr>
              <a:t>Determinants of consumption expenditure include:</a:t>
            </a:r>
          </a:p>
          <a:p>
            <a:pPr lvl="1" eaLnBrk="1" hangingPunct="1"/>
            <a:r>
              <a:rPr lang="en-US" altLang="en-US" b="1" dirty="0">
                <a:latin typeface="Arial (Body)"/>
                <a:ea typeface="ヒラギノ角ゴ Pro W3" pitchFamily="-84" charset="-128"/>
              </a:rPr>
              <a:t>Disposable income</a:t>
            </a:r>
            <a:r>
              <a:rPr lang="en-US" altLang="en-US" dirty="0">
                <a:latin typeface="Arial (Body)"/>
                <a:ea typeface="ヒラギノ角ゴ Pro W3" pitchFamily="-84" charset="-128"/>
              </a:rPr>
              <a:t>: income from production (</a:t>
            </a:r>
            <a:r>
              <a:rPr lang="en-US" altLang="en-US" i="1" dirty="0">
                <a:latin typeface="Arial (Body)"/>
                <a:ea typeface="ヒラギノ角ゴ Pro W3" pitchFamily="-84" charset="-128"/>
              </a:rPr>
              <a:t>Y</a:t>
            </a:r>
            <a:r>
              <a:rPr lang="en-US" altLang="en-US" dirty="0">
                <a:latin typeface="Arial (Body)"/>
                <a:ea typeface="ヒラギノ角ゴ Pro W3" pitchFamily="-84" charset="-128"/>
              </a:rPr>
              <a:t>) minus taxes (</a:t>
            </a:r>
            <a:r>
              <a:rPr lang="en-US" altLang="en-US" i="1" dirty="0">
                <a:latin typeface="Arial (Body)"/>
                <a:ea typeface="ヒラギノ角ゴ Pro W3" pitchFamily="-84" charset="-128"/>
              </a:rPr>
              <a:t>T</a:t>
            </a:r>
            <a:r>
              <a:rPr lang="en-US" altLang="en-US" dirty="0">
                <a:latin typeface="Arial (Body)"/>
                <a:ea typeface="ヒラギノ角ゴ Pro W3" pitchFamily="-84" charset="-128"/>
              </a:rPr>
              <a:t>). </a:t>
            </a:r>
          </a:p>
          <a:p>
            <a:pPr lvl="1" eaLnBrk="1" hangingPunct="1"/>
            <a:r>
              <a:rPr lang="en-US" altLang="en-US" dirty="0">
                <a:latin typeface="Arial (Body)"/>
                <a:ea typeface="ヒラギノ角ゴ Pro W3" pitchFamily="-84" charset="-128"/>
              </a:rPr>
              <a:t>More disposable income means more consumption expenditure, but consumption typically increases less than the amount that disposable income increases.</a:t>
            </a:r>
          </a:p>
          <a:p>
            <a:pPr lvl="1" eaLnBrk="1" hangingPunct="1"/>
            <a:r>
              <a:rPr lang="en-US" altLang="en-US" dirty="0">
                <a:latin typeface="Arial (Body)"/>
                <a:ea typeface="ヒラギノ角ゴ Pro W3" pitchFamily="-84" charset="-128"/>
              </a:rPr>
              <a:t>Real interest rates may influence the amount of saving and spending on consumption goods, but we assume that they are relatively unimportant here.</a:t>
            </a:r>
          </a:p>
          <a:p>
            <a:pPr lvl="1" eaLnBrk="1" hangingPunct="1"/>
            <a:r>
              <a:rPr lang="en-US" altLang="en-US" dirty="0">
                <a:latin typeface="Arial (Body)"/>
                <a:ea typeface="ヒラギノ角ゴ Pro W3" pitchFamily="-84" charset="-128"/>
              </a:rPr>
              <a:t>Wealth may also influence consumption expenditure, but we assume that it is relatively unimportant here.</a:t>
            </a:r>
          </a:p>
        </p:txBody>
      </p:sp>
    </p:spTree>
    <p:extLst>
      <p:ext uri="{BB962C8B-B14F-4D97-AF65-F5344CB8AC3E}">
        <p14:creationId xmlns:p14="http://schemas.microsoft.com/office/powerpoint/2010/main" val="3404979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C9FC-ACBC-4FB5-9AD6-BB8D49ABF374}"/>
              </a:ext>
            </a:extLst>
          </p:cNvPr>
          <p:cNvSpPr>
            <a:spLocks noGrp="1"/>
          </p:cNvSpPr>
          <p:nvPr>
            <p:ph type="title"/>
          </p:nvPr>
        </p:nvSpPr>
        <p:spPr/>
        <p:txBody>
          <a:bodyPr/>
          <a:lstStyle/>
          <a:p>
            <a:r>
              <a:rPr lang="en-US" altLang="en-US" sz="3200" dirty="0">
                <a:ea typeface="ヒラギノ角ゴ Pro W3" pitchFamily="-84" charset="-128"/>
              </a:rPr>
              <a:t>Determinants of Aggregate Demand </a:t>
            </a:r>
            <a:r>
              <a:rPr lang="en-US" altLang="en-US" sz="2000" b="0" dirty="0">
                <a:ea typeface="ヒラギノ角ゴ Pro W3" pitchFamily="-84" charset="-128"/>
              </a:rPr>
              <a:t>(3 of 3)</a:t>
            </a:r>
            <a:endParaRPr lang="en-IN" sz="2000" dirty="0"/>
          </a:p>
        </p:txBody>
      </p:sp>
      <p:sp>
        <p:nvSpPr>
          <p:cNvPr id="3" name="Content Placeholder 2">
            <a:extLst>
              <a:ext uri="{FF2B5EF4-FFF2-40B4-BE49-F238E27FC236}">
                <a16:creationId xmlns:a16="http://schemas.microsoft.com/office/drawing/2014/main" id="{E96A0A4C-0D68-4558-86EA-CE30D1CB20E3}"/>
              </a:ext>
            </a:extLst>
          </p:cNvPr>
          <p:cNvSpPr>
            <a:spLocks noGrp="1"/>
          </p:cNvSpPr>
          <p:nvPr>
            <p:ph sz="quarter" idx="13"/>
          </p:nvPr>
        </p:nvSpPr>
        <p:spPr>
          <a:xfrm>
            <a:off x="466602" y="1552575"/>
            <a:ext cx="8220197" cy="1251957"/>
          </a:xfrm>
        </p:spPr>
        <p:txBody>
          <a:bodyPr/>
          <a:lstStyle/>
          <a:p>
            <a:pPr eaLnBrk="1" hangingPunct="1"/>
            <a:r>
              <a:rPr lang="en-US" altLang="en-US" sz="2200" dirty="0">
                <a:latin typeface="Arial (Body)"/>
                <a:ea typeface="ヒラギノ角ゴ Pro W3" pitchFamily="-84" charset="-128"/>
              </a:rPr>
              <a:t>Determinants of the current account include:</a:t>
            </a:r>
          </a:p>
          <a:p>
            <a:pPr lvl="1" eaLnBrk="1" hangingPunct="1"/>
            <a:r>
              <a:rPr lang="en-US" altLang="en-US" sz="2200" b="1" dirty="0">
                <a:latin typeface="Arial (Body)"/>
                <a:ea typeface="ヒラギノ角ゴ Pro W3" pitchFamily="-84" charset="-128"/>
              </a:rPr>
              <a:t>Real exchange rate</a:t>
            </a:r>
            <a:r>
              <a:rPr lang="en-US" altLang="en-US" sz="2200" dirty="0">
                <a:latin typeface="Arial (Body)"/>
                <a:ea typeface="ヒラギノ角ゴ Pro W3" pitchFamily="-84" charset="-128"/>
              </a:rPr>
              <a:t>: prices of foreign products relative to the prices of domestic products, both measured in</a:t>
            </a:r>
            <a:endParaRPr lang="en-US" altLang="en-US" sz="2200" i="1" dirty="0">
              <a:latin typeface="Arial (Body)"/>
              <a:ea typeface="ヒラギノ角ゴ Pro W3" pitchFamily="-84" charset="-128"/>
            </a:endParaRPr>
          </a:p>
        </p:txBody>
      </p:sp>
      <p:sp>
        <p:nvSpPr>
          <p:cNvPr id="4" name="Content Placeholder 3">
            <a:extLst>
              <a:ext uri="{FF2B5EF4-FFF2-40B4-BE49-F238E27FC236}">
                <a16:creationId xmlns:a16="http://schemas.microsoft.com/office/drawing/2014/main" id="{59439170-0B65-4A6D-AB55-FDD887C34153}"/>
              </a:ext>
            </a:extLst>
          </p:cNvPr>
          <p:cNvSpPr>
            <a:spLocks noGrp="1"/>
          </p:cNvSpPr>
          <p:nvPr>
            <p:ph sz="quarter" idx="14"/>
          </p:nvPr>
        </p:nvSpPr>
        <p:spPr>
          <a:xfrm>
            <a:off x="457199" y="2934361"/>
            <a:ext cx="3325092" cy="376876"/>
          </a:xfrm>
        </p:spPr>
        <p:txBody>
          <a:bodyPr tIns="0"/>
          <a:lstStyle/>
          <a:p>
            <a:pPr marL="741600" lvl="1" indent="0">
              <a:buNone/>
            </a:pPr>
            <a:r>
              <a:rPr lang="en-US" altLang="en-US" sz="2200" dirty="0">
                <a:latin typeface="Arial (Body)"/>
                <a:ea typeface="ヒラギノ角ゴ Pro W3" pitchFamily="-84" charset="-128"/>
              </a:rPr>
              <a:t>domestic currency:</a:t>
            </a:r>
            <a:endParaRPr lang="en-US" sz="2200" dirty="0">
              <a:latin typeface="Arial (Body)"/>
            </a:endParaRPr>
          </a:p>
        </p:txBody>
      </p:sp>
      <p:graphicFrame>
        <p:nvGraphicFramePr>
          <p:cNvPr id="6" name="Object 5" descr="start fraction W P asterisk over P end fraction">
            <a:extLst>
              <a:ext uri="{FF2B5EF4-FFF2-40B4-BE49-F238E27FC236}">
                <a16:creationId xmlns:a16="http://schemas.microsoft.com/office/drawing/2014/main" id="{9FC6B9F0-0B5D-4046-85EA-CD98137F3AD6}"/>
              </a:ext>
            </a:extLst>
          </p:cNvPr>
          <p:cNvGraphicFramePr>
            <a:graphicFrameLocks noChangeAspect="1"/>
          </p:cNvGraphicFramePr>
          <p:nvPr>
            <p:extLst>
              <p:ext uri="{D42A27DB-BD31-4B8C-83A1-F6EECF244321}">
                <p14:modId xmlns:p14="http://schemas.microsoft.com/office/powerpoint/2010/main" val="1823560809"/>
              </p:ext>
            </p:extLst>
          </p:nvPr>
        </p:nvGraphicFramePr>
        <p:xfrm>
          <a:off x="3830638" y="2846388"/>
          <a:ext cx="596900" cy="576262"/>
        </p:xfrm>
        <a:graphic>
          <a:graphicData uri="http://schemas.openxmlformats.org/presentationml/2006/ole">
            <mc:AlternateContent xmlns:mc="http://schemas.openxmlformats.org/markup-compatibility/2006">
              <mc:Choice xmlns:v="urn:schemas-microsoft-com:vml" Requires="v">
                <p:oleObj name="Equation" r:id="rId2" imgW="406080" imgH="393480" progId="Equation.DSMT4">
                  <p:embed/>
                </p:oleObj>
              </mc:Choice>
              <mc:Fallback>
                <p:oleObj name="Equation" r:id="rId2" imgW="406080" imgH="393480" progId="Equation.DSMT4">
                  <p:embed/>
                  <p:pic>
                    <p:nvPicPr>
                      <p:cNvPr id="0" name=""/>
                      <p:cNvPicPr/>
                      <p:nvPr/>
                    </p:nvPicPr>
                    <p:blipFill>
                      <a:blip r:embed="rId3"/>
                      <a:stretch>
                        <a:fillRect/>
                      </a:stretch>
                    </p:blipFill>
                    <p:spPr>
                      <a:xfrm>
                        <a:off x="3830638" y="2846388"/>
                        <a:ext cx="596900" cy="576262"/>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7E6FF21A-655D-4EA6-BBA9-3E110EA1D05A}"/>
              </a:ext>
            </a:extLst>
          </p:cNvPr>
          <p:cNvSpPr>
            <a:spLocks noGrp="1"/>
          </p:cNvSpPr>
          <p:nvPr>
            <p:ph sz="quarter" idx="15"/>
          </p:nvPr>
        </p:nvSpPr>
        <p:spPr>
          <a:xfrm>
            <a:off x="457199" y="3493408"/>
            <a:ext cx="8229601" cy="2311981"/>
          </a:xfrm>
        </p:spPr>
        <p:txBody>
          <a:bodyPr/>
          <a:lstStyle/>
          <a:p>
            <a:pPr lvl="2"/>
            <a:r>
              <a:rPr lang="en-US" altLang="en-US" sz="2200" dirty="0">
                <a:latin typeface="Arial (Body)"/>
                <a:ea typeface="ヒラギノ角ゴ Pro W3" pitchFamily="-84" charset="-128"/>
              </a:rPr>
              <a:t>As the prices of foreign products rise relative to those of domestic products, expenditure on domestic products rises, and expenditure on foreign products falls.</a:t>
            </a:r>
          </a:p>
          <a:p>
            <a:pPr lvl="1"/>
            <a:r>
              <a:rPr lang="en-US" altLang="en-US" sz="2200" b="1" dirty="0">
                <a:latin typeface="Arial (Body)"/>
                <a:ea typeface="ヒラギノ角ゴ Pro W3" pitchFamily="-84" charset="-128"/>
              </a:rPr>
              <a:t>Disposable income</a:t>
            </a:r>
            <a:r>
              <a:rPr lang="en-US" altLang="en-US" sz="2200" dirty="0">
                <a:latin typeface="Arial (Body)"/>
                <a:ea typeface="ヒラギノ角ゴ Pro W3" pitchFamily="-84" charset="-128"/>
              </a:rPr>
              <a:t>: more disposable income means more expenditure on foreign products (imports).</a:t>
            </a:r>
            <a:endParaRPr lang="en-US" sz="2200" dirty="0"/>
          </a:p>
        </p:txBody>
      </p:sp>
    </p:spTree>
    <p:extLst>
      <p:ext uri="{BB962C8B-B14F-4D97-AF65-F5344CB8AC3E}">
        <p14:creationId xmlns:p14="http://schemas.microsoft.com/office/powerpoint/2010/main" val="3501440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88AD8-770F-4565-A9C3-3A27EED13741}"/>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Table 17.1 Factors Determining the Current Account</a:t>
            </a:r>
            <a:endParaRPr lang="en-IN" sz="3200" dirty="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B46C6CBF-350B-49A3-AFB2-DB3A9DA35780}"/>
              </a:ext>
            </a:extLst>
          </p:cNvPr>
          <p:cNvGraphicFramePr>
            <a:graphicFrameLocks noGrp="1"/>
          </p:cNvGraphicFramePr>
          <p:nvPr>
            <p:ph sz="quarter" idx="13"/>
            <p:extLst>
              <p:ext uri="{D42A27DB-BD31-4B8C-83A1-F6EECF244321}">
                <p14:modId xmlns:p14="http://schemas.microsoft.com/office/powerpoint/2010/main" val="1966166752"/>
              </p:ext>
            </p:extLst>
          </p:nvPr>
        </p:nvGraphicFramePr>
        <p:xfrm>
          <a:off x="457200" y="1842655"/>
          <a:ext cx="8229600" cy="3855619"/>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2309237395"/>
                    </a:ext>
                  </a:extLst>
                </a:gridCol>
                <a:gridCol w="4114800">
                  <a:extLst>
                    <a:ext uri="{9D8B030D-6E8A-4147-A177-3AD203B41FA5}">
                      <a16:colId xmlns:a16="http://schemas.microsoft.com/office/drawing/2014/main" val="3222235252"/>
                    </a:ext>
                  </a:extLst>
                </a:gridCol>
              </a:tblGrid>
              <a:tr h="541599">
                <a:tc>
                  <a:txBody>
                    <a:bodyPr/>
                    <a:lstStyle/>
                    <a:p>
                      <a:pPr algn="ctr"/>
                      <a:r>
                        <a:rPr lang="en-IN" sz="1600" b="1" dirty="0"/>
                        <a:t>Change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b="1" dirty="0"/>
                        <a:t>Effect on Current Account, </a:t>
                      </a:r>
                      <a:r>
                        <a:rPr lang="en-IN" sz="1600" b="1" i="1" dirty="0"/>
                        <a:t>C</a:t>
                      </a:r>
                      <a:r>
                        <a:rPr lang="en-IN" sz="100" b="1" i="1" dirty="0"/>
                        <a:t> </a:t>
                      </a:r>
                      <a:r>
                        <a:rPr lang="en-IN" sz="1600" b="1" i="1" dirty="0"/>
                        <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0595605"/>
                  </a:ext>
                </a:extLst>
              </a:tr>
              <a:tr h="828505">
                <a:tc>
                  <a:txBody>
                    <a:bodyPr/>
                    <a:lstStyle/>
                    <a:p>
                      <a:r>
                        <a:rPr lang="en-IN" sz="1600" b="0" i="0" u="none" strike="noStrike" cap="none" baseline="0" dirty="0">
                          <a:solidFill>
                            <a:schemeClr val="tx1"/>
                          </a:solidFill>
                          <a:latin typeface="+mn-lt"/>
                          <a:ea typeface="+mn-ea"/>
                          <a:cs typeface="+mn-cs"/>
                          <a:sym typeface="Arial"/>
                        </a:rPr>
                        <a:t>Real exchange rate,         </a:t>
                      </a:r>
                      <a:r>
                        <a:rPr lang="en-US" sz="100" b="0" i="0" u="none" strike="noStrike" cap="none" dirty="0">
                          <a:solidFill>
                            <a:schemeClr val="tx1"/>
                          </a:solidFill>
                          <a:effectLst/>
                          <a:latin typeface="+mn-lt"/>
                          <a:ea typeface="+mn-ea"/>
                          <a:cs typeface="+mn-cs"/>
                          <a:sym typeface="Arial"/>
                        </a:rPr>
                        <a:t>start fraction E P asterisk over P end fraction upward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C A upward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5366716"/>
                  </a:ext>
                </a:extLst>
              </a:tr>
              <a:tr h="828505">
                <a:tc>
                  <a:txBody>
                    <a:bodyPr/>
                    <a:lstStyle/>
                    <a:p>
                      <a:r>
                        <a:rPr lang="en-IN" sz="1600" b="0" i="0" u="none" strike="noStrike" cap="none" baseline="0" dirty="0">
                          <a:solidFill>
                            <a:schemeClr val="tx1"/>
                          </a:solidFill>
                          <a:latin typeface="+mn-lt"/>
                          <a:ea typeface="+mn-ea"/>
                          <a:cs typeface="+mn-cs"/>
                          <a:sym typeface="Arial"/>
                        </a:rPr>
                        <a:t>Real exchange rate,        </a:t>
                      </a:r>
                      <a:r>
                        <a:rPr lang="en-US" sz="100" b="0" i="0" u="none" strike="noStrike" cap="none" dirty="0">
                          <a:solidFill>
                            <a:schemeClr val="tx1"/>
                          </a:solidFill>
                          <a:effectLst/>
                          <a:latin typeface="+mn-lt"/>
                          <a:ea typeface="+mn-ea"/>
                          <a:cs typeface="+mn-cs"/>
                          <a:sym typeface="Arial"/>
                        </a:rPr>
                        <a:t>start fraction E P asterisk over P end fraction downward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C A downward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20536141"/>
                  </a:ext>
                </a:extLst>
              </a:tr>
              <a:tr h="828505">
                <a:tc>
                  <a:txBody>
                    <a:bodyPr/>
                    <a:lstStyle/>
                    <a:p>
                      <a:r>
                        <a:rPr lang="en-IN" sz="1600" b="0" i="0" u="none" strike="noStrike" cap="none" baseline="0" dirty="0">
                          <a:solidFill>
                            <a:schemeClr val="tx1"/>
                          </a:solidFill>
                          <a:latin typeface="+mn-lt"/>
                          <a:ea typeface="+mn-ea"/>
                          <a:cs typeface="+mn-cs"/>
                          <a:sym typeface="Arial"/>
                        </a:rPr>
                        <a:t>Disposable income,          </a:t>
                      </a:r>
                      <a:r>
                        <a:rPr lang="en-US" sz="100" b="0" i="0" u="none" strike="noStrike" cap="none" dirty="0">
                          <a:solidFill>
                            <a:schemeClr val="tx1"/>
                          </a:solidFill>
                          <a:effectLst/>
                          <a:latin typeface="+mn-lt"/>
                          <a:ea typeface="+mn-ea"/>
                          <a:cs typeface="+mn-cs"/>
                          <a:sym typeface="Arial"/>
                        </a:rPr>
                        <a:t>Y super d upward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C A downward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92178548"/>
                  </a:ext>
                </a:extLst>
              </a:tr>
              <a:tr h="828505">
                <a:tc>
                  <a:txBody>
                    <a:bodyPr/>
                    <a:lstStyle/>
                    <a:p>
                      <a:r>
                        <a:rPr lang="en-IN" sz="1600" b="0" i="0" u="none" strike="noStrike" cap="none" baseline="0" dirty="0">
                          <a:solidFill>
                            <a:schemeClr val="tx1"/>
                          </a:solidFill>
                          <a:latin typeface="+mn-lt"/>
                          <a:ea typeface="+mn-ea"/>
                          <a:cs typeface="+mn-cs"/>
                          <a:sym typeface="Arial"/>
                        </a:rPr>
                        <a:t>Disposable income,         </a:t>
                      </a:r>
                      <a:r>
                        <a:rPr lang="en-US" sz="100" b="0" i="0" u="none" strike="noStrike" cap="none" dirty="0">
                          <a:solidFill>
                            <a:schemeClr val="tx1"/>
                          </a:solidFill>
                          <a:effectLst/>
                          <a:latin typeface="+mn-lt"/>
                          <a:ea typeface="+mn-ea"/>
                          <a:cs typeface="+mn-cs"/>
                          <a:sym typeface="Arial"/>
                        </a:rPr>
                        <a:t>Y super d downward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C A upward arrow</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6777718"/>
                  </a:ext>
                </a:extLst>
              </a:tr>
            </a:tbl>
          </a:graphicData>
        </a:graphic>
      </p:graphicFrame>
      <p:graphicFrame>
        <p:nvGraphicFramePr>
          <p:cNvPr id="5" name="Object 4">
            <a:extLst>
              <a:ext uri="{FF2B5EF4-FFF2-40B4-BE49-F238E27FC236}">
                <a16:creationId xmlns:a16="http://schemas.microsoft.com/office/drawing/2014/main" id="{017AF25E-9FB9-4C4F-A8FC-385FE477022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7941387"/>
              </p:ext>
            </p:extLst>
          </p:nvPr>
        </p:nvGraphicFramePr>
        <p:xfrm>
          <a:off x="2515900" y="2429941"/>
          <a:ext cx="687387" cy="612775"/>
        </p:xfrm>
        <a:graphic>
          <a:graphicData uri="http://schemas.openxmlformats.org/presentationml/2006/ole">
            <mc:AlternateContent xmlns:mc="http://schemas.openxmlformats.org/markup-compatibility/2006">
              <mc:Choice xmlns:v="urn:schemas-microsoft-com:vml" Requires="v">
                <p:oleObj name="Equation" r:id="rId2" imgW="469800" imgH="419040" progId="Equation.DSMT4">
                  <p:embed/>
                </p:oleObj>
              </mc:Choice>
              <mc:Fallback>
                <p:oleObj name="Equation" r:id="rId2" imgW="469800" imgH="419040" progId="Equation.DSMT4">
                  <p:embed/>
                  <p:pic>
                    <p:nvPicPr>
                      <p:cNvPr id="6" name="Object 5">
                        <a:extLst>
                          <a:ext uri="{FF2B5EF4-FFF2-40B4-BE49-F238E27FC236}">
                            <a16:creationId xmlns:a16="http://schemas.microsoft.com/office/drawing/2014/main" id="{9FC6B9F0-0B5D-4046-85EA-CD98137F3AD6}"/>
                          </a:ext>
                        </a:extLst>
                      </p:cNvPr>
                      <p:cNvPicPr/>
                      <p:nvPr/>
                    </p:nvPicPr>
                    <p:blipFill>
                      <a:blip r:embed="rId3"/>
                      <a:stretch>
                        <a:fillRect/>
                      </a:stretch>
                    </p:blipFill>
                    <p:spPr>
                      <a:xfrm>
                        <a:off x="2515900" y="2429941"/>
                        <a:ext cx="687387" cy="612775"/>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DB360282-F779-4689-81EC-5303E007F8F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62330134"/>
              </p:ext>
            </p:extLst>
          </p:nvPr>
        </p:nvGraphicFramePr>
        <p:xfrm>
          <a:off x="6321829" y="2598686"/>
          <a:ext cx="500842" cy="276329"/>
        </p:xfrm>
        <a:graphic>
          <a:graphicData uri="http://schemas.openxmlformats.org/presentationml/2006/ole">
            <mc:AlternateContent xmlns:mc="http://schemas.openxmlformats.org/markup-compatibility/2006">
              <mc:Choice xmlns:v="urn:schemas-microsoft-com:vml" Requires="v">
                <p:oleObj name="Equation" r:id="rId4" imgW="368280" imgH="203040" progId="Equation.DSMT4">
                  <p:embed/>
                </p:oleObj>
              </mc:Choice>
              <mc:Fallback>
                <p:oleObj name="Equation" r:id="rId4" imgW="368280" imgH="203040" progId="Equation.DSMT4">
                  <p:embed/>
                  <p:pic>
                    <p:nvPicPr>
                      <p:cNvPr id="0" name=""/>
                      <p:cNvPicPr/>
                      <p:nvPr/>
                    </p:nvPicPr>
                    <p:blipFill>
                      <a:blip r:embed="rId5"/>
                      <a:stretch>
                        <a:fillRect/>
                      </a:stretch>
                    </p:blipFill>
                    <p:spPr>
                      <a:xfrm>
                        <a:off x="6321829" y="2598686"/>
                        <a:ext cx="500842" cy="276329"/>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645BDB33-AB06-40D4-8E38-84AE8BB19F5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98434210"/>
              </p:ext>
            </p:extLst>
          </p:nvPr>
        </p:nvGraphicFramePr>
        <p:xfrm>
          <a:off x="2516279" y="3333454"/>
          <a:ext cx="687981" cy="613604"/>
        </p:xfrm>
        <a:graphic>
          <a:graphicData uri="http://schemas.openxmlformats.org/presentationml/2006/ole">
            <mc:AlternateContent xmlns:mc="http://schemas.openxmlformats.org/markup-compatibility/2006">
              <mc:Choice xmlns:v="urn:schemas-microsoft-com:vml" Requires="v">
                <p:oleObj name="Equation" r:id="rId6" imgW="469800" imgH="419040" progId="Equation.DSMT4">
                  <p:embed/>
                </p:oleObj>
              </mc:Choice>
              <mc:Fallback>
                <p:oleObj name="Equation" r:id="rId6" imgW="469800" imgH="419040" progId="Equation.DSMT4">
                  <p:embed/>
                  <p:pic>
                    <p:nvPicPr>
                      <p:cNvPr id="0" name=""/>
                      <p:cNvPicPr/>
                      <p:nvPr/>
                    </p:nvPicPr>
                    <p:blipFill>
                      <a:blip r:embed="rId7"/>
                      <a:stretch>
                        <a:fillRect/>
                      </a:stretch>
                    </p:blipFill>
                    <p:spPr>
                      <a:xfrm>
                        <a:off x="2516279" y="3333454"/>
                        <a:ext cx="687981" cy="613604"/>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979E2AD4-3F0D-4FA6-9C73-AFAC4D3D23E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98581607"/>
              </p:ext>
            </p:extLst>
          </p:nvPr>
        </p:nvGraphicFramePr>
        <p:xfrm>
          <a:off x="6319720" y="3413498"/>
          <a:ext cx="505061" cy="278655"/>
        </p:xfrm>
        <a:graphic>
          <a:graphicData uri="http://schemas.openxmlformats.org/presentationml/2006/ole">
            <mc:AlternateContent xmlns:mc="http://schemas.openxmlformats.org/markup-compatibility/2006">
              <mc:Choice xmlns:v="urn:schemas-microsoft-com:vml" Requires="v">
                <p:oleObj name="Equation" r:id="rId8" imgW="368280" imgH="203040" progId="Equation.DSMT4">
                  <p:embed/>
                </p:oleObj>
              </mc:Choice>
              <mc:Fallback>
                <p:oleObj name="Equation" r:id="rId8" imgW="368280" imgH="203040" progId="Equation.DSMT4">
                  <p:embed/>
                  <p:pic>
                    <p:nvPicPr>
                      <p:cNvPr id="0" name=""/>
                      <p:cNvPicPr/>
                      <p:nvPr/>
                    </p:nvPicPr>
                    <p:blipFill>
                      <a:blip r:embed="rId9"/>
                      <a:stretch>
                        <a:fillRect/>
                      </a:stretch>
                    </p:blipFill>
                    <p:spPr>
                      <a:xfrm>
                        <a:off x="6319720" y="3413498"/>
                        <a:ext cx="505061" cy="278655"/>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C7344579-7185-465B-8A6E-83ED83932A9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51247941"/>
              </p:ext>
            </p:extLst>
          </p:nvPr>
        </p:nvGraphicFramePr>
        <p:xfrm>
          <a:off x="2509876" y="4311428"/>
          <a:ext cx="520634" cy="297505"/>
        </p:xfrm>
        <a:graphic>
          <a:graphicData uri="http://schemas.openxmlformats.org/presentationml/2006/ole">
            <mc:AlternateContent xmlns:mc="http://schemas.openxmlformats.org/markup-compatibility/2006">
              <mc:Choice xmlns:v="urn:schemas-microsoft-com:vml" Requires="v">
                <p:oleObj name="Equation" r:id="rId10" imgW="355320" imgH="203040" progId="Equation.DSMT4">
                  <p:embed/>
                </p:oleObj>
              </mc:Choice>
              <mc:Fallback>
                <p:oleObj name="Equation" r:id="rId10" imgW="355320" imgH="203040" progId="Equation.DSMT4">
                  <p:embed/>
                  <p:pic>
                    <p:nvPicPr>
                      <p:cNvPr id="0" name=""/>
                      <p:cNvPicPr/>
                      <p:nvPr/>
                    </p:nvPicPr>
                    <p:blipFill>
                      <a:blip r:embed="rId11"/>
                      <a:stretch>
                        <a:fillRect/>
                      </a:stretch>
                    </p:blipFill>
                    <p:spPr>
                      <a:xfrm>
                        <a:off x="2509876" y="4311428"/>
                        <a:ext cx="520634" cy="297505"/>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C69AFCA0-0028-4153-A7EC-7D602F052EE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97400181"/>
              </p:ext>
            </p:extLst>
          </p:nvPr>
        </p:nvGraphicFramePr>
        <p:xfrm>
          <a:off x="6302636" y="4347625"/>
          <a:ext cx="536903" cy="297505"/>
        </p:xfrm>
        <a:graphic>
          <a:graphicData uri="http://schemas.openxmlformats.org/presentationml/2006/ole">
            <mc:AlternateContent xmlns:mc="http://schemas.openxmlformats.org/markup-compatibility/2006">
              <mc:Choice xmlns:v="urn:schemas-microsoft-com:vml" Requires="v">
                <p:oleObj name="Equation" r:id="rId12" imgW="367390" imgH="202971" progId="Equation.DSMT4">
                  <p:embed/>
                </p:oleObj>
              </mc:Choice>
              <mc:Fallback>
                <p:oleObj name="Equation" r:id="rId12" imgW="367390" imgH="202971" progId="Equation.DSMT4">
                  <p:embed/>
                  <p:pic>
                    <p:nvPicPr>
                      <p:cNvPr id="0" name=""/>
                      <p:cNvPicPr/>
                      <p:nvPr/>
                    </p:nvPicPr>
                    <p:blipFill>
                      <a:blip r:embed="rId13"/>
                      <a:stretch>
                        <a:fillRect/>
                      </a:stretch>
                    </p:blipFill>
                    <p:spPr>
                      <a:xfrm>
                        <a:off x="6302636" y="4347625"/>
                        <a:ext cx="536903" cy="297505"/>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BD451B5F-1CD6-47A3-A1C5-404107AEC7A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837398683"/>
              </p:ext>
            </p:extLst>
          </p:nvPr>
        </p:nvGraphicFramePr>
        <p:xfrm>
          <a:off x="2502040" y="5101864"/>
          <a:ext cx="520634" cy="297505"/>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0" name=""/>
                      <p:cNvPicPr/>
                      <p:nvPr/>
                    </p:nvPicPr>
                    <p:blipFill>
                      <a:blip r:embed="rId15"/>
                      <a:stretch>
                        <a:fillRect/>
                      </a:stretch>
                    </p:blipFill>
                    <p:spPr>
                      <a:xfrm>
                        <a:off x="2502040" y="5101864"/>
                        <a:ext cx="520634" cy="297505"/>
                      </a:xfrm>
                      <a:prstGeom prst="rect">
                        <a:avLst/>
                      </a:prstGeom>
                      <a:solidFill>
                        <a:schemeClr val="bg1"/>
                      </a:solidFill>
                    </p:spPr>
                  </p:pic>
                </p:oleObj>
              </mc:Fallback>
            </mc:AlternateContent>
          </a:graphicData>
        </a:graphic>
      </p:graphicFrame>
      <p:graphicFrame>
        <p:nvGraphicFramePr>
          <p:cNvPr id="14" name="Object 13">
            <a:extLst>
              <a:ext uri="{FF2B5EF4-FFF2-40B4-BE49-F238E27FC236}">
                <a16:creationId xmlns:a16="http://schemas.microsoft.com/office/drawing/2014/main" id="{0F486692-40E4-48F0-8A56-4215D9D1B84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99086222"/>
              </p:ext>
            </p:extLst>
          </p:nvPr>
        </p:nvGraphicFramePr>
        <p:xfrm>
          <a:off x="6305930" y="5216234"/>
          <a:ext cx="490207" cy="270459"/>
        </p:xfrm>
        <a:graphic>
          <a:graphicData uri="http://schemas.openxmlformats.org/presentationml/2006/ole">
            <mc:AlternateContent xmlns:mc="http://schemas.openxmlformats.org/markup-compatibility/2006">
              <mc:Choice xmlns:v="urn:schemas-microsoft-com:vml" Requires="v">
                <p:oleObj name="Equation" r:id="rId16" imgW="368280" imgH="203040" progId="Equation.DSMT4">
                  <p:embed/>
                </p:oleObj>
              </mc:Choice>
              <mc:Fallback>
                <p:oleObj name="Equation" r:id="rId16" imgW="368280" imgH="203040" progId="Equation.DSMT4">
                  <p:embed/>
                  <p:pic>
                    <p:nvPicPr>
                      <p:cNvPr id="0" name=""/>
                      <p:cNvPicPr/>
                      <p:nvPr/>
                    </p:nvPicPr>
                    <p:blipFill>
                      <a:blip r:embed="rId17"/>
                      <a:stretch>
                        <a:fillRect/>
                      </a:stretch>
                    </p:blipFill>
                    <p:spPr>
                      <a:xfrm>
                        <a:off x="6305930" y="5216234"/>
                        <a:ext cx="490207" cy="270459"/>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454697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E05D-8740-4458-831B-D27A95A3BD83}"/>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How Real Exchange Rate Changes Affect the Current Account </a:t>
            </a:r>
            <a:r>
              <a:rPr lang="en-US" altLang="en-US" sz="2000" b="0" dirty="0">
                <a:ea typeface="ヒラギノ角ゴ Pro W3" pitchFamily="-84" charset="-128"/>
                <a:cs typeface="Times New Roman" panose="02020603050405020304" pitchFamily="18" charset="0"/>
              </a:rPr>
              <a:t>(1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A329E40A-220E-4B3A-8076-412F41116452}"/>
              </a:ext>
            </a:extLst>
          </p:cNvPr>
          <p:cNvSpPr>
            <a:spLocks noGrp="1"/>
          </p:cNvSpPr>
          <p:nvPr>
            <p:ph sz="quarter" idx="13"/>
          </p:nvPr>
        </p:nvSpPr>
        <p:spPr>
          <a:xfrm>
            <a:off x="457200" y="1552575"/>
            <a:ext cx="7701280" cy="410040"/>
          </a:xfrm>
        </p:spPr>
        <p:txBody>
          <a:bodyPr/>
          <a:lstStyle/>
          <a:p>
            <a:r>
              <a:rPr lang="en-US" altLang="en-US" sz="1800" dirty="0">
                <a:latin typeface="Arial (Body)"/>
                <a:ea typeface="ヒラギノ角ゴ Pro W3" pitchFamily="-84" charset="-128"/>
              </a:rPr>
              <a:t>The current account measures the value of exports relative to the value </a:t>
            </a:r>
            <a:endParaRPr lang="en-IN" sz="1800" dirty="0"/>
          </a:p>
        </p:txBody>
      </p:sp>
      <p:sp>
        <p:nvSpPr>
          <p:cNvPr id="4" name="Content Placeholder 3">
            <a:extLst>
              <a:ext uri="{FF2B5EF4-FFF2-40B4-BE49-F238E27FC236}">
                <a16:creationId xmlns:a16="http://schemas.microsoft.com/office/drawing/2014/main" id="{976D5E85-55C6-467F-ABED-8DD5E1FE92D8}"/>
              </a:ext>
            </a:extLst>
          </p:cNvPr>
          <p:cNvSpPr>
            <a:spLocks noGrp="1"/>
          </p:cNvSpPr>
          <p:nvPr>
            <p:ph sz="quarter" idx="14"/>
          </p:nvPr>
        </p:nvSpPr>
        <p:spPr>
          <a:xfrm>
            <a:off x="457201" y="2055843"/>
            <a:ext cx="1524000" cy="313284"/>
          </a:xfrm>
        </p:spPr>
        <p:txBody>
          <a:bodyPr tIns="0"/>
          <a:lstStyle/>
          <a:p>
            <a:pPr marL="255600" indent="0">
              <a:buNone/>
            </a:pPr>
            <a:r>
              <a:rPr lang="en-US" altLang="en-US" sz="1800" dirty="0">
                <a:latin typeface="Arial (Body)"/>
                <a:ea typeface="ヒラギノ角ゴ Pro W3" pitchFamily="-84" charset="-128"/>
              </a:rPr>
              <a:t>of imports:</a:t>
            </a:r>
            <a:endParaRPr lang="en-IN" sz="1800" dirty="0"/>
          </a:p>
        </p:txBody>
      </p:sp>
      <p:graphicFrame>
        <p:nvGraphicFramePr>
          <p:cNvPr id="17" name="Object 16" descr="C A approximately equals E X minus I M">
            <a:extLst>
              <a:ext uri="{FF2B5EF4-FFF2-40B4-BE49-F238E27FC236}">
                <a16:creationId xmlns:a16="http://schemas.microsoft.com/office/drawing/2014/main" id="{52390D74-7C6E-4BC8-8A32-45A74524CE70}"/>
              </a:ext>
            </a:extLst>
          </p:cNvPr>
          <p:cNvGraphicFramePr>
            <a:graphicFrameLocks noChangeAspect="1"/>
          </p:cNvGraphicFramePr>
          <p:nvPr>
            <p:extLst>
              <p:ext uri="{D42A27DB-BD31-4B8C-83A1-F6EECF244321}">
                <p14:modId xmlns:p14="http://schemas.microsoft.com/office/powerpoint/2010/main" val="1680364047"/>
              </p:ext>
            </p:extLst>
          </p:nvPr>
        </p:nvGraphicFramePr>
        <p:xfrm>
          <a:off x="2038464" y="2095294"/>
          <a:ext cx="1316225" cy="239049"/>
        </p:xfrm>
        <a:graphic>
          <a:graphicData uri="http://schemas.openxmlformats.org/presentationml/2006/ole">
            <mc:AlternateContent xmlns:mc="http://schemas.openxmlformats.org/markup-compatibility/2006">
              <mc:Choice xmlns:v="urn:schemas-microsoft-com:vml" Requires="v">
                <p:oleObj name="Equation" r:id="rId3" imgW="977760" imgH="177480" progId="Equation.DSMT4">
                  <p:embed/>
                </p:oleObj>
              </mc:Choice>
              <mc:Fallback>
                <p:oleObj name="Equation" r:id="rId3" imgW="977760" imgH="177480" progId="Equation.DSMT4">
                  <p:embed/>
                  <p:pic>
                    <p:nvPicPr>
                      <p:cNvPr id="6" name="Object 5">
                        <a:extLst>
                          <a:ext uri="{FF2B5EF4-FFF2-40B4-BE49-F238E27FC236}">
                            <a16:creationId xmlns:a16="http://schemas.microsoft.com/office/drawing/2014/main" id="{9FC6B9F0-0B5D-4046-85EA-CD98137F3AD6}"/>
                          </a:ext>
                        </a:extLst>
                      </p:cNvPr>
                      <p:cNvPicPr/>
                      <p:nvPr/>
                    </p:nvPicPr>
                    <p:blipFill>
                      <a:blip r:embed="rId4"/>
                      <a:stretch>
                        <a:fillRect/>
                      </a:stretch>
                    </p:blipFill>
                    <p:spPr>
                      <a:xfrm>
                        <a:off x="2038464" y="2095294"/>
                        <a:ext cx="1316225" cy="239049"/>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F4BF9C6E-6398-4E12-9F04-FCAF55D5B112}"/>
              </a:ext>
            </a:extLst>
          </p:cNvPr>
          <p:cNvSpPr>
            <a:spLocks noGrp="1"/>
          </p:cNvSpPr>
          <p:nvPr>
            <p:ph sz="quarter" idx="15"/>
          </p:nvPr>
        </p:nvSpPr>
        <p:spPr>
          <a:xfrm>
            <a:off x="457201" y="2655977"/>
            <a:ext cx="3863339" cy="277028"/>
          </a:xfrm>
        </p:spPr>
        <p:txBody>
          <a:bodyPr tIns="0" bIns="0"/>
          <a:lstStyle/>
          <a:p>
            <a:pPr marL="740664" lvl="1" indent="-283464">
              <a:lnSpc>
                <a:spcPct val="90000"/>
              </a:lnSpc>
            </a:pPr>
            <a:r>
              <a:rPr lang="en-US" altLang="en-US" sz="1800" dirty="0">
                <a:latin typeface="Arial (Body)"/>
                <a:ea typeface="ヒラギノ角ゴ Pro W3" pitchFamily="-84" charset="-128"/>
              </a:rPr>
              <a:t>When the real exchange rate</a:t>
            </a:r>
          </a:p>
        </p:txBody>
      </p:sp>
      <p:graphicFrame>
        <p:nvGraphicFramePr>
          <p:cNvPr id="18" name="Object 17" descr="start fraction E P asterisk over P end fraction">
            <a:extLst>
              <a:ext uri="{FF2B5EF4-FFF2-40B4-BE49-F238E27FC236}">
                <a16:creationId xmlns:a16="http://schemas.microsoft.com/office/drawing/2014/main" id="{CB18A2D2-E0C7-4E61-A9C0-83D89B086DF2}"/>
              </a:ext>
            </a:extLst>
          </p:cNvPr>
          <p:cNvGraphicFramePr>
            <a:graphicFrameLocks noChangeAspect="1"/>
          </p:cNvGraphicFramePr>
          <p:nvPr>
            <p:extLst>
              <p:ext uri="{D42A27DB-BD31-4B8C-83A1-F6EECF244321}">
                <p14:modId xmlns:p14="http://schemas.microsoft.com/office/powerpoint/2010/main" val="2335997161"/>
              </p:ext>
            </p:extLst>
          </p:nvPr>
        </p:nvGraphicFramePr>
        <p:xfrm>
          <a:off x="4362759" y="2500266"/>
          <a:ext cx="456400" cy="557822"/>
        </p:xfrm>
        <a:graphic>
          <a:graphicData uri="http://schemas.openxmlformats.org/presentationml/2006/ole">
            <mc:AlternateContent xmlns:mc="http://schemas.openxmlformats.org/markup-compatibility/2006">
              <mc:Choice xmlns:v="urn:schemas-microsoft-com:vml" Requires="v">
                <p:oleObj name="Equation" r:id="rId5" imgW="342720" imgH="419040" progId="Equation.DSMT4">
                  <p:embed/>
                </p:oleObj>
              </mc:Choice>
              <mc:Fallback>
                <p:oleObj name="Equation" r:id="rId5" imgW="342720" imgH="419040" progId="Equation.DSMT4">
                  <p:embed/>
                  <p:pic>
                    <p:nvPicPr>
                      <p:cNvPr id="0" name=""/>
                      <p:cNvPicPr/>
                      <p:nvPr/>
                    </p:nvPicPr>
                    <p:blipFill>
                      <a:blip r:embed="rId6"/>
                      <a:stretch>
                        <a:fillRect/>
                      </a:stretch>
                    </p:blipFill>
                    <p:spPr>
                      <a:xfrm>
                        <a:off x="4362759" y="2500266"/>
                        <a:ext cx="456400" cy="557822"/>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5947A502-49A2-49AD-AD7B-A9E6ACDB3F4C}"/>
              </a:ext>
            </a:extLst>
          </p:cNvPr>
          <p:cNvSpPr>
            <a:spLocks noGrp="1"/>
          </p:cNvSpPr>
          <p:nvPr>
            <p:ph sz="quarter" idx="16"/>
          </p:nvPr>
        </p:nvSpPr>
        <p:spPr>
          <a:xfrm>
            <a:off x="4863729" y="2636612"/>
            <a:ext cx="1839331" cy="296393"/>
          </a:xfrm>
        </p:spPr>
        <p:txBody>
          <a:bodyPr tIns="0" bIns="0"/>
          <a:lstStyle/>
          <a:p>
            <a:pPr marL="0" lvl="1" indent="0">
              <a:buNone/>
            </a:pPr>
            <a:r>
              <a:rPr lang="en-US" altLang="en-US" sz="1800" dirty="0">
                <a:latin typeface="Arial (Body)"/>
                <a:ea typeface="ヒラギノ角ゴ Pro W3" pitchFamily="-84" charset="-128"/>
              </a:rPr>
              <a:t>rises, the prices</a:t>
            </a:r>
            <a:endParaRPr lang="en-US" sz="1800" dirty="0"/>
          </a:p>
        </p:txBody>
      </p:sp>
      <p:sp>
        <p:nvSpPr>
          <p:cNvPr id="7" name="Content Placeholder 6">
            <a:extLst>
              <a:ext uri="{FF2B5EF4-FFF2-40B4-BE49-F238E27FC236}">
                <a16:creationId xmlns:a16="http://schemas.microsoft.com/office/drawing/2014/main" id="{97B9052E-3797-41D5-8620-EA47D31D8BCC}"/>
              </a:ext>
            </a:extLst>
          </p:cNvPr>
          <p:cNvSpPr>
            <a:spLocks noGrp="1"/>
          </p:cNvSpPr>
          <p:nvPr>
            <p:ph sz="quarter" idx="17"/>
          </p:nvPr>
        </p:nvSpPr>
        <p:spPr>
          <a:xfrm>
            <a:off x="457200" y="3112651"/>
            <a:ext cx="8229600" cy="313284"/>
          </a:xfrm>
        </p:spPr>
        <p:txBody>
          <a:bodyPr tIns="0" bIns="0"/>
          <a:lstStyle/>
          <a:p>
            <a:pPr marL="741600" lvl="1" indent="0">
              <a:buNone/>
            </a:pPr>
            <a:r>
              <a:rPr lang="en-US" altLang="en-US" sz="1800" dirty="0">
                <a:latin typeface="Arial (Body)"/>
                <a:ea typeface="ヒラギノ角ゴ Pro W3" pitchFamily="-84" charset="-128"/>
              </a:rPr>
              <a:t>of foreign products rise relative to the prices of domestic products.</a:t>
            </a:r>
            <a:endParaRPr lang="en-US" sz="1800" dirty="0"/>
          </a:p>
        </p:txBody>
      </p:sp>
      <p:sp>
        <p:nvSpPr>
          <p:cNvPr id="8" name="Content Placeholder 7">
            <a:extLst>
              <a:ext uri="{FF2B5EF4-FFF2-40B4-BE49-F238E27FC236}">
                <a16:creationId xmlns:a16="http://schemas.microsoft.com/office/drawing/2014/main" id="{BEF6CC69-F769-49F8-A385-7CF83E9566C0}"/>
              </a:ext>
            </a:extLst>
          </p:cNvPr>
          <p:cNvSpPr>
            <a:spLocks noGrp="1"/>
          </p:cNvSpPr>
          <p:nvPr>
            <p:ph sz="quarter" idx="18"/>
          </p:nvPr>
        </p:nvSpPr>
        <p:spPr>
          <a:xfrm>
            <a:off x="457200" y="3654694"/>
            <a:ext cx="8229600" cy="1965754"/>
          </a:xfrm>
        </p:spPr>
        <p:txBody>
          <a:bodyPr/>
          <a:lstStyle/>
          <a:p>
            <a:pPr marL="741600" lvl="1" indent="-428400">
              <a:buFont typeface="+mj-lt"/>
              <a:buAutoNum type="arabicPeriod"/>
            </a:pPr>
            <a:r>
              <a:rPr lang="en-US" altLang="en-US" sz="1800" dirty="0">
                <a:latin typeface="Arial (Body)"/>
                <a:ea typeface="ヒラギノ角ゴ Pro W3" pitchFamily="-84" charset="-128"/>
              </a:rPr>
              <a:t>The </a:t>
            </a:r>
            <a:r>
              <a:rPr lang="en-US" altLang="en-US" sz="1800" b="1" dirty="0">
                <a:latin typeface="Arial (Body)"/>
                <a:ea typeface="ヒラギノ角ゴ Pro W3" pitchFamily="-84" charset="-128"/>
              </a:rPr>
              <a:t>volume</a:t>
            </a:r>
            <a:r>
              <a:rPr lang="en-US" altLang="en-US" sz="1800" dirty="0">
                <a:latin typeface="Arial (Body)"/>
                <a:ea typeface="ヒラギノ角ゴ Pro W3" pitchFamily="-84" charset="-128"/>
              </a:rPr>
              <a:t> of exports that are bought by foreigners rises.</a:t>
            </a:r>
          </a:p>
          <a:p>
            <a:pPr marL="741600" lvl="1" indent="-428400">
              <a:buFont typeface="+mj-lt"/>
              <a:buAutoNum type="arabicPeriod"/>
            </a:pPr>
            <a:r>
              <a:rPr lang="en-US" altLang="en-US" sz="1800" dirty="0">
                <a:latin typeface="Arial (Body)"/>
                <a:ea typeface="ヒラギノ角ゴ Pro W3" pitchFamily="-84" charset="-128"/>
              </a:rPr>
              <a:t>The </a:t>
            </a:r>
            <a:r>
              <a:rPr lang="en-US" altLang="en-US" sz="1800" b="1" dirty="0">
                <a:latin typeface="Arial (Body)"/>
                <a:ea typeface="ヒラギノ角ゴ Pro W3" pitchFamily="-84" charset="-128"/>
              </a:rPr>
              <a:t>volume</a:t>
            </a:r>
            <a:r>
              <a:rPr lang="en-US" altLang="en-US" sz="1800" dirty="0">
                <a:latin typeface="Arial (Body)"/>
                <a:ea typeface="ヒラギノ角ゴ Pro W3" pitchFamily="-84" charset="-128"/>
              </a:rPr>
              <a:t> of imports that are bought by domestic </a:t>
            </a:r>
            <a:br>
              <a:rPr lang="en-US" altLang="en-US" sz="1800" dirty="0">
                <a:latin typeface="Arial (Body)"/>
                <a:ea typeface="ヒラギノ角ゴ Pro W3" pitchFamily="-84" charset="-128"/>
              </a:rPr>
            </a:br>
            <a:r>
              <a:rPr lang="en-US" altLang="en-US" sz="1800" dirty="0">
                <a:latin typeface="Arial (Body)"/>
                <a:ea typeface="ヒラギノ角ゴ Pro W3" pitchFamily="-84" charset="-128"/>
              </a:rPr>
              <a:t>residents falls.</a:t>
            </a:r>
          </a:p>
          <a:p>
            <a:pPr marL="741600" lvl="1" indent="-428400">
              <a:buFont typeface="+mj-lt"/>
              <a:buAutoNum type="arabicPeriod"/>
            </a:pPr>
            <a:r>
              <a:rPr lang="en-US" altLang="en-US" sz="1800" dirty="0">
                <a:latin typeface="Arial (Body)"/>
                <a:ea typeface="ヒラギノ角ゴ Pro W3" pitchFamily="-84" charset="-128"/>
              </a:rPr>
              <a:t>The </a:t>
            </a:r>
            <a:r>
              <a:rPr lang="en-US" altLang="en-US" sz="1800" b="1" dirty="0">
                <a:latin typeface="Arial (Body)"/>
                <a:ea typeface="ヒラギノ角ゴ Pro W3" pitchFamily="-84" charset="-128"/>
              </a:rPr>
              <a:t>value</a:t>
            </a:r>
            <a:r>
              <a:rPr lang="en-US" altLang="en-US" sz="1800" dirty="0">
                <a:latin typeface="Arial (Body)"/>
                <a:ea typeface="ヒラギノ角ゴ Pro W3" pitchFamily="-84" charset="-128"/>
              </a:rPr>
              <a:t> of imports in terms of domestic products rises: the value/price of imports rises, since foreign products are more valuable/expensive.</a:t>
            </a:r>
            <a:endParaRPr lang="en-US" altLang="en-US" sz="1800" i="1" dirty="0">
              <a:latin typeface="Arial (Body)"/>
              <a:ea typeface="ヒラギノ角ゴ Pro W3" pitchFamily="-84" charset="-128"/>
            </a:endParaRPr>
          </a:p>
        </p:txBody>
      </p:sp>
    </p:spTree>
    <p:extLst>
      <p:ext uri="{BB962C8B-B14F-4D97-AF65-F5344CB8AC3E}">
        <p14:creationId xmlns:p14="http://schemas.microsoft.com/office/powerpoint/2010/main" val="1662050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E05D-8740-4458-831B-D27A95A3BD83}"/>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How Real Exchange Rate Changes Affect the Current Account </a:t>
            </a:r>
            <a:r>
              <a:rPr lang="en-US" altLang="en-US" sz="2000" b="0" dirty="0">
                <a:ea typeface="ヒラギノ角ゴ Pro W3" pitchFamily="-84" charset="-128"/>
                <a:cs typeface="Times New Roman" panose="02020603050405020304" pitchFamily="18" charset="0"/>
              </a:rPr>
              <a:t>(2 of 2)</a:t>
            </a:r>
            <a:endParaRPr lang="en-IN" sz="2000" dirty="0">
              <a:cs typeface="Times New Roman" panose="02020603050405020304" pitchFamily="18" charset="0"/>
            </a:endParaRPr>
          </a:p>
        </p:txBody>
      </p:sp>
      <p:sp>
        <p:nvSpPr>
          <p:cNvPr id="23" name="Content Placeholder 22">
            <a:extLst>
              <a:ext uri="{FF2B5EF4-FFF2-40B4-BE49-F238E27FC236}">
                <a16:creationId xmlns:a16="http://schemas.microsoft.com/office/drawing/2014/main" id="{ADA85FF1-AB67-4DBA-B469-1F4F0A469E46}"/>
              </a:ext>
            </a:extLst>
          </p:cNvPr>
          <p:cNvSpPr>
            <a:spLocks noGrp="1"/>
          </p:cNvSpPr>
          <p:nvPr>
            <p:ph sz="quarter" idx="13"/>
          </p:nvPr>
        </p:nvSpPr>
        <p:spPr/>
        <p:txBody>
          <a:bodyPr/>
          <a:lstStyle/>
          <a:p>
            <a:r>
              <a:rPr lang="en-US" altLang="en-US" sz="2200" dirty="0">
                <a:ea typeface="ヒラギノ角ゴ Pro W3" pitchFamily="-84" charset="-128"/>
              </a:rPr>
              <a:t>If the volumes of imports and exports do not change much, the </a:t>
            </a:r>
            <a:r>
              <a:rPr lang="en-US" altLang="en-US" sz="2200" b="1" dirty="0">
                <a:ea typeface="ヒラギノ角ゴ Pro W3" pitchFamily="-84" charset="-128"/>
              </a:rPr>
              <a:t>value effect </a:t>
            </a:r>
            <a:r>
              <a:rPr lang="en-US" altLang="en-US" sz="2200" dirty="0">
                <a:ea typeface="ヒラギノ角ゴ Pro W3" pitchFamily="-84" charset="-128"/>
              </a:rPr>
              <a:t>may dominate the </a:t>
            </a:r>
            <a:r>
              <a:rPr lang="en-US" altLang="en-US" sz="2200" b="1" dirty="0">
                <a:ea typeface="ヒラギノ角ゴ Pro W3" pitchFamily="-84" charset="-128"/>
              </a:rPr>
              <a:t>volume effect</a:t>
            </a:r>
            <a:r>
              <a:rPr lang="en-US" altLang="en-US" sz="2200" dirty="0">
                <a:ea typeface="ヒラギノ角ゴ Pro W3" pitchFamily="-84" charset="-128"/>
              </a:rPr>
              <a:t> when the real exchange rate changes.</a:t>
            </a:r>
          </a:p>
          <a:p>
            <a:pPr lvl="1"/>
            <a:r>
              <a:rPr lang="en-US" altLang="en-US" sz="2200" dirty="0">
                <a:ea typeface="ヒラギノ角ゴ Pro W3" pitchFamily="-84" charset="-128"/>
              </a:rPr>
              <a:t>For example, contract obligations to buy fixed amounts of products may cause the volume effect to be small.</a:t>
            </a:r>
          </a:p>
          <a:p>
            <a:r>
              <a:rPr lang="en-US" altLang="en-US" sz="2200" dirty="0">
                <a:ea typeface="ヒラギノ角ゴ Pro W3" pitchFamily="-84" charset="-128"/>
              </a:rPr>
              <a:t>However, evidence indicates that for most countries the volume effect dominates the value effect after 1 year or less.</a:t>
            </a:r>
          </a:p>
          <a:p>
            <a:r>
              <a:rPr lang="en-US" altLang="en-US" sz="2200" dirty="0">
                <a:ea typeface="ヒラギノ角ゴ Pro W3" pitchFamily="-84" charset="-128"/>
              </a:rPr>
              <a:t>Let’s assume for now that a real depreciation leads to an increase in the current account: the volume effect dominates the value effect.</a:t>
            </a:r>
          </a:p>
        </p:txBody>
      </p:sp>
    </p:spTree>
    <p:extLst>
      <p:ext uri="{BB962C8B-B14F-4D97-AF65-F5344CB8AC3E}">
        <p14:creationId xmlns:p14="http://schemas.microsoft.com/office/powerpoint/2010/main" val="4290280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A7F4-9243-4B9E-98AE-D56DD2C5173A}"/>
              </a:ext>
            </a:extLst>
          </p:cNvPr>
          <p:cNvSpPr>
            <a:spLocks noGrp="1"/>
          </p:cNvSpPr>
          <p:nvPr>
            <p:ph type="title"/>
          </p:nvPr>
        </p:nvSpPr>
        <p:spPr/>
        <p:txBody>
          <a:bodyPr/>
          <a:lstStyle/>
          <a:p>
            <a:r>
              <a:rPr lang="en-US" altLang="en-US" sz="3200" dirty="0">
                <a:ea typeface="ヒラギノ角ゴ Pro W3" pitchFamily="-84" charset="-128"/>
              </a:rPr>
              <a:t>Figure 17.1 Aggregate Demand as a Function of Output</a:t>
            </a:r>
            <a:endParaRPr lang="en-IN" sz="3200" dirty="0"/>
          </a:p>
        </p:txBody>
      </p:sp>
      <p:pic>
        <p:nvPicPr>
          <p:cNvPr id="6" name="Content Placeholder 5" descr="The graph plots aggregate demand D versus output in real income Y. For long description in Notes pane, press F6.">
            <a:extLst>
              <a:ext uri="{FF2B5EF4-FFF2-40B4-BE49-F238E27FC236}">
                <a16:creationId xmlns:a16="http://schemas.microsoft.com/office/drawing/2014/main" id="{F2FA1D16-F5C7-4DB2-9DED-338B3DBCD393}"/>
              </a:ext>
            </a:extLst>
          </p:cNvPr>
          <p:cNvPicPr>
            <a:picLocks noGrp="1" noChangeAspect="1"/>
          </p:cNvPicPr>
          <p:nvPr>
            <p:ph sz="quarter" idx="13"/>
          </p:nvPr>
        </p:nvPicPr>
        <p:blipFill>
          <a:blip r:embed="rId3"/>
          <a:stretch>
            <a:fillRect/>
          </a:stretch>
        </p:blipFill>
        <p:spPr>
          <a:xfrm>
            <a:off x="3327320" y="1635289"/>
            <a:ext cx="3031570" cy="2483308"/>
          </a:xfrm>
        </p:spPr>
      </p:pic>
      <p:sp>
        <p:nvSpPr>
          <p:cNvPr id="4" name="Content Placeholder 3">
            <a:extLst>
              <a:ext uri="{FF2B5EF4-FFF2-40B4-BE49-F238E27FC236}">
                <a16:creationId xmlns:a16="http://schemas.microsoft.com/office/drawing/2014/main" id="{4CF1850E-3583-4EFF-A45A-C3EDC93557FF}"/>
              </a:ext>
            </a:extLst>
          </p:cNvPr>
          <p:cNvSpPr>
            <a:spLocks noGrp="1"/>
          </p:cNvSpPr>
          <p:nvPr>
            <p:ph sz="quarter" idx="14"/>
          </p:nvPr>
        </p:nvSpPr>
        <p:spPr>
          <a:xfrm>
            <a:off x="487017" y="4363005"/>
            <a:ext cx="5901690" cy="306660"/>
          </a:xfrm>
        </p:spPr>
        <p:txBody>
          <a:bodyPr lIns="0" tIns="0" rIns="0" bIns="0"/>
          <a:lstStyle/>
          <a:p>
            <a:pPr marL="432" indent="0">
              <a:buNone/>
            </a:pPr>
            <a:r>
              <a:rPr lang="en-US" sz="1800" dirty="0"/>
              <a:t>Aggregate demand is a function of the real exchange rate</a:t>
            </a:r>
          </a:p>
        </p:txBody>
      </p:sp>
      <p:graphicFrame>
        <p:nvGraphicFramePr>
          <p:cNvPr id="11" name="Object 10" descr="start fraction E P asterisk over P end fraction,">
            <a:extLst>
              <a:ext uri="{FF2B5EF4-FFF2-40B4-BE49-F238E27FC236}">
                <a16:creationId xmlns:a16="http://schemas.microsoft.com/office/drawing/2014/main" id="{596DEFAF-95BE-48C1-B03C-25BAC7261067}"/>
              </a:ext>
            </a:extLst>
          </p:cNvPr>
          <p:cNvGraphicFramePr>
            <a:graphicFrameLocks noChangeAspect="1"/>
          </p:cNvGraphicFramePr>
          <p:nvPr>
            <p:extLst>
              <p:ext uri="{D42A27DB-BD31-4B8C-83A1-F6EECF244321}">
                <p14:modId xmlns:p14="http://schemas.microsoft.com/office/powerpoint/2010/main" val="3562943"/>
              </p:ext>
            </p:extLst>
          </p:nvPr>
        </p:nvGraphicFramePr>
        <p:xfrm>
          <a:off x="6457950" y="4276725"/>
          <a:ext cx="508000" cy="476250"/>
        </p:xfrm>
        <a:graphic>
          <a:graphicData uri="http://schemas.openxmlformats.org/presentationml/2006/ole">
            <mc:AlternateContent xmlns:mc="http://schemas.openxmlformats.org/markup-compatibility/2006">
              <mc:Choice xmlns:v="urn:schemas-microsoft-com:vml" Requires="v">
                <p:oleObj name="Equation" r:id="rId4" imgW="419040" imgH="393480" progId="Equation.DSMT4">
                  <p:embed/>
                </p:oleObj>
              </mc:Choice>
              <mc:Fallback>
                <p:oleObj name="Equation" r:id="rId4" imgW="419040" imgH="393480" progId="Equation.DSMT4">
                  <p:embed/>
                  <p:pic>
                    <p:nvPicPr>
                      <p:cNvPr id="18" name="Object 17">
                        <a:extLst>
                          <a:ext uri="{FF2B5EF4-FFF2-40B4-BE49-F238E27FC236}">
                            <a16:creationId xmlns:a16="http://schemas.microsoft.com/office/drawing/2014/main" id="{CB18A2D2-E0C7-4E61-A9C0-83D89B086DF2}"/>
                          </a:ext>
                        </a:extLst>
                      </p:cNvPr>
                      <p:cNvPicPr/>
                      <p:nvPr/>
                    </p:nvPicPr>
                    <p:blipFill>
                      <a:blip r:embed="rId5"/>
                      <a:stretch>
                        <a:fillRect/>
                      </a:stretch>
                    </p:blipFill>
                    <p:spPr>
                      <a:xfrm>
                        <a:off x="6457950" y="4276725"/>
                        <a:ext cx="508000" cy="47625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4EEF581-2D77-454C-8C14-84600072A78B}"/>
              </a:ext>
            </a:extLst>
          </p:cNvPr>
          <p:cNvSpPr>
            <a:spLocks noGrp="1"/>
          </p:cNvSpPr>
          <p:nvPr>
            <p:ph sz="quarter" idx="15"/>
          </p:nvPr>
        </p:nvSpPr>
        <p:spPr>
          <a:xfrm>
            <a:off x="7033737" y="4355595"/>
            <a:ext cx="1168862" cy="305825"/>
          </a:xfrm>
        </p:spPr>
        <p:txBody>
          <a:bodyPr lIns="0" tIns="0" rIns="0" bIns="0"/>
          <a:lstStyle/>
          <a:p>
            <a:pPr marL="432" indent="0">
              <a:buNone/>
            </a:pPr>
            <a:r>
              <a:rPr lang="en-US" sz="1800" dirty="0"/>
              <a:t>disposable</a:t>
            </a:r>
            <a:endParaRPr lang="en-IN" sz="1800" dirty="0"/>
          </a:p>
        </p:txBody>
      </p:sp>
      <p:sp>
        <p:nvSpPr>
          <p:cNvPr id="8" name="Content Placeholder 7">
            <a:extLst>
              <a:ext uri="{FF2B5EF4-FFF2-40B4-BE49-F238E27FC236}">
                <a16:creationId xmlns:a16="http://schemas.microsoft.com/office/drawing/2014/main" id="{3F0C81DA-321E-44B4-A022-60AE35D4AF5A}"/>
              </a:ext>
            </a:extLst>
          </p:cNvPr>
          <p:cNvSpPr>
            <a:spLocks noGrp="1"/>
          </p:cNvSpPr>
          <p:nvPr>
            <p:ph sz="quarter" idx="16"/>
          </p:nvPr>
        </p:nvSpPr>
        <p:spPr>
          <a:xfrm>
            <a:off x="494238" y="4782384"/>
            <a:ext cx="771711" cy="323390"/>
          </a:xfrm>
        </p:spPr>
        <p:txBody>
          <a:bodyPr lIns="0" tIns="0" rIns="0" bIns="0"/>
          <a:lstStyle/>
          <a:p>
            <a:pPr marL="432" indent="0">
              <a:buNone/>
            </a:pPr>
            <a:r>
              <a:rPr lang="en-US" sz="1800" dirty="0"/>
              <a:t>income</a:t>
            </a:r>
            <a:endParaRPr lang="en-IN" sz="1800" dirty="0"/>
          </a:p>
        </p:txBody>
      </p:sp>
      <p:graphicFrame>
        <p:nvGraphicFramePr>
          <p:cNvPr id="12" name="Object 11" descr="Left parenthesis Y minus T right parenthesis,">
            <a:extLst>
              <a:ext uri="{FF2B5EF4-FFF2-40B4-BE49-F238E27FC236}">
                <a16:creationId xmlns:a16="http://schemas.microsoft.com/office/drawing/2014/main" id="{6DAC5D23-DD79-446A-86EC-DC807ADD263A}"/>
              </a:ext>
            </a:extLst>
          </p:cNvPr>
          <p:cNvGraphicFramePr>
            <a:graphicFrameLocks noChangeAspect="1"/>
          </p:cNvGraphicFramePr>
          <p:nvPr>
            <p:extLst>
              <p:ext uri="{D42A27DB-BD31-4B8C-83A1-F6EECF244321}">
                <p14:modId xmlns:p14="http://schemas.microsoft.com/office/powerpoint/2010/main" val="536545441"/>
              </p:ext>
            </p:extLst>
          </p:nvPr>
        </p:nvGraphicFramePr>
        <p:xfrm>
          <a:off x="1374775" y="4837113"/>
          <a:ext cx="604838" cy="230187"/>
        </p:xfrm>
        <a:graphic>
          <a:graphicData uri="http://schemas.openxmlformats.org/presentationml/2006/ole">
            <mc:AlternateContent xmlns:mc="http://schemas.openxmlformats.org/markup-compatibility/2006">
              <mc:Choice xmlns:v="urn:schemas-microsoft-com:vml" Requires="v">
                <p:oleObj name="Equation" r:id="rId6" imgW="533160" imgH="203040" progId="Equation.DSMT4">
                  <p:embed/>
                </p:oleObj>
              </mc:Choice>
              <mc:Fallback>
                <p:oleObj name="Equation" r:id="rId6" imgW="533160" imgH="203040" progId="Equation.DSMT4">
                  <p:embed/>
                  <p:pic>
                    <p:nvPicPr>
                      <p:cNvPr id="0" name=""/>
                      <p:cNvPicPr/>
                      <p:nvPr/>
                    </p:nvPicPr>
                    <p:blipFill>
                      <a:blip r:embed="rId7"/>
                      <a:stretch>
                        <a:fillRect/>
                      </a:stretch>
                    </p:blipFill>
                    <p:spPr>
                      <a:xfrm>
                        <a:off x="1374775" y="4837113"/>
                        <a:ext cx="604838" cy="230187"/>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3B70C087-C723-4D38-8E90-51EAB67B1260}"/>
              </a:ext>
            </a:extLst>
          </p:cNvPr>
          <p:cNvSpPr>
            <a:spLocks noGrp="1"/>
          </p:cNvSpPr>
          <p:nvPr>
            <p:ph sz="quarter" idx="17"/>
          </p:nvPr>
        </p:nvSpPr>
        <p:spPr>
          <a:xfrm>
            <a:off x="2091820" y="4794630"/>
            <a:ext cx="6437772" cy="303844"/>
          </a:xfrm>
        </p:spPr>
        <p:txBody>
          <a:bodyPr lIns="0" tIns="0" rIns="0" bIns="0"/>
          <a:lstStyle/>
          <a:p>
            <a:pPr marL="0" indent="0">
              <a:buNone/>
            </a:pPr>
            <a:r>
              <a:rPr lang="en-US" sz="1800" dirty="0"/>
              <a:t>investment demand (</a:t>
            </a:r>
            <a:r>
              <a:rPr lang="en-US" sz="1800" i="1" dirty="0"/>
              <a:t>I</a:t>
            </a:r>
            <a:r>
              <a:rPr lang="en-US" sz="1800" dirty="0"/>
              <a:t>), and government spending (</a:t>
            </a:r>
            <a:r>
              <a:rPr lang="en-US" sz="1800" i="1" dirty="0"/>
              <a:t>G</a:t>
            </a:r>
            <a:r>
              <a:rPr lang="en-US" sz="1800" dirty="0"/>
              <a:t>). If all </a:t>
            </a:r>
            <a:endParaRPr lang="en-IN" sz="1800" dirty="0"/>
          </a:p>
        </p:txBody>
      </p:sp>
      <p:sp>
        <p:nvSpPr>
          <p:cNvPr id="10" name="Content Placeholder 9">
            <a:extLst>
              <a:ext uri="{FF2B5EF4-FFF2-40B4-BE49-F238E27FC236}">
                <a16:creationId xmlns:a16="http://schemas.microsoft.com/office/drawing/2014/main" id="{DD3A95FF-EFB4-45F7-9C20-E51EFB46F258}"/>
              </a:ext>
            </a:extLst>
          </p:cNvPr>
          <p:cNvSpPr>
            <a:spLocks noGrp="1"/>
          </p:cNvSpPr>
          <p:nvPr>
            <p:ph sz="quarter" idx="18"/>
          </p:nvPr>
        </p:nvSpPr>
        <p:spPr>
          <a:xfrm>
            <a:off x="475990" y="5178360"/>
            <a:ext cx="8210810" cy="1119655"/>
          </a:xfrm>
        </p:spPr>
        <p:txBody>
          <a:bodyPr lIns="0" tIns="0" rIns="0" bIns="0"/>
          <a:lstStyle/>
          <a:p>
            <a:pPr marL="0" indent="0">
              <a:buNone/>
            </a:pPr>
            <a:r>
              <a:rPr lang="en-US" sz="1800" dirty="0"/>
              <a:t>other factors remain unchanged, a rise in output (real income), </a:t>
            </a:r>
            <a:r>
              <a:rPr lang="en-US" sz="1800" i="1" dirty="0"/>
              <a:t>Y</a:t>
            </a:r>
            <a:r>
              <a:rPr lang="en-US" sz="1800" dirty="0"/>
              <a:t>, increases aggregate demand. Because the increase in aggregate demand is less than the increase in output, the slope of the aggregate demand function is less than 1 (as indicated by its position within the 45-degree angle).</a:t>
            </a:r>
            <a:endParaRPr lang="en-IN" sz="1800" dirty="0"/>
          </a:p>
        </p:txBody>
      </p:sp>
    </p:spTree>
    <p:extLst>
      <p:ext uri="{BB962C8B-B14F-4D97-AF65-F5344CB8AC3E}">
        <p14:creationId xmlns:p14="http://schemas.microsoft.com/office/powerpoint/2010/main" val="1628250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10FD5-C7AB-48EB-A763-7EC786E055BE}"/>
              </a:ext>
            </a:extLst>
          </p:cNvPr>
          <p:cNvSpPr>
            <a:spLocks noGrp="1"/>
          </p:cNvSpPr>
          <p:nvPr>
            <p:ph type="title"/>
          </p:nvPr>
        </p:nvSpPr>
        <p:spPr/>
        <p:txBody>
          <a:bodyPr/>
          <a:lstStyle/>
          <a:p>
            <a:r>
              <a:rPr lang="en-US" altLang="en-US" sz="3200" dirty="0">
                <a:ea typeface="ヒラギノ角ゴ Pro W3" pitchFamily="-84" charset="-128"/>
              </a:rPr>
              <a:t>Determinants of Aggregate Demand </a:t>
            </a:r>
            <a:r>
              <a:rPr lang="en-US" altLang="en-US" sz="2000" b="0" dirty="0">
                <a:ea typeface="ヒラギノ角ゴ Pro W3" pitchFamily="-84" charset="-128"/>
              </a:rPr>
              <a:t>(1 of 4)</a:t>
            </a:r>
            <a:endParaRPr lang="en-IN" sz="2000" dirty="0"/>
          </a:p>
        </p:txBody>
      </p:sp>
      <p:sp>
        <p:nvSpPr>
          <p:cNvPr id="3" name="Content Placeholder 2">
            <a:extLst>
              <a:ext uri="{FF2B5EF4-FFF2-40B4-BE49-F238E27FC236}">
                <a16:creationId xmlns:a16="http://schemas.microsoft.com/office/drawing/2014/main" id="{4F3D6194-FCAA-4A28-8156-7ABFB9CDCED0}"/>
              </a:ext>
            </a:extLst>
          </p:cNvPr>
          <p:cNvSpPr>
            <a:spLocks noGrp="1"/>
          </p:cNvSpPr>
          <p:nvPr>
            <p:ph sz="quarter" idx="13"/>
          </p:nvPr>
        </p:nvSpPr>
        <p:spPr/>
        <p:txBody>
          <a:bodyPr/>
          <a:lstStyle/>
          <a:p>
            <a:pPr eaLnBrk="1" hangingPunct="1"/>
            <a:r>
              <a:rPr lang="en-US" altLang="en-US" dirty="0">
                <a:latin typeface="Arial (Body)"/>
                <a:ea typeface="ヒラギノ角ゴ Pro W3" pitchFamily="-84" charset="-128"/>
              </a:rPr>
              <a:t>Determinants of the current account include:</a:t>
            </a:r>
          </a:p>
          <a:p>
            <a:pPr lvl="1" eaLnBrk="1" hangingPunct="1"/>
            <a:r>
              <a:rPr lang="en-US" altLang="en-US" b="1" dirty="0">
                <a:latin typeface="Arial (Body)"/>
                <a:ea typeface="ヒラギノ角ゴ Pro W3" pitchFamily="-84" charset="-128"/>
              </a:rPr>
              <a:t>Real exchange rate</a:t>
            </a:r>
            <a:r>
              <a:rPr lang="en-US" altLang="en-US" dirty="0">
                <a:latin typeface="Arial (Body)"/>
                <a:ea typeface="ヒラギノ角ゴ Pro W3" pitchFamily="-84" charset="-128"/>
              </a:rPr>
              <a:t>: an increase in the real exchange rate increases the current account.</a:t>
            </a:r>
            <a:endParaRPr lang="en-US" altLang="en-US" i="1" dirty="0">
              <a:latin typeface="Arial (Body)"/>
              <a:ea typeface="ヒラギノ角ゴ Pro W3" pitchFamily="-84" charset="-128"/>
            </a:endParaRPr>
          </a:p>
          <a:p>
            <a:pPr lvl="1" eaLnBrk="1" hangingPunct="1"/>
            <a:r>
              <a:rPr lang="en-US" altLang="en-US" b="1" dirty="0">
                <a:latin typeface="Arial (Body)"/>
                <a:ea typeface="ヒラギノ角ゴ Pro W3" pitchFamily="-84" charset="-128"/>
              </a:rPr>
              <a:t>Disposable income</a:t>
            </a:r>
            <a:r>
              <a:rPr lang="en-US" altLang="en-US" dirty="0">
                <a:latin typeface="Arial (Body)"/>
                <a:ea typeface="ヒラギノ角ゴ Pro W3" pitchFamily="-84" charset="-128"/>
              </a:rPr>
              <a:t>: an increase in the disposable income decreases the current account.</a:t>
            </a:r>
          </a:p>
        </p:txBody>
      </p:sp>
    </p:spTree>
    <p:extLst>
      <p:ext uri="{BB962C8B-B14F-4D97-AF65-F5344CB8AC3E}">
        <p14:creationId xmlns:p14="http://schemas.microsoft.com/office/powerpoint/2010/main" val="4142239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10FD5-C7AB-48EB-A763-7EC786E055BE}"/>
              </a:ext>
            </a:extLst>
          </p:cNvPr>
          <p:cNvSpPr>
            <a:spLocks noGrp="1"/>
          </p:cNvSpPr>
          <p:nvPr>
            <p:ph type="title"/>
          </p:nvPr>
        </p:nvSpPr>
        <p:spPr/>
        <p:txBody>
          <a:bodyPr/>
          <a:lstStyle/>
          <a:p>
            <a:r>
              <a:rPr lang="en-US" altLang="en-US" sz="3200" dirty="0">
                <a:ea typeface="ヒラギノ角ゴ Pro W3" pitchFamily="-84" charset="-128"/>
              </a:rPr>
              <a:t>Determinants of Aggregate Demand </a:t>
            </a:r>
            <a:r>
              <a:rPr lang="en-US" altLang="en-US" sz="2000" b="0" dirty="0">
                <a:ea typeface="ヒラギノ角ゴ Pro W3" pitchFamily="-84" charset="-128"/>
              </a:rPr>
              <a:t>(2 of 4)</a:t>
            </a:r>
            <a:endParaRPr lang="en-IN" sz="2000" dirty="0"/>
          </a:p>
        </p:txBody>
      </p:sp>
      <p:sp>
        <p:nvSpPr>
          <p:cNvPr id="3" name="Content Placeholder 2">
            <a:extLst>
              <a:ext uri="{FF2B5EF4-FFF2-40B4-BE49-F238E27FC236}">
                <a16:creationId xmlns:a16="http://schemas.microsoft.com/office/drawing/2014/main" id="{4F3D6194-FCAA-4A28-8156-7ABFB9CDCED0}"/>
              </a:ext>
            </a:extLst>
          </p:cNvPr>
          <p:cNvSpPr>
            <a:spLocks noGrp="1"/>
          </p:cNvSpPr>
          <p:nvPr>
            <p:ph sz="quarter" idx="13"/>
          </p:nvPr>
        </p:nvSpPr>
        <p:spPr/>
        <p:txBody>
          <a:bodyPr/>
          <a:lstStyle/>
          <a:p>
            <a:pPr eaLnBrk="1" hangingPunct="1"/>
            <a:r>
              <a:rPr lang="en-US" altLang="en-US" dirty="0">
                <a:latin typeface="Arial (Body)"/>
                <a:ea typeface="ヒラギノ角ゴ Pro W3" pitchFamily="-84" charset="-128"/>
              </a:rPr>
              <a:t>For simplicity, we assume that exogenous political factors determine government purchases </a:t>
            </a:r>
            <a:r>
              <a:rPr lang="en-US" altLang="en-US" i="1" dirty="0">
                <a:latin typeface="Arial (Body)"/>
                <a:ea typeface="ヒラギノ角ゴ Pro W3" pitchFamily="-84" charset="-128"/>
              </a:rPr>
              <a:t>G</a:t>
            </a:r>
            <a:r>
              <a:rPr lang="en-US" altLang="en-US" dirty="0">
                <a:latin typeface="Arial (Body)"/>
                <a:ea typeface="ヒラギノ角ゴ Pro W3" pitchFamily="-84" charset="-128"/>
              </a:rPr>
              <a:t> and the level of taxes </a:t>
            </a:r>
            <a:r>
              <a:rPr lang="en-US" altLang="en-US" i="1" dirty="0">
                <a:latin typeface="Arial (Body)"/>
                <a:ea typeface="ヒラギノ角ゴ Pro W3" pitchFamily="-84" charset="-128"/>
              </a:rPr>
              <a:t>T.</a:t>
            </a:r>
          </a:p>
          <a:p>
            <a:pPr eaLnBrk="1" hangingPunct="1"/>
            <a:r>
              <a:rPr lang="en-US" altLang="en-US" dirty="0">
                <a:latin typeface="Arial (Body)"/>
                <a:ea typeface="ヒラギノ角ゴ Pro W3" pitchFamily="-84" charset="-128"/>
              </a:rPr>
              <a:t>For simplicity, we currently assume that investment expenditure </a:t>
            </a:r>
            <a:r>
              <a:rPr lang="en-US" altLang="en-US" i="1" dirty="0">
                <a:latin typeface="Arial (Body)"/>
                <a:ea typeface="ヒラギノ角ゴ Pro W3" pitchFamily="-84" charset="-128"/>
              </a:rPr>
              <a:t>I</a:t>
            </a:r>
            <a:r>
              <a:rPr lang="en-US" altLang="en-US" dirty="0">
                <a:latin typeface="Arial (Body)"/>
                <a:ea typeface="ヒラギノ角ゴ Pro W3" pitchFamily="-84" charset="-128"/>
              </a:rPr>
              <a:t> is determined by exogenous business decisions.</a:t>
            </a:r>
          </a:p>
          <a:p>
            <a:pPr lvl="1" eaLnBrk="1" hangingPunct="1"/>
            <a:r>
              <a:rPr lang="en-US" altLang="en-US" dirty="0">
                <a:latin typeface="Arial (Body)"/>
                <a:ea typeface="ヒラギノ角ゴ Pro W3" pitchFamily="-84" charset="-128"/>
              </a:rPr>
              <a:t>A more complicated model shows that investment depends on the cost of spending or borrowing to finance investment: the interest rate.</a:t>
            </a:r>
          </a:p>
        </p:txBody>
      </p:sp>
    </p:spTree>
    <p:extLst>
      <p:ext uri="{BB962C8B-B14F-4D97-AF65-F5344CB8AC3E}">
        <p14:creationId xmlns:p14="http://schemas.microsoft.com/office/powerpoint/2010/main" val="1760751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10FD5-C7AB-48EB-A763-7EC786E055BE}"/>
              </a:ext>
            </a:extLst>
          </p:cNvPr>
          <p:cNvSpPr>
            <a:spLocks noGrp="1"/>
          </p:cNvSpPr>
          <p:nvPr>
            <p:ph type="title"/>
          </p:nvPr>
        </p:nvSpPr>
        <p:spPr/>
        <p:txBody>
          <a:bodyPr/>
          <a:lstStyle/>
          <a:p>
            <a:r>
              <a:rPr lang="en-US" altLang="en-US" sz="3200" dirty="0">
                <a:ea typeface="ヒラギノ角ゴ Pro W3" pitchFamily="-84" charset="-128"/>
              </a:rPr>
              <a:t>Determinants of Aggregate Demand </a:t>
            </a:r>
            <a:r>
              <a:rPr lang="en-US" altLang="en-US" sz="2000" b="0" dirty="0">
                <a:ea typeface="ヒラギノ角ゴ Pro W3" pitchFamily="-84" charset="-128"/>
              </a:rPr>
              <a:t>(3 of 4)</a:t>
            </a:r>
            <a:endParaRPr lang="en-IN" sz="2000" dirty="0"/>
          </a:p>
        </p:txBody>
      </p:sp>
      <p:sp>
        <p:nvSpPr>
          <p:cNvPr id="4" name="Content Placeholder 3">
            <a:extLst>
              <a:ext uri="{FF2B5EF4-FFF2-40B4-BE49-F238E27FC236}">
                <a16:creationId xmlns:a16="http://schemas.microsoft.com/office/drawing/2014/main" id="{C0711F67-A15B-4427-8210-51AFB369E6FA}"/>
              </a:ext>
            </a:extLst>
          </p:cNvPr>
          <p:cNvSpPr>
            <a:spLocks noGrp="1"/>
          </p:cNvSpPr>
          <p:nvPr>
            <p:ph sz="quarter" idx="13"/>
          </p:nvPr>
        </p:nvSpPr>
        <p:spPr>
          <a:xfrm>
            <a:off x="457200" y="1552575"/>
            <a:ext cx="5631180" cy="442480"/>
          </a:xfrm>
        </p:spPr>
        <p:txBody>
          <a:bodyPr/>
          <a:lstStyle/>
          <a:p>
            <a:r>
              <a:rPr lang="en-US" altLang="en-US" sz="2000" dirty="0">
                <a:ea typeface="ヒラギノ角ゴ Pro W3" pitchFamily="-84" charset="-128"/>
              </a:rPr>
              <a:t>Aggregate demand is therefore expressed as:</a:t>
            </a:r>
            <a:endParaRPr lang="en-US" sz="2000" dirty="0"/>
          </a:p>
        </p:txBody>
      </p:sp>
      <p:graphicFrame>
        <p:nvGraphicFramePr>
          <p:cNvPr id="3" name="Object 2" descr="D = C left parenthesis Y minus T right parenthesis + I + G + C A left parenthesis start fraction E P asterisk over P end fraction comma Y minus T right parenthesis ">
            <a:extLst>
              <a:ext uri="{FF2B5EF4-FFF2-40B4-BE49-F238E27FC236}">
                <a16:creationId xmlns:a16="http://schemas.microsoft.com/office/drawing/2014/main" id="{7154B976-82FE-405F-B2FD-CD0CE17433EB}"/>
              </a:ext>
            </a:extLst>
          </p:cNvPr>
          <p:cNvGraphicFramePr>
            <a:graphicFrameLocks noChangeAspect="1"/>
          </p:cNvGraphicFramePr>
          <p:nvPr>
            <p:extLst>
              <p:ext uri="{D42A27DB-BD31-4B8C-83A1-F6EECF244321}">
                <p14:modId xmlns:p14="http://schemas.microsoft.com/office/powerpoint/2010/main" val="2882672106"/>
              </p:ext>
            </p:extLst>
          </p:nvPr>
        </p:nvGraphicFramePr>
        <p:xfrm>
          <a:off x="1863205" y="2059186"/>
          <a:ext cx="3344020" cy="645041"/>
        </p:xfrm>
        <a:graphic>
          <a:graphicData uri="http://schemas.openxmlformats.org/presentationml/2006/ole">
            <mc:AlternateContent xmlns:mc="http://schemas.openxmlformats.org/markup-compatibility/2006">
              <mc:Choice xmlns:v="urn:schemas-microsoft-com:vml" Requires="v">
                <p:oleObj name="Equation" r:id="rId3" imgW="2501640" imgH="482400" progId="Equation.DSMT4">
                  <p:embed/>
                </p:oleObj>
              </mc:Choice>
              <mc:Fallback>
                <p:oleObj name="Equation" r:id="rId3" imgW="2501640" imgH="482400" progId="Equation.DSMT4">
                  <p:embed/>
                  <p:pic>
                    <p:nvPicPr>
                      <p:cNvPr id="0" name=""/>
                      <p:cNvPicPr/>
                      <p:nvPr/>
                    </p:nvPicPr>
                    <p:blipFill>
                      <a:blip r:embed="rId4"/>
                      <a:stretch>
                        <a:fillRect/>
                      </a:stretch>
                    </p:blipFill>
                    <p:spPr>
                      <a:xfrm>
                        <a:off x="1863205" y="2059186"/>
                        <a:ext cx="3344020" cy="645041"/>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47CE3D92-7801-4BF4-B834-0CC101044845}"/>
              </a:ext>
            </a:extLst>
          </p:cNvPr>
          <p:cNvSpPr>
            <a:spLocks noGrp="1"/>
          </p:cNvSpPr>
          <p:nvPr>
            <p:ph sz="quarter" idx="14"/>
          </p:nvPr>
        </p:nvSpPr>
        <p:spPr>
          <a:xfrm>
            <a:off x="457201" y="2670842"/>
            <a:ext cx="1691640" cy="416083"/>
          </a:xfrm>
        </p:spPr>
        <p:txBody>
          <a:bodyPr/>
          <a:lstStyle/>
          <a:p>
            <a:pPr lvl="1"/>
            <a:r>
              <a:rPr lang="en-US" altLang="en-US" sz="2000" dirty="0">
                <a:ea typeface="ヒラギノ角ゴ Pro W3" pitchFamily="-84" charset="-128"/>
              </a:rPr>
              <a:t>where</a:t>
            </a:r>
            <a:endParaRPr lang="en-IN" sz="2000" dirty="0"/>
          </a:p>
        </p:txBody>
      </p:sp>
      <p:graphicFrame>
        <p:nvGraphicFramePr>
          <p:cNvPr id="21" name="Object 20" descr="C left parenthesis Y minus T right parenthesis ">
            <a:extLst>
              <a:ext uri="{FF2B5EF4-FFF2-40B4-BE49-F238E27FC236}">
                <a16:creationId xmlns:a16="http://schemas.microsoft.com/office/drawing/2014/main" id="{5B6AC84A-C7F5-401C-A7F3-767FB1CD166D}"/>
              </a:ext>
            </a:extLst>
          </p:cNvPr>
          <p:cNvGraphicFramePr>
            <a:graphicFrameLocks noChangeAspect="1"/>
          </p:cNvGraphicFramePr>
          <p:nvPr>
            <p:extLst>
              <p:ext uri="{D42A27DB-BD31-4B8C-83A1-F6EECF244321}">
                <p14:modId xmlns:p14="http://schemas.microsoft.com/office/powerpoint/2010/main" val="3812869690"/>
              </p:ext>
            </p:extLst>
          </p:nvPr>
        </p:nvGraphicFramePr>
        <p:xfrm>
          <a:off x="2253616" y="2804905"/>
          <a:ext cx="768350" cy="307340"/>
        </p:xfrm>
        <a:graphic>
          <a:graphicData uri="http://schemas.openxmlformats.org/presentationml/2006/ole">
            <mc:AlternateContent xmlns:mc="http://schemas.openxmlformats.org/markup-compatibility/2006">
              <mc:Choice xmlns:v="urn:schemas-microsoft-com:vml" Requires="v">
                <p:oleObj name="Equation" r:id="rId5" imgW="634680" imgH="253800" progId="Equation.DSMT4">
                  <p:embed/>
                </p:oleObj>
              </mc:Choice>
              <mc:Fallback>
                <p:oleObj name="Equation" r:id="rId5" imgW="634680" imgH="253800" progId="Equation.DSMT4">
                  <p:embed/>
                  <p:pic>
                    <p:nvPicPr>
                      <p:cNvPr id="0" name=""/>
                      <p:cNvPicPr/>
                      <p:nvPr/>
                    </p:nvPicPr>
                    <p:blipFill>
                      <a:blip r:embed="rId6"/>
                      <a:stretch>
                        <a:fillRect/>
                      </a:stretch>
                    </p:blipFill>
                    <p:spPr>
                      <a:xfrm>
                        <a:off x="2253616" y="2804905"/>
                        <a:ext cx="768350" cy="30734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FE15912-1989-4D67-8CEE-370B8AC8FC54}"/>
              </a:ext>
            </a:extLst>
          </p:cNvPr>
          <p:cNvSpPr>
            <a:spLocks noGrp="1"/>
          </p:cNvSpPr>
          <p:nvPr>
            <p:ph sz="quarter" idx="15"/>
          </p:nvPr>
        </p:nvSpPr>
        <p:spPr>
          <a:xfrm>
            <a:off x="3183891" y="2754343"/>
            <a:ext cx="4000964" cy="322686"/>
          </a:xfrm>
        </p:spPr>
        <p:txBody>
          <a:bodyPr lIns="0" tIns="0" rIns="0" bIns="0"/>
          <a:lstStyle/>
          <a:p>
            <a:pPr marL="0" lvl="1" indent="0">
              <a:buNone/>
            </a:pPr>
            <a:r>
              <a:rPr lang="en-US" altLang="en-US" sz="2000" dirty="0">
                <a:ea typeface="ヒラギノ角ゴ Pro W3" pitchFamily="-84" charset="-128"/>
              </a:rPr>
              <a:t>is consumption expenditure as a</a:t>
            </a:r>
            <a:endParaRPr lang="en-IN" sz="2000" dirty="0"/>
          </a:p>
        </p:txBody>
      </p:sp>
      <p:sp>
        <p:nvSpPr>
          <p:cNvPr id="7" name="Content Placeholder 6">
            <a:extLst>
              <a:ext uri="{FF2B5EF4-FFF2-40B4-BE49-F238E27FC236}">
                <a16:creationId xmlns:a16="http://schemas.microsoft.com/office/drawing/2014/main" id="{E48BC670-01EF-4907-9DBC-6AB9F7AF1FB4}"/>
              </a:ext>
            </a:extLst>
          </p:cNvPr>
          <p:cNvSpPr>
            <a:spLocks noGrp="1"/>
          </p:cNvSpPr>
          <p:nvPr>
            <p:ph sz="quarter" idx="16"/>
          </p:nvPr>
        </p:nvSpPr>
        <p:spPr>
          <a:xfrm>
            <a:off x="561975" y="3158248"/>
            <a:ext cx="4309745" cy="370139"/>
          </a:xfrm>
        </p:spPr>
        <p:txBody>
          <a:bodyPr lIns="0" tIns="0" rIns="0" bIns="0"/>
          <a:lstStyle/>
          <a:p>
            <a:pPr marL="741600" lvl="1" indent="0">
              <a:buNone/>
            </a:pPr>
            <a:r>
              <a:rPr lang="en-US" altLang="en-US" sz="2000" dirty="0">
                <a:ea typeface="ヒラギノ角ゴ Pro W3" pitchFamily="-84" charset="-128"/>
              </a:rPr>
              <a:t>function of disposable income,</a:t>
            </a:r>
          </a:p>
        </p:txBody>
      </p:sp>
      <p:sp>
        <p:nvSpPr>
          <p:cNvPr id="8" name="Content Placeholder 7">
            <a:extLst>
              <a:ext uri="{FF2B5EF4-FFF2-40B4-BE49-F238E27FC236}">
                <a16:creationId xmlns:a16="http://schemas.microsoft.com/office/drawing/2014/main" id="{E51DBF91-DE1A-4A68-89B6-FBD18A49131B}"/>
              </a:ext>
            </a:extLst>
          </p:cNvPr>
          <p:cNvSpPr>
            <a:spLocks noGrp="1"/>
          </p:cNvSpPr>
          <p:nvPr>
            <p:ph sz="quarter" idx="17"/>
          </p:nvPr>
        </p:nvSpPr>
        <p:spPr>
          <a:xfrm>
            <a:off x="457200" y="3539423"/>
            <a:ext cx="8032407" cy="734371"/>
          </a:xfrm>
        </p:spPr>
        <p:txBody>
          <a:bodyPr/>
          <a:lstStyle/>
          <a:p>
            <a:pPr lvl="1"/>
            <a:r>
              <a:rPr lang="en-US" altLang="en-US" sz="2000" i="1" dirty="0">
                <a:ea typeface="ヒラギノ角ゴ Pro W3" pitchFamily="-84" charset="-128"/>
              </a:rPr>
              <a:t>I</a:t>
            </a:r>
            <a:r>
              <a:rPr lang="en-US" altLang="en-US" sz="2000" dirty="0">
                <a:ea typeface="ヒラギノ角ゴ Pro W3" pitchFamily="-84" charset="-128"/>
              </a:rPr>
              <a:t> + </a:t>
            </a:r>
            <a:r>
              <a:rPr lang="en-US" altLang="en-US" sz="2000" i="1" dirty="0">
                <a:ea typeface="ヒラギノ角ゴ Pro W3" pitchFamily="-84" charset="-128"/>
              </a:rPr>
              <a:t>G</a:t>
            </a:r>
            <a:r>
              <a:rPr lang="en-US" altLang="en-US" sz="2000" dirty="0">
                <a:ea typeface="ヒラギノ角ゴ Pro W3" pitchFamily="-84" charset="-128"/>
              </a:rPr>
              <a:t> is investment expenditure and government purchases (both exogenous), and</a:t>
            </a:r>
          </a:p>
        </p:txBody>
      </p:sp>
      <p:sp>
        <p:nvSpPr>
          <p:cNvPr id="9" name="Content Placeholder 8">
            <a:extLst>
              <a:ext uri="{FF2B5EF4-FFF2-40B4-BE49-F238E27FC236}">
                <a16:creationId xmlns:a16="http://schemas.microsoft.com/office/drawing/2014/main" id="{2F3C6170-E637-4869-B8D9-53A5F2D1EE42}"/>
              </a:ext>
            </a:extLst>
          </p:cNvPr>
          <p:cNvSpPr>
            <a:spLocks noGrp="1"/>
          </p:cNvSpPr>
          <p:nvPr>
            <p:ph sz="quarter" idx="18"/>
          </p:nvPr>
        </p:nvSpPr>
        <p:spPr>
          <a:xfrm>
            <a:off x="955964" y="4367706"/>
            <a:ext cx="360218" cy="514350"/>
          </a:xfrm>
        </p:spPr>
        <p:txBody>
          <a:bodyPr/>
          <a:lstStyle/>
          <a:p>
            <a:pPr marL="0" lvl="1" indent="0"/>
            <a:r>
              <a:rPr lang="en-US" sz="2000" dirty="0"/>
              <a:t> </a:t>
            </a:r>
            <a:r>
              <a:rPr lang="en-US" sz="100" dirty="0"/>
              <a:t> </a:t>
            </a:r>
            <a:endParaRPr lang="en-IN" sz="100" dirty="0"/>
          </a:p>
        </p:txBody>
      </p:sp>
      <p:graphicFrame>
        <p:nvGraphicFramePr>
          <p:cNvPr id="18" name="Object 17" descr="C A left parenthesis start fraction E P asterisk over P end fraction, Y minus T right parenthesis">
            <a:extLst>
              <a:ext uri="{FF2B5EF4-FFF2-40B4-BE49-F238E27FC236}">
                <a16:creationId xmlns:a16="http://schemas.microsoft.com/office/drawing/2014/main" id="{197822FE-E4C8-4A4F-93BA-42F7D95EDFE9}"/>
              </a:ext>
            </a:extLst>
          </p:cNvPr>
          <p:cNvGraphicFramePr>
            <a:graphicFrameLocks noChangeAspect="1"/>
          </p:cNvGraphicFramePr>
          <p:nvPr>
            <p:extLst>
              <p:ext uri="{D42A27DB-BD31-4B8C-83A1-F6EECF244321}">
                <p14:modId xmlns:p14="http://schemas.microsoft.com/office/powerpoint/2010/main" val="2649236791"/>
              </p:ext>
            </p:extLst>
          </p:nvPr>
        </p:nvGraphicFramePr>
        <p:xfrm>
          <a:off x="1360508" y="4320546"/>
          <a:ext cx="1476801" cy="645041"/>
        </p:xfrm>
        <a:graphic>
          <a:graphicData uri="http://schemas.openxmlformats.org/presentationml/2006/ole">
            <mc:AlternateContent xmlns:mc="http://schemas.openxmlformats.org/markup-compatibility/2006">
              <mc:Choice xmlns:v="urn:schemas-microsoft-com:vml" Requires="v">
                <p:oleObj name="Equation" r:id="rId7" imgW="1104840" imgH="482400" progId="Equation.DSMT4">
                  <p:embed/>
                </p:oleObj>
              </mc:Choice>
              <mc:Fallback>
                <p:oleObj name="Equation" r:id="rId7" imgW="1104840" imgH="482400" progId="Equation.DSMT4">
                  <p:embed/>
                  <p:pic>
                    <p:nvPicPr>
                      <p:cNvPr id="0" name=""/>
                      <p:cNvPicPr/>
                      <p:nvPr/>
                    </p:nvPicPr>
                    <p:blipFill>
                      <a:blip r:embed="rId8"/>
                      <a:stretch>
                        <a:fillRect/>
                      </a:stretch>
                    </p:blipFill>
                    <p:spPr>
                      <a:xfrm>
                        <a:off x="1360508" y="4320546"/>
                        <a:ext cx="1476801" cy="645041"/>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E906EE47-AB62-47FA-BD28-68D462E78687}"/>
              </a:ext>
            </a:extLst>
          </p:cNvPr>
          <p:cNvSpPr>
            <a:spLocks noGrp="1"/>
          </p:cNvSpPr>
          <p:nvPr>
            <p:ph sz="quarter" idx="19"/>
          </p:nvPr>
        </p:nvSpPr>
        <p:spPr>
          <a:xfrm>
            <a:off x="2944310" y="4411306"/>
            <a:ext cx="5406750" cy="359272"/>
          </a:xfrm>
        </p:spPr>
        <p:txBody>
          <a:bodyPr lIns="0" tIns="0" rIns="0" bIns="0"/>
          <a:lstStyle/>
          <a:p>
            <a:pPr marL="0" lvl="1" indent="0">
              <a:buNone/>
            </a:pPr>
            <a:r>
              <a:rPr lang="en-US" altLang="en-US" sz="2000" dirty="0">
                <a:ea typeface="ヒラギノ角ゴ Pro W3" pitchFamily="-84" charset="-128"/>
              </a:rPr>
              <a:t>is the current account as a function of the real</a:t>
            </a:r>
            <a:endParaRPr lang="en-US" sz="2000" dirty="0"/>
          </a:p>
        </p:txBody>
      </p:sp>
      <p:sp>
        <p:nvSpPr>
          <p:cNvPr id="11" name="Content Placeholder 10">
            <a:extLst>
              <a:ext uri="{FF2B5EF4-FFF2-40B4-BE49-F238E27FC236}">
                <a16:creationId xmlns:a16="http://schemas.microsoft.com/office/drawing/2014/main" id="{CFEFFF8C-3C25-452D-B389-E3A2DF898877}"/>
              </a:ext>
            </a:extLst>
          </p:cNvPr>
          <p:cNvSpPr>
            <a:spLocks noGrp="1"/>
          </p:cNvSpPr>
          <p:nvPr>
            <p:ph sz="quarter" idx="20"/>
          </p:nvPr>
        </p:nvSpPr>
        <p:spPr>
          <a:xfrm>
            <a:off x="822959" y="5025222"/>
            <a:ext cx="5908041" cy="352184"/>
          </a:xfrm>
        </p:spPr>
        <p:txBody>
          <a:bodyPr lIns="0" tIns="0" rIns="0" bIns="0"/>
          <a:lstStyle/>
          <a:p>
            <a:pPr marL="458550" lvl="1" indent="0">
              <a:buNone/>
            </a:pPr>
            <a:r>
              <a:rPr lang="en-US" altLang="en-US" sz="2000" dirty="0">
                <a:ea typeface="ヒラギノ角ゴ Pro W3" pitchFamily="-84" charset="-128"/>
              </a:rPr>
              <a:t>exchange rate and disposable income.</a:t>
            </a:r>
            <a:endParaRPr lang="en-IN" sz="2000" dirty="0"/>
          </a:p>
        </p:txBody>
      </p:sp>
      <p:sp>
        <p:nvSpPr>
          <p:cNvPr id="12" name="Content Placeholder 11">
            <a:extLst>
              <a:ext uri="{FF2B5EF4-FFF2-40B4-BE49-F238E27FC236}">
                <a16:creationId xmlns:a16="http://schemas.microsoft.com/office/drawing/2014/main" id="{79726DB1-360C-4EAA-A0AA-0689D615B731}"/>
              </a:ext>
            </a:extLst>
          </p:cNvPr>
          <p:cNvSpPr>
            <a:spLocks noGrp="1"/>
          </p:cNvSpPr>
          <p:nvPr>
            <p:ph sz="quarter" idx="21"/>
          </p:nvPr>
        </p:nvSpPr>
        <p:spPr>
          <a:xfrm>
            <a:off x="468313" y="5518429"/>
            <a:ext cx="2229167" cy="459325"/>
          </a:xfrm>
        </p:spPr>
        <p:txBody>
          <a:bodyPr/>
          <a:lstStyle/>
          <a:p>
            <a:r>
              <a:rPr lang="en-US" altLang="en-US" sz="2000" dirty="0">
                <a:ea typeface="ヒラギノ角ゴ Pro W3" pitchFamily="-84" charset="-128"/>
              </a:rPr>
              <a:t>Or more simply:</a:t>
            </a:r>
          </a:p>
        </p:txBody>
      </p:sp>
      <p:graphicFrame>
        <p:nvGraphicFramePr>
          <p:cNvPr id="19" name="Object 18" descr="D = D left parenthesis start fraction E  P asterisk over P end fraction, Y minus T comma I comma G right parenthesis">
            <a:extLst>
              <a:ext uri="{FF2B5EF4-FFF2-40B4-BE49-F238E27FC236}">
                <a16:creationId xmlns:a16="http://schemas.microsoft.com/office/drawing/2014/main" id="{FC2BBBC8-43B5-4503-9D4C-CD9C40FE5654}"/>
              </a:ext>
            </a:extLst>
          </p:cNvPr>
          <p:cNvGraphicFramePr>
            <a:graphicFrameLocks noChangeAspect="1"/>
          </p:cNvGraphicFramePr>
          <p:nvPr>
            <p:extLst>
              <p:ext uri="{D42A27DB-BD31-4B8C-83A1-F6EECF244321}">
                <p14:modId xmlns:p14="http://schemas.microsoft.com/office/powerpoint/2010/main" val="3426138756"/>
              </p:ext>
            </p:extLst>
          </p:nvPr>
        </p:nvGraphicFramePr>
        <p:xfrm>
          <a:off x="2795368" y="5451727"/>
          <a:ext cx="2194396" cy="677943"/>
        </p:xfrm>
        <a:graphic>
          <a:graphicData uri="http://schemas.openxmlformats.org/presentationml/2006/ole">
            <mc:AlternateContent xmlns:mc="http://schemas.openxmlformats.org/markup-compatibility/2006">
              <mc:Choice xmlns:v="urn:schemas-microsoft-com:vml" Requires="v">
                <p:oleObj name="Equation" r:id="rId9" imgW="1562040" imgH="482400" progId="Equation.DSMT4">
                  <p:embed/>
                </p:oleObj>
              </mc:Choice>
              <mc:Fallback>
                <p:oleObj name="Equation" r:id="rId9" imgW="1562040" imgH="482400" progId="Equation.DSMT4">
                  <p:embed/>
                  <p:pic>
                    <p:nvPicPr>
                      <p:cNvPr id="0" name=""/>
                      <p:cNvPicPr/>
                      <p:nvPr/>
                    </p:nvPicPr>
                    <p:blipFill>
                      <a:blip r:embed="rId10"/>
                      <a:stretch>
                        <a:fillRect/>
                      </a:stretch>
                    </p:blipFill>
                    <p:spPr>
                      <a:xfrm>
                        <a:off x="2795368" y="5451727"/>
                        <a:ext cx="2194396" cy="677943"/>
                      </a:xfrm>
                      <a:prstGeom prst="rect">
                        <a:avLst/>
                      </a:prstGeom>
                    </p:spPr>
                  </p:pic>
                </p:oleObj>
              </mc:Fallback>
            </mc:AlternateContent>
          </a:graphicData>
        </a:graphic>
      </p:graphicFrame>
    </p:spTree>
    <p:extLst>
      <p:ext uri="{BB962C8B-B14F-4D97-AF65-F5344CB8AC3E}">
        <p14:creationId xmlns:p14="http://schemas.microsoft.com/office/powerpoint/2010/main" val="4019511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Determinants of Aggregate Demand </a:t>
            </a:r>
            <a:r>
              <a:rPr lang="en-US" altLang="en-US" sz="2000" b="0" dirty="0">
                <a:ea typeface="ヒラギノ角ゴ Pro W3" pitchFamily="-84" charset="-128"/>
              </a:rPr>
              <a:t>(4 of 4)</a:t>
            </a:r>
            <a:endParaRPr lang="en-IN" sz="2000" dirty="0"/>
          </a:p>
        </p:txBody>
      </p:sp>
      <p:sp>
        <p:nvSpPr>
          <p:cNvPr id="7" name="Content Placeholder 6"/>
          <p:cNvSpPr>
            <a:spLocks noGrp="1"/>
          </p:cNvSpPr>
          <p:nvPr>
            <p:ph sz="quarter" idx="13"/>
          </p:nvPr>
        </p:nvSpPr>
        <p:spPr>
          <a:xfrm>
            <a:off x="457200" y="1556326"/>
            <a:ext cx="8132618" cy="4488873"/>
          </a:xfrm>
        </p:spPr>
        <p:txBody>
          <a:bodyPr/>
          <a:lstStyle/>
          <a:p>
            <a:pPr eaLnBrk="1" hangingPunct="1"/>
            <a:r>
              <a:rPr lang="en-US" altLang="en-US" sz="2000" dirty="0">
                <a:latin typeface="Arial (Body)"/>
                <a:ea typeface="ヒラギノ角ゴ Pro W3" pitchFamily="-84" charset="-128"/>
              </a:rPr>
              <a:t>Determinants of aggregate demand include:</a:t>
            </a:r>
          </a:p>
          <a:p>
            <a:pPr lvl="1" eaLnBrk="1" hangingPunct="1"/>
            <a:r>
              <a:rPr lang="en-US" altLang="en-US" sz="2000" b="1" dirty="0">
                <a:latin typeface="Arial (Body)"/>
                <a:ea typeface="ヒラギノ角ゴ Pro W3" pitchFamily="-84" charset="-128"/>
              </a:rPr>
              <a:t>Real exchange rate</a:t>
            </a:r>
            <a:r>
              <a:rPr lang="en-US" altLang="en-US" sz="2000" dirty="0">
                <a:latin typeface="Arial (Body)"/>
                <a:ea typeface="ヒラギノ角ゴ Pro W3" pitchFamily="-84" charset="-128"/>
              </a:rPr>
              <a:t>: an increase in the real exchange rate increases the current account, and therefore increases aggregate demand of domestic products.</a:t>
            </a:r>
            <a:endParaRPr lang="en-US" altLang="en-US" sz="2000" i="1" dirty="0">
              <a:latin typeface="Arial (Body)"/>
              <a:ea typeface="ヒラギノ角ゴ Pro W3" pitchFamily="-84" charset="-128"/>
            </a:endParaRPr>
          </a:p>
          <a:p>
            <a:pPr lvl="1" eaLnBrk="1" hangingPunct="1"/>
            <a:r>
              <a:rPr lang="en-US" altLang="en-US" sz="2000" b="1" dirty="0">
                <a:latin typeface="Arial (Body)"/>
                <a:ea typeface="ヒラギノ角ゴ Pro W3" pitchFamily="-84" charset="-128"/>
              </a:rPr>
              <a:t>Disposable income</a:t>
            </a:r>
            <a:r>
              <a:rPr lang="en-US" altLang="en-US" sz="2000" dirty="0">
                <a:latin typeface="Arial (Body)"/>
                <a:ea typeface="ヒラギノ角ゴ Pro W3" pitchFamily="-84" charset="-128"/>
              </a:rPr>
              <a:t>: an increase in the disposable income increases consumption expenditure, but decreases the current account. </a:t>
            </a:r>
          </a:p>
          <a:p>
            <a:pPr lvl="2" eaLnBrk="1" hangingPunct="1"/>
            <a:r>
              <a:rPr lang="en-US" altLang="en-US" sz="2000" dirty="0">
                <a:latin typeface="Arial (Body)"/>
                <a:ea typeface="ヒラギノ角ゴ Pro W3" pitchFamily="-84" charset="-128"/>
              </a:rPr>
              <a:t>Since consumption expenditure is usually greater than expenditure on foreign products, the first effect dominates the second effect.</a:t>
            </a:r>
          </a:p>
          <a:p>
            <a:pPr lvl="2" eaLnBrk="1" hangingPunct="1"/>
            <a:r>
              <a:rPr lang="en-US" altLang="en-US" sz="2000" dirty="0">
                <a:latin typeface="Arial (Body)"/>
                <a:ea typeface="ヒラギノ角ゴ Pro W3" pitchFamily="-84" charset="-128"/>
              </a:rPr>
              <a:t>As income increases for a given level of taxes, aggregate consumption expenditure and aggregate demand increase by less than income.</a:t>
            </a:r>
          </a:p>
        </p:txBody>
      </p:sp>
    </p:spTree>
    <p:extLst>
      <p:ext uri="{BB962C8B-B14F-4D97-AF65-F5344CB8AC3E}">
        <p14:creationId xmlns:p14="http://schemas.microsoft.com/office/powerpoint/2010/main" val="1348958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6D163-9D41-4731-9242-9CBA5A8FD48E}"/>
              </a:ext>
            </a:extLst>
          </p:cNvPr>
          <p:cNvSpPr>
            <a:spLocks noGrp="1"/>
          </p:cNvSpPr>
          <p:nvPr>
            <p:ph type="title"/>
          </p:nvPr>
        </p:nvSpPr>
        <p:spPr/>
        <p:txBody>
          <a:bodyPr/>
          <a:lstStyle/>
          <a:p>
            <a:r>
              <a:rPr lang="en-US" altLang="en-US" sz="3200" dirty="0">
                <a:ea typeface="ヒラギノ角ゴ Pro W3" pitchFamily="-84" charset="-128"/>
              </a:rPr>
              <a:t>Short-Run Equilibrium for Aggregate Demand and Output</a:t>
            </a:r>
            <a:endParaRPr lang="en-IN" sz="3200" dirty="0"/>
          </a:p>
        </p:txBody>
      </p:sp>
      <p:sp>
        <p:nvSpPr>
          <p:cNvPr id="3" name="Content Placeholder 2">
            <a:extLst>
              <a:ext uri="{FF2B5EF4-FFF2-40B4-BE49-F238E27FC236}">
                <a16:creationId xmlns:a16="http://schemas.microsoft.com/office/drawing/2014/main" id="{D6976C88-B23E-40AA-A2A2-4D5F4FD59E95}"/>
              </a:ext>
            </a:extLst>
          </p:cNvPr>
          <p:cNvSpPr>
            <a:spLocks noGrp="1"/>
          </p:cNvSpPr>
          <p:nvPr>
            <p:ph sz="quarter" idx="13"/>
          </p:nvPr>
        </p:nvSpPr>
        <p:spPr>
          <a:xfrm>
            <a:off x="457200" y="1556327"/>
            <a:ext cx="8229600" cy="1298633"/>
          </a:xfrm>
        </p:spPr>
        <p:txBody>
          <a:bodyPr/>
          <a:lstStyle/>
          <a:p>
            <a:r>
              <a:rPr lang="en-US" altLang="en-US" dirty="0">
                <a:latin typeface="Arial (Body)"/>
                <a:ea typeface="ヒラギノ角ゴ Pro W3" pitchFamily="-84" charset="-128"/>
              </a:rPr>
              <a:t>Equilibrium is achieved when the value of output and income from production </a:t>
            </a:r>
            <a:r>
              <a:rPr lang="en-US" altLang="en-US" i="1" dirty="0">
                <a:latin typeface="Arial (Body)"/>
                <a:ea typeface="ヒラギノ角ゴ Pro W3" pitchFamily="-84" charset="-128"/>
              </a:rPr>
              <a:t>Y </a:t>
            </a:r>
            <a:r>
              <a:rPr lang="en-US" altLang="en-US" dirty="0">
                <a:latin typeface="Arial (Body)"/>
                <a:ea typeface="ヒラギノ角ゴ Pro W3" pitchFamily="-84" charset="-128"/>
              </a:rPr>
              <a:t>equals the value of aggregate demand </a:t>
            </a:r>
            <a:r>
              <a:rPr lang="en-US" altLang="en-US" i="1" dirty="0">
                <a:latin typeface="Arial (Body)"/>
                <a:ea typeface="ヒラギノ角ゴ Pro W3" pitchFamily="-84" charset="-128"/>
              </a:rPr>
              <a:t>D</a:t>
            </a:r>
          </a:p>
        </p:txBody>
      </p:sp>
      <p:graphicFrame>
        <p:nvGraphicFramePr>
          <p:cNvPr id="10" name="Object 9" descr="Y = D left parenthesis start fraction E  P asterisk over P end fraction, Y minus T comma I comma G right parenthesis">
            <a:extLst>
              <a:ext uri="{FF2B5EF4-FFF2-40B4-BE49-F238E27FC236}">
                <a16:creationId xmlns:a16="http://schemas.microsoft.com/office/drawing/2014/main" id="{FFFDFACB-FF23-4AF4-BE13-47C8421908F9}"/>
              </a:ext>
            </a:extLst>
          </p:cNvPr>
          <p:cNvGraphicFramePr>
            <a:graphicFrameLocks noChangeAspect="1"/>
          </p:cNvGraphicFramePr>
          <p:nvPr>
            <p:extLst>
              <p:ext uri="{D42A27DB-BD31-4B8C-83A1-F6EECF244321}">
                <p14:modId xmlns:p14="http://schemas.microsoft.com/office/powerpoint/2010/main" val="2104235839"/>
              </p:ext>
            </p:extLst>
          </p:nvPr>
        </p:nvGraphicFramePr>
        <p:xfrm>
          <a:off x="3008426" y="3032304"/>
          <a:ext cx="2495324" cy="777233"/>
        </p:xfrm>
        <a:graphic>
          <a:graphicData uri="http://schemas.openxmlformats.org/presentationml/2006/ole">
            <mc:AlternateContent xmlns:mc="http://schemas.openxmlformats.org/markup-compatibility/2006">
              <mc:Choice xmlns:v="urn:schemas-microsoft-com:vml" Requires="v">
                <p:oleObj name="Equation" r:id="rId2" imgW="1549080" imgH="482400" progId="Equation.DSMT4">
                  <p:embed/>
                </p:oleObj>
              </mc:Choice>
              <mc:Fallback>
                <p:oleObj name="Equation" r:id="rId2" imgW="1549080" imgH="482400" progId="Equation.DSMT4">
                  <p:embed/>
                  <p:pic>
                    <p:nvPicPr>
                      <p:cNvPr id="19" name="Object 18">
                        <a:extLst>
                          <a:ext uri="{FF2B5EF4-FFF2-40B4-BE49-F238E27FC236}">
                            <a16:creationId xmlns:a16="http://schemas.microsoft.com/office/drawing/2014/main" id="{FC2BBBC8-43B5-4503-9D4C-CD9C40FE5654}"/>
                          </a:ext>
                        </a:extLst>
                      </p:cNvPr>
                      <p:cNvPicPr/>
                      <p:nvPr/>
                    </p:nvPicPr>
                    <p:blipFill>
                      <a:blip r:embed="rId3"/>
                      <a:stretch>
                        <a:fillRect/>
                      </a:stretch>
                    </p:blipFill>
                    <p:spPr>
                      <a:xfrm>
                        <a:off x="3008426" y="3032304"/>
                        <a:ext cx="2495324" cy="77723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7FD11492-D9A8-451A-94C0-6A6E8A6BBF2C}"/>
              </a:ext>
            </a:extLst>
          </p:cNvPr>
          <p:cNvSpPr>
            <a:spLocks noGrp="1"/>
          </p:cNvSpPr>
          <p:nvPr>
            <p:ph sz="quarter" idx="14"/>
          </p:nvPr>
        </p:nvSpPr>
        <p:spPr>
          <a:xfrm>
            <a:off x="457200" y="3971925"/>
            <a:ext cx="8229600" cy="1392555"/>
          </a:xfrm>
        </p:spPr>
        <p:txBody>
          <a:bodyPr/>
          <a:lstStyle/>
          <a:p>
            <a:pPr lvl="1"/>
            <a:r>
              <a:rPr lang="en-US" altLang="en-US" dirty="0">
                <a:latin typeface="Arial (Body)"/>
                <a:ea typeface="ヒラギノ角ゴ Pro W3" pitchFamily="-84" charset="-128"/>
              </a:rPr>
              <a:t>where aggregate demand is a function of the real exchange rate, disposable income, investment expenditure</a:t>
            </a:r>
            <a:r>
              <a:rPr lang="en-US" altLang="en-US" dirty="0">
                <a:solidFill>
                  <a:srgbClr val="FF0000"/>
                </a:solidFill>
                <a:latin typeface="Arial (Body)"/>
                <a:ea typeface="ヒラギノ角ゴ Pro W3" pitchFamily="-84" charset="-128"/>
              </a:rPr>
              <a:t>,</a:t>
            </a:r>
            <a:r>
              <a:rPr lang="en-US" altLang="en-US" dirty="0">
                <a:latin typeface="Arial (Body)"/>
                <a:ea typeface="ヒラギノ角ゴ Pro W3" pitchFamily="-84" charset="-128"/>
              </a:rPr>
              <a:t> and government purchases.</a:t>
            </a:r>
          </a:p>
        </p:txBody>
      </p:sp>
    </p:spTree>
    <p:extLst>
      <p:ext uri="{BB962C8B-B14F-4D97-AF65-F5344CB8AC3E}">
        <p14:creationId xmlns:p14="http://schemas.microsoft.com/office/powerpoint/2010/main" val="4092937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8DA6-35A7-465A-91E7-970A42E00CED}"/>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17.2 The Determination of Output in the Short Run</a:t>
            </a:r>
            <a:endParaRPr lang="en-IN" sz="3200" dirty="0">
              <a:cs typeface="Times New Roman" panose="02020603050405020304" pitchFamily="18" charset="0"/>
            </a:endParaRPr>
          </a:p>
        </p:txBody>
      </p:sp>
      <p:pic>
        <p:nvPicPr>
          <p:cNvPr id="19" name="Content Placeholder 18" descr="Two coordinate systems share the same horizontal axis for domestic interest rate R. For long description in Notes pane, press F6.">
            <a:extLst>
              <a:ext uri="{FF2B5EF4-FFF2-40B4-BE49-F238E27FC236}">
                <a16:creationId xmlns:a16="http://schemas.microsoft.com/office/drawing/2014/main" id="{B9EBC498-32BD-4687-899A-4D3ADDC25527}"/>
              </a:ext>
            </a:extLst>
          </p:cNvPr>
          <p:cNvPicPr>
            <a:picLocks noGrp="1" noChangeAspect="1"/>
          </p:cNvPicPr>
          <p:nvPr>
            <p:ph sz="quarter" idx="13"/>
          </p:nvPr>
        </p:nvPicPr>
        <p:blipFill>
          <a:blip r:embed="rId3"/>
          <a:stretch>
            <a:fillRect/>
          </a:stretch>
        </p:blipFill>
        <p:spPr>
          <a:xfrm>
            <a:off x="2611391" y="1700213"/>
            <a:ext cx="4099168" cy="3324203"/>
          </a:xfrm>
        </p:spPr>
      </p:pic>
      <p:sp>
        <p:nvSpPr>
          <p:cNvPr id="4" name="Content Placeholder 3">
            <a:extLst>
              <a:ext uri="{FF2B5EF4-FFF2-40B4-BE49-F238E27FC236}">
                <a16:creationId xmlns:a16="http://schemas.microsoft.com/office/drawing/2014/main" id="{71A7B507-3F51-4933-9B7F-1047BC8811D0}"/>
              </a:ext>
            </a:extLst>
          </p:cNvPr>
          <p:cNvSpPr>
            <a:spLocks noGrp="1"/>
          </p:cNvSpPr>
          <p:nvPr>
            <p:ph sz="quarter" idx="14"/>
          </p:nvPr>
        </p:nvSpPr>
        <p:spPr>
          <a:xfrm>
            <a:off x="468313" y="5479141"/>
            <a:ext cx="3768407" cy="375921"/>
          </a:xfrm>
        </p:spPr>
        <p:txBody>
          <a:bodyPr lIns="0" tIns="0" rIns="0" bIns="0"/>
          <a:lstStyle/>
          <a:p>
            <a:pPr marL="432" indent="0">
              <a:buNone/>
            </a:pPr>
            <a:r>
              <a:rPr lang="en-US" sz="2000" dirty="0">
                <a:latin typeface="Arial (Body)"/>
              </a:rPr>
              <a:t>In the short run, output settles at</a:t>
            </a:r>
          </a:p>
        </p:txBody>
      </p:sp>
      <p:graphicFrame>
        <p:nvGraphicFramePr>
          <p:cNvPr id="14" name="Object 13" descr="Y super 1">
            <a:extLst>
              <a:ext uri="{FF2B5EF4-FFF2-40B4-BE49-F238E27FC236}">
                <a16:creationId xmlns:a16="http://schemas.microsoft.com/office/drawing/2014/main" id="{5E631635-3184-4EDE-8D5D-1D25C5B839DF}"/>
              </a:ext>
            </a:extLst>
          </p:cNvPr>
          <p:cNvGraphicFramePr>
            <a:graphicFrameLocks noChangeAspect="1"/>
          </p:cNvGraphicFramePr>
          <p:nvPr>
            <p:extLst>
              <p:ext uri="{D42A27DB-BD31-4B8C-83A1-F6EECF244321}">
                <p14:modId xmlns:p14="http://schemas.microsoft.com/office/powerpoint/2010/main" val="1353260606"/>
              </p:ext>
            </p:extLst>
          </p:nvPr>
        </p:nvGraphicFramePr>
        <p:xfrm>
          <a:off x="4349750" y="5509578"/>
          <a:ext cx="307340" cy="307340"/>
        </p:xfrm>
        <a:graphic>
          <a:graphicData uri="http://schemas.openxmlformats.org/presentationml/2006/ole">
            <mc:AlternateContent xmlns:mc="http://schemas.openxmlformats.org/markup-compatibility/2006">
              <mc:Choice xmlns:v="urn:schemas-microsoft-com:vml" Requires="v">
                <p:oleObj name="Equation" r:id="rId4" imgW="190440" imgH="190440" progId="Equation.DSMT4">
                  <p:embed/>
                </p:oleObj>
              </mc:Choice>
              <mc:Fallback>
                <p:oleObj name="Equation" r:id="rId4" imgW="190440" imgH="190440" progId="Equation.DSMT4">
                  <p:embed/>
                  <p:pic>
                    <p:nvPicPr>
                      <p:cNvPr id="10" name="Object 9">
                        <a:extLst>
                          <a:ext uri="{FF2B5EF4-FFF2-40B4-BE49-F238E27FC236}">
                            <a16:creationId xmlns:a16="http://schemas.microsoft.com/office/drawing/2014/main" id="{FFFDFACB-FF23-4AF4-BE13-47C8421908F9}"/>
                          </a:ext>
                        </a:extLst>
                      </p:cNvPr>
                      <p:cNvPicPr/>
                      <p:nvPr/>
                    </p:nvPicPr>
                    <p:blipFill>
                      <a:blip r:embed="rId5"/>
                      <a:stretch>
                        <a:fillRect/>
                      </a:stretch>
                    </p:blipFill>
                    <p:spPr>
                      <a:xfrm>
                        <a:off x="4349750" y="5509578"/>
                        <a:ext cx="307340" cy="30734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277A0E5-DDF6-4FA1-83C2-E8C7E196FF52}"/>
              </a:ext>
            </a:extLst>
          </p:cNvPr>
          <p:cNvSpPr>
            <a:spLocks noGrp="1"/>
          </p:cNvSpPr>
          <p:nvPr>
            <p:ph sz="quarter" idx="15"/>
          </p:nvPr>
        </p:nvSpPr>
        <p:spPr>
          <a:xfrm>
            <a:off x="4791029" y="5473929"/>
            <a:ext cx="3037251" cy="386081"/>
          </a:xfrm>
        </p:spPr>
        <p:txBody>
          <a:bodyPr lIns="0" tIns="0" rIns="0" bIns="0"/>
          <a:lstStyle/>
          <a:p>
            <a:pPr marL="432" indent="0">
              <a:buNone/>
            </a:pPr>
            <a:r>
              <a:rPr lang="en-US" sz="2000" dirty="0">
                <a:latin typeface="Arial (Body)"/>
              </a:rPr>
              <a:t>(point 1), where aggregate</a:t>
            </a:r>
            <a:endParaRPr lang="en-US" sz="2000" dirty="0"/>
          </a:p>
        </p:txBody>
      </p:sp>
      <p:sp>
        <p:nvSpPr>
          <p:cNvPr id="11" name="Content Placeholder 10">
            <a:extLst>
              <a:ext uri="{FF2B5EF4-FFF2-40B4-BE49-F238E27FC236}">
                <a16:creationId xmlns:a16="http://schemas.microsoft.com/office/drawing/2014/main" id="{46B91D61-A9B3-4B42-8584-457DDE018579}"/>
              </a:ext>
            </a:extLst>
          </p:cNvPr>
          <p:cNvSpPr>
            <a:spLocks noGrp="1"/>
          </p:cNvSpPr>
          <p:nvPr>
            <p:ph sz="quarter" idx="16"/>
          </p:nvPr>
        </p:nvSpPr>
        <p:spPr>
          <a:xfrm>
            <a:off x="495676" y="5993474"/>
            <a:ext cx="1109604" cy="355601"/>
          </a:xfrm>
        </p:spPr>
        <p:txBody>
          <a:bodyPr lIns="0" tIns="0" rIns="0" bIns="0"/>
          <a:lstStyle/>
          <a:p>
            <a:pPr marL="432" indent="0">
              <a:buNone/>
            </a:pPr>
            <a:r>
              <a:rPr lang="en-US" sz="2000" dirty="0">
                <a:latin typeface="Arial (Body)"/>
              </a:rPr>
              <a:t>demand,</a:t>
            </a:r>
            <a:endParaRPr lang="en-US" sz="2000" dirty="0"/>
          </a:p>
        </p:txBody>
      </p:sp>
      <p:graphicFrame>
        <p:nvGraphicFramePr>
          <p:cNvPr id="15" name="Object 14" descr="D super 1,">
            <a:extLst>
              <a:ext uri="{FF2B5EF4-FFF2-40B4-BE49-F238E27FC236}">
                <a16:creationId xmlns:a16="http://schemas.microsoft.com/office/drawing/2014/main" id="{FD4AC676-E47C-459B-BB38-D73C4A541F9C}"/>
              </a:ext>
            </a:extLst>
          </p:cNvPr>
          <p:cNvGraphicFramePr>
            <a:graphicFrameLocks noChangeAspect="1"/>
          </p:cNvGraphicFramePr>
          <p:nvPr>
            <p:extLst>
              <p:ext uri="{D42A27DB-BD31-4B8C-83A1-F6EECF244321}">
                <p14:modId xmlns:p14="http://schemas.microsoft.com/office/powerpoint/2010/main" val="273571196"/>
              </p:ext>
            </p:extLst>
          </p:nvPr>
        </p:nvGraphicFramePr>
        <p:xfrm>
          <a:off x="1689042" y="5961676"/>
          <a:ext cx="368163" cy="355378"/>
        </p:xfrm>
        <a:graphic>
          <a:graphicData uri="http://schemas.openxmlformats.org/presentationml/2006/ole">
            <mc:AlternateContent xmlns:mc="http://schemas.openxmlformats.org/markup-compatibility/2006">
              <mc:Choice xmlns:v="urn:schemas-microsoft-com:vml" Requires="v">
                <p:oleObj name="Equation" r:id="rId6" imgW="228600" imgH="215640" progId="Equation.DSMT4">
                  <p:embed/>
                </p:oleObj>
              </mc:Choice>
              <mc:Fallback>
                <p:oleObj name="Equation" r:id="rId6" imgW="228600" imgH="215640" progId="Equation.DSMT4">
                  <p:embed/>
                  <p:pic>
                    <p:nvPicPr>
                      <p:cNvPr id="0" name=""/>
                      <p:cNvPicPr/>
                      <p:nvPr/>
                    </p:nvPicPr>
                    <p:blipFill>
                      <a:blip r:embed="rId7"/>
                      <a:stretch>
                        <a:fillRect/>
                      </a:stretch>
                    </p:blipFill>
                    <p:spPr>
                      <a:xfrm>
                        <a:off x="1689042" y="5961676"/>
                        <a:ext cx="368163" cy="355378"/>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93CCA82A-C8F9-4DD9-A36E-DE35AB94C495}"/>
              </a:ext>
            </a:extLst>
          </p:cNvPr>
          <p:cNvSpPr>
            <a:spLocks noGrp="1"/>
          </p:cNvSpPr>
          <p:nvPr>
            <p:ph sz="quarter" idx="17"/>
          </p:nvPr>
        </p:nvSpPr>
        <p:spPr>
          <a:xfrm>
            <a:off x="2157353" y="5949139"/>
            <a:ext cx="2976880" cy="347255"/>
          </a:xfrm>
        </p:spPr>
        <p:txBody>
          <a:bodyPr lIns="0" tIns="0" rIns="0" bIns="0"/>
          <a:lstStyle/>
          <a:p>
            <a:pPr marL="101600" indent="0">
              <a:buNone/>
            </a:pPr>
            <a:r>
              <a:rPr lang="en-US" sz="2000" dirty="0">
                <a:latin typeface="Arial (Body)"/>
              </a:rPr>
              <a:t>equals aggregate output,</a:t>
            </a:r>
            <a:endParaRPr lang="en-US" sz="2000" dirty="0"/>
          </a:p>
        </p:txBody>
      </p:sp>
      <p:graphicFrame>
        <p:nvGraphicFramePr>
          <p:cNvPr id="16" name="Object 15" descr="Y super 1.">
            <a:extLst>
              <a:ext uri="{FF2B5EF4-FFF2-40B4-BE49-F238E27FC236}">
                <a16:creationId xmlns:a16="http://schemas.microsoft.com/office/drawing/2014/main" id="{8B4C1F44-F98F-4E97-80F6-B963B4D80C03}"/>
              </a:ext>
            </a:extLst>
          </p:cNvPr>
          <p:cNvGraphicFramePr>
            <a:graphicFrameLocks noChangeAspect="1"/>
          </p:cNvGraphicFramePr>
          <p:nvPr>
            <p:extLst>
              <p:ext uri="{D42A27DB-BD31-4B8C-83A1-F6EECF244321}">
                <p14:modId xmlns:p14="http://schemas.microsoft.com/office/powerpoint/2010/main" val="2421266351"/>
              </p:ext>
            </p:extLst>
          </p:nvPr>
        </p:nvGraphicFramePr>
        <p:xfrm>
          <a:off x="5249023" y="5947362"/>
          <a:ext cx="368163" cy="306803"/>
        </p:xfrm>
        <a:graphic>
          <a:graphicData uri="http://schemas.openxmlformats.org/presentationml/2006/ole">
            <mc:AlternateContent xmlns:mc="http://schemas.openxmlformats.org/markup-compatibility/2006">
              <mc:Choice xmlns:v="urn:schemas-microsoft-com:vml" Requires="v">
                <p:oleObj name="Equation" r:id="rId8" imgW="228600" imgH="190440" progId="Equation.DSMT4">
                  <p:embed/>
                </p:oleObj>
              </mc:Choice>
              <mc:Fallback>
                <p:oleObj name="Equation" r:id="rId8" imgW="228600" imgH="190440" progId="Equation.DSMT4">
                  <p:embed/>
                  <p:pic>
                    <p:nvPicPr>
                      <p:cNvPr id="0" name=""/>
                      <p:cNvPicPr/>
                      <p:nvPr/>
                    </p:nvPicPr>
                    <p:blipFill>
                      <a:blip r:embed="rId9"/>
                      <a:stretch>
                        <a:fillRect/>
                      </a:stretch>
                    </p:blipFill>
                    <p:spPr>
                      <a:xfrm>
                        <a:off x="5249023" y="5947362"/>
                        <a:ext cx="368163" cy="306803"/>
                      </a:xfrm>
                      <a:prstGeom prst="rect">
                        <a:avLst/>
                      </a:prstGeom>
                    </p:spPr>
                  </p:pic>
                </p:oleObj>
              </mc:Fallback>
            </mc:AlternateContent>
          </a:graphicData>
        </a:graphic>
      </p:graphicFrame>
    </p:spTree>
    <p:extLst>
      <p:ext uri="{BB962C8B-B14F-4D97-AF65-F5344CB8AC3E}">
        <p14:creationId xmlns:p14="http://schemas.microsoft.com/office/powerpoint/2010/main" val="1747194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2E43A-FCE0-4F34-8D09-F70B6303E81E}"/>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Short-Run Equilibrium and the Exchange Rate: </a:t>
            </a:r>
            <a:r>
              <a:rPr lang="en-US" altLang="en-US" sz="3200"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sz="3200" i="1" dirty="0">
                <a:ea typeface="ヒラギノ角ゴ Pro W3" pitchFamily="-84" charset="-128"/>
                <a:cs typeface="Times New Roman" panose="02020603050405020304" pitchFamily="18" charset="0"/>
              </a:rPr>
              <a:t>D</a:t>
            </a:r>
            <a:r>
              <a:rPr lang="en-US" altLang="en-US" sz="3200" dirty="0">
                <a:ea typeface="ヒラギノ角ゴ Pro W3" pitchFamily="-84" charset="-128"/>
                <a:cs typeface="Times New Roman" panose="02020603050405020304" pitchFamily="18" charset="0"/>
              </a:rPr>
              <a:t> Schedule </a:t>
            </a:r>
            <a:r>
              <a:rPr lang="en-US" altLang="en-US" sz="2000" b="0" dirty="0">
                <a:ea typeface="ヒラギノ角ゴ Pro W3" pitchFamily="-84" charset="-128"/>
                <a:cs typeface="Times New Roman" panose="02020603050405020304" pitchFamily="18" charset="0"/>
              </a:rPr>
              <a:t>(1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FE416ACA-6228-4374-B501-8468B8C1DEE2}"/>
              </a:ext>
            </a:extLst>
          </p:cNvPr>
          <p:cNvSpPr>
            <a:spLocks noGrp="1"/>
          </p:cNvSpPr>
          <p:nvPr>
            <p:ph sz="quarter" idx="13"/>
          </p:nvPr>
        </p:nvSpPr>
        <p:spPr/>
        <p:txBody>
          <a:bodyPr/>
          <a:lstStyle/>
          <a:p>
            <a:pPr eaLnBrk="1" hangingPunct="1"/>
            <a:r>
              <a:rPr lang="en-US" altLang="en-US" sz="2200" dirty="0">
                <a:latin typeface="Arial (Body)"/>
                <a:ea typeface="ヒラギノ角ゴ Pro W3" pitchFamily="-84" charset="-128"/>
              </a:rPr>
              <a:t>How does the exchange rate affect the short-run equilibrium of aggregate demand and output?</a:t>
            </a:r>
          </a:p>
          <a:p>
            <a:pPr eaLnBrk="1" hangingPunct="1"/>
            <a:r>
              <a:rPr lang="en-US" altLang="en-US" sz="2200" dirty="0">
                <a:latin typeface="Arial (Body)"/>
                <a:ea typeface="ヒラギノ角ゴ Pro W3" pitchFamily="-84" charset="-128"/>
              </a:rPr>
              <a:t>With fixed domestic and foreign levels of average prices, a rise in the nominal exchange rate makes foreign goods and services more expensive relative to domestic goods and services.</a:t>
            </a:r>
          </a:p>
          <a:p>
            <a:pPr eaLnBrk="1" hangingPunct="1"/>
            <a:r>
              <a:rPr lang="en-US" altLang="en-US" sz="2200" dirty="0">
                <a:latin typeface="Arial (Body)"/>
                <a:ea typeface="ヒラギノ角ゴ Pro W3" pitchFamily="-84" charset="-128"/>
              </a:rPr>
              <a:t>A rise in the nominal exchange rate (a domestic currency depreciation) increases aggregate demand of domestic products.</a:t>
            </a:r>
          </a:p>
          <a:p>
            <a:pPr eaLnBrk="1" hangingPunct="1"/>
            <a:r>
              <a:rPr lang="en-US" altLang="en-US" sz="2200" dirty="0">
                <a:latin typeface="Arial (Body)"/>
                <a:ea typeface="ヒラギノ角ゴ Pro W3" pitchFamily="-84" charset="-128"/>
              </a:rPr>
              <a:t>In equilibrium, production will increase to match the higher aggregate demand.</a:t>
            </a:r>
          </a:p>
        </p:txBody>
      </p:sp>
    </p:spTree>
    <p:extLst>
      <p:ext uri="{BB962C8B-B14F-4D97-AF65-F5344CB8AC3E}">
        <p14:creationId xmlns:p14="http://schemas.microsoft.com/office/powerpoint/2010/main" val="254515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8DA6-35A7-465A-91E7-970A42E00CED}"/>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17.3 Output Effect of a Currency Depreciation with Fixed Output Prices</a:t>
            </a:r>
            <a:endParaRPr lang="en-IN" sz="3200" dirty="0">
              <a:cs typeface="Times New Roman" panose="02020603050405020304" pitchFamily="18" charset="0"/>
            </a:endParaRPr>
          </a:p>
        </p:txBody>
      </p:sp>
      <p:pic>
        <p:nvPicPr>
          <p:cNvPr id="43" name="Content Placeholder 42" descr="The graph plots aggregate demand D versus output Y. For long description in Notes pane, press F6.">
            <a:extLst>
              <a:ext uri="{FF2B5EF4-FFF2-40B4-BE49-F238E27FC236}">
                <a16:creationId xmlns:a16="http://schemas.microsoft.com/office/drawing/2014/main" id="{E47389DA-D4AD-4B44-B986-EA8F8454A557}"/>
              </a:ext>
            </a:extLst>
          </p:cNvPr>
          <p:cNvPicPr>
            <a:picLocks noGrp="1" noChangeAspect="1"/>
          </p:cNvPicPr>
          <p:nvPr>
            <p:ph sz="quarter" idx="13"/>
          </p:nvPr>
        </p:nvPicPr>
        <p:blipFill>
          <a:blip r:embed="rId3"/>
          <a:stretch>
            <a:fillRect/>
          </a:stretch>
        </p:blipFill>
        <p:spPr>
          <a:xfrm>
            <a:off x="2600907" y="1645707"/>
            <a:ext cx="3985446" cy="3124955"/>
          </a:xfrm>
        </p:spPr>
      </p:pic>
      <p:sp>
        <p:nvSpPr>
          <p:cNvPr id="20" name="Content Placeholder 19">
            <a:extLst>
              <a:ext uri="{FF2B5EF4-FFF2-40B4-BE49-F238E27FC236}">
                <a16:creationId xmlns:a16="http://schemas.microsoft.com/office/drawing/2014/main" id="{E6E6A574-0138-4F8D-B758-0B9EE5DF9C75}"/>
              </a:ext>
            </a:extLst>
          </p:cNvPr>
          <p:cNvSpPr>
            <a:spLocks noGrp="1"/>
          </p:cNvSpPr>
          <p:nvPr>
            <p:ph sz="quarter" idx="14"/>
          </p:nvPr>
        </p:nvSpPr>
        <p:spPr>
          <a:xfrm>
            <a:off x="456479" y="5167735"/>
            <a:ext cx="3693881" cy="338985"/>
          </a:xfrm>
        </p:spPr>
        <p:txBody>
          <a:bodyPr lIns="0" tIns="0" rIns="0" bIns="0"/>
          <a:lstStyle/>
          <a:p>
            <a:pPr marL="432" indent="0">
              <a:buNone/>
            </a:pPr>
            <a:r>
              <a:rPr lang="en-US" sz="2000" dirty="0">
                <a:latin typeface="Arial (Body)"/>
              </a:rPr>
              <a:t>A rise in the exchange rate from</a:t>
            </a:r>
          </a:p>
        </p:txBody>
      </p:sp>
      <p:graphicFrame>
        <p:nvGraphicFramePr>
          <p:cNvPr id="15" name="Object 14" descr="E super 1 to E super 2">
            <a:extLst>
              <a:ext uri="{FF2B5EF4-FFF2-40B4-BE49-F238E27FC236}">
                <a16:creationId xmlns:a16="http://schemas.microsoft.com/office/drawing/2014/main" id="{FD4AC676-E47C-459B-BB38-D73C4A541F9C}"/>
              </a:ext>
            </a:extLst>
          </p:cNvPr>
          <p:cNvGraphicFramePr>
            <a:graphicFrameLocks noChangeAspect="1"/>
          </p:cNvGraphicFramePr>
          <p:nvPr>
            <p:extLst>
              <p:ext uri="{D42A27DB-BD31-4B8C-83A1-F6EECF244321}">
                <p14:modId xmlns:p14="http://schemas.microsoft.com/office/powerpoint/2010/main" val="2237381505"/>
              </p:ext>
            </p:extLst>
          </p:nvPr>
        </p:nvGraphicFramePr>
        <p:xfrm>
          <a:off x="4262869" y="5177441"/>
          <a:ext cx="906271" cy="315550"/>
        </p:xfrm>
        <a:graphic>
          <a:graphicData uri="http://schemas.openxmlformats.org/presentationml/2006/ole">
            <mc:AlternateContent xmlns:mc="http://schemas.openxmlformats.org/markup-compatibility/2006">
              <mc:Choice xmlns:v="urn:schemas-microsoft-com:vml" Requires="v">
                <p:oleObj name="Equation" r:id="rId4" imgW="596880" imgH="203040" progId="Equation.DSMT4">
                  <p:embed/>
                </p:oleObj>
              </mc:Choice>
              <mc:Fallback>
                <p:oleObj name="Equation" r:id="rId4" imgW="596880" imgH="203040" progId="Equation.DSMT4">
                  <p:embed/>
                  <p:pic>
                    <p:nvPicPr>
                      <p:cNvPr id="15" name="Object 14">
                        <a:extLst>
                          <a:ext uri="{FF2B5EF4-FFF2-40B4-BE49-F238E27FC236}">
                            <a16:creationId xmlns:a16="http://schemas.microsoft.com/office/drawing/2014/main" id="{FD4AC676-E47C-459B-BB38-D73C4A541F9C}"/>
                          </a:ext>
                        </a:extLst>
                      </p:cNvPr>
                      <p:cNvPicPr/>
                      <p:nvPr/>
                    </p:nvPicPr>
                    <p:blipFill>
                      <a:blip r:embed="rId5"/>
                      <a:stretch>
                        <a:fillRect/>
                      </a:stretch>
                    </p:blipFill>
                    <p:spPr>
                      <a:xfrm>
                        <a:off x="4262869" y="5177441"/>
                        <a:ext cx="906271" cy="315550"/>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1E74A144-577F-43C9-B7AE-3F89EBE87FE0}"/>
              </a:ext>
            </a:extLst>
          </p:cNvPr>
          <p:cNvSpPr>
            <a:spLocks noGrp="1"/>
          </p:cNvSpPr>
          <p:nvPr>
            <p:ph sz="quarter" idx="15"/>
          </p:nvPr>
        </p:nvSpPr>
        <p:spPr>
          <a:xfrm>
            <a:off x="5259216" y="5182445"/>
            <a:ext cx="3158206" cy="329356"/>
          </a:xfrm>
        </p:spPr>
        <p:txBody>
          <a:bodyPr lIns="0" tIns="0" rIns="0" bIns="0"/>
          <a:lstStyle/>
          <a:p>
            <a:pPr marL="432" indent="0">
              <a:buNone/>
            </a:pPr>
            <a:r>
              <a:rPr lang="en-US" sz="2000" dirty="0">
                <a:latin typeface="Arial (Body)"/>
              </a:rPr>
              <a:t>(a currency depreciation)</a:t>
            </a:r>
            <a:endParaRPr lang="en-US" sz="2000" dirty="0"/>
          </a:p>
        </p:txBody>
      </p:sp>
      <p:sp>
        <p:nvSpPr>
          <p:cNvPr id="22" name="Content Placeholder 21">
            <a:extLst>
              <a:ext uri="{FF2B5EF4-FFF2-40B4-BE49-F238E27FC236}">
                <a16:creationId xmlns:a16="http://schemas.microsoft.com/office/drawing/2014/main" id="{69D84C06-4AE2-4DB3-A7F6-C4385640EB60}"/>
              </a:ext>
            </a:extLst>
          </p:cNvPr>
          <p:cNvSpPr>
            <a:spLocks noGrp="1"/>
          </p:cNvSpPr>
          <p:nvPr>
            <p:ph sz="quarter" idx="16"/>
          </p:nvPr>
        </p:nvSpPr>
        <p:spPr>
          <a:xfrm>
            <a:off x="468313" y="5592172"/>
            <a:ext cx="5677844" cy="355379"/>
          </a:xfrm>
        </p:spPr>
        <p:txBody>
          <a:bodyPr lIns="0" tIns="0" rIns="0" bIns="0"/>
          <a:lstStyle/>
          <a:p>
            <a:pPr marL="432" indent="0">
              <a:buNone/>
            </a:pPr>
            <a:r>
              <a:rPr lang="en-US" sz="2000" dirty="0">
                <a:latin typeface="Arial (Body)"/>
              </a:rPr>
              <a:t>raises aggregate demand to </a:t>
            </a:r>
            <a:r>
              <a:rPr lang="en-US" sz="2000" b="1" dirty="0">
                <a:latin typeface="Arial (Body)"/>
              </a:rPr>
              <a:t>Aggregate demand</a:t>
            </a:r>
            <a:endParaRPr lang="en-US" sz="2000" b="1" dirty="0"/>
          </a:p>
        </p:txBody>
      </p:sp>
      <p:graphicFrame>
        <p:nvGraphicFramePr>
          <p:cNvPr id="14" name="Object 13" descr="Left parenthesis E super 2 right parenthesis">
            <a:extLst>
              <a:ext uri="{FF2B5EF4-FFF2-40B4-BE49-F238E27FC236}">
                <a16:creationId xmlns:a16="http://schemas.microsoft.com/office/drawing/2014/main" id="{5E631635-3184-4EDE-8D5D-1D25C5B839DF}"/>
              </a:ext>
            </a:extLst>
          </p:cNvPr>
          <p:cNvGraphicFramePr>
            <a:graphicFrameLocks noChangeAspect="1"/>
          </p:cNvGraphicFramePr>
          <p:nvPr>
            <p:extLst>
              <p:ext uri="{D42A27DB-BD31-4B8C-83A1-F6EECF244321}">
                <p14:modId xmlns:p14="http://schemas.microsoft.com/office/powerpoint/2010/main" val="3988127462"/>
              </p:ext>
            </p:extLst>
          </p:nvPr>
        </p:nvGraphicFramePr>
        <p:xfrm>
          <a:off x="6267450" y="5602288"/>
          <a:ext cx="484188" cy="334962"/>
        </p:xfrm>
        <a:graphic>
          <a:graphicData uri="http://schemas.openxmlformats.org/presentationml/2006/ole">
            <mc:AlternateContent xmlns:mc="http://schemas.openxmlformats.org/markup-compatibility/2006">
              <mc:Choice xmlns:v="urn:schemas-microsoft-com:vml" Requires="v">
                <p:oleObj name="Equation" r:id="rId6" imgW="330120" imgH="228600" progId="Equation.DSMT4">
                  <p:embed/>
                </p:oleObj>
              </mc:Choice>
              <mc:Fallback>
                <p:oleObj name="Equation" r:id="rId6" imgW="330120" imgH="228600" progId="Equation.DSMT4">
                  <p:embed/>
                  <p:pic>
                    <p:nvPicPr>
                      <p:cNvPr id="14" name="Object 13">
                        <a:extLst>
                          <a:ext uri="{FF2B5EF4-FFF2-40B4-BE49-F238E27FC236}">
                            <a16:creationId xmlns:a16="http://schemas.microsoft.com/office/drawing/2014/main" id="{5E631635-3184-4EDE-8D5D-1D25C5B839DF}"/>
                          </a:ext>
                        </a:extLst>
                      </p:cNvPr>
                      <p:cNvPicPr/>
                      <p:nvPr/>
                    </p:nvPicPr>
                    <p:blipFill>
                      <a:blip r:embed="rId7"/>
                      <a:stretch>
                        <a:fillRect/>
                      </a:stretch>
                    </p:blipFill>
                    <p:spPr>
                      <a:xfrm>
                        <a:off x="6267450" y="5602288"/>
                        <a:ext cx="484188" cy="334962"/>
                      </a:xfrm>
                      <a:prstGeom prst="rect">
                        <a:avLst/>
                      </a:prstGeom>
                    </p:spPr>
                  </p:pic>
                </p:oleObj>
              </mc:Fallback>
            </mc:AlternateContent>
          </a:graphicData>
        </a:graphic>
      </p:graphicFrame>
      <p:sp>
        <p:nvSpPr>
          <p:cNvPr id="23" name="Content Placeholder 22">
            <a:extLst>
              <a:ext uri="{FF2B5EF4-FFF2-40B4-BE49-F238E27FC236}">
                <a16:creationId xmlns:a16="http://schemas.microsoft.com/office/drawing/2014/main" id="{109407D6-52C7-4319-B6EA-EAF2F4CBECD2}"/>
              </a:ext>
            </a:extLst>
          </p:cNvPr>
          <p:cNvSpPr>
            <a:spLocks noGrp="1"/>
          </p:cNvSpPr>
          <p:nvPr>
            <p:ph sz="quarter" idx="17"/>
          </p:nvPr>
        </p:nvSpPr>
        <p:spPr>
          <a:xfrm>
            <a:off x="6839288" y="5574920"/>
            <a:ext cx="1760899" cy="353440"/>
          </a:xfrm>
        </p:spPr>
        <p:txBody>
          <a:bodyPr lIns="0" tIns="0" rIns="0" bIns="0"/>
          <a:lstStyle/>
          <a:p>
            <a:pPr marL="101600" indent="0">
              <a:buNone/>
            </a:pPr>
            <a:r>
              <a:rPr lang="en-US" sz="2000" dirty="0">
                <a:latin typeface="Arial (Body)"/>
              </a:rPr>
              <a:t>and output to</a:t>
            </a:r>
            <a:endParaRPr lang="en-US" sz="2000" dirty="0"/>
          </a:p>
        </p:txBody>
      </p:sp>
      <p:graphicFrame>
        <p:nvGraphicFramePr>
          <p:cNvPr id="16" name="Object 15" descr="Y super 2.">
            <a:extLst>
              <a:ext uri="{FF2B5EF4-FFF2-40B4-BE49-F238E27FC236}">
                <a16:creationId xmlns:a16="http://schemas.microsoft.com/office/drawing/2014/main" id="{8B4C1F44-F98F-4E97-80F6-B963B4D80C03}"/>
              </a:ext>
            </a:extLst>
          </p:cNvPr>
          <p:cNvGraphicFramePr>
            <a:graphicFrameLocks noChangeAspect="1"/>
          </p:cNvGraphicFramePr>
          <p:nvPr>
            <p:extLst>
              <p:ext uri="{D42A27DB-BD31-4B8C-83A1-F6EECF244321}">
                <p14:modId xmlns:p14="http://schemas.microsoft.com/office/powerpoint/2010/main" val="1623491412"/>
              </p:ext>
            </p:extLst>
          </p:nvPr>
        </p:nvGraphicFramePr>
        <p:xfrm>
          <a:off x="468313" y="5989638"/>
          <a:ext cx="409575" cy="347662"/>
        </p:xfrm>
        <a:graphic>
          <a:graphicData uri="http://schemas.openxmlformats.org/presentationml/2006/ole">
            <mc:AlternateContent xmlns:mc="http://schemas.openxmlformats.org/markup-compatibility/2006">
              <mc:Choice xmlns:v="urn:schemas-microsoft-com:vml" Requires="v">
                <p:oleObj name="Equation" r:id="rId8" imgW="253800" imgH="215640" progId="Equation.DSMT4">
                  <p:embed/>
                </p:oleObj>
              </mc:Choice>
              <mc:Fallback>
                <p:oleObj name="Equation" r:id="rId8" imgW="253800" imgH="215640" progId="Equation.DSMT4">
                  <p:embed/>
                  <p:pic>
                    <p:nvPicPr>
                      <p:cNvPr id="16" name="Object 15">
                        <a:extLst>
                          <a:ext uri="{FF2B5EF4-FFF2-40B4-BE49-F238E27FC236}">
                            <a16:creationId xmlns:a16="http://schemas.microsoft.com/office/drawing/2014/main" id="{8B4C1F44-F98F-4E97-80F6-B963B4D80C03}"/>
                          </a:ext>
                        </a:extLst>
                      </p:cNvPr>
                      <p:cNvPicPr/>
                      <p:nvPr/>
                    </p:nvPicPr>
                    <p:blipFill>
                      <a:blip r:embed="rId9"/>
                      <a:stretch>
                        <a:fillRect/>
                      </a:stretch>
                    </p:blipFill>
                    <p:spPr>
                      <a:xfrm>
                        <a:off x="468313" y="5989638"/>
                        <a:ext cx="409575" cy="347662"/>
                      </a:xfrm>
                      <a:prstGeom prst="rect">
                        <a:avLst/>
                      </a:prstGeom>
                    </p:spPr>
                  </p:pic>
                </p:oleObj>
              </mc:Fallback>
            </mc:AlternateContent>
          </a:graphicData>
        </a:graphic>
      </p:graphicFrame>
      <p:sp>
        <p:nvSpPr>
          <p:cNvPr id="24" name="Content Placeholder 23">
            <a:extLst>
              <a:ext uri="{FF2B5EF4-FFF2-40B4-BE49-F238E27FC236}">
                <a16:creationId xmlns:a16="http://schemas.microsoft.com/office/drawing/2014/main" id="{E3480025-AC2F-4A9A-99A5-C326A5DC1B09}"/>
              </a:ext>
            </a:extLst>
          </p:cNvPr>
          <p:cNvSpPr>
            <a:spLocks noGrp="1"/>
          </p:cNvSpPr>
          <p:nvPr>
            <p:ph sz="quarter" idx="18"/>
          </p:nvPr>
        </p:nvSpPr>
        <p:spPr>
          <a:xfrm>
            <a:off x="991197" y="5997507"/>
            <a:ext cx="1655483" cy="352493"/>
          </a:xfrm>
        </p:spPr>
        <p:txBody>
          <a:bodyPr lIns="0" tIns="0" rIns="0" bIns="0"/>
          <a:lstStyle/>
          <a:p>
            <a:pPr marL="0" indent="0">
              <a:buNone/>
            </a:pPr>
            <a:r>
              <a:rPr lang="en-US" sz="2000" dirty="0">
                <a:latin typeface="Arial (Body)"/>
              </a:rPr>
              <a:t>all else equal.</a:t>
            </a:r>
            <a:endParaRPr lang="en-US" sz="2000" dirty="0"/>
          </a:p>
        </p:txBody>
      </p:sp>
    </p:spTree>
    <p:extLst>
      <p:ext uri="{BB962C8B-B14F-4D97-AF65-F5344CB8AC3E}">
        <p14:creationId xmlns:p14="http://schemas.microsoft.com/office/powerpoint/2010/main" val="755186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4AF0E-DF50-478A-8111-E4CB370FEC5A}"/>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17.4 Deriving the </a:t>
            </a:r>
            <a:r>
              <a:rPr lang="en-US" altLang="en-US" sz="3200"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D</a:t>
            </a:r>
            <a:r>
              <a:rPr lang="en-US" altLang="en-US" sz="3200" dirty="0">
                <a:ea typeface="ヒラギノ角ゴ Pro W3" pitchFamily="-84" charset="-128"/>
                <a:cs typeface="Times New Roman" panose="02020603050405020304" pitchFamily="18" charset="0"/>
              </a:rPr>
              <a:t> Schedule</a:t>
            </a:r>
            <a:endParaRPr lang="en-IN" sz="3200" dirty="0">
              <a:cs typeface="Times New Roman" panose="02020603050405020304" pitchFamily="18" charset="0"/>
            </a:endParaRPr>
          </a:p>
        </p:txBody>
      </p:sp>
      <p:pic>
        <p:nvPicPr>
          <p:cNvPr id="12" name="Content Placeholder 11" descr="Two graphs plot aggregate demand D and exchange rate E versus output Y. For long description in Notes pane, press F6.">
            <a:extLst>
              <a:ext uri="{FF2B5EF4-FFF2-40B4-BE49-F238E27FC236}">
                <a16:creationId xmlns:a16="http://schemas.microsoft.com/office/drawing/2014/main" id="{C5A09CAB-E613-4CFB-A896-89851B79B089}"/>
              </a:ext>
            </a:extLst>
          </p:cNvPr>
          <p:cNvPicPr>
            <a:picLocks noGrp="1" noChangeAspect="1"/>
          </p:cNvPicPr>
          <p:nvPr>
            <p:ph sz="quarter" idx="13"/>
          </p:nvPr>
        </p:nvPicPr>
        <p:blipFill>
          <a:blip r:embed="rId3"/>
          <a:stretch>
            <a:fillRect/>
          </a:stretch>
        </p:blipFill>
        <p:spPr>
          <a:xfrm>
            <a:off x="3067899" y="1598250"/>
            <a:ext cx="2687356" cy="3759341"/>
          </a:xfrm>
        </p:spPr>
      </p:pic>
      <p:sp>
        <p:nvSpPr>
          <p:cNvPr id="4" name="Content Placeholder 3">
            <a:extLst>
              <a:ext uri="{FF2B5EF4-FFF2-40B4-BE49-F238E27FC236}">
                <a16:creationId xmlns:a16="http://schemas.microsoft.com/office/drawing/2014/main" id="{ED120A8E-75F4-46CC-AB60-5224A520755D}"/>
              </a:ext>
            </a:extLst>
          </p:cNvPr>
          <p:cNvSpPr>
            <a:spLocks noGrp="1"/>
          </p:cNvSpPr>
          <p:nvPr>
            <p:ph sz="quarter" idx="14"/>
          </p:nvPr>
        </p:nvSpPr>
        <p:spPr>
          <a:xfrm>
            <a:off x="383868" y="5643191"/>
            <a:ext cx="8302931" cy="320729"/>
          </a:xfrm>
        </p:spPr>
        <p:txBody>
          <a:bodyPr lIns="0" tIns="0" rIns="0" bIns="0"/>
          <a:lstStyle/>
          <a:p>
            <a:pPr marL="432" indent="0">
              <a:buNone/>
            </a:pPr>
            <a:r>
              <a:rPr lang="en-US" sz="1800" dirty="0"/>
              <a:t>The </a:t>
            </a:r>
            <a:r>
              <a:rPr lang="en-US" sz="1800" i="1" dirty="0"/>
              <a:t>D</a:t>
            </a:r>
            <a:r>
              <a:rPr lang="en-US" sz="100" i="1" dirty="0"/>
              <a:t> </a:t>
            </a:r>
            <a:r>
              <a:rPr lang="en-US" sz="1800" i="1" dirty="0" err="1"/>
              <a:t>D</a:t>
            </a:r>
            <a:r>
              <a:rPr lang="en-US" sz="1800" i="1" dirty="0"/>
              <a:t> </a:t>
            </a:r>
            <a:r>
              <a:rPr lang="en-US" sz="1800" dirty="0"/>
              <a:t>schedule (shown in the lower panel) slopes upward because a rise in the</a:t>
            </a:r>
          </a:p>
        </p:txBody>
      </p:sp>
      <p:sp>
        <p:nvSpPr>
          <p:cNvPr id="5" name="Content Placeholder 4">
            <a:extLst>
              <a:ext uri="{FF2B5EF4-FFF2-40B4-BE49-F238E27FC236}">
                <a16:creationId xmlns:a16="http://schemas.microsoft.com/office/drawing/2014/main" id="{EE041F7D-F527-40E4-9829-8664C53840BE}"/>
              </a:ext>
            </a:extLst>
          </p:cNvPr>
          <p:cNvSpPr>
            <a:spLocks noGrp="1"/>
          </p:cNvSpPr>
          <p:nvPr>
            <p:ph sz="quarter" idx="15"/>
          </p:nvPr>
        </p:nvSpPr>
        <p:spPr>
          <a:xfrm>
            <a:off x="457200" y="6030129"/>
            <a:ext cx="2091448" cy="317277"/>
          </a:xfrm>
        </p:spPr>
        <p:txBody>
          <a:bodyPr lIns="0" tIns="0" rIns="0" bIns="0"/>
          <a:lstStyle/>
          <a:p>
            <a:pPr marL="432" indent="0">
              <a:buNone/>
            </a:pPr>
            <a:r>
              <a:rPr lang="en-US" sz="1800" dirty="0"/>
              <a:t>exchange rate from</a:t>
            </a:r>
          </a:p>
        </p:txBody>
      </p:sp>
      <p:graphicFrame>
        <p:nvGraphicFramePr>
          <p:cNvPr id="9" name="Object 8" descr="E super 1 to E super 2">
            <a:extLst>
              <a:ext uri="{FF2B5EF4-FFF2-40B4-BE49-F238E27FC236}">
                <a16:creationId xmlns:a16="http://schemas.microsoft.com/office/drawing/2014/main" id="{B79828D3-1D04-4CAA-B69E-3EB293A51B77}"/>
              </a:ext>
            </a:extLst>
          </p:cNvPr>
          <p:cNvGraphicFramePr>
            <a:graphicFrameLocks noChangeAspect="1"/>
          </p:cNvGraphicFramePr>
          <p:nvPr>
            <p:extLst>
              <p:ext uri="{D42A27DB-BD31-4B8C-83A1-F6EECF244321}">
                <p14:modId xmlns:p14="http://schemas.microsoft.com/office/powerpoint/2010/main" val="1450165897"/>
              </p:ext>
            </p:extLst>
          </p:nvPr>
        </p:nvGraphicFramePr>
        <p:xfrm>
          <a:off x="2628027" y="6029070"/>
          <a:ext cx="795062" cy="276830"/>
        </p:xfrm>
        <a:graphic>
          <a:graphicData uri="http://schemas.openxmlformats.org/presentationml/2006/ole">
            <mc:AlternateContent xmlns:mc="http://schemas.openxmlformats.org/markup-compatibility/2006">
              <mc:Choice xmlns:v="urn:schemas-microsoft-com:vml" Requires="v">
                <p:oleObj name="Equation" r:id="rId4" imgW="596880" imgH="203040" progId="Equation.DSMT4">
                  <p:embed/>
                </p:oleObj>
              </mc:Choice>
              <mc:Fallback>
                <p:oleObj name="Equation" r:id="rId4" imgW="596880" imgH="203040" progId="Equation.DSMT4">
                  <p:embed/>
                  <p:pic>
                    <p:nvPicPr>
                      <p:cNvPr id="15" name="Object 14">
                        <a:extLst>
                          <a:ext uri="{FF2B5EF4-FFF2-40B4-BE49-F238E27FC236}">
                            <a16:creationId xmlns:a16="http://schemas.microsoft.com/office/drawing/2014/main" id="{FD4AC676-E47C-459B-BB38-D73C4A541F9C}"/>
                          </a:ext>
                        </a:extLst>
                      </p:cNvPr>
                      <p:cNvPicPr/>
                      <p:nvPr/>
                    </p:nvPicPr>
                    <p:blipFill>
                      <a:blip r:embed="rId5"/>
                      <a:stretch>
                        <a:fillRect/>
                      </a:stretch>
                    </p:blipFill>
                    <p:spPr>
                      <a:xfrm>
                        <a:off x="2628027" y="6029070"/>
                        <a:ext cx="795062" cy="27683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A3A04624-0577-4DA0-8717-B5F785D2EAFB}"/>
              </a:ext>
            </a:extLst>
          </p:cNvPr>
          <p:cNvSpPr>
            <a:spLocks noGrp="1"/>
          </p:cNvSpPr>
          <p:nvPr>
            <p:ph sz="quarter" idx="16"/>
          </p:nvPr>
        </p:nvSpPr>
        <p:spPr>
          <a:xfrm>
            <a:off x="3538490" y="6025244"/>
            <a:ext cx="4184924" cy="310243"/>
          </a:xfrm>
        </p:spPr>
        <p:txBody>
          <a:bodyPr lIns="0" tIns="0" rIns="0" bIns="0"/>
          <a:lstStyle/>
          <a:p>
            <a:pPr marL="432" indent="0">
              <a:buNone/>
            </a:pPr>
            <a:r>
              <a:rPr lang="en-US" sz="1800" dirty="0"/>
              <a:t>all else equal, causes output to rise from</a:t>
            </a:r>
          </a:p>
        </p:txBody>
      </p:sp>
      <p:graphicFrame>
        <p:nvGraphicFramePr>
          <p:cNvPr id="10" name="Object 9" descr="Y super 1 to Y super 2">
            <a:extLst>
              <a:ext uri="{FF2B5EF4-FFF2-40B4-BE49-F238E27FC236}">
                <a16:creationId xmlns:a16="http://schemas.microsoft.com/office/drawing/2014/main" id="{24D8FD4A-A38D-4B1D-B8DF-449568E21ED3}"/>
              </a:ext>
            </a:extLst>
          </p:cNvPr>
          <p:cNvGraphicFramePr>
            <a:graphicFrameLocks noChangeAspect="1"/>
          </p:cNvGraphicFramePr>
          <p:nvPr>
            <p:extLst>
              <p:ext uri="{D42A27DB-BD31-4B8C-83A1-F6EECF244321}">
                <p14:modId xmlns:p14="http://schemas.microsoft.com/office/powerpoint/2010/main" val="3940214628"/>
              </p:ext>
            </p:extLst>
          </p:nvPr>
        </p:nvGraphicFramePr>
        <p:xfrm>
          <a:off x="7787674" y="6035358"/>
          <a:ext cx="845185" cy="270459"/>
        </p:xfrm>
        <a:graphic>
          <a:graphicData uri="http://schemas.openxmlformats.org/presentationml/2006/ole">
            <mc:AlternateContent xmlns:mc="http://schemas.openxmlformats.org/markup-compatibility/2006">
              <mc:Choice xmlns:v="urn:schemas-microsoft-com:vml" Requires="v">
                <p:oleObj name="Equation" r:id="rId6" imgW="634680" imgH="203040" progId="Equation.DSMT4">
                  <p:embed/>
                </p:oleObj>
              </mc:Choice>
              <mc:Fallback>
                <p:oleObj name="Equation" r:id="rId6" imgW="634680" imgH="203040" progId="Equation.DSMT4">
                  <p:embed/>
                  <p:pic>
                    <p:nvPicPr>
                      <p:cNvPr id="0" name=""/>
                      <p:cNvPicPr/>
                      <p:nvPr/>
                    </p:nvPicPr>
                    <p:blipFill>
                      <a:blip r:embed="rId7"/>
                      <a:stretch>
                        <a:fillRect/>
                      </a:stretch>
                    </p:blipFill>
                    <p:spPr>
                      <a:xfrm>
                        <a:off x="7787674" y="6035358"/>
                        <a:ext cx="845185" cy="270459"/>
                      </a:xfrm>
                      <a:prstGeom prst="rect">
                        <a:avLst/>
                      </a:prstGeom>
                    </p:spPr>
                  </p:pic>
                </p:oleObj>
              </mc:Fallback>
            </mc:AlternateContent>
          </a:graphicData>
        </a:graphic>
      </p:graphicFrame>
    </p:spTree>
    <p:extLst>
      <p:ext uri="{BB962C8B-B14F-4D97-AF65-F5344CB8AC3E}">
        <p14:creationId xmlns:p14="http://schemas.microsoft.com/office/powerpoint/2010/main" val="3440215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1C8E31-E800-49BB-A531-A08E440DFD71}"/>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Short-Run Equilibrium and the Exchange Rate: </a:t>
            </a:r>
            <a:r>
              <a:rPr lang="en-US" altLang="en-US" sz="3200"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D</a:t>
            </a:r>
            <a:r>
              <a:rPr lang="en-US" altLang="en-US" sz="3200" dirty="0">
                <a:ea typeface="ヒラギノ角ゴ Pro W3" pitchFamily="-84" charset="-128"/>
                <a:cs typeface="Times New Roman" panose="02020603050405020304" pitchFamily="18" charset="0"/>
              </a:rPr>
              <a:t> Schedule </a:t>
            </a:r>
            <a:r>
              <a:rPr lang="en-US" altLang="en-US" sz="2000" b="0" dirty="0">
                <a:ea typeface="ヒラギノ角ゴ Pro W3" pitchFamily="-84" charset="-128"/>
                <a:cs typeface="Times New Roman" panose="02020603050405020304" pitchFamily="18" charset="0"/>
              </a:rPr>
              <a:t>(2 of 2)</a:t>
            </a:r>
            <a:endParaRPr lang="en-IN" sz="2000" dirty="0">
              <a:cs typeface="Times New Roman" panose="02020603050405020304" pitchFamily="18" charset="0"/>
            </a:endParaRPr>
          </a:p>
        </p:txBody>
      </p:sp>
      <p:sp>
        <p:nvSpPr>
          <p:cNvPr id="6" name="Content Placeholder 5">
            <a:extLst>
              <a:ext uri="{FF2B5EF4-FFF2-40B4-BE49-F238E27FC236}">
                <a16:creationId xmlns:a16="http://schemas.microsoft.com/office/drawing/2014/main" id="{57FD2A83-878B-4C46-B9B3-3F6555E81702}"/>
              </a:ext>
            </a:extLst>
          </p:cNvPr>
          <p:cNvSpPr>
            <a:spLocks noGrp="1"/>
          </p:cNvSpPr>
          <p:nvPr>
            <p:ph sz="quarter" idx="13"/>
          </p:nvPr>
        </p:nvSpPr>
        <p:spPr/>
        <p:txBody>
          <a:bodyPr/>
          <a:lstStyle/>
          <a:p>
            <a:pPr eaLnBrk="1" hangingPunct="1">
              <a:spcBef>
                <a:spcPct val="50000"/>
              </a:spcBef>
              <a:buFontTx/>
              <a:buNone/>
            </a:pP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a:latin typeface="Arial (Body)"/>
                <a:ea typeface="ヒラギノ角ゴ Pro W3" pitchFamily="-84" charset="-128"/>
              </a:rPr>
              <a:t>D</a:t>
            </a:r>
            <a:r>
              <a:rPr lang="en-US" altLang="en-US" dirty="0">
                <a:latin typeface="Arial (Body)"/>
                <a:ea typeface="ヒラギノ角ゴ Pro W3" pitchFamily="-84" charset="-128"/>
              </a:rPr>
              <a:t> schedule </a:t>
            </a:r>
          </a:p>
          <a:p>
            <a:pPr eaLnBrk="1" hangingPunct="1"/>
            <a:r>
              <a:rPr lang="en-US" altLang="en-US" dirty="0">
                <a:latin typeface="Arial (Body)"/>
                <a:ea typeface="ヒラギノ角ゴ Pro W3" pitchFamily="-84" charset="-128"/>
              </a:rPr>
              <a:t>shows combinations of output and the exchange rate at which the output market is in short-run equilibrium (such that aggregate demand = aggregate output).</a:t>
            </a:r>
          </a:p>
          <a:p>
            <a:pPr eaLnBrk="1" hangingPunct="1"/>
            <a:r>
              <a:rPr lang="en-US" altLang="en-US" dirty="0">
                <a:latin typeface="Arial (Body)"/>
                <a:ea typeface="ヒラギノ角ゴ Pro W3" pitchFamily="-84" charset="-128"/>
              </a:rPr>
              <a:t>slopes upward because a rise in the exchange rate causes aggregate demand and aggregate output to rise.</a:t>
            </a:r>
          </a:p>
        </p:txBody>
      </p:sp>
    </p:spTree>
    <p:extLst>
      <p:ext uri="{BB962C8B-B14F-4D97-AF65-F5344CB8AC3E}">
        <p14:creationId xmlns:p14="http://schemas.microsoft.com/office/powerpoint/2010/main" val="2399968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3FCCE-8B50-425D-81F4-608D18DCDA27}"/>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Shifting the </a:t>
            </a:r>
            <a:r>
              <a:rPr lang="en-US" altLang="en-US" sz="3600"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sz="3600" i="1" dirty="0" err="1">
                <a:ea typeface="ヒラギノ角ゴ Pro W3" pitchFamily="-84" charset="-128"/>
                <a:cs typeface="Times New Roman" panose="02020603050405020304" pitchFamily="18" charset="0"/>
              </a:rPr>
              <a:t>D</a:t>
            </a:r>
            <a:r>
              <a:rPr lang="en-US" altLang="en-US" sz="3600" dirty="0">
                <a:ea typeface="ヒラギノ角ゴ Pro W3" pitchFamily="-84" charset="-128"/>
                <a:cs typeface="Times New Roman" panose="02020603050405020304" pitchFamily="18" charset="0"/>
              </a:rPr>
              <a:t> Curve </a:t>
            </a:r>
            <a:r>
              <a:rPr lang="en-US" altLang="en-US" sz="2000" b="0" dirty="0">
                <a:ea typeface="ヒラギノ角ゴ Pro W3" pitchFamily="-84" charset="-128"/>
                <a:cs typeface="Times New Roman" panose="02020603050405020304" pitchFamily="18" charset="0"/>
              </a:rPr>
              <a:t>(1 of 3)</a:t>
            </a:r>
            <a:endParaRPr lang="en-IN"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7A1E0036-EA38-4E5B-BAA0-FA417DC69E5B}"/>
              </a:ext>
            </a:extLst>
          </p:cNvPr>
          <p:cNvSpPr>
            <a:spLocks noGrp="1"/>
          </p:cNvSpPr>
          <p:nvPr>
            <p:ph sz="quarter" idx="13"/>
          </p:nvPr>
        </p:nvSpPr>
        <p:spPr>
          <a:xfrm>
            <a:off x="457200" y="1556327"/>
            <a:ext cx="8229600" cy="875588"/>
          </a:xfrm>
        </p:spPr>
        <p:txBody>
          <a:bodyPr/>
          <a:lstStyle/>
          <a:p>
            <a:r>
              <a:rPr lang="en-US" altLang="en-US" dirty="0">
                <a:latin typeface="Arial (Body)"/>
                <a:ea typeface="ヒラギノ角ゴ Pro W3" pitchFamily="-84" charset="-128"/>
              </a:rPr>
              <a:t>Changes in the exchange rate cause movements along a D</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D curve. Other changes cause it to shift:</a:t>
            </a:r>
          </a:p>
        </p:txBody>
      </p:sp>
      <p:sp>
        <p:nvSpPr>
          <p:cNvPr id="5" name="Content Placeholder 4">
            <a:extLst>
              <a:ext uri="{FF2B5EF4-FFF2-40B4-BE49-F238E27FC236}">
                <a16:creationId xmlns:a16="http://schemas.microsoft.com/office/drawing/2014/main" id="{59B9539E-EFAC-44A9-A19B-9E4E6A8AACA1}"/>
              </a:ext>
            </a:extLst>
          </p:cNvPr>
          <p:cNvSpPr>
            <a:spLocks noGrp="1"/>
          </p:cNvSpPr>
          <p:nvPr>
            <p:ph sz="quarter" idx="14"/>
          </p:nvPr>
        </p:nvSpPr>
        <p:spPr>
          <a:xfrm>
            <a:off x="457200" y="2600323"/>
            <a:ext cx="8229600" cy="3261633"/>
          </a:xfrm>
        </p:spPr>
        <p:txBody>
          <a:bodyPr/>
          <a:lstStyle/>
          <a:p>
            <a:pPr marL="432000" indent="-432000" eaLnBrk="1" hangingPunct="1">
              <a:spcBef>
                <a:spcPts val="600"/>
              </a:spcBef>
              <a:buFont typeface="Times" pitchFamily="-84" charset="0"/>
              <a:buAutoNum type="arabicPeriod"/>
            </a:pPr>
            <a:r>
              <a:rPr lang="en-US" altLang="en-US" b="1" dirty="0">
                <a:latin typeface="Arial (Body)"/>
                <a:ea typeface="ヒラギノ角ゴ Pro W3" pitchFamily="-84" charset="-128"/>
              </a:rPr>
              <a:t>Changes in </a:t>
            </a:r>
            <a:r>
              <a:rPr lang="en-US" altLang="en-US" b="1" i="1" dirty="0">
                <a:latin typeface="Arial (Body)"/>
                <a:ea typeface="ヒラギノ角ゴ Pro W3" pitchFamily="-84" charset="-128"/>
              </a:rPr>
              <a:t>G</a:t>
            </a:r>
            <a:r>
              <a:rPr lang="en-US" altLang="en-US" dirty="0">
                <a:latin typeface="Arial (Body)"/>
                <a:ea typeface="ヒラギノ角ゴ Pro W3" pitchFamily="-84" charset="-128"/>
              </a:rPr>
              <a:t>: more government purchases cause higher aggregate demand and output in equilibrium. Output increases for every exchange rate: 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dirty="0">
                <a:latin typeface="Arial (Body)"/>
                <a:ea typeface="ヒラギノ角ゴ Pro W3" pitchFamily="-84" charset="-128"/>
              </a:rPr>
              <a:t> curve shifts right.</a:t>
            </a:r>
          </a:p>
          <a:p>
            <a:pPr marL="432000" indent="-432000">
              <a:spcBef>
                <a:spcPts val="600"/>
              </a:spcBef>
              <a:buFont typeface="Times" pitchFamily="-84" charset="0"/>
              <a:buAutoNum type="arabicPeriod"/>
            </a:pPr>
            <a:r>
              <a:rPr lang="en-US" altLang="en-US" b="1" dirty="0">
                <a:latin typeface="Arial (Body)"/>
                <a:ea typeface="ヒラギノ角ゴ Pro W3" pitchFamily="-84" charset="-128"/>
              </a:rPr>
              <a:t>Changes in </a:t>
            </a:r>
            <a:r>
              <a:rPr lang="en-US" altLang="en-US" b="1" i="1" dirty="0">
                <a:latin typeface="Arial (Body)"/>
                <a:ea typeface="ヒラギノ角ゴ Pro W3" pitchFamily="-84" charset="-128"/>
              </a:rPr>
              <a:t>T</a:t>
            </a:r>
            <a:r>
              <a:rPr lang="en-US" altLang="en-US" dirty="0">
                <a:latin typeface="Arial (Body)"/>
                <a:ea typeface="ヒラギノ角ゴ Pro W3" pitchFamily="-84" charset="-128"/>
              </a:rPr>
              <a:t>: lower taxes generally increase consumption expenditure, increasing aggregate demand and output in equilibrium for every exchange rate: 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dirty="0">
                <a:latin typeface="Arial (Body)"/>
                <a:ea typeface="ヒラギノ角ゴ Pro W3" pitchFamily="-84" charset="-128"/>
              </a:rPr>
              <a:t> curve shifts right.</a:t>
            </a:r>
            <a:endParaRPr lang="en-IN" dirty="0"/>
          </a:p>
        </p:txBody>
      </p:sp>
    </p:spTree>
    <p:extLst>
      <p:ext uri="{BB962C8B-B14F-4D97-AF65-F5344CB8AC3E}">
        <p14:creationId xmlns:p14="http://schemas.microsoft.com/office/powerpoint/2010/main" val="3802664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7ECA2-82D6-484A-892B-80FDD842277A}"/>
              </a:ext>
            </a:extLst>
          </p:cNvPr>
          <p:cNvSpPr>
            <a:spLocks noGrp="1"/>
          </p:cNvSpPr>
          <p:nvPr>
            <p:ph type="title"/>
          </p:nvPr>
        </p:nvSpPr>
        <p:spPr/>
        <p:txBody>
          <a:bodyPr/>
          <a:lstStyle/>
          <a:p>
            <a:r>
              <a:rPr lang="en-US" altLang="en-US" sz="3200" dirty="0">
                <a:ea typeface="ヒラギノ角ゴ Pro W3" pitchFamily="-84" charset="-128"/>
              </a:rPr>
              <a:t>Figure 17.5 Government Demand and the Position of the </a:t>
            </a:r>
            <a:r>
              <a:rPr lang="en-US" altLang="en-US" sz="3200" i="1" dirty="0">
                <a:ea typeface="ヒラギノ角ゴ Pro W3" pitchFamily="-84" charset="-128"/>
              </a:rPr>
              <a:t>D</a:t>
            </a:r>
            <a:r>
              <a:rPr lang="en-US" altLang="en-US" sz="100" i="1" dirty="0">
                <a:ea typeface="ヒラギノ角ゴ Pro W3" pitchFamily="-84" charset="-128"/>
              </a:rPr>
              <a:t> </a:t>
            </a:r>
            <a:r>
              <a:rPr lang="en-US" altLang="en-US" sz="3200" i="1" dirty="0" err="1">
                <a:ea typeface="ヒラギノ角ゴ Pro W3" pitchFamily="-84" charset="-128"/>
              </a:rPr>
              <a:t>D</a:t>
            </a:r>
            <a:r>
              <a:rPr lang="en-US" altLang="en-US" sz="3200" dirty="0">
                <a:ea typeface="ヒラギノ角ゴ Pro W3" pitchFamily="-84" charset="-128"/>
              </a:rPr>
              <a:t> Schedule</a:t>
            </a:r>
            <a:endParaRPr lang="en-IN" sz="3200" dirty="0"/>
          </a:p>
        </p:txBody>
      </p:sp>
      <p:pic>
        <p:nvPicPr>
          <p:cNvPr id="9" name="Content Placeholder 8" descr="Two graphs plot aggregate demand D and exchange rate E versus output Y. For long description in Notes pane, press F6.">
            <a:extLst>
              <a:ext uri="{FF2B5EF4-FFF2-40B4-BE49-F238E27FC236}">
                <a16:creationId xmlns:a16="http://schemas.microsoft.com/office/drawing/2014/main" id="{FFFFB3C3-ECD2-43A1-A460-1F40BFA4BE15}"/>
              </a:ext>
            </a:extLst>
          </p:cNvPr>
          <p:cNvPicPr>
            <a:picLocks noGrp="1" noChangeAspect="1"/>
          </p:cNvPicPr>
          <p:nvPr>
            <p:ph sz="quarter" idx="13"/>
          </p:nvPr>
        </p:nvPicPr>
        <p:blipFill>
          <a:blip r:embed="rId3"/>
          <a:stretch>
            <a:fillRect/>
          </a:stretch>
        </p:blipFill>
        <p:spPr>
          <a:xfrm>
            <a:off x="2877876" y="1581631"/>
            <a:ext cx="2955402" cy="3679607"/>
          </a:xfrm>
        </p:spPr>
      </p:pic>
      <p:sp>
        <p:nvSpPr>
          <p:cNvPr id="4" name="Content Placeholder 3">
            <a:extLst>
              <a:ext uri="{FF2B5EF4-FFF2-40B4-BE49-F238E27FC236}">
                <a16:creationId xmlns:a16="http://schemas.microsoft.com/office/drawing/2014/main" id="{8EE07B6D-0053-47CA-A54A-205069C4799C}"/>
              </a:ext>
            </a:extLst>
          </p:cNvPr>
          <p:cNvSpPr>
            <a:spLocks noGrp="1"/>
          </p:cNvSpPr>
          <p:nvPr>
            <p:ph sz="quarter" idx="14"/>
          </p:nvPr>
        </p:nvSpPr>
        <p:spPr>
          <a:xfrm>
            <a:off x="479426" y="5560798"/>
            <a:ext cx="3597274" cy="299675"/>
          </a:xfrm>
        </p:spPr>
        <p:txBody>
          <a:bodyPr lIns="0" tIns="0" rIns="0" bIns="0"/>
          <a:lstStyle/>
          <a:p>
            <a:pPr marL="432" indent="0">
              <a:buNone/>
            </a:pPr>
            <a:r>
              <a:rPr lang="en-US" sz="1800" dirty="0">
                <a:latin typeface="Arial (Body)"/>
              </a:rPr>
              <a:t>A rise in government demand from</a:t>
            </a:r>
          </a:p>
        </p:txBody>
      </p:sp>
      <p:graphicFrame>
        <p:nvGraphicFramePr>
          <p:cNvPr id="7" name="Object 6" descr="G super 1 to G super 2">
            <a:extLst>
              <a:ext uri="{FF2B5EF4-FFF2-40B4-BE49-F238E27FC236}">
                <a16:creationId xmlns:a16="http://schemas.microsoft.com/office/drawing/2014/main" id="{D68C16AA-056F-47FA-B47B-D9C95D8D4689}"/>
              </a:ext>
            </a:extLst>
          </p:cNvPr>
          <p:cNvGraphicFramePr>
            <a:graphicFrameLocks noChangeAspect="1"/>
          </p:cNvGraphicFramePr>
          <p:nvPr>
            <p:extLst>
              <p:ext uri="{D42A27DB-BD31-4B8C-83A1-F6EECF244321}">
                <p14:modId xmlns:p14="http://schemas.microsoft.com/office/powerpoint/2010/main" val="3880917918"/>
              </p:ext>
            </p:extLst>
          </p:nvPr>
        </p:nvGraphicFramePr>
        <p:xfrm>
          <a:off x="4133180" y="5562111"/>
          <a:ext cx="810260" cy="275908"/>
        </p:xfrm>
        <a:graphic>
          <a:graphicData uri="http://schemas.openxmlformats.org/presentationml/2006/ole">
            <mc:AlternateContent xmlns:mc="http://schemas.openxmlformats.org/markup-compatibility/2006">
              <mc:Choice xmlns:v="urn:schemas-microsoft-com:vml" Requires="v">
                <p:oleObj name="Equation" r:id="rId4" imgW="609480" imgH="203040" progId="Equation.DSMT4">
                  <p:embed/>
                </p:oleObj>
              </mc:Choice>
              <mc:Fallback>
                <p:oleObj name="Equation" r:id="rId4" imgW="609480" imgH="203040" progId="Equation.DSMT4">
                  <p:embed/>
                  <p:pic>
                    <p:nvPicPr>
                      <p:cNvPr id="9" name="Object 8">
                        <a:extLst>
                          <a:ext uri="{FF2B5EF4-FFF2-40B4-BE49-F238E27FC236}">
                            <a16:creationId xmlns:a16="http://schemas.microsoft.com/office/drawing/2014/main" id="{B79828D3-1D04-4CAA-B69E-3EB293A51B77}"/>
                          </a:ext>
                        </a:extLst>
                      </p:cNvPr>
                      <p:cNvPicPr/>
                      <p:nvPr/>
                    </p:nvPicPr>
                    <p:blipFill>
                      <a:blip r:embed="rId5"/>
                      <a:stretch>
                        <a:fillRect/>
                      </a:stretch>
                    </p:blipFill>
                    <p:spPr>
                      <a:xfrm>
                        <a:off x="4133180" y="5562111"/>
                        <a:ext cx="810260" cy="275908"/>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5CE727D7-0073-4323-AFCF-9F46CE4D8C1C}"/>
              </a:ext>
            </a:extLst>
          </p:cNvPr>
          <p:cNvSpPr>
            <a:spLocks noGrp="1"/>
          </p:cNvSpPr>
          <p:nvPr>
            <p:ph sz="quarter" idx="15"/>
          </p:nvPr>
        </p:nvSpPr>
        <p:spPr>
          <a:xfrm>
            <a:off x="5040560" y="5534994"/>
            <a:ext cx="3191418" cy="304200"/>
          </a:xfrm>
        </p:spPr>
        <p:txBody>
          <a:bodyPr lIns="0" tIns="0" rIns="0" bIns="0"/>
          <a:lstStyle/>
          <a:p>
            <a:pPr marL="432" indent="0">
              <a:buNone/>
            </a:pPr>
            <a:r>
              <a:rPr lang="en-US" sz="1800" dirty="0">
                <a:latin typeface="Arial (Body)"/>
              </a:rPr>
              <a:t>raises output at every level of</a:t>
            </a:r>
            <a:endParaRPr lang="en-US" sz="1800" dirty="0"/>
          </a:p>
        </p:txBody>
      </p:sp>
      <p:sp>
        <p:nvSpPr>
          <p:cNvPr id="6" name="Content Placeholder 5">
            <a:extLst>
              <a:ext uri="{FF2B5EF4-FFF2-40B4-BE49-F238E27FC236}">
                <a16:creationId xmlns:a16="http://schemas.microsoft.com/office/drawing/2014/main" id="{AFD410BF-EA35-4525-BE06-E882A4DE347B}"/>
              </a:ext>
            </a:extLst>
          </p:cNvPr>
          <p:cNvSpPr>
            <a:spLocks noGrp="1"/>
          </p:cNvSpPr>
          <p:nvPr>
            <p:ph sz="quarter" idx="16"/>
          </p:nvPr>
        </p:nvSpPr>
        <p:spPr>
          <a:xfrm>
            <a:off x="470761" y="5927830"/>
            <a:ext cx="6509159" cy="338381"/>
          </a:xfrm>
        </p:spPr>
        <p:txBody>
          <a:bodyPr lIns="0" tIns="0" rIns="0" bIns="0"/>
          <a:lstStyle/>
          <a:p>
            <a:pPr marL="432" indent="0">
              <a:buNone/>
            </a:pPr>
            <a:r>
              <a:rPr lang="en-US" sz="1800" dirty="0">
                <a:latin typeface="Arial (Body)"/>
              </a:rPr>
              <a:t>the exchange rate. The change therefore shifts </a:t>
            </a:r>
            <a:r>
              <a:rPr lang="en-US" sz="1800" i="1" dirty="0">
                <a:latin typeface="Arial (Body)"/>
              </a:rPr>
              <a:t>D</a:t>
            </a:r>
            <a:r>
              <a:rPr lang="en-US" sz="100" i="1" dirty="0">
                <a:latin typeface="Arial (Body)"/>
              </a:rPr>
              <a:t> </a:t>
            </a:r>
            <a:r>
              <a:rPr lang="en-US" sz="1800" i="1" dirty="0" err="1">
                <a:latin typeface="Arial (Body)"/>
              </a:rPr>
              <a:t>D</a:t>
            </a:r>
            <a:r>
              <a:rPr lang="en-US" sz="1800" i="1" dirty="0">
                <a:latin typeface="Arial (Body)"/>
              </a:rPr>
              <a:t> </a:t>
            </a:r>
            <a:r>
              <a:rPr lang="en-US" sz="1800" dirty="0">
                <a:latin typeface="Arial (Body)"/>
              </a:rPr>
              <a:t>to the right.</a:t>
            </a:r>
          </a:p>
        </p:txBody>
      </p:sp>
    </p:spTree>
    <p:extLst>
      <p:ext uri="{BB962C8B-B14F-4D97-AF65-F5344CB8AC3E}">
        <p14:creationId xmlns:p14="http://schemas.microsoft.com/office/powerpoint/2010/main" val="1603483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02021-905C-46BC-AF24-DBD6A4BE14BB}"/>
              </a:ext>
            </a:extLst>
          </p:cNvPr>
          <p:cNvSpPr>
            <a:spLocks noGrp="1"/>
          </p:cNvSpPr>
          <p:nvPr>
            <p:ph type="title"/>
          </p:nvPr>
        </p:nvSpPr>
        <p:spPr/>
        <p:txBody>
          <a:bodyPr/>
          <a:lstStyle/>
          <a:p>
            <a:r>
              <a:rPr lang="en-US" altLang="en-US" dirty="0">
                <a:ea typeface="ヒラギノ角ゴ Pro W3" pitchFamily="-84" charset="-128"/>
              </a:rPr>
              <a:t>Shifting the </a:t>
            </a:r>
            <a:r>
              <a:rPr lang="en-US" altLang="en-US" i="1" dirty="0">
                <a:ea typeface="ヒラギノ角ゴ Pro W3" pitchFamily="-84" charset="-128"/>
              </a:rPr>
              <a:t>D</a:t>
            </a:r>
            <a:r>
              <a:rPr lang="en-US" altLang="en-US" sz="100" i="1" dirty="0">
                <a:ea typeface="ヒラギノ角ゴ Pro W3" pitchFamily="-84" charset="-128"/>
              </a:rPr>
              <a:t> </a:t>
            </a:r>
            <a:r>
              <a:rPr lang="en-US" altLang="en-US" i="1" dirty="0" err="1">
                <a:ea typeface="ヒラギノ角ゴ Pro W3" pitchFamily="-84" charset="-128"/>
              </a:rPr>
              <a:t>D</a:t>
            </a:r>
            <a:r>
              <a:rPr lang="en-US" altLang="en-US" dirty="0">
                <a:ea typeface="ヒラギノ角ゴ Pro W3" pitchFamily="-84" charset="-128"/>
              </a:rPr>
              <a:t> Curve </a:t>
            </a:r>
            <a:r>
              <a:rPr lang="en-US" altLang="en-US" sz="2000" b="0" dirty="0">
                <a:ea typeface="ヒラギノ角ゴ Pro W3" pitchFamily="-84" charset="-128"/>
              </a:rPr>
              <a:t>(2 of 3)</a:t>
            </a:r>
            <a:endParaRPr lang="en-IN" sz="2000" dirty="0"/>
          </a:p>
        </p:txBody>
      </p:sp>
      <p:sp>
        <p:nvSpPr>
          <p:cNvPr id="3" name="Content Placeholder 2">
            <a:extLst>
              <a:ext uri="{FF2B5EF4-FFF2-40B4-BE49-F238E27FC236}">
                <a16:creationId xmlns:a16="http://schemas.microsoft.com/office/drawing/2014/main" id="{3863ACA0-4E93-4AB6-8833-C4D31C4DA9DD}"/>
              </a:ext>
            </a:extLst>
          </p:cNvPr>
          <p:cNvSpPr>
            <a:spLocks noGrp="1"/>
          </p:cNvSpPr>
          <p:nvPr>
            <p:ph sz="quarter" idx="13"/>
          </p:nvPr>
        </p:nvSpPr>
        <p:spPr/>
        <p:txBody>
          <a:bodyPr/>
          <a:lstStyle/>
          <a:p>
            <a:pPr marL="432000" indent="-432000" eaLnBrk="1" hangingPunct="1">
              <a:spcBef>
                <a:spcPts val="600"/>
              </a:spcBef>
              <a:buFont typeface="+mj-lt"/>
              <a:buAutoNum type="arabicPeriod" startAt="3"/>
            </a:pPr>
            <a:r>
              <a:rPr lang="en-US" altLang="en-US" sz="2400" b="1" dirty="0">
                <a:latin typeface="Arial (Body)"/>
                <a:ea typeface="ヒラギノ角ゴ Pro W3" pitchFamily="-84" charset="-128"/>
              </a:rPr>
              <a:t>Changes in </a:t>
            </a:r>
            <a:r>
              <a:rPr lang="en-US" altLang="en-US" sz="2400" b="1" i="1" dirty="0">
                <a:latin typeface="Arial (Body)"/>
                <a:ea typeface="ヒラギノ角ゴ Pro W3" pitchFamily="-84" charset="-128"/>
              </a:rPr>
              <a:t>I</a:t>
            </a:r>
            <a:r>
              <a:rPr lang="en-US" altLang="en-US" sz="2400" dirty="0">
                <a:latin typeface="Arial (Body)"/>
                <a:ea typeface="ヒラギノ角ゴ Pro W3" pitchFamily="-84" charset="-128"/>
              </a:rPr>
              <a:t>: higher investment expenditure shifts the </a:t>
            </a:r>
            <a:r>
              <a:rPr lang="en-US" altLang="en-US" sz="2400"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sz="2400" i="1" dirty="0" err="1">
                <a:latin typeface="Arial (Body)"/>
                <a:ea typeface="ヒラギノ角ゴ Pro W3" pitchFamily="-84" charset="-128"/>
              </a:rPr>
              <a:t>D</a:t>
            </a:r>
            <a:r>
              <a:rPr lang="en-US" altLang="en-US" sz="2400" dirty="0">
                <a:latin typeface="Arial (Body)"/>
                <a:ea typeface="ヒラギノ角ゴ Pro W3" pitchFamily="-84" charset="-128"/>
              </a:rPr>
              <a:t> curve right.</a:t>
            </a:r>
          </a:p>
          <a:p>
            <a:pPr marL="432000" indent="-432000" eaLnBrk="1" hangingPunct="1">
              <a:spcBef>
                <a:spcPts val="600"/>
              </a:spcBef>
              <a:buFont typeface="Times" pitchFamily="-84" charset="0"/>
              <a:buAutoNum type="arabicPeriod" startAt="3"/>
            </a:pPr>
            <a:r>
              <a:rPr lang="en-US" altLang="en-US" sz="2400" b="1" dirty="0">
                <a:latin typeface="Arial (Body)"/>
                <a:ea typeface="ヒラギノ角ゴ Pro W3" pitchFamily="-84" charset="-128"/>
              </a:rPr>
              <a:t>Changes in </a:t>
            </a:r>
            <a:r>
              <a:rPr lang="en-US" altLang="en-US" sz="2400" b="1" i="1" dirty="0">
                <a:latin typeface="Arial (Body)"/>
                <a:ea typeface="ヒラギノ角ゴ Pro W3" pitchFamily="-84" charset="-128"/>
              </a:rPr>
              <a:t>P</a:t>
            </a:r>
            <a:r>
              <a:rPr lang="en-US" altLang="en-US" sz="2400" dirty="0">
                <a:latin typeface="Arial (Body)"/>
                <a:ea typeface="ヒラギノ角ゴ Pro W3" pitchFamily="-84" charset="-128"/>
              </a:rPr>
              <a:t>: </a:t>
            </a:r>
            <a:r>
              <a:rPr lang="en-US" altLang="en-US" dirty="0">
                <a:latin typeface="Arial (Body)"/>
                <a:ea typeface="ヒラギノ角ゴ Pro W3" pitchFamily="-84" charset="-128"/>
              </a:rPr>
              <a:t>higher</a:t>
            </a:r>
            <a:r>
              <a:rPr lang="en-US" altLang="en-US" sz="2400" dirty="0">
                <a:latin typeface="Arial (Body)"/>
                <a:ea typeface="ヒラギノ角ゴ Pro W3" pitchFamily="-84" charset="-128"/>
              </a:rPr>
              <a:t> domestic prices make </a:t>
            </a:r>
            <a:r>
              <a:rPr lang="en-US" altLang="en-US" dirty="0">
                <a:latin typeface="Arial (Body)"/>
                <a:ea typeface="ヒラギノ角ゴ Pro W3" pitchFamily="-84" charset="-128"/>
              </a:rPr>
              <a:t>d</a:t>
            </a:r>
            <a:r>
              <a:rPr lang="en-US" altLang="en-US" sz="2400" dirty="0">
                <a:latin typeface="Arial (Body)"/>
                <a:ea typeface="ヒラギノ角ゴ Pro W3" pitchFamily="-84" charset="-128"/>
              </a:rPr>
              <a:t>omestic output more expensive compared to foreign output and reduce net export demand, shifting the </a:t>
            </a:r>
            <a:r>
              <a:rPr lang="en-US" altLang="en-US" sz="2400"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sz="2400" i="1" dirty="0" err="1">
                <a:latin typeface="Arial (Body)"/>
                <a:ea typeface="ヒラギノ角ゴ Pro W3" pitchFamily="-84" charset="-128"/>
              </a:rPr>
              <a:t>D</a:t>
            </a:r>
            <a:r>
              <a:rPr lang="en-US" altLang="en-US" sz="2400" dirty="0">
                <a:latin typeface="Arial (Body)"/>
                <a:ea typeface="ヒラギノ角ゴ Pro W3" pitchFamily="-84" charset="-128"/>
              </a:rPr>
              <a:t> curve </a:t>
            </a:r>
            <a:r>
              <a:rPr lang="en-US" altLang="en-US" dirty="0">
                <a:latin typeface="Arial (Body)"/>
                <a:ea typeface="ヒラギノ角ゴ Pro W3" pitchFamily="-84" charset="-128"/>
              </a:rPr>
              <a:t>left</a:t>
            </a:r>
            <a:r>
              <a:rPr lang="en-US" altLang="en-US" sz="2400" dirty="0">
                <a:latin typeface="Arial (Body)"/>
                <a:ea typeface="ヒラギノ角ゴ Pro W3" pitchFamily="-84" charset="-128"/>
              </a:rPr>
              <a:t>.</a:t>
            </a:r>
            <a:endParaRPr lang="en-US" altLang="en-US" dirty="0">
              <a:latin typeface="Arial (Body)"/>
              <a:ea typeface="ヒラギノ角ゴ Pro W3" pitchFamily="-84" charset="-128"/>
            </a:endParaRPr>
          </a:p>
          <a:p>
            <a:pPr marL="432000" indent="-432000">
              <a:spcBef>
                <a:spcPts val="600"/>
              </a:spcBef>
              <a:buFont typeface="Times" pitchFamily="-84" charset="0"/>
              <a:buAutoNum type="arabicPeriod" startAt="3"/>
            </a:pPr>
            <a:r>
              <a:rPr lang="en-US" altLang="en-US" b="1" dirty="0">
                <a:latin typeface="Arial (Body)"/>
                <a:ea typeface="ヒラギノ角ゴ Pro W3" pitchFamily="-84" charset="-128"/>
              </a:rPr>
              <a:t>Changes in P*: </a:t>
            </a:r>
            <a:r>
              <a:rPr lang="en-US" altLang="en-US" dirty="0">
                <a:latin typeface="Arial (Body)"/>
                <a:ea typeface="ヒラギノ角ゴ Pro W3" pitchFamily="-84" charset="-128"/>
              </a:rPr>
              <a:t>higher foreign prices make domestic output less expensive compared to foreign output and increase net export demand, shifting 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dirty="0">
                <a:latin typeface="Arial (Body)"/>
                <a:ea typeface="ヒラギノ角ゴ Pro W3" pitchFamily="-84" charset="-128"/>
              </a:rPr>
              <a:t> curve right.</a:t>
            </a:r>
            <a:endParaRPr lang="en-IN" dirty="0"/>
          </a:p>
        </p:txBody>
      </p:sp>
    </p:spTree>
    <p:extLst>
      <p:ext uri="{BB962C8B-B14F-4D97-AF65-F5344CB8AC3E}">
        <p14:creationId xmlns:p14="http://schemas.microsoft.com/office/powerpoint/2010/main" val="1228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6FB20-9785-4D7D-ABA6-FFA80CF117A1}"/>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Shifting the </a:t>
            </a:r>
            <a:r>
              <a:rPr lang="en-US" altLang="en-US"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i="1" dirty="0" err="1">
                <a:ea typeface="ヒラギノ角ゴ Pro W3" pitchFamily="-84" charset="-128"/>
                <a:cs typeface="Times New Roman" panose="02020603050405020304" pitchFamily="18" charset="0"/>
              </a:rPr>
              <a:t>D</a:t>
            </a:r>
            <a:r>
              <a:rPr lang="en-US" altLang="en-US" dirty="0">
                <a:ea typeface="ヒラギノ角ゴ Pro W3" pitchFamily="-84" charset="-128"/>
                <a:cs typeface="Times New Roman" panose="02020603050405020304" pitchFamily="18" charset="0"/>
              </a:rPr>
              <a:t> Curve </a:t>
            </a:r>
            <a:r>
              <a:rPr lang="en-US" altLang="en-US" sz="2000" b="0" dirty="0">
                <a:ea typeface="ヒラギノ角ゴ Pro W3" pitchFamily="-84" charset="-128"/>
                <a:cs typeface="Times New Roman" panose="02020603050405020304" pitchFamily="18" charset="0"/>
              </a:rPr>
              <a:t>(3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39DD817B-0C80-4DE4-B73C-4DC5D19A6418}"/>
              </a:ext>
            </a:extLst>
          </p:cNvPr>
          <p:cNvSpPr>
            <a:spLocks noGrp="1"/>
          </p:cNvSpPr>
          <p:nvPr>
            <p:ph sz="quarter" idx="13"/>
          </p:nvPr>
        </p:nvSpPr>
        <p:spPr>
          <a:xfrm>
            <a:off x="457200" y="1556327"/>
            <a:ext cx="8229600" cy="2548745"/>
          </a:xfrm>
        </p:spPr>
        <p:txBody>
          <a:bodyPr/>
          <a:lstStyle/>
          <a:p>
            <a:pPr marL="432000" indent="-432000" eaLnBrk="1" hangingPunct="1">
              <a:spcBef>
                <a:spcPts val="600"/>
              </a:spcBef>
              <a:buFont typeface="+mj-lt"/>
              <a:buAutoNum type="arabicPeriod" startAt="6"/>
            </a:pPr>
            <a:r>
              <a:rPr lang="en-US" altLang="en-US" sz="2400" b="1" dirty="0">
                <a:latin typeface="Arial (Body)"/>
                <a:ea typeface="ヒラギノ角ゴ Pro W3" pitchFamily="-84" charset="-128"/>
              </a:rPr>
              <a:t>Changes in </a:t>
            </a:r>
            <a:r>
              <a:rPr lang="en-US" altLang="en-US" sz="2400" b="1" i="1" dirty="0">
                <a:latin typeface="Arial (Body)"/>
                <a:ea typeface="ヒラギノ角ゴ Pro W3" pitchFamily="-84" charset="-128"/>
              </a:rPr>
              <a:t>C</a:t>
            </a:r>
            <a:r>
              <a:rPr lang="en-US" altLang="en-US" sz="2400" dirty="0">
                <a:latin typeface="Arial (Body)"/>
                <a:ea typeface="ヒラギノ角ゴ Pro W3" pitchFamily="-84" charset="-128"/>
              </a:rPr>
              <a:t>: willingness to consume more and save less shifts the </a:t>
            </a:r>
            <a:r>
              <a:rPr lang="en-US" altLang="en-US" sz="2400"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sz="2400" i="1" dirty="0" err="1">
                <a:latin typeface="Arial (Body)"/>
                <a:ea typeface="ヒラギノ角ゴ Pro W3" pitchFamily="-84" charset="-128"/>
              </a:rPr>
              <a:t>D</a:t>
            </a:r>
            <a:r>
              <a:rPr lang="en-US" altLang="en-US" sz="2400" dirty="0">
                <a:latin typeface="Arial (Body)"/>
                <a:ea typeface="ヒラギノ角ゴ Pro W3" pitchFamily="-84" charset="-128"/>
              </a:rPr>
              <a:t> curve right.</a:t>
            </a:r>
          </a:p>
          <a:p>
            <a:pPr marL="432000" indent="-432000" eaLnBrk="1" hangingPunct="1">
              <a:spcBef>
                <a:spcPts val="600"/>
              </a:spcBef>
              <a:buFont typeface="+mj-lt"/>
              <a:buAutoNum type="arabicPeriod" startAt="6"/>
            </a:pPr>
            <a:r>
              <a:rPr lang="en-US" altLang="en-US" sz="2400" b="1" dirty="0">
                <a:latin typeface="Arial (Body)"/>
                <a:ea typeface="ヒラギノ角ゴ Pro W3" pitchFamily="-84" charset="-128"/>
              </a:rPr>
              <a:t>Changes in demand of domestic goods relative to foreign goods</a:t>
            </a:r>
            <a:r>
              <a:rPr lang="en-US" altLang="en-US" sz="2400" dirty="0">
                <a:latin typeface="Arial (Body)"/>
                <a:ea typeface="ヒラギノ角ゴ Pro W3" pitchFamily="-84" charset="-128"/>
              </a:rPr>
              <a:t>: willingness to consume more domestic goods relative to foreign goods shifts the </a:t>
            </a:r>
            <a:r>
              <a:rPr lang="en-US" altLang="en-US" sz="2400"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sz="2400" i="1" dirty="0" err="1">
                <a:latin typeface="Arial (Body)"/>
                <a:ea typeface="ヒラギノ角ゴ Pro W3" pitchFamily="-84" charset="-128"/>
              </a:rPr>
              <a:t>D</a:t>
            </a:r>
            <a:r>
              <a:rPr lang="en-US" altLang="en-US" sz="2400" dirty="0">
                <a:latin typeface="Arial (Body)"/>
                <a:ea typeface="ヒラギノ角ゴ Pro W3" pitchFamily="-84" charset="-128"/>
              </a:rPr>
              <a:t> curve right.</a:t>
            </a:r>
          </a:p>
        </p:txBody>
      </p:sp>
    </p:spTree>
    <p:extLst>
      <p:ext uri="{BB962C8B-B14F-4D97-AF65-F5344CB8AC3E}">
        <p14:creationId xmlns:p14="http://schemas.microsoft.com/office/powerpoint/2010/main" val="1875559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9343-BAFF-4941-9617-F1374EA25CEB}"/>
              </a:ext>
              <a:ext uri="{C183D7F6-B498-43B3-948B-1728B52AA6E4}">
                <adec:decorative xmlns:adec="http://schemas.microsoft.com/office/drawing/2017/decorative" val="1"/>
              </a:ext>
            </a:extLst>
          </p:cNvPr>
          <p:cNvSpPr>
            <a:spLocks noGrp="1"/>
          </p:cNvSpPr>
          <p:nvPr>
            <p:ph type="title"/>
          </p:nvPr>
        </p:nvSpPr>
        <p:spPr>
          <a:xfrm>
            <a:off x="457199" y="215371"/>
            <a:ext cx="8326877" cy="1097279"/>
          </a:xfrm>
        </p:spPr>
        <p:txBody>
          <a:bodyPr/>
          <a:lstStyle/>
          <a:p>
            <a:r>
              <a:rPr lang="en-US" altLang="en-US" sz="3000" dirty="0">
                <a:ea typeface="ヒラギノ角ゴ Pro W3" pitchFamily="-84" charset="-128"/>
                <a:cs typeface="Times New Roman" panose="02020603050405020304" pitchFamily="18" charset="0"/>
              </a:rPr>
              <a:t>Short-Run Equilibrium in Asset Markets </a:t>
            </a:r>
            <a:r>
              <a:rPr lang="en-US" altLang="en-US" sz="2000" b="0" dirty="0">
                <a:ea typeface="ヒラギノ角ゴ Pro W3" pitchFamily="-84" charset="-128"/>
                <a:cs typeface="Times New Roman" panose="02020603050405020304" pitchFamily="18" charset="0"/>
              </a:rPr>
              <a:t>(1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D9D8C622-CFA1-455C-BEAB-091F16CC42E7}"/>
              </a:ext>
            </a:extLst>
          </p:cNvPr>
          <p:cNvSpPr>
            <a:spLocks noGrp="1"/>
          </p:cNvSpPr>
          <p:nvPr>
            <p:ph sz="quarter" idx="13"/>
          </p:nvPr>
        </p:nvSpPr>
        <p:spPr>
          <a:xfrm>
            <a:off x="457200" y="1552575"/>
            <a:ext cx="4597121" cy="440900"/>
          </a:xfrm>
        </p:spPr>
        <p:txBody>
          <a:bodyPr/>
          <a:lstStyle/>
          <a:p>
            <a:r>
              <a:rPr lang="en-US" altLang="en-US" sz="2000" dirty="0">
                <a:latin typeface="Arial (Body)"/>
                <a:ea typeface="ヒラギノ角ゴ Pro W3" pitchFamily="-84" charset="-128"/>
              </a:rPr>
              <a:t>Consider two sets of asset markets:</a:t>
            </a:r>
          </a:p>
        </p:txBody>
      </p:sp>
      <p:sp>
        <p:nvSpPr>
          <p:cNvPr id="4" name="Content Placeholder 3">
            <a:extLst>
              <a:ext uri="{FF2B5EF4-FFF2-40B4-BE49-F238E27FC236}">
                <a16:creationId xmlns:a16="http://schemas.microsoft.com/office/drawing/2014/main" id="{E26CD91F-417A-438F-982F-88D373ADB7C6}"/>
              </a:ext>
              <a:ext uri="{C183D7F6-B498-43B3-948B-1728B52AA6E4}">
                <adec:decorative xmlns:adec="http://schemas.microsoft.com/office/drawing/2017/decorative" val="1"/>
              </a:ext>
            </a:extLst>
          </p:cNvPr>
          <p:cNvSpPr>
            <a:spLocks noGrp="1"/>
          </p:cNvSpPr>
          <p:nvPr>
            <p:ph sz="quarter" idx="14"/>
          </p:nvPr>
        </p:nvSpPr>
        <p:spPr>
          <a:xfrm>
            <a:off x="457200" y="2060869"/>
            <a:ext cx="4011769" cy="440900"/>
          </a:xfrm>
        </p:spPr>
        <p:txBody>
          <a:bodyPr/>
          <a:lstStyle/>
          <a:p>
            <a:pPr marL="432000" indent="-432000">
              <a:buFont typeface="+mj-lt"/>
              <a:buAutoNum type="arabicPeriod"/>
            </a:pPr>
            <a:r>
              <a:rPr lang="en-US" altLang="en-US" sz="2000" dirty="0">
                <a:latin typeface="Arial (Body)"/>
                <a:ea typeface="ヒラギノ角ゴ Pro W3" pitchFamily="-84" charset="-128"/>
              </a:rPr>
              <a:t>Foreign exchange markets</a:t>
            </a:r>
            <a:endParaRPr lang="en-IN" sz="2000" dirty="0"/>
          </a:p>
        </p:txBody>
      </p:sp>
      <p:sp>
        <p:nvSpPr>
          <p:cNvPr id="5" name="Content Placeholder 4">
            <a:extLst>
              <a:ext uri="{FF2B5EF4-FFF2-40B4-BE49-F238E27FC236}">
                <a16:creationId xmlns:a16="http://schemas.microsoft.com/office/drawing/2014/main" id="{6BEDBEB2-4832-4069-B2F6-1113B861B834}"/>
              </a:ext>
              <a:ext uri="{C183D7F6-B498-43B3-948B-1728B52AA6E4}">
                <adec:decorative xmlns:adec="http://schemas.microsoft.com/office/drawing/2017/decorative" val="1"/>
              </a:ext>
            </a:extLst>
          </p:cNvPr>
          <p:cNvSpPr>
            <a:spLocks noGrp="1"/>
          </p:cNvSpPr>
          <p:nvPr>
            <p:ph sz="quarter" idx="15"/>
          </p:nvPr>
        </p:nvSpPr>
        <p:spPr>
          <a:xfrm>
            <a:off x="457200" y="2582448"/>
            <a:ext cx="5109587" cy="525368"/>
          </a:xfrm>
        </p:spPr>
        <p:txBody>
          <a:bodyPr/>
          <a:lstStyle/>
          <a:p>
            <a:pPr lvl="1"/>
            <a:r>
              <a:rPr lang="en-US" altLang="en-US" sz="2000" dirty="0">
                <a:latin typeface="Arial (Body)"/>
                <a:ea typeface="ヒラギノ角ゴ Pro W3" pitchFamily="-84" charset="-128"/>
              </a:rPr>
              <a:t>interest parity represents equilibrium:</a:t>
            </a:r>
            <a:endParaRPr lang="en-IN" sz="2000" dirty="0"/>
          </a:p>
        </p:txBody>
      </p:sp>
      <p:graphicFrame>
        <p:nvGraphicFramePr>
          <p:cNvPr id="17" name="Object 16" descr="R = R asterisk + start fraction left parenthesis E to the lower e power minus E right parenthesis over E end fraction">
            <a:extLst>
              <a:ext uri="{FF2B5EF4-FFF2-40B4-BE49-F238E27FC236}">
                <a16:creationId xmlns:a16="http://schemas.microsoft.com/office/drawing/2014/main" id="{EA0F81AC-F6C5-4E42-84A6-CAF6A824884C}"/>
              </a:ext>
            </a:extLst>
          </p:cNvPr>
          <p:cNvGraphicFramePr>
            <a:graphicFrameLocks noChangeAspect="1"/>
          </p:cNvGraphicFramePr>
          <p:nvPr>
            <p:extLst>
              <p:ext uri="{D42A27DB-BD31-4B8C-83A1-F6EECF244321}">
                <p14:modId xmlns:p14="http://schemas.microsoft.com/office/powerpoint/2010/main" val="1825064586"/>
              </p:ext>
            </p:extLst>
          </p:nvPr>
        </p:nvGraphicFramePr>
        <p:xfrm>
          <a:off x="5625699" y="2467537"/>
          <a:ext cx="1746076" cy="701120"/>
        </p:xfrm>
        <a:graphic>
          <a:graphicData uri="http://schemas.openxmlformats.org/presentationml/2006/ole">
            <mc:AlternateContent xmlns:mc="http://schemas.openxmlformats.org/markup-compatibility/2006">
              <mc:Choice xmlns:v="urn:schemas-microsoft-com:vml" Requires="v">
                <p:oleObj name="Equation" r:id="rId2" imgW="1193760" imgH="469800" progId="Equation.DSMT4">
                  <p:embed/>
                </p:oleObj>
              </mc:Choice>
              <mc:Fallback>
                <p:oleObj name="Equation" r:id="rId2" imgW="1193760" imgH="469800" progId="Equation.DSMT4">
                  <p:embed/>
                  <p:pic>
                    <p:nvPicPr>
                      <p:cNvPr id="7" name="Object 6">
                        <a:extLst>
                          <a:ext uri="{FF2B5EF4-FFF2-40B4-BE49-F238E27FC236}">
                            <a16:creationId xmlns:a16="http://schemas.microsoft.com/office/drawing/2014/main" id="{D68C16AA-056F-47FA-B47B-D9C95D8D4689}"/>
                          </a:ext>
                        </a:extLst>
                      </p:cNvPr>
                      <p:cNvPicPr/>
                      <p:nvPr/>
                    </p:nvPicPr>
                    <p:blipFill>
                      <a:blip r:embed="rId3"/>
                      <a:stretch>
                        <a:fillRect/>
                      </a:stretch>
                    </p:blipFill>
                    <p:spPr>
                      <a:xfrm>
                        <a:off x="5625699" y="2467537"/>
                        <a:ext cx="1746076" cy="70112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C19B079-81EA-470E-B6D8-423D294F9D7A}"/>
              </a:ext>
              <a:ext uri="{C183D7F6-B498-43B3-948B-1728B52AA6E4}">
                <adec:decorative xmlns:adec="http://schemas.microsoft.com/office/drawing/2017/decorative" val="1"/>
              </a:ext>
            </a:extLst>
          </p:cNvPr>
          <p:cNvSpPr>
            <a:spLocks noGrp="1"/>
          </p:cNvSpPr>
          <p:nvPr>
            <p:ph sz="quarter" idx="16"/>
          </p:nvPr>
        </p:nvSpPr>
        <p:spPr>
          <a:xfrm>
            <a:off x="457201" y="3160448"/>
            <a:ext cx="2346290" cy="469443"/>
          </a:xfrm>
        </p:spPr>
        <p:txBody>
          <a:bodyPr/>
          <a:lstStyle/>
          <a:p>
            <a:pPr marL="432000" indent="-432000">
              <a:buFont typeface="+mj-lt"/>
              <a:buAutoNum type="arabicPeriod" startAt="2"/>
            </a:pPr>
            <a:r>
              <a:rPr lang="en-US" altLang="en-US" sz="2000" dirty="0">
                <a:latin typeface="Arial (Body)"/>
                <a:ea typeface="ヒラギノ角ゴ Pro W3" pitchFamily="-84" charset="-128"/>
              </a:rPr>
              <a:t>Money market</a:t>
            </a:r>
            <a:endParaRPr lang="en-IN" sz="2000" dirty="0"/>
          </a:p>
        </p:txBody>
      </p:sp>
      <p:sp>
        <p:nvSpPr>
          <p:cNvPr id="7" name="Content Placeholder 6">
            <a:extLst>
              <a:ext uri="{FF2B5EF4-FFF2-40B4-BE49-F238E27FC236}">
                <a16:creationId xmlns:a16="http://schemas.microsoft.com/office/drawing/2014/main" id="{CAF31C00-B3C7-43FE-9A41-A6B65E1D569B}"/>
              </a:ext>
              <a:ext uri="{C183D7F6-B498-43B3-948B-1728B52AA6E4}">
                <adec:decorative xmlns:adec="http://schemas.microsoft.com/office/drawing/2017/decorative" val="1"/>
              </a:ext>
            </a:extLst>
          </p:cNvPr>
          <p:cNvSpPr>
            <a:spLocks noGrp="1"/>
          </p:cNvSpPr>
          <p:nvPr>
            <p:ph sz="quarter" idx="17"/>
          </p:nvPr>
        </p:nvSpPr>
        <p:spPr>
          <a:xfrm>
            <a:off x="457202" y="3677394"/>
            <a:ext cx="8326876" cy="756061"/>
          </a:xfrm>
        </p:spPr>
        <p:txBody>
          <a:bodyPr/>
          <a:lstStyle/>
          <a:p>
            <a:pPr lvl="1"/>
            <a:r>
              <a:rPr lang="en-US" altLang="en-US" sz="2000" dirty="0">
                <a:latin typeface="Arial (Body)"/>
                <a:ea typeface="ヒラギノ角ゴ Pro W3" pitchFamily="-84" charset="-128"/>
              </a:rPr>
              <a:t>Equilibrium occurs when the quantity of real monetary assets supplied matches the quantity of real monetary</a:t>
            </a:r>
            <a:endParaRPr lang="en-IN" sz="2000" dirty="0"/>
          </a:p>
        </p:txBody>
      </p:sp>
      <p:sp>
        <p:nvSpPr>
          <p:cNvPr id="8" name="Content Placeholder 7">
            <a:extLst>
              <a:ext uri="{FF2B5EF4-FFF2-40B4-BE49-F238E27FC236}">
                <a16:creationId xmlns:a16="http://schemas.microsoft.com/office/drawing/2014/main" id="{3A95D5C8-B11C-4EF6-B017-C8933CEB71A7}"/>
              </a:ext>
              <a:ext uri="{C183D7F6-B498-43B3-948B-1728B52AA6E4}">
                <adec:decorative xmlns:adec="http://schemas.microsoft.com/office/drawing/2017/decorative" val="1"/>
              </a:ext>
            </a:extLst>
          </p:cNvPr>
          <p:cNvSpPr>
            <a:spLocks noGrp="1"/>
          </p:cNvSpPr>
          <p:nvPr>
            <p:ph sz="quarter" idx="18"/>
          </p:nvPr>
        </p:nvSpPr>
        <p:spPr>
          <a:xfrm>
            <a:off x="457204" y="4615663"/>
            <a:ext cx="2962274" cy="377146"/>
          </a:xfrm>
        </p:spPr>
        <p:txBody>
          <a:bodyPr lIns="0" tIns="0" rIns="0" bIns="0"/>
          <a:lstStyle/>
          <a:p>
            <a:pPr marL="741600" lvl="1" indent="0">
              <a:buNone/>
            </a:pPr>
            <a:r>
              <a:rPr lang="en-US" altLang="en-US" sz="2000" dirty="0">
                <a:latin typeface="Arial (Body)"/>
                <a:ea typeface="ヒラギノ角ゴ Pro W3" pitchFamily="-84" charset="-128"/>
              </a:rPr>
              <a:t>assets demanded:</a:t>
            </a:r>
          </a:p>
        </p:txBody>
      </p:sp>
      <p:graphicFrame>
        <p:nvGraphicFramePr>
          <p:cNvPr id="18" name="Object 17" descr="Start fraction M super s over P end fraction = L left parenthesis R comma Y right parenthesis">
            <a:extLst>
              <a:ext uri="{FF2B5EF4-FFF2-40B4-BE49-F238E27FC236}">
                <a16:creationId xmlns:a16="http://schemas.microsoft.com/office/drawing/2014/main" id="{212D8537-76BA-4CD8-BA05-50F2EC9B69BF}"/>
              </a:ext>
            </a:extLst>
          </p:cNvPr>
          <p:cNvGraphicFramePr>
            <a:graphicFrameLocks noChangeAspect="1"/>
          </p:cNvGraphicFramePr>
          <p:nvPr>
            <p:extLst>
              <p:ext uri="{D42A27DB-BD31-4B8C-83A1-F6EECF244321}">
                <p14:modId xmlns:p14="http://schemas.microsoft.com/office/powerpoint/2010/main" val="664959193"/>
              </p:ext>
            </p:extLst>
          </p:nvPr>
        </p:nvGraphicFramePr>
        <p:xfrm>
          <a:off x="3521264" y="4480729"/>
          <a:ext cx="1380749" cy="607529"/>
        </p:xfrm>
        <a:graphic>
          <a:graphicData uri="http://schemas.openxmlformats.org/presentationml/2006/ole">
            <mc:AlternateContent xmlns:mc="http://schemas.openxmlformats.org/markup-compatibility/2006">
              <mc:Choice xmlns:v="urn:schemas-microsoft-com:vml" Requires="v">
                <p:oleObj name="Equation" r:id="rId4" imgW="952200" imgH="419040" progId="Equation.DSMT4">
                  <p:embed/>
                </p:oleObj>
              </mc:Choice>
              <mc:Fallback>
                <p:oleObj name="Equation" r:id="rId4" imgW="952200" imgH="419040" progId="Equation.DSMT4">
                  <p:embed/>
                  <p:pic>
                    <p:nvPicPr>
                      <p:cNvPr id="0" name=""/>
                      <p:cNvPicPr/>
                      <p:nvPr/>
                    </p:nvPicPr>
                    <p:blipFill>
                      <a:blip r:embed="rId5"/>
                      <a:stretch>
                        <a:fillRect/>
                      </a:stretch>
                    </p:blipFill>
                    <p:spPr>
                      <a:xfrm>
                        <a:off x="3521264" y="4480729"/>
                        <a:ext cx="1380749" cy="607529"/>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7EEAB3D-F0B1-42ED-8A89-B5DE4CE6C5D9}"/>
              </a:ext>
              <a:ext uri="{C183D7F6-B498-43B3-948B-1728B52AA6E4}">
                <adec:decorative xmlns:adec="http://schemas.microsoft.com/office/drawing/2017/decorative" val="1"/>
              </a:ext>
            </a:extLst>
          </p:cNvPr>
          <p:cNvSpPr>
            <a:spLocks noGrp="1"/>
          </p:cNvSpPr>
          <p:nvPr>
            <p:ph sz="quarter" idx="19"/>
          </p:nvPr>
        </p:nvSpPr>
        <p:spPr>
          <a:xfrm>
            <a:off x="457200" y="5155186"/>
            <a:ext cx="8326876" cy="808509"/>
          </a:xfrm>
        </p:spPr>
        <p:txBody>
          <a:bodyPr/>
          <a:lstStyle/>
          <a:p>
            <a:pPr lvl="1"/>
            <a:r>
              <a:rPr lang="en-US" altLang="en-US" sz="2000" dirty="0">
                <a:latin typeface="Arial (Body)"/>
                <a:ea typeface="ヒラギノ角ゴ Pro W3" pitchFamily="-84" charset="-128"/>
              </a:rPr>
              <a:t>A rise in income from production causes the demand of real monetary assets to increase.</a:t>
            </a:r>
          </a:p>
        </p:txBody>
      </p:sp>
    </p:spTree>
    <p:extLst>
      <p:ext uri="{BB962C8B-B14F-4D97-AF65-F5344CB8AC3E}">
        <p14:creationId xmlns:p14="http://schemas.microsoft.com/office/powerpoint/2010/main" val="754132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1A7C-E149-4565-987F-B4A80DED9E16}"/>
              </a:ext>
            </a:extLst>
          </p:cNvPr>
          <p:cNvSpPr>
            <a:spLocks noGrp="1"/>
          </p:cNvSpPr>
          <p:nvPr>
            <p:ph type="title"/>
          </p:nvPr>
        </p:nvSpPr>
        <p:spPr/>
        <p:txBody>
          <a:bodyPr/>
          <a:lstStyle/>
          <a:p>
            <a:r>
              <a:rPr lang="en-US" altLang="en-US" sz="3200" dirty="0">
                <a:ea typeface="ヒラギノ角ゴ Pro W3" pitchFamily="-84" charset="-128"/>
              </a:rPr>
              <a:t>Figure 17.6 Output and the Exchange Rate in Asset Market Equilibrium</a:t>
            </a:r>
            <a:endParaRPr lang="en-IN" sz="3200" dirty="0"/>
          </a:p>
        </p:txBody>
      </p:sp>
      <p:pic>
        <p:nvPicPr>
          <p:cNvPr id="6" name="Content Placeholder 5" descr="Two coordinate systems share the same horizontal axis for domestic interest rate R. For long description in Notes pane, press F6.">
            <a:extLst>
              <a:ext uri="{FF2B5EF4-FFF2-40B4-BE49-F238E27FC236}">
                <a16:creationId xmlns:a16="http://schemas.microsoft.com/office/drawing/2014/main" id="{0FCC8CC8-2D6E-4752-8CA2-ED251AE7A8F8}"/>
              </a:ext>
            </a:extLst>
          </p:cNvPr>
          <p:cNvPicPr>
            <a:picLocks noGrp="1" noChangeAspect="1"/>
          </p:cNvPicPr>
          <p:nvPr>
            <p:ph sz="quarter" idx="13"/>
          </p:nvPr>
        </p:nvPicPr>
        <p:blipFill>
          <a:blip r:embed="rId3"/>
          <a:stretch>
            <a:fillRect/>
          </a:stretch>
        </p:blipFill>
        <p:spPr>
          <a:xfrm>
            <a:off x="2939584" y="1602248"/>
            <a:ext cx="3264832" cy="3653503"/>
          </a:xfrm>
        </p:spPr>
      </p:pic>
      <p:sp>
        <p:nvSpPr>
          <p:cNvPr id="4" name="Content Placeholder 3">
            <a:extLst>
              <a:ext uri="{FF2B5EF4-FFF2-40B4-BE49-F238E27FC236}">
                <a16:creationId xmlns:a16="http://schemas.microsoft.com/office/drawing/2014/main" id="{9968117A-7A81-494E-A078-74BC7A4BF1CB}"/>
              </a:ext>
            </a:extLst>
          </p:cNvPr>
          <p:cNvSpPr>
            <a:spLocks noGrp="1"/>
          </p:cNvSpPr>
          <p:nvPr>
            <p:ph sz="quarter" idx="14"/>
          </p:nvPr>
        </p:nvSpPr>
        <p:spPr>
          <a:xfrm>
            <a:off x="457200" y="5376712"/>
            <a:ext cx="8229600" cy="982010"/>
          </a:xfrm>
        </p:spPr>
        <p:txBody>
          <a:bodyPr/>
          <a:lstStyle/>
          <a:p>
            <a:pPr marL="432" indent="0">
              <a:buNone/>
            </a:pPr>
            <a:r>
              <a:rPr lang="en-US" sz="1800" dirty="0">
                <a:latin typeface="Arial (Body)"/>
              </a:rPr>
              <a:t>For the asset (foreign exchange and money) markets to remain in equilibrium, a rise in output must be accompanied by an appreciation of the currency, all else equal.</a:t>
            </a:r>
          </a:p>
        </p:txBody>
      </p:sp>
    </p:spTree>
    <p:extLst>
      <p:ext uri="{BB962C8B-B14F-4D97-AF65-F5344CB8AC3E}">
        <p14:creationId xmlns:p14="http://schemas.microsoft.com/office/powerpoint/2010/main" val="35801772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7AE4A-1D2F-4D58-816A-15C0CD392352}"/>
              </a:ext>
            </a:extLst>
          </p:cNvPr>
          <p:cNvSpPr>
            <a:spLocks noGrp="1"/>
          </p:cNvSpPr>
          <p:nvPr>
            <p:ph type="title"/>
          </p:nvPr>
        </p:nvSpPr>
        <p:spPr>
          <a:xfrm>
            <a:off x="457200" y="215371"/>
            <a:ext cx="8382000" cy="1097279"/>
          </a:xfrm>
        </p:spPr>
        <p:txBody>
          <a:bodyPr/>
          <a:lstStyle/>
          <a:p>
            <a:r>
              <a:rPr lang="en-US" altLang="en-US" sz="3000" dirty="0">
                <a:ea typeface="ヒラギノ角ゴ Pro W3" pitchFamily="-84" charset="-128"/>
                <a:cs typeface="Times New Roman" panose="02020603050405020304" pitchFamily="18" charset="0"/>
              </a:rPr>
              <a:t>Short-Run Equilibrium in Asset Markets </a:t>
            </a:r>
            <a:r>
              <a:rPr lang="en-US" altLang="en-US" sz="2000" b="0" dirty="0">
                <a:ea typeface="ヒラギノ角ゴ Pro W3" pitchFamily="-84" charset="-128"/>
                <a:cs typeface="Times New Roman" panose="02020603050405020304" pitchFamily="18" charset="0"/>
              </a:rPr>
              <a:t>(2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4DF0A12F-830A-4639-9444-073FBC7E1B31}"/>
              </a:ext>
            </a:extLst>
          </p:cNvPr>
          <p:cNvSpPr>
            <a:spLocks noGrp="1"/>
          </p:cNvSpPr>
          <p:nvPr>
            <p:ph sz="quarter" idx="13"/>
          </p:nvPr>
        </p:nvSpPr>
        <p:spPr>
          <a:xfrm>
            <a:off x="457200" y="1556327"/>
            <a:ext cx="8229600" cy="3869113"/>
          </a:xfrm>
        </p:spPr>
        <p:txBody>
          <a:bodyPr/>
          <a:lstStyle/>
          <a:p>
            <a:pPr eaLnBrk="1" hangingPunct="1"/>
            <a:r>
              <a:rPr lang="en-US" altLang="en-US" dirty="0">
                <a:latin typeface="Arial (Body)"/>
                <a:ea typeface="ヒラギノ角ゴ Pro W3" pitchFamily="-84" charset="-128"/>
              </a:rPr>
              <a:t>When income and production increase, </a:t>
            </a:r>
          </a:p>
          <a:p>
            <a:pPr lvl="1" eaLnBrk="1" hangingPunct="1"/>
            <a:r>
              <a:rPr lang="en-US" altLang="en-US" dirty="0">
                <a:latin typeface="Arial (Body)"/>
                <a:ea typeface="ヒラギノ角ゴ Pro W3" pitchFamily="-84" charset="-128"/>
              </a:rPr>
              <a:t>demand of real monetary assets increases, </a:t>
            </a:r>
          </a:p>
          <a:p>
            <a:pPr lvl="1" eaLnBrk="1" hangingPunct="1"/>
            <a:r>
              <a:rPr lang="en-US" altLang="en-US" dirty="0">
                <a:latin typeface="Arial (Body)"/>
                <a:ea typeface="ヒラギノ角ゴ Pro W3" pitchFamily="-84" charset="-128"/>
              </a:rPr>
              <a:t>leading to an increase in domestic interest rates,</a:t>
            </a:r>
          </a:p>
          <a:p>
            <a:pPr lvl="1" eaLnBrk="1" hangingPunct="1"/>
            <a:r>
              <a:rPr lang="en-US" altLang="en-US" dirty="0">
                <a:latin typeface="Arial (Body)"/>
                <a:ea typeface="ヒラギノ角ゴ Pro W3" pitchFamily="-84" charset="-128"/>
              </a:rPr>
              <a:t>leading to an appreciation of the domestic currency.</a:t>
            </a:r>
          </a:p>
          <a:p>
            <a:pPr eaLnBrk="1" hangingPunct="1"/>
            <a:r>
              <a:rPr lang="en-US" altLang="en-US" dirty="0">
                <a:latin typeface="Arial (Body)"/>
                <a:ea typeface="ヒラギノ角ゴ Pro W3" pitchFamily="-84" charset="-128"/>
              </a:rPr>
              <a:t>Recall that an appreciation of the domestic currency is represented by a fall in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a:t>
            </a:r>
          </a:p>
          <a:p>
            <a:pPr eaLnBrk="1" hangingPunct="1"/>
            <a:r>
              <a:rPr lang="en-US" altLang="en-US" dirty="0">
                <a:latin typeface="Arial (Body)"/>
                <a:ea typeface="ヒラギノ角ゴ Pro W3" pitchFamily="-84" charset="-128"/>
              </a:rPr>
              <a:t>When income and production decrease, the domestic currency depreciates and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 rises.</a:t>
            </a:r>
          </a:p>
        </p:txBody>
      </p:sp>
    </p:spTree>
    <p:extLst>
      <p:ext uri="{BB962C8B-B14F-4D97-AF65-F5344CB8AC3E}">
        <p14:creationId xmlns:p14="http://schemas.microsoft.com/office/powerpoint/2010/main" val="26212360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F16A1-B3B7-45ED-9CAD-FC3FA82EE930}"/>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Short-Run Equilibrium in Asset Markets: </a:t>
            </a:r>
            <a:r>
              <a:rPr lang="en-US" altLang="en-US" sz="3200"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A</a:t>
            </a:r>
            <a:r>
              <a:rPr lang="en-US" altLang="en-US" sz="3200" dirty="0">
                <a:ea typeface="ヒラギノ角ゴ Pro W3" pitchFamily="-84" charset="-128"/>
                <a:cs typeface="Times New Roman" panose="02020603050405020304" pitchFamily="18" charset="0"/>
              </a:rPr>
              <a:t> Curve</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9CB30DAC-BEA3-4C56-B0E1-1119DD02FDED}"/>
              </a:ext>
            </a:extLst>
          </p:cNvPr>
          <p:cNvSpPr>
            <a:spLocks noGrp="1"/>
          </p:cNvSpPr>
          <p:nvPr>
            <p:ph sz="quarter" idx="13"/>
          </p:nvPr>
        </p:nvSpPr>
        <p:spPr>
          <a:xfrm>
            <a:off x="457200" y="1556327"/>
            <a:ext cx="7966364" cy="1623753"/>
          </a:xfrm>
        </p:spPr>
        <p:txBody>
          <a:bodyPr/>
          <a:lstStyle/>
          <a:p>
            <a:r>
              <a:rPr lang="en-US" altLang="en-US" dirty="0">
                <a:latin typeface="Arial (Body)"/>
                <a:ea typeface="ヒラギノ角ゴ Pro W3" pitchFamily="-84" charset="-128"/>
              </a:rPr>
              <a:t>The inverse relationship between output and exchange rates needed to keep the foreign exchange markets and the money market in equilibrium is summarized as 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a:t>
            </a:r>
          </a:p>
        </p:txBody>
      </p:sp>
    </p:spTree>
    <p:extLst>
      <p:ext uri="{BB962C8B-B14F-4D97-AF65-F5344CB8AC3E}">
        <p14:creationId xmlns:p14="http://schemas.microsoft.com/office/powerpoint/2010/main" val="942943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AF4EC-0986-489B-8F57-EAE017F13AEC}"/>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Figure 17.7 The </a:t>
            </a:r>
            <a:r>
              <a:rPr lang="en-US" altLang="en-US" sz="3600"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sz="3600" i="1" dirty="0" err="1">
                <a:ea typeface="ヒラギノ角ゴ Pro W3" pitchFamily="-84" charset="-128"/>
                <a:cs typeface="Times New Roman" panose="02020603050405020304" pitchFamily="18" charset="0"/>
              </a:rPr>
              <a:t>A</a:t>
            </a:r>
            <a:r>
              <a:rPr lang="en-US" altLang="en-US" sz="3600" dirty="0">
                <a:ea typeface="ヒラギノ角ゴ Pro W3" pitchFamily="-84" charset="-128"/>
                <a:cs typeface="Times New Roman" panose="02020603050405020304" pitchFamily="18" charset="0"/>
              </a:rPr>
              <a:t> Schedule </a:t>
            </a:r>
            <a:endParaRPr lang="en-IN" dirty="0">
              <a:cs typeface="Times New Roman" panose="02020603050405020304" pitchFamily="18" charset="0"/>
            </a:endParaRPr>
          </a:p>
        </p:txBody>
      </p:sp>
      <p:pic>
        <p:nvPicPr>
          <p:cNvPr id="12" name="Content Placeholder 11" descr="A graph of the Ay Ay schedule plots exchange rate, E versus output, Y. For long description in Notes pane, press F6.">
            <a:extLst>
              <a:ext uri="{FF2B5EF4-FFF2-40B4-BE49-F238E27FC236}">
                <a16:creationId xmlns:a16="http://schemas.microsoft.com/office/drawing/2014/main" id="{FEA2894B-A818-4E50-B109-02739330227B}"/>
              </a:ext>
            </a:extLst>
          </p:cNvPr>
          <p:cNvPicPr>
            <a:picLocks noGrp="1" noChangeAspect="1"/>
          </p:cNvPicPr>
          <p:nvPr>
            <p:ph sz="quarter" idx="13"/>
          </p:nvPr>
        </p:nvPicPr>
        <p:blipFill>
          <a:blip r:embed="rId3"/>
          <a:stretch>
            <a:fillRect/>
          </a:stretch>
        </p:blipFill>
        <p:spPr>
          <a:xfrm>
            <a:off x="2744013" y="1686172"/>
            <a:ext cx="3429914" cy="3052127"/>
          </a:xfrm>
        </p:spPr>
      </p:pic>
      <p:sp>
        <p:nvSpPr>
          <p:cNvPr id="4" name="Content Placeholder 3">
            <a:extLst>
              <a:ext uri="{FF2B5EF4-FFF2-40B4-BE49-F238E27FC236}">
                <a16:creationId xmlns:a16="http://schemas.microsoft.com/office/drawing/2014/main" id="{D3083A32-7FB2-4474-B81F-B75EA940120D}"/>
              </a:ext>
            </a:extLst>
          </p:cNvPr>
          <p:cNvSpPr>
            <a:spLocks noGrp="1"/>
          </p:cNvSpPr>
          <p:nvPr>
            <p:ph sz="quarter" idx="14"/>
          </p:nvPr>
        </p:nvSpPr>
        <p:spPr>
          <a:xfrm>
            <a:off x="497840" y="4962394"/>
            <a:ext cx="8218487" cy="413171"/>
          </a:xfrm>
        </p:spPr>
        <p:txBody>
          <a:bodyPr/>
          <a:lstStyle/>
          <a:p>
            <a:pPr marL="432" indent="0">
              <a:buNone/>
            </a:pPr>
            <a:r>
              <a:rPr lang="en-US" sz="1800" dirty="0"/>
              <a:t>The asset market equilibrium schedule (</a:t>
            </a:r>
            <a:r>
              <a:rPr lang="en-US" sz="1800" i="1" dirty="0"/>
              <a:t>A</a:t>
            </a:r>
            <a:r>
              <a:rPr lang="en-US" sz="100" i="1" dirty="0"/>
              <a:t> </a:t>
            </a:r>
            <a:r>
              <a:rPr lang="en-US" sz="1800" i="1" dirty="0"/>
              <a:t>A</a:t>
            </a:r>
            <a:r>
              <a:rPr lang="en-US" sz="1800" dirty="0"/>
              <a:t>) slopes downward because a</a:t>
            </a:r>
          </a:p>
        </p:txBody>
      </p:sp>
      <p:sp>
        <p:nvSpPr>
          <p:cNvPr id="5" name="Content Placeholder 4">
            <a:extLst>
              <a:ext uri="{FF2B5EF4-FFF2-40B4-BE49-F238E27FC236}">
                <a16:creationId xmlns:a16="http://schemas.microsoft.com/office/drawing/2014/main" id="{A53E571E-0163-408A-A45C-BB38D3181191}"/>
              </a:ext>
            </a:extLst>
          </p:cNvPr>
          <p:cNvSpPr>
            <a:spLocks noGrp="1"/>
          </p:cNvSpPr>
          <p:nvPr>
            <p:ph sz="quarter" idx="15"/>
          </p:nvPr>
        </p:nvSpPr>
        <p:spPr>
          <a:xfrm>
            <a:off x="497840" y="5414356"/>
            <a:ext cx="2061527" cy="307570"/>
          </a:xfrm>
        </p:spPr>
        <p:txBody>
          <a:bodyPr tIns="0" bIns="0"/>
          <a:lstStyle/>
          <a:p>
            <a:pPr marL="432" indent="0">
              <a:buNone/>
            </a:pPr>
            <a:r>
              <a:rPr lang="en-US" sz="1800" dirty="0"/>
              <a:t>rise in output from</a:t>
            </a:r>
          </a:p>
        </p:txBody>
      </p:sp>
      <p:graphicFrame>
        <p:nvGraphicFramePr>
          <p:cNvPr id="9" name="Object 8" descr="Y super 1 to Y super 2,">
            <a:extLst>
              <a:ext uri="{FF2B5EF4-FFF2-40B4-BE49-F238E27FC236}">
                <a16:creationId xmlns:a16="http://schemas.microsoft.com/office/drawing/2014/main" id="{5F61B8D2-D52E-4564-AD6C-61DA559D1B35}"/>
              </a:ext>
            </a:extLst>
          </p:cNvPr>
          <p:cNvGraphicFramePr>
            <a:graphicFrameLocks noChangeAspect="1"/>
          </p:cNvGraphicFramePr>
          <p:nvPr>
            <p:extLst>
              <p:ext uri="{D42A27DB-BD31-4B8C-83A1-F6EECF244321}">
                <p14:modId xmlns:p14="http://schemas.microsoft.com/office/powerpoint/2010/main" val="885534656"/>
              </p:ext>
            </p:extLst>
          </p:nvPr>
        </p:nvGraphicFramePr>
        <p:xfrm>
          <a:off x="2632913" y="5428063"/>
          <a:ext cx="845185" cy="293370"/>
        </p:xfrm>
        <a:graphic>
          <a:graphicData uri="http://schemas.openxmlformats.org/presentationml/2006/ole">
            <mc:AlternateContent xmlns:mc="http://schemas.openxmlformats.org/markup-compatibility/2006">
              <mc:Choice xmlns:v="urn:schemas-microsoft-com:vml" Requires="v">
                <p:oleObj name="Equation" r:id="rId4" imgW="634680" imgH="215640" progId="Equation.DSMT4">
                  <p:embed/>
                </p:oleObj>
              </mc:Choice>
              <mc:Fallback>
                <p:oleObj name="Equation" r:id="rId4" imgW="634680" imgH="215640" progId="Equation.DSMT4">
                  <p:embed/>
                  <p:pic>
                    <p:nvPicPr>
                      <p:cNvPr id="7" name="Object 6">
                        <a:extLst>
                          <a:ext uri="{FF2B5EF4-FFF2-40B4-BE49-F238E27FC236}">
                            <a16:creationId xmlns:a16="http://schemas.microsoft.com/office/drawing/2014/main" id="{D68C16AA-056F-47FA-B47B-D9C95D8D4689}"/>
                          </a:ext>
                        </a:extLst>
                      </p:cNvPr>
                      <p:cNvPicPr/>
                      <p:nvPr/>
                    </p:nvPicPr>
                    <p:blipFill>
                      <a:blip r:embed="rId5"/>
                      <a:stretch>
                        <a:fillRect/>
                      </a:stretch>
                    </p:blipFill>
                    <p:spPr>
                      <a:xfrm>
                        <a:off x="2632913" y="5428063"/>
                        <a:ext cx="845185" cy="29337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EE824BD8-6F08-4C63-B7CA-63CF1D0F4DE5}"/>
              </a:ext>
            </a:extLst>
          </p:cNvPr>
          <p:cNvSpPr>
            <a:spLocks noGrp="1"/>
          </p:cNvSpPr>
          <p:nvPr>
            <p:ph sz="quarter" idx="16"/>
          </p:nvPr>
        </p:nvSpPr>
        <p:spPr>
          <a:xfrm>
            <a:off x="3589129" y="5417831"/>
            <a:ext cx="4418077" cy="317949"/>
          </a:xfrm>
        </p:spPr>
        <p:txBody>
          <a:bodyPr tIns="0" bIns="0"/>
          <a:lstStyle/>
          <a:p>
            <a:pPr marL="432" indent="0">
              <a:buNone/>
            </a:pPr>
            <a:r>
              <a:rPr lang="en-US" sz="1800" dirty="0"/>
              <a:t>all else equal, causes a rise in the home</a:t>
            </a:r>
          </a:p>
        </p:txBody>
      </p:sp>
      <p:sp>
        <p:nvSpPr>
          <p:cNvPr id="7" name="Content Placeholder 6">
            <a:extLst>
              <a:ext uri="{FF2B5EF4-FFF2-40B4-BE49-F238E27FC236}">
                <a16:creationId xmlns:a16="http://schemas.microsoft.com/office/drawing/2014/main" id="{4C8CB262-86DD-4A95-8B9F-36FF6A61DEAF}"/>
              </a:ext>
            </a:extLst>
          </p:cNvPr>
          <p:cNvSpPr>
            <a:spLocks noGrp="1"/>
          </p:cNvSpPr>
          <p:nvPr>
            <p:ph sz="quarter" idx="17"/>
          </p:nvPr>
        </p:nvSpPr>
        <p:spPr>
          <a:xfrm>
            <a:off x="540703" y="5797552"/>
            <a:ext cx="5776277" cy="412750"/>
          </a:xfrm>
        </p:spPr>
        <p:txBody>
          <a:bodyPr tIns="0" bIns="0"/>
          <a:lstStyle/>
          <a:p>
            <a:pPr marL="0" indent="0">
              <a:buNone/>
            </a:pPr>
            <a:r>
              <a:rPr lang="en-US" sz="1800" dirty="0"/>
              <a:t>interest rate and a domestic currency appreciation from</a:t>
            </a:r>
          </a:p>
        </p:txBody>
      </p:sp>
      <p:graphicFrame>
        <p:nvGraphicFramePr>
          <p:cNvPr id="10" name="Object 9" descr="E super 1 to E super 2.">
            <a:extLst>
              <a:ext uri="{FF2B5EF4-FFF2-40B4-BE49-F238E27FC236}">
                <a16:creationId xmlns:a16="http://schemas.microsoft.com/office/drawing/2014/main" id="{F7AB1F8B-7D7D-4E29-AA1C-89D2BFC79CBE}"/>
              </a:ext>
            </a:extLst>
          </p:cNvPr>
          <p:cNvGraphicFramePr>
            <a:graphicFrameLocks noChangeAspect="1"/>
          </p:cNvGraphicFramePr>
          <p:nvPr>
            <p:extLst>
              <p:ext uri="{D42A27DB-BD31-4B8C-83A1-F6EECF244321}">
                <p14:modId xmlns:p14="http://schemas.microsoft.com/office/powerpoint/2010/main" val="2817316174"/>
              </p:ext>
            </p:extLst>
          </p:nvPr>
        </p:nvGraphicFramePr>
        <p:xfrm>
          <a:off x="6405246" y="5797552"/>
          <a:ext cx="845185" cy="270459"/>
        </p:xfrm>
        <a:graphic>
          <a:graphicData uri="http://schemas.openxmlformats.org/presentationml/2006/ole">
            <mc:AlternateContent xmlns:mc="http://schemas.openxmlformats.org/markup-compatibility/2006">
              <mc:Choice xmlns:v="urn:schemas-microsoft-com:vml" Requires="v">
                <p:oleObj name="Equation" r:id="rId6" imgW="634680" imgH="203040" progId="Equation.DSMT4">
                  <p:embed/>
                </p:oleObj>
              </mc:Choice>
              <mc:Fallback>
                <p:oleObj name="Equation" r:id="rId6" imgW="634680" imgH="203040" progId="Equation.DSMT4">
                  <p:embed/>
                  <p:pic>
                    <p:nvPicPr>
                      <p:cNvPr id="0" name=""/>
                      <p:cNvPicPr/>
                      <p:nvPr/>
                    </p:nvPicPr>
                    <p:blipFill>
                      <a:blip r:embed="rId7"/>
                      <a:stretch>
                        <a:fillRect/>
                      </a:stretch>
                    </p:blipFill>
                    <p:spPr>
                      <a:xfrm>
                        <a:off x="6405246" y="5797552"/>
                        <a:ext cx="845185" cy="270459"/>
                      </a:xfrm>
                      <a:prstGeom prst="rect">
                        <a:avLst/>
                      </a:prstGeom>
                    </p:spPr>
                  </p:pic>
                </p:oleObj>
              </mc:Fallback>
            </mc:AlternateContent>
          </a:graphicData>
        </a:graphic>
      </p:graphicFrame>
    </p:spTree>
    <p:extLst>
      <p:ext uri="{BB962C8B-B14F-4D97-AF65-F5344CB8AC3E}">
        <p14:creationId xmlns:p14="http://schemas.microsoft.com/office/powerpoint/2010/main" val="1604451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E477C-0466-47B5-AF95-FF61CD861A84}"/>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Shifting the </a:t>
            </a:r>
            <a:r>
              <a:rPr lang="en-US" altLang="en-US"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i="1" dirty="0" err="1">
                <a:ea typeface="ヒラギノ角ゴ Pro W3" pitchFamily="-84" charset="-128"/>
                <a:cs typeface="Times New Roman" panose="02020603050405020304" pitchFamily="18" charset="0"/>
              </a:rPr>
              <a:t>A</a:t>
            </a:r>
            <a:r>
              <a:rPr lang="en-US" altLang="en-US" dirty="0">
                <a:ea typeface="ヒラギノ角ゴ Pro W3" pitchFamily="-84" charset="-128"/>
                <a:cs typeface="Times New Roman" panose="02020603050405020304" pitchFamily="18" charset="0"/>
              </a:rPr>
              <a:t> Curve </a:t>
            </a:r>
            <a:r>
              <a:rPr lang="en-US" altLang="en-US" sz="2000" b="0" dirty="0">
                <a:ea typeface="ヒラギノ角ゴ Pro W3" pitchFamily="-84" charset="-128"/>
                <a:cs typeface="Times New Roman" panose="02020603050405020304" pitchFamily="18" charset="0"/>
              </a:rPr>
              <a:t>(1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EFBD941-9403-47E5-927A-BCFCB3441376}"/>
              </a:ext>
            </a:extLst>
          </p:cNvPr>
          <p:cNvSpPr>
            <a:spLocks noGrp="1"/>
          </p:cNvSpPr>
          <p:nvPr>
            <p:ph sz="quarter" idx="13"/>
          </p:nvPr>
        </p:nvSpPr>
        <p:spPr>
          <a:xfrm>
            <a:off x="457199" y="1552576"/>
            <a:ext cx="2256817" cy="470778"/>
          </a:xfrm>
        </p:spPr>
        <p:txBody>
          <a:bodyPr/>
          <a:lstStyle/>
          <a:p>
            <a:pPr marL="432000" indent="-432000">
              <a:buFont typeface="+mj-lt"/>
              <a:buAutoNum type="arabicPeriod"/>
            </a:pPr>
            <a:r>
              <a:rPr lang="en-US" altLang="en-US" b="1" dirty="0">
                <a:latin typeface="Arial (Body)"/>
                <a:ea typeface="ヒラギノ角ゴ Pro W3" pitchFamily="-84" charset="-128"/>
              </a:rPr>
              <a:t>Changes in</a:t>
            </a:r>
            <a:endParaRPr lang="en-IN" dirty="0"/>
          </a:p>
        </p:txBody>
      </p:sp>
      <p:graphicFrame>
        <p:nvGraphicFramePr>
          <p:cNvPr id="7" name="Object 6" descr="M super s,">
            <a:extLst>
              <a:ext uri="{FF2B5EF4-FFF2-40B4-BE49-F238E27FC236}">
                <a16:creationId xmlns:a16="http://schemas.microsoft.com/office/drawing/2014/main" id="{142D7551-388F-4E3B-BFFA-E9EB9E6CB665}"/>
              </a:ext>
            </a:extLst>
          </p:cNvPr>
          <p:cNvGraphicFramePr>
            <a:graphicFrameLocks noChangeAspect="1"/>
          </p:cNvGraphicFramePr>
          <p:nvPr>
            <p:extLst>
              <p:ext uri="{D42A27DB-BD31-4B8C-83A1-F6EECF244321}">
                <p14:modId xmlns:p14="http://schemas.microsoft.com/office/powerpoint/2010/main" val="2988330883"/>
              </p:ext>
            </p:extLst>
          </p:nvPr>
        </p:nvGraphicFramePr>
        <p:xfrm>
          <a:off x="2822908" y="1652826"/>
          <a:ext cx="584994" cy="344011"/>
        </p:xfrm>
        <a:graphic>
          <a:graphicData uri="http://schemas.openxmlformats.org/presentationml/2006/ole">
            <mc:AlternateContent xmlns:mc="http://schemas.openxmlformats.org/markup-compatibility/2006">
              <mc:Choice xmlns:v="urn:schemas-microsoft-com:vml" Requires="v">
                <p:oleObj name="Equation" r:id="rId2" imgW="330120" imgH="190440" progId="Equation.DSMT4">
                  <p:embed/>
                </p:oleObj>
              </mc:Choice>
              <mc:Fallback>
                <p:oleObj name="Equation" r:id="rId2" imgW="330120" imgH="190440" progId="Equation.DSMT4">
                  <p:embed/>
                  <p:pic>
                    <p:nvPicPr>
                      <p:cNvPr id="9" name="Object 8">
                        <a:extLst>
                          <a:ext uri="{FF2B5EF4-FFF2-40B4-BE49-F238E27FC236}">
                            <a16:creationId xmlns:a16="http://schemas.microsoft.com/office/drawing/2014/main" id="{5F61B8D2-D52E-4564-AD6C-61DA559D1B35}"/>
                          </a:ext>
                        </a:extLst>
                      </p:cNvPr>
                      <p:cNvPicPr/>
                      <p:nvPr/>
                    </p:nvPicPr>
                    <p:blipFill>
                      <a:blip r:embed="rId3"/>
                      <a:stretch>
                        <a:fillRect/>
                      </a:stretch>
                    </p:blipFill>
                    <p:spPr>
                      <a:xfrm>
                        <a:off x="2822908" y="1652826"/>
                        <a:ext cx="584994" cy="34401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94C0DD3-698B-4203-8B2C-6BE699419688}"/>
              </a:ext>
            </a:extLst>
          </p:cNvPr>
          <p:cNvSpPr>
            <a:spLocks noGrp="1"/>
          </p:cNvSpPr>
          <p:nvPr>
            <p:ph sz="quarter" idx="14"/>
          </p:nvPr>
        </p:nvSpPr>
        <p:spPr>
          <a:xfrm>
            <a:off x="3499310" y="1586270"/>
            <a:ext cx="4567509" cy="478057"/>
          </a:xfrm>
        </p:spPr>
        <p:txBody>
          <a:bodyPr/>
          <a:lstStyle/>
          <a:p>
            <a:pPr marL="432" indent="0">
              <a:buNone/>
            </a:pPr>
            <a:r>
              <a:rPr lang="en-US" altLang="en-US" dirty="0">
                <a:latin typeface="Arial (Body)"/>
                <a:ea typeface="ヒラギノ角ゴ Pro W3" pitchFamily="-84" charset="-128"/>
              </a:rPr>
              <a:t>an increase in the money supply</a:t>
            </a:r>
            <a:endParaRPr lang="en-IN" dirty="0"/>
          </a:p>
        </p:txBody>
      </p:sp>
      <p:sp>
        <p:nvSpPr>
          <p:cNvPr id="5" name="Content Placeholder 4">
            <a:extLst>
              <a:ext uri="{FF2B5EF4-FFF2-40B4-BE49-F238E27FC236}">
                <a16:creationId xmlns:a16="http://schemas.microsoft.com/office/drawing/2014/main" id="{1D4B713B-86B7-4D16-8DA9-EB87485C7635}"/>
              </a:ext>
            </a:extLst>
          </p:cNvPr>
          <p:cNvSpPr>
            <a:spLocks noGrp="1"/>
          </p:cNvSpPr>
          <p:nvPr>
            <p:ph sz="quarter" idx="15"/>
          </p:nvPr>
        </p:nvSpPr>
        <p:spPr>
          <a:xfrm>
            <a:off x="468312" y="2136323"/>
            <a:ext cx="8218487" cy="1133350"/>
          </a:xfrm>
        </p:spPr>
        <p:txBody>
          <a:bodyPr tIns="0" bIns="0"/>
          <a:lstStyle/>
          <a:p>
            <a:pPr marL="432000" indent="0">
              <a:buNone/>
            </a:pPr>
            <a:r>
              <a:rPr lang="en-US" altLang="en-US" dirty="0">
                <a:latin typeface="Arial (Body)"/>
                <a:ea typeface="ヒラギノ角ゴ Pro W3" pitchFamily="-84" charset="-128"/>
              </a:rPr>
              <a:t>reduces interest rates in the short run, causing the domestic currency to depreciate (a rise in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 for every </a:t>
            </a:r>
            <a:r>
              <a:rPr lang="en-US" altLang="en-US" i="1" dirty="0">
                <a:latin typeface="Arial (Body)"/>
                <a:ea typeface="ヒラギノ角ゴ Pro W3" pitchFamily="-84" charset="-128"/>
              </a:rPr>
              <a:t>Y</a:t>
            </a:r>
            <a:r>
              <a:rPr lang="en-US" altLang="en-US" dirty="0">
                <a:latin typeface="Arial (Body)"/>
                <a:ea typeface="ヒラギノ角ゴ Pro W3" pitchFamily="-84" charset="-128"/>
              </a:rPr>
              <a:t>: 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 shifts up (right).</a:t>
            </a:r>
          </a:p>
        </p:txBody>
      </p:sp>
      <p:sp>
        <p:nvSpPr>
          <p:cNvPr id="6" name="Content Placeholder 5">
            <a:extLst>
              <a:ext uri="{FF2B5EF4-FFF2-40B4-BE49-F238E27FC236}">
                <a16:creationId xmlns:a16="http://schemas.microsoft.com/office/drawing/2014/main" id="{D6BF124F-5094-47E4-8D2B-9D28650DD66B}"/>
              </a:ext>
            </a:extLst>
          </p:cNvPr>
          <p:cNvSpPr>
            <a:spLocks noGrp="1"/>
          </p:cNvSpPr>
          <p:nvPr>
            <p:ph sz="quarter" idx="16"/>
          </p:nvPr>
        </p:nvSpPr>
        <p:spPr>
          <a:xfrm>
            <a:off x="457200" y="3508717"/>
            <a:ext cx="8229600" cy="2077905"/>
          </a:xfrm>
        </p:spPr>
        <p:txBody>
          <a:bodyPr/>
          <a:lstStyle/>
          <a:p>
            <a:pPr marL="432000" indent="-432000">
              <a:buFont typeface="+mj-lt"/>
              <a:buAutoNum type="arabicPeriod" startAt="2"/>
            </a:pPr>
            <a:r>
              <a:rPr lang="en-US" altLang="en-US" b="1" dirty="0">
                <a:latin typeface="Arial (Body)"/>
                <a:ea typeface="ヒラギノ角ゴ Pro W3" pitchFamily="-84" charset="-128"/>
              </a:rPr>
              <a:t>Changes in </a:t>
            </a:r>
            <a:r>
              <a:rPr lang="en-US" altLang="en-US" b="1" i="1" dirty="0">
                <a:latin typeface="Arial (Body)"/>
                <a:ea typeface="ヒラギノ角ゴ Pro W3" pitchFamily="-84" charset="-128"/>
              </a:rPr>
              <a:t>P</a:t>
            </a:r>
            <a:r>
              <a:rPr lang="en-US" altLang="en-US" dirty="0">
                <a:latin typeface="Arial (Body)"/>
                <a:ea typeface="ヒラギノ角ゴ Pro W3" pitchFamily="-84" charset="-128"/>
              </a:rPr>
              <a:t>: An increase in the level of average domestic prices decreases the supply of real monetary assets, increasing interest rates, causing the domestic currency to appreciate (a fall in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 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 shifts down (left).</a:t>
            </a:r>
          </a:p>
        </p:txBody>
      </p:sp>
    </p:spTree>
    <p:extLst>
      <p:ext uri="{BB962C8B-B14F-4D97-AF65-F5344CB8AC3E}">
        <p14:creationId xmlns:p14="http://schemas.microsoft.com/office/powerpoint/2010/main" val="2624845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E477C-0466-47B5-AF95-FF61CD861A84}"/>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Shifting the </a:t>
            </a:r>
            <a:r>
              <a:rPr lang="en-US" altLang="en-US"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i="1" dirty="0" err="1">
                <a:ea typeface="ヒラギノ角ゴ Pro W3" pitchFamily="-84" charset="-128"/>
                <a:cs typeface="Times New Roman" panose="02020603050405020304" pitchFamily="18" charset="0"/>
              </a:rPr>
              <a:t>A</a:t>
            </a:r>
            <a:r>
              <a:rPr lang="en-US" altLang="en-US" dirty="0">
                <a:ea typeface="ヒラギノ角ゴ Pro W3" pitchFamily="-84" charset="-128"/>
                <a:cs typeface="Times New Roman" panose="02020603050405020304" pitchFamily="18" charset="0"/>
              </a:rPr>
              <a:t> Curve </a:t>
            </a:r>
            <a:r>
              <a:rPr lang="en-US" altLang="en-US" sz="2000" b="0" dirty="0">
                <a:ea typeface="ヒラギノ角ゴ Pro W3" pitchFamily="-84" charset="-128"/>
                <a:cs typeface="Times New Roman" panose="02020603050405020304" pitchFamily="18" charset="0"/>
              </a:rPr>
              <a:t>(2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EFBD941-9403-47E5-927A-BCFCB3441376}"/>
              </a:ext>
            </a:extLst>
          </p:cNvPr>
          <p:cNvSpPr>
            <a:spLocks noGrp="1"/>
          </p:cNvSpPr>
          <p:nvPr>
            <p:ph sz="quarter" idx="13"/>
          </p:nvPr>
        </p:nvSpPr>
        <p:spPr>
          <a:xfrm>
            <a:off x="457199" y="1552576"/>
            <a:ext cx="2343936" cy="470778"/>
          </a:xfrm>
        </p:spPr>
        <p:txBody>
          <a:bodyPr/>
          <a:lstStyle/>
          <a:p>
            <a:pPr marL="432000" indent="-432000">
              <a:buFont typeface="+mj-lt"/>
              <a:buAutoNum type="arabicPeriod" startAt="3"/>
            </a:pPr>
            <a:r>
              <a:rPr lang="en-US" altLang="en-US" b="1" dirty="0">
                <a:latin typeface="Arial (Body)"/>
                <a:ea typeface="ヒラギノ角ゴ Pro W3" pitchFamily="-84" charset="-128"/>
              </a:rPr>
              <a:t>Changes in</a:t>
            </a:r>
            <a:endParaRPr lang="en-IN" dirty="0"/>
          </a:p>
        </p:txBody>
      </p:sp>
      <p:graphicFrame>
        <p:nvGraphicFramePr>
          <p:cNvPr id="7" name="Object 6" descr="E super lower e,">
            <a:extLst>
              <a:ext uri="{FF2B5EF4-FFF2-40B4-BE49-F238E27FC236}">
                <a16:creationId xmlns:a16="http://schemas.microsoft.com/office/drawing/2014/main" id="{142D7551-388F-4E3B-BFFA-E9EB9E6CB665}"/>
              </a:ext>
            </a:extLst>
          </p:cNvPr>
          <p:cNvGraphicFramePr>
            <a:graphicFrameLocks noChangeAspect="1"/>
          </p:cNvGraphicFramePr>
          <p:nvPr>
            <p:extLst>
              <p:ext uri="{D42A27DB-BD31-4B8C-83A1-F6EECF244321}">
                <p14:modId xmlns:p14="http://schemas.microsoft.com/office/powerpoint/2010/main" val="2195000662"/>
              </p:ext>
            </p:extLst>
          </p:nvPr>
        </p:nvGraphicFramePr>
        <p:xfrm>
          <a:off x="2890586" y="1628196"/>
          <a:ext cx="570501" cy="378412"/>
        </p:xfrm>
        <a:graphic>
          <a:graphicData uri="http://schemas.openxmlformats.org/presentationml/2006/ole">
            <mc:AlternateContent xmlns:mc="http://schemas.openxmlformats.org/markup-compatibility/2006">
              <mc:Choice xmlns:v="urn:schemas-microsoft-com:vml" Requires="v">
                <p:oleObj name="Equation" r:id="rId2" imgW="291960" imgH="190440" progId="Equation.DSMT4">
                  <p:embed/>
                </p:oleObj>
              </mc:Choice>
              <mc:Fallback>
                <p:oleObj name="Equation" r:id="rId2" imgW="291960" imgH="190440" progId="Equation.DSMT4">
                  <p:embed/>
                  <p:pic>
                    <p:nvPicPr>
                      <p:cNvPr id="7" name="Object 6">
                        <a:extLst>
                          <a:ext uri="{FF2B5EF4-FFF2-40B4-BE49-F238E27FC236}">
                            <a16:creationId xmlns:a16="http://schemas.microsoft.com/office/drawing/2014/main" id="{142D7551-388F-4E3B-BFFA-E9EB9E6CB665}"/>
                          </a:ext>
                        </a:extLst>
                      </p:cNvPr>
                      <p:cNvPicPr/>
                      <p:nvPr/>
                    </p:nvPicPr>
                    <p:blipFill>
                      <a:blip r:embed="rId3"/>
                      <a:stretch>
                        <a:fillRect/>
                      </a:stretch>
                    </p:blipFill>
                    <p:spPr>
                      <a:xfrm>
                        <a:off x="2890586" y="1628196"/>
                        <a:ext cx="570501" cy="378412"/>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94C0DD3-698B-4203-8B2C-6BE699419688}"/>
              </a:ext>
            </a:extLst>
          </p:cNvPr>
          <p:cNvSpPr>
            <a:spLocks noGrp="1"/>
          </p:cNvSpPr>
          <p:nvPr>
            <p:ph sz="quarter" idx="14"/>
          </p:nvPr>
        </p:nvSpPr>
        <p:spPr>
          <a:xfrm>
            <a:off x="3582524" y="1572414"/>
            <a:ext cx="4567509" cy="491911"/>
          </a:xfrm>
        </p:spPr>
        <p:txBody>
          <a:bodyPr/>
          <a:lstStyle/>
          <a:p>
            <a:pPr marL="432" indent="0">
              <a:buNone/>
            </a:pPr>
            <a:r>
              <a:rPr lang="en-US" altLang="en-US" dirty="0">
                <a:latin typeface="Arial (Body)"/>
                <a:ea typeface="ヒラギノ角ゴ Pro W3" pitchFamily="-84" charset="-128"/>
              </a:rPr>
              <a:t>if market participants expect the</a:t>
            </a:r>
            <a:endParaRPr lang="en-IN" dirty="0"/>
          </a:p>
        </p:txBody>
      </p:sp>
      <p:sp>
        <p:nvSpPr>
          <p:cNvPr id="5" name="Content Placeholder 4">
            <a:extLst>
              <a:ext uri="{FF2B5EF4-FFF2-40B4-BE49-F238E27FC236}">
                <a16:creationId xmlns:a16="http://schemas.microsoft.com/office/drawing/2014/main" id="{1D4B713B-86B7-4D16-8DA9-EB87485C7635}"/>
              </a:ext>
            </a:extLst>
          </p:cNvPr>
          <p:cNvSpPr>
            <a:spLocks noGrp="1"/>
          </p:cNvSpPr>
          <p:nvPr>
            <p:ph sz="quarter" idx="15"/>
          </p:nvPr>
        </p:nvSpPr>
        <p:spPr>
          <a:xfrm>
            <a:off x="468312" y="2122467"/>
            <a:ext cx="8218487" cy="1638009"/>
          </a:xfrm>
        </p:spPr>
        <p:txBody>
          <a:bodyPr tIns="0" bIns="0"/>
          <a:lstStyle/>
          <a:p>
            <a:pPr marL="432000" indent="0">
              <a:spcBef>
                <a:spcPts val="600"/>
              </a:spcBef>
              <a:buNone/>
            </a:pPr>
            <a:r>
              <a:rPr lang="en-US" altLang="en-US" dirty="0">
                <a:latin typeface="Arial (Body)"/>
                <a:ea typeface="ヒラギノ角ゴ Pro W3" pitchFamily="-84" charset="-128"/>
              </a:rPr>
              <a:t>domestic currency to depreciate in the future, foreign currency deposits become more attractive, causing the domestic currency to depreciate (a rise in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 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 shifts up (right).</a:t>
            </a:r>
          </a:p>
        </p:txBody>
      </p:sp>
      <p:sp>
        <p:nvSpPr>
          <p:cNvPr id="6" name="Content Placeholder 5">
            <a:extLst>
              <a:ext uri="{FF2B5EF4-FFF2-40B4-BE49-F238E27FC236}">
                <a16:creationId xmlns:a16="http://schemas.microsoft.com/office/drawing/2014/main" id="{D6BF124F-5094-47E4-8D2B-9D28650DD66B}"/>
              </a:ext>
            </a:extLst>
          </p:cNvPr>
          <p:cNvSpPr>
            <a:spLocks noGrp="1"/>
          </p:cNvSpPr>
          <p:nvPr>
            <p:ph sz="quarter" idx="16"/>
          </p:nvPr>
        </p:nvSpPr>
        <p:spPr>
          <a:xfrm>
            <a:off x="457200" y="3889186"/>
            <a:ext cx="8229600" cy="1717277"/>
          </a:xfrm>
        </p:spPr>
        <p:txBody>
          <a:bodyPr/>
          <a:lstStyle/>
          <a:p>
            <a:pPr marL="432000" indent="-432000">
              <a:buFont typeface="+mj-lt"/>
              <a:buAutoNum type="arabicPeriod" startAt="4"/>
            </a:pPr>
            <a:r>
              <a:rPr lang="en-US" altLang="en-US" b="1" dirty="0">
                <a:latin typeface="Arial (Body)"/>
                <a:ea typeface="ヒラギノ角ゴ Pro W3" pitchFamily="-84" charset="-128"/>
              </a:rPr>
              <a:t>Changes in </a:t>
            </a:r>
            <a:r>
              <a:rPr lang="en-US" altLang="en-US" b="1" i="1" dirty="0">
                <a:latin typeface="Arial (Body)"/>
                <a:ea typeface="ヒラギノ角ゴ Pro W3" pitchFamily="-84" charset="-128"/>
              </a:rPr>
              <a:t>R * </a:t>
            </a:r>
            <a:r>
              <a:rPr lang="en-US" altLang="en-US" dirty="0">
                <a:latin typeface="Arial (Body)"/>
                <a:ea typeface="ヒラギノ角ゴ Pro W3" pitchFamily="-84" charset="-128"/>
              </a:rPr>
              <a:t>: An increase in the foreign interest rates makes foreign currency deposits more attractive, leading to a depreciation of the domestic currency (a rise in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 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 shifts up (right).</a:t>
            </a:r>
            <a:endParaRPr lang="en-IN" dirty="0"/>
          </a:p>
        </p:txBody>
      </p:sp>
    </p:spTree>
    <p:extLst>
      <p:ext uri="{BB962C8B-B14F-4D97-AF65-F5344CB8AC3E}">
        <p14:creationId xmlns:p14="http://schemas.microsoft.com/office/powerpoint/2010/main" val="267200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E477C-0466-47B5-AF95-FF61CD861A84}"/>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Shifting the </a:t>
            </a:r>
            <a:r>
              <a:rPr lang="en-US" altLang="en-US"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i="1" dirty="0" err="1">
                <a:ea typeface="ヒラギノ角ゴ Pro W3" pitchFamily="-84" charset="-128"/>
                <a:cs typeface="Times New Roman" panose="02020603050405020304" pitchFamily="18" charset="0"/>
              </a:rPr>
              <a:t>A</a:t>
            </a:r>
            <a:r>
              <a:rPr lang="en-US" altLang="en-US" dirty="0">
                <a:ea typeface="ヒラギノ角ゴ Pro W3" pitchFamily="-84" charset="-128"/>
                <a:cs typeface="Times New Roman" panose="02020603050405020304" pitchFamily="18" charset="0"/>
              </a:rPr>
              <a:t> Curve </a:t>
            </a:r>
            <a:r>
              <a:rPr lang="en-US" altLang="en-US" sz="2000" b="0" dirty="0">
                <a:ea typeface="ヒラギノ角ゴ Pro W3" pitchFamily="-84" charset="-128"/>
                <a:cs typeface="Times New Roman" panose="02020603050405020304" pitchFamily="18" charset="0"/>
              </a:rPr>
              <a:t>(3 of 3)</a:t>
            </a:r>
            <a:endParaRPr lang="en-IN" sz="2000" dirty="0">
              <a:cs typeface="Times New Roman" panose="02020603050405020304" pitchFamily="18" charset="0"/>
            </a:endParaRPr>
          </a:p>
        </p:txBody>
      </p:sp>
      <p:sp>
        <p:nvSpPr>
          <p:cNvPr id="16" name="Content Placeholder 15">
            <a:extLst>
              <a:ext uri="{FF2B5EF4-FFF2-40B4-BE49-F238E27FC236}">
                <a16:creationId xmlns:a16="http://schemas.microsoft.com/office/drawing/2014/main" id="{7F87417E-358F-4E7A-94F6-1714F2647350}"/>
              </a:ext>
            </a:extLst>
          </p:cNvPr>
          <p:cNvSpPr>
            <a:spLocks noGrp="1"/>
          </p:cNvSpPr>
          <p:nvPr>
            <p:ph sz="quarter" idx="13"/>
          </p:nvPr>
        </p:nvSpPr>
        <p:spPr/>
        <p:txBody>
          <a:bodyPr/>
          <a:lstStyle/>
          <a:p>
            <a:pPr marL="432000" indent="-432000">
              <a:buFont typeface="+mj-lt"/>
              <a:buAutoNum type="arabicPeriod" startAt="5"/>
            </a:pPr>
            <a:r>
              <a:rPr lang="en-US" altLang="en-US" b="1" dirty="0">
                <a:latin typeface="Arial (Body)"/>
                <a:ea typeface="ヒラギノ角ゴ Pro W3" pitchFamily="-84" charset="-128"/>
              </a:rPr>
              <a:t>Changes in the demand of real monetary assets</a:t>
            </a:r>
            <a:r>
              <a:rPr lang="en-US" altLang="en-US" dirty="0">
                <a:latin typeface="Arial (Body)"/>
                <a:ea typeface="ヒラギノ角ゴ Pro W3" pitchFamily="-84" charset="-128"/>
              </a:rPr>
              <a:t>: if domestic residents are willing to hold a lower amount of real money assets and more non-monetary assets, interest rates on nonmonetary assets would fall, leading to a depreciation of the domestic currency (a rise in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 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 shifts </a:t>
            </a:r>
            <a:br>
              <a:rPr lang="en-US" altLang="en-US" dirty="0">
                <a:latin typeface="Arial (Body)"/>
                <a:ea typeface="ヒラギノ角ゴ Pro W3" pitchFamily="-84" charset="-128"/>
              </a:rPr>
            </a:br>
            <a:r>
              <a:rPr lang="en-US" altLang="en-US" dirty="0">
                <a:latin typeface="Arial (Body)"/>
                <a:ea typeface="ヒラギノ角ゴ Pro W3" pitchFamily="-84" charset="-128"/>
              </a:rPr>
              <a:t>up (right).</a:t>
            </a:r>
            <a:endParaRPr lang="en-IN" dirty="0"/>
          </a:p>
        </p:txBody>
      </p:sp>
    </p:spTree>
    <p:extLst>
      <p:ext uri="{BB962C8B-B14F-4D97-AF65-F5344CB8AC3E}">
        <p14:creationId xmlns:p14="http://schemas.microsoft.com/office/powerpoint/2010/main" val="3724466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2E6C-CB1E-4E1F-9015-91F948A7BF8F}"/>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Putting the Pieces Together: the </a:t>
            </a:r>
            <a:r>
              <a:rPr lang="en-US" altLang="en-US" sz="3200"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D</a:t>
            </a:r>
            <a:r>
              <a:rPr lang="en-US" altLang="en-US" sz="3200" dirty="0">
                <a:ea typeface="ヒラギノ角ゴ Pro W3" pitchFamily="-84" charset="-128"/>
                <a:cs typeface="Times New Roman" panose="02020603050405020304" pitchFamily="18" charset="0"/>
              </a:rPr>
              <a:t> and </a:t>
            </a:r>
            <a:r>
              <a:rPr lang="en-US" altLang="en-US" sz="3200"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A</a:t>
            </a:r>
            <a:r>
              <a:rPr lang="en-US" altLang="en-US" sz="3200" dirty="0">
                <a:ea typeface="ヒラギノ角ゴ Pro W3" pitchFamily="-84" charset="-128"/>
                <a:cs typeface="Times New Roman" panose="02020603050405020304" pitchFamily="18" charset="0"/>
              </a:rPr>
              <a:t> Curves </a:t>
            </a:r>
            <a:r>
              <a:rPr lang="en-US" altLang="en-US" sz="2000" b="0" dirty="0">
                <a:ea typeface="ヒラギノ角ゴ Pro W3" pitchFamily="-84" charset="-128"/>
                <a:cs typeface="Times New Roman" panose="02020603050405020304" pitchFamily="18" charset="0"/>
              </a:rPr>
              <a:t>(1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495C462-1226-4CAE-91E1-87670D1D3067}"/>
              </a:ext>
            </a:extLst>
          </p:cNvPr>
          <p:cNvSpPr>
            <a:spLocks noGrp="1"/>
          </p:cNvSpPr>
          <p:nvPr>
            <p:ph sz="quarter" idx="13"/>
          </p:nvPr>
        </p:nvSpPr>
        <p:spPr>
          <a:xfrm>
            <a:off x="457200" y="1556327"/>
            <a:ext cx="8229600" cy="895928"/>
          </a:xfrm>
        </p:spPr>
        <p:txBody>
          <a:bodyPr/>
          <a:lstStyle/>
          <a:p>
            <a:r>
              <a:rPr lang="en-US" altLang="en-US" sz="2400" dirty="0">
                <a:latin typeface="Arial (Body)"/>
                <a:ea typeface="ヒラギノ角ゴ Pro W3" pitchFamily="-84" charset="-128"/>
              </a:rPr>
              <a:t>A short-run equilibrium means a </a:t>
            </a:r>
            <a:r>
              <a:rPr lang="en-US" altLang="en-US" sz="2400" b="1" dirty="0">
                <a:latin typeface="Arial (Body)"/>
                <a:ea typeface="ヒラギノ角ゴ Pro W3" pitchFamily="-84" charset="-128"/>
              </a:rPr>
              <a:t>nominal exchange rate</a:t>
            </a:r>
            <a:r>
              <a:rPr lang="en-US" altLang="en-US" sz="2400" dirty="0">
                <a:latin typeface="Arial (Body)"/>
                <a:ea typeface="ヒラギノ角ゴ Pro W3" pitchFamily="-84" charset="-128"/>
              </a:rPr>
              <a:t> and level of </a:t>
            </a:r>
            <a:r>
              <a:rPr lang="en-US" altLang="en-US" sz="2400" b="1" dirty="0">
                <a:latin typeface="Arial (Body)"/>
                <a:ea typeface="ヒラギノ角ゴ Pro W3" pitchFamily="-84" charset="-128"/>
              </a:rPr>
              <a:t>output</a:t>
            </a:r>
            <a:r>
              <a:rPr lang="en-US" altLang="en-US" sz="2400" dirty="0">
                <a:latin typeface="Arial (Body)"/>
                <a:ea typeface="ヒラギノ角ゴ Pro W3" pitchFamily="-84" charset="-128"/>
              </a:rPr>
              <a:t> such that</a:t>
            </a:r>
            <a:endParaRPr lang="en-IN" dirty="0"/>
          </a:p>
        </p:txBody>
      </p:sp>
      <p:sp>
        <p:nvSpPr>
          <p:cNvPr id="4" name="Content Placeholder 3">
            <a:extLst>
              <a:ext uri="{FF2B5EF4-FFF2-40B4-BE49-F238E27FC236}">
                <a16:creationId xmlns:a16="http://schemas.microsoft.com/office/drawing/2014/main" id="{7B2B7243-13BC-4F1C-BF5F-C3E0D13CCD8A}"/>
              </a:ext>
            </a:extLst>
          </p:cNvPr>
          <p:cNvSpPr>
            <a:spLocks noGrp="1"/>
          </p:cNvSpPr>
          <p:nvPr>
            <p:ph sz="quarter" idx="14"/>
          </p:nvPr>
        </p:nvSpPr>
        <p:spPr>
          <a:xfrm>
            <a:off x="457200" y="2546374"/>
            <a:ext cx="8229600" cy="3012536"/>
          </a:xfrm>
        </p:spPr>
        <p:txBody>
          <a:bodyPr/>
          <a:lstStyle/>
          <a:p>
            <a:pPr marL="432000" indent="-432000" eaLnBrk="1" hangingPunct="1">
              <a:spcBef>
                <a:spcPts val="600"/>
              </a:spcBef>
              <a:buFont typeface="+mj-lt"/>
              <a:buAutoNum type="arabicPeriod"/>
            </a:pPr>
            <a:r>
              <a:rPr lang="en-US" altLang="en-US" sz="2400" dirty="0">
                <a:latin typeface="Arial (Body)"/>
                <a:ea typeface="ヒラギノ角ゴ Pro W3" pitchFamily="-84" charset="-128"/>
              </a:rPr>
              <a:t>equilibrium in the output markets holds: aggregate demand equals aggregate output.</a:t>
            </a:r>
          </a:p>
          <a:p>
            <a:pPr marL="432000" indent="-432000" eaLnBrk="1" hangingPunct="1">
              <a:spcBef>
                <a:spcPts val="600"/>
              </a:spcBef>
              <a:buFont typeface="+mj-lt"/>
              <a:buAutoNum type="arabicPeriod"/>
            </a:pPr>
            <a:r>
              <a:rPr lang="en-US" altLang="en-US" sz="2400" dirty="0">
                <a:latin typeface="Arial (Body)"/>
                <a:ea typeface="ヒラギノ角ゴ Pro W3" pitchFamily="-84" charset="-128"/>
              </a:rPr>
              <a:t>equilibrium in the foreign exchange markets holds: interest parity holds.</a:t>
            </a:r>
          </a:p>
          <a:p>
            <a:pPr marL="432000" indent="-432000" eaLnBrk="1" hangingPunct="1">
              <a:spcBef>
                <a:spcPts val="600"/>
              </a:spcBef>
              <a:buFont typeface="+mj-lt"/>
              <a:buAutoNum type="arabicPeriod"/>
            </a:pPr>
            <a:r>
              <a:rPr lang="en-US" altLang="en-US" sz="2400" dirty="0">
                <a:latin typeface="Arial (Body)"/>
                <a:ea typeface="ヒラギノ角ゴ Pro W3" pitchFamily="-84" charset="-128"/>
              </a:rPr>
              <a:t>equilibrium in the money market holds: the quantity of real monetary assets supplied equals the quantity of real monetary assets demanded.</a:t>
            </a:r>
            <a:endParaRPr lang="en-IN" dirty="0"/>
          </a:p>
        </p:txBody>
      </p:sp>
    </p:spTree>
    <p:extLst>
      <p:ext uri="{BB962C8B-B14F-4D97-AF65-F5344CB8AC3E}">
        <p14:creationId xmlns:p14="http://schemas.microsoft.com/office/powerpoint/2010/main" val="3960580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2E6C-CB1E-4E1F-9015-91F948A7BF8F}"/>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Putting the Pieces Together: the </a:t>
            </a:r>
            <a:r>
              <a:rPr lang="en-US" altLang="en-US" sz="3200"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D</a:t>
            </a:r>
            <a:r>
              <a:rPr lang="en-US" altLang="en-US" sz="3200" dirty="0">
                <a:ea typeface="ヒラギノ角ゴ Pro W3" pitchFamily="-84" charset="-128"/>
                <a:cs typeface="Times New Roman" panose="02020603050405020304" pitchFamily="18" charset="0"/>
              </a:rPr>
              <a:t> and </a:t>
            </a:r>
            <a:r>
              <a:rPr lang="en-US" altLang="en-US" sz="3200"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A</a:t>
            </a:r>
            <a:r>
              <a:rPr lang="en-US" altLang="en-US" sz="3200" dirty="0">
                <a:ea typeface="ヒラギノ角ゴ Pro W3" pitchFamily="-84" charset="-128"/>
                <a:cs typeface="Times New Roman" panose="02020603050405020304" pitchFamily="18" charset="0"/>
              </a:rPr>
              <a:t> Curves </a:t>
            </a:r>
            <a:r>
              <a:rPr lang="en-US" altLang="en-US" sz="2000" b="0" dirty="0">
                <a:ea typeface="ヒラギノ角ゴ Pro W3" pitchFamily="-84" charset="-128"/>
                <a:cs typeface="Times New Roman" panose="02020603050405020304" pitchFamily="18" charset="0"/>
              </a:rPr>
              <a:t>(2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495C462-1226-4CAE-91E1-87670D1D3067}"/>
              </a:ext>
            </a:extLst>
          </p:cNvPr>
          <p:cNvSpPr>
            <a:spLocks noGrp="1"/>
          </p:cNvSpPr>
          <p:nvPr>
            <p:ph sz="quarter" idx="13"/>
          </p:nvPr>
        </p:nvSpPr>
        <p:spPr>
          <a:xfrm>
            <a:off x="457200" y="1556326"/>
            <a:ext cx="8229600" cy="1872673"/>
          </a:xfrm>
        </p:spPr>
        <p:txBody>
          <a:bodyPr/>
          <a:lstStyle/>
          <a:p>
            <a:pPr eaLnBrk="1" hangingPunct="1"/>
            <a:r>
              <a:rPr lang="en-US" altLang="en-US" dirty="0">
                <a:latin typeface="Arial (Body)"/>
                <a:ea typeface="ヒラギノ角ゴ Pro W3" pitchFamily="-84" charset="-128"/>
              </a:rPr>
              <a:t>A short-run equilibrium occurs at the intersection of 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dirty="0">
                <a:latin typeface="Arial (Body)"/>
                <a:ea typeface="ヒラギノ角ゴ Pro W3" pitchFamily="-84" charset="-128"/>
              </a:rPr>
              <a:t> and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curves:</a:t>
            </a:r>
          </a:p>
          <a:p>
            <a:pPr lvl="1" eaLnBrk="1" hangingPunct="1"/>
            <a:r>
              <a:rPr lang="en-US" altLang="en-US" dirty="0">
                <a:latin typeface="Arial (Body)"/>
                <a:ea typeface="MS PGothic" pitchFamily="34" charset="-128"/>
              </a:rPr>
              <a:t>output markets are in equilibrium on the </a:t>
            </a:r>
            <a:r>
              <a:rPr lang="en-US" altLang="en-US" i="1" dirty="0">
                <a:latin typeface="Arial (Body)"/>
                <a:ea typeface="MS PGothic" pitchFamily="34" charset="-128"/>
              </a:rPr>
              <a:t>D</a:t>
            </a:r>
            <a:r>
              <a:rPr lang="en-US" altLang="en-US" sz="100" i="1" dirty="0">
                <a:latin typeface="Arial (Body)"/>
                <a:ea typeface="MS PGothic" pitchFamily="34" charset="-128"/>
              </a:rPr>
              <a:t> </a:t>
            </a:r>
            <a:r>
              <a:rPr lang="en-US" altLang="en-US" i="1" dirty="0" err="1">
                <a:latin typeface="Arial (Body)"/>
                <a:ea typeface="MS PGothic" pitchFamily="34" charset="-128"/>
              </a:rPr>
              <a:t>D</a:t>
            </a:r>
            <a:r>
              <a:rPr lang="en-US" altLang="en-US" dirty="0">
                <a:latin typeface="Arial (Body)"/>
                <a:ea typeface="MS PGothic" pitchFamily="34" charset="-128"/>
              </a:rPr>
              <a:t> curve</a:t>
            </a:r>
          </a:p>
          <a:p>
            <a:pPr lvl="1" eaLnBrk="1" hangingPunct="1"/>
            <a:r>
              <a:rPr lang="en-US" altLang="en-US" dirty="0">
                <a:latin typeface="Arial (Body)"/>
                <a:ea typeface="MS PGothic" pitchFamily="34" charset="-128"/>
              </a:rPr>
              <a:t>asset markets are in equilibrium on the </a:t>
            </a:r>
            <a:r>
              <a:rPr lang="en-US" altLang="en-US" i="1" dirty="0">
                <a:latin typeface="Arial (Body)"/>
                <a:ea typeface="MS PGothic" pitchFamily="34" charset="-128"/>
              </a:rPr>
              <a:t>A</a:t>
            </a:r>
            <a:r>
              <a:rPr lang="en-US" altLang="en-US" sz="100" i="1" dirty="0">
                <a:latin typeface="Arial (Body)"/>
                <a:ea typeface="MS PGothic" pitchFamily="34" charset="-128"/>
              </a:rPr>
              <a:t> </a:t>
            </a:r>
            <a:r>
              <a:rPr lang="en-US" altLang="en-US" i="1" dirty="0" err="1">
                <a:latin typeface="Arial (Body)"/>
                <a:ea typeface="MS PGothic" pitchFamily="34" charset="-128"/>
              </a:rPr>
              <a:t>A</a:t>
            </a:r>
            <a:r>
              <a:rPr lang="en-US" altLang="en-US" dirty="0">
                <a:latin typeface="Arial (Body)"/>
                <a:ea typeface="MS PGothic" pitchFamily="34" charset="-128"/>
              </a:rPr>
              <a:t> curve</a:t>
            </a:r>
          </a:p>
        </p:txBody>
      </p:sp>
    </p:spTree>
    <p:extLst>
      <p:ext uri="{BB962C8B-B14F-4D97-AF65-F5344CB8AC3E}">
        <p14:creationId xmlns:p14="http://schemas.microsoft.com/office/powerpoint/2010/main" val="273440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EBA7-F5C1-4838-8B04-60E4CC8168A6}"/>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17.8 Short-Run Equilibrium: The Intersection of </a:t>
            </a:r>
            <a:r>
              <a:rPr lang="en-US" altLang="en-US" sz="3200" i="1" dirty="0">
                <a:ea typeface="ヒラギノ角ゴ Pro W3" pitchFamily="-84" charset="-128"/>
                <a:cs typeface="Times New Roman" panose="02020603050405020304" pitchFamily="18" charset="0"/>
              </a:rPr>
              <a:t>D</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D</a:t>
            </a:r>
            <a:r>
              <a:rPr lang="en-US" altLang="en-US" sz="3200" dirty="0">
                <a:ea typeface="ヒラギノ角ゴ Pro W3" pitchFamily="-84" charset="-128"/>
                <a:cs typeface="Times New Roman" panose="02020603050405020304" pitchFamily="18" charset="0"/>
              </a:rPr>
              <a:t> and </a:t>
            </a:r>
            <a:r>
              <a:rPr lang="en-US" altLang="en-US" sz="3200" i="1" dirty="0">
                <a:ea typeface="ヒラギノ角ゴ Pro W3" pitchFamily="-84" charset="-128"/>
                <a:cs typeface="Times New Roman" panose="02020603050405020304" pitchFamily="18" charset="0"/>
              </a:rPr>
              <a:t>A</a:t>
            </a:r>
            <a:r>
              <a:rPr lang="en-US" altLang="en-US" sz="100" i="1" dirty="0">
                <a:ea typeface="ヒラギノ角ゴ Pro W3" pitchFamily="-84" charset="-128"/>
                <a:cs typeface="Times New Roman" panose="02020603050405020304" pitchFamily="18" charset="0"/>
              </a:rPr>
              <a:t> </a:t>
            </a:r>
            <a:r>
              <a:rPr lang="en-US" altLang="en-US" sz="3200" i="1" dirty="0" err="1">
                <a:ea typeface="ヒラギノ角ゴ Pro W3" pitchFamily="-84" charset="-128"/>
                <a:cs typeface="Times New Roman" panose="02020603050405020304" pitchFamily="18" charset="0"/>
              </a:rPr>
              <a:t>A</a:t>
            </a:r>
            <a:endParaRPr lang="en-IN" sz="3200" dirty="0">
              <a:cs typeface="Times New Roman" panose="02020603050405020304" pitchFamily="18" charset="0"/>
            </a:endParaRPr>
          </a:p>
        </p:txBody>
      </p:sp>
      <p:pic>
        <p:nvPicPr>
          <p:cNvPr id="6" name="Content Placeholder 5" descr="A graph plots exchange rate E versus output Y. The falling Ay Ay curve intersects the rising D D curve at point 1, which has coordinates (Y super 1, E super 1).">
            <a:extLst>
              <a:ext uri="{FF2B5EF4-FFF2-40B4-BE49-F238E27FC236}">
                <a16:creationId xmlns:a16="http://schemas.microsoft.com/office/drawing/2014/main" id="{95D6FAE4-2626-4B8D-A3FC-AF3FE3FBE17C}"/>
              </a:ext>
            </a:extLst>
          </p:cNvPr>
          <p:cNvPicPr>
            <a:picLocks noGrp="1" noChangeAspect="1"/>
          </p:cNvPicPr>
          <p:nvPr>
            <p:ph sz="quarter" idx="13"/>
          </p:nvPr>
        </p:nvPicPr>
        <p:blipFill>
          <a:blip r:embed="rId2"/>
          <a:stretch>
            <a:fillRect/>
          </a:stretch>
        </p:blipFill>
        <p:spPr>
          <a:xfrm>
            <a:off x="2704412" y="1441734"/>
            <a:ext cx="3735175" cy="3321366"/>
          </a:xfrm>
        </p:spPr>
      </p:pic>
      <p:sp>
        <p:nvSpPr>
          <p:cNvPr id="4" name="Content Placeholder 3">
            <a:extLst>
              <a:ext uri="{FF2B5EF4-FFF2-40B4-BE49-F238E27FC236}">
                <a16:creationId xmlns:a16="http://schemas.microsoft.com/office/drawing/2014/main" id="{943E89F8-D885-4D62-A904-EC5574E80D0E}"/>
              </a:ext>
            </a:extLst>
          </p:cNvPr>
          <p:cNvSpPr>
            <a:spLocks noGrp="1"/>
          </p:cNvSpPr>
          <p:nvPr>
            <p:ph sz="quarter" idx="14"/>
          </p:nvPr>
        </p:nvSpPr>
        <p:spPr>
          <a:xfrm>
            <a:off x="457200" y="5000313"/>
            <a:ext cx="8229600" cy="1242303"/>
          </a:xfrm>
        </p:spPr>
        <p:txBody>
          <a:bodyPr/>
          <a:lstStyle/>
          <a:p>
            <a:pPr marL="432" indent="0">
              <a:buNone/>
            </a:pPr>
            <a:r>
              <a:rPr lang="en-US" sz="1800" dirty="0">
                <a:latin typeface="Arial (Body)"/>
              </a:rPr>
              <a:t>The short-run equilibrium of the economy occurs at point 1, where the output market (whose equilibrium points are summarized by the </a:t>
            </a:r>
            <a:r>
              <a:rPr lang="en-US" sz="1800" i="1" dirty="0">
                <a:latin typeface="Arial (Body)"/>
              </a:rPr>
              <a:t>D</a:t>
            </a:r>
            <a:r>
              <a:rPr lang="en-US" sz="100" i="1" dirty="0">
                <a:latin typeface="Arial (Body)"/>
              </a:rPr>
              <a:t> </a:t>
            </a:r>
            <a:r>
              <a:rPr lang="en-US" sz="1800" i="1" dirty="0" err="1">
                <a:latin typeface="Arial (Body)"/>
              </a:rPr>
              <a:t>D</a:t>
            </a:r>
            <a:r>
              <a:rPr lang="en-US" sz="1800" i="1" dirty="0">
                <a:latin typeface="Arial (Body)"/>
              </a:rPr>
              <a:t> </a:t>
            </a:r>
            <a:r>
              <a:rPr lang="en-US" sz="1800" dirty="0">
                <a:latin typeface="Arial (Body)"/>
              </a:rPr>
              <a:t>curve) and the asset market (whose equilibrium points are summarized by the </a:t>
            </a:r>
            <a:r>
              <a:rPr lang="en-US" sz="1800" i="1" dirty="0">
                <a:latin typeface="Arial (Body)"/>
              </a:rPr>
              <a:t>A</a:t>
            </a:r>
            <a:r>
              <a:rPr lang="en-US" sz="100" i="1" dirty="0">
                <a:latin typeface="Arial (Body)"/>
              </a:rPr>
              <a:t> </a:t>
            </a:r>
            <a:r>
              <a:rPr lang="en-US" sz="1800" i="1" dirty="0" err="1">
                <a:latin typeface="Arial (Body)"/>
              </a:rPr>
              <a:t>A</a:t>
            </a:r>
            <a:r>
              <a:rPr lang="en-US" sz="1800" i="1" dirty="0">
                <a:latin typeface="Arial (Body)"/>
              </a:rPr>
              <a:t> </a:t>
            </a:r>
            <a:r>
              <a:rPr lang="en-US" sz="1800" dirty="0">
                <a:latin typeface="Arial (Body)"/>
              </a:rPr>
              <a:t>curve) simultaneously clear.</a:t>
            </a:r>
          </a:p>
        </p:txBody>
      </p:sp>
    </p:spTree>
    <p:extLst>
      <p:ext uri="{BB962C8B-B14F-4D97-AF65-F5344CB8AC3E}">
        <p14:creationId xmlns:p14="http://schemas.microsoft.com/office/powerpoint/2010/main" val="3975230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EBA7-F5C1-4838-8B04-60E4CC8168A6}"/>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17.9 How the Economy Reaches Its Short-Run Equilibrium</a:t>
            </a:r>
            <a:endParaRPr lang="en-IN" sz="3200" dirty="0">
              <a:cs typeface="Times New Roman" panose="02020603050405020304" pitchFamily="18" charset="0"/>
            </a:endParaRPr>
          </a:p>
        </p:txBody>
      </p:sp>
      <p:pic>
        <p:nvPicPr>
          <p:cNvPr id="8" name="Content Placeholder 7" descr="A graph plots exchange rate E versus output Y. For long description in Notes pane, press F6.">
            <a:extLst>
              <a:ext uri="{FF2B5EF4-FFF2-40B4-BE49-F238E27FC236}">
                <a16:creationId xmlns:a16="http://schemas.microsoft.com/office/drawing/2014/main" id="{E42FEA06-EA33-42E5-BA88-015BE64220DD}"/>
              </a:ext>
            </a:extLst>
          </p:cNvPr>
          <p:cNvPicPr>
            <a:picLocks noGrp="1" noChangeAspect="1"/>
          </p:cNvPicPr>
          <p:nvPr>
            <p:ph sz="quarter" idx="13"/>
          </p:nvPr>
        </p:nvPicPr>
        <p:blipFill>
          <a:blip r:embed="rId3"/>
          <a:stretch>
            <a:fillRect/>
          </a:stretch>
        </p:blipFill>
        <p:spPr>
          <a:xfrm>
            <a:off x="2831171" y="1609732"/>
            <a:ext cx="3734576" cy="3321366"/>
          </a:xfrm>
        </p:spPr>
      </p:pic>
      <p:sp>
        <p:nvSpPr>
          <p:cNvPr id="4" name="Content Placeholder 3">
            <a:extLst>
              <a:ext uri="{FF2B5EF4-FFF2-40B4-BE49-F238E27FC236}">
                <a16:creationId xmlns:a16="http://schemas.microsoft.com/office/drawing/2014/main" id="{943E89F8-D885-4D62-A904-EC5574E80D0E}"/>
              </a:ext>
            </a:extLst>
          </p:cNvPr>
          <p:cNvSpPr>
            <a:spLocks noGrp="1"/>
          </p:cNvSpPr>
          <p:nvPr>
            <p:ph sz="quarter" idx="14"/>
          </p:nvPr>
        </p:nvSpPr>
        <p:spPr>
          <a:xfrm>
            <a:off x="457200" y="5138862"/>
            <a:ext cx="8229600" cy="1021401"/>
          </a:xfrm>
        </p:spPr>
        <p:txBody>
          <a:bodyPr/>
          <a:lstStyle/>
          <a:p>
            <a:pPr marL="0" indent="0">
              <a:buNone/>
            </a:pPr>
            <a:r>
              <a:rPr lang="en-US" sz="1800" dirty="0">
                <a:latin typeface="Arial (Body)"/>
              </a:rPr>
              <a:t>Because asset markets adjust very quickly, the exchange rate jumps immediately from point 2 to point 3 on </a:t>
            </a:r>
            <a:r>
              <a:rPr lang="en-US" sz="1800" i="1" dirty="0">
                <a:latin typeface="Arial (Body)"/>
              </a:rPr>
              <a:t>A</a:t>
            </a:r>
            <a:r>
              <a:rPr lang="en-US" sz="100" i="1" dirty="0">
                <a:latin typeface="Arial (Body)"/>
              </a:rPr>
              <a:t> </a:t>
            </a:r>
            <a:r>
              <a:rPr lang="en-US" sz="1800" i="1" dirty="0" err="1">
                <a:latin typeface="Arial (Body)"/>
              </a:rPr>
              <a:t>A</a:t>
            </a:r>
            <a:r>
              <a:rPr lang="en-US" sz="1800" dirty="0">
                <a:latin typeface="Arial (Body)"/>
              </a:rPr>
              <a:t>. The economy then moves to point 1 along </a:t>
            </a:r>
            <a:r>
              <a:rPr lang="en-US" sz="1800" i="1" dirty="0">
                <a:latin typeface="Arial (Body)"/>
              </a:rPr>
              <a:t>A</a:t>
            </a:r>
            <a:r>
              <a:rPr lang="en-US" sz="100" i="1" dirty="0">
                <a:latin typeface="Arial (Body)"/>
              </a:rPr>
              <a:t> </a:t>
            </a:r>
            <a:r>
              <a:rPr lang="en-US" sz="1800" i="1" dirty="0" err="1">
                <a:latin typeface="Arial (Body)"/>
              </a:rPr>
              <a:t>A</a:t>
            </a:r>
            <a:r>
              <a:rPr lang="en-US" sz="1800" i="1" dirty="0">
                <a:latin typeface="Arial (Body)"/>
              </a:rPr>
              <a:t> </a:t>
            </a:r>
            <a:r>
              <a:rPr lang="en-US" sz="1800" dirty="0">
                <a:latin typeface="Arial (Body)"/>
              </a:rPr>
              <a:t>as output rises to meet aggregate demand.</a:t>
            </a:r>
          </a:p>
        </p:txBody>
      </p:sp>
    </p:spTree>
    <p:extLst>
      <p:ext uri="{BB962C8B-B14F-4D97-AF65-F5344CB8AC3E}">
        <p14:creationId xmlns:p14="http://schemas.microsoft.com/office/powerpoint/2010/main" val="1411074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CDF8B-F579-4EC3-ABC2-91A20A79CABA}"/>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Temporary Changes in Monetary and Fiscal Policy</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A2FFB201-152F-4D6F-869F-25781911F687}"/>
              </a:ext>
            </a:extLst>
          </p:cNvPr>
          <p:cNvSpPr>
            <a:spLocks noGrp="1"/>
          </p:cNvSpPr>
          <p:nvPr>
            <p:ph sz="quarter" idx="13"/>
          </p:nvPr>
        </p:nvSpPr>
        <p:spPr/>
        <p:txBody>
          <a:bodyPr/>
          <a:lstStyle/>
          <a:p>
            <a:pPr eaLnBrk="1" hangingPunct="1"/>
            <a:r>
              <a:rPr lang="en-US" altLang="en-US" sz="2200" b="1" dirty="0">
                <a:latin typeface="Arial (Body)"/>
                <a:ea typeface="ヒラギノ角ゴ Pro W3" pitchFamily="-84" charset="-128"/>
              </a:rPr>
              <a:t>Monetary policy: </a:t>
            </a:r>
            <a:r>
              <a:rPr lang="en-US" altLang="en-US" sz="2200" dirty="0">
                <a:latin typeface="Arial (Body)"/>
                <a:ea typeface="ヒラギノ角ゴ Pro W3" pitchFamily="-84" charset="-128"/>
              </a:rPr>
              <a:t>policy in which the central bank influences the supply of monetary assets.</a:t>
            </a:r>
          </a:p>
          <a:p>
            <a:pPr lvl="1" eaLnBrk="1" hangingPunct="1"/>
            <a:r>
              <a:rPr lang="en-US" altLang="en-US" sz="2200" dirty="0">
                <a:latin typeface="Arial (Body)"/>
                <a:ea typeface="ヒラギノ角ゴ Pro W3" pitchFamily="-84" charset="-128"/>
              </a:rPr>
              <a:t>Monetary policy is assumed to affect asset markets first.</a:t>
            </a:r>
          </a:p>
          <a:p>
            <a:pPr eaLnBrk="1" hangingPunct="1"/>
            <a:r>
              <a:rPr lang="en-US" altLang="en-US" sz="2200" b="1" dirty="0">
                <a:latin typeface="Arial (Body)"/>
                <a:ea typeface="ヒラギノ角ゴ Pro W3" pitchFamily="-84" charset="-128"/>
              </a:rPr>
              <a:t>Fiscal policy: </a:t>
            </a:r>
            <a:r>
              <a:rPr lang="en-US" altLang="en-US" sz="2200" dirty="0">
                <a:latin typeface="Arial (Body)"/>
                <a:ea typeface="ヒラギノ角ゴ Pro W3" pitchFamily="-84" charset="-128"/>
              </a:rPr>
              <a:t>policy in which governments </a:t>
            </a:r>
            <a:br>
              <a:rPr lang="en-US" altLang="en-US" sz="2200" dirty="0">
                <a:latin typeface="Arial (Body)"/>
                <a:ea typeface="ヒラギノ角ゴ Pro W3" pitchFamily="-84" charset="-128"/>
              </a:rPr>
            </a:br>
            <a:r>
              <a:rPr lang="en-US" altLang="en-US" sz="2200" dirty="0">
                <a:latin typeface="Arial (Body)"/>
                <a:ea typeface="ヒラギノ角ゴ Pro W3" pitchFamily="-84" charset="-128"/>
              </a:rPr>
              <a:t>(fiscal authorities) influence the amount of government purchases and taxes.</a:t>
            </a:r>
          </a:p>
          <a:p>
            <a:pPr lvl="1" eaLnBrk="1" hangingPunct="1"/>
            <a:r>
              <a:rPr lang="en-US" altLang="en-US" sz="2200" dirty="0">
                <a:latin typeface="Arial (Body)"/>
                <a:ea typeface="ヒラギノ角ゴ Pro W3" pitchFamily="-84" charset="-128"/>
              </a:rPr>
              <a:t>Fiscal policy is assumed to affect aggregate demand and output first.</a:t>
            </a:r>
          </a:p>
          <a:p>
            <a:pPr eaLnBrk="1" hangingPunct="1"/>
            <a:r>
              <a:rPr lang="en-US" altLang="en-US" sz="2200" dirty="0">
                <a:latin typeface="Arial (Body)"/>
                <a:ea typeface="ヒラギノ角ゴ Pro W3" pitchFamily="-84" charset="-128"/>
              </a:rPr>
              <a:t>Temporary policy changes are expected to be reversed in the near future and thus do not affect expectations about exchange rates in the long run.</a:t>
            </a:r>
          </a:p>
        </p:txBody>
      </p:sp>
    </p:spTree>
    <p:extLst>
      <p:ext uri="{BB962C8B-B14F-4D97-AF65-F5344CB8AC3E}">
        <p14:creationId xmlns:p14="http://schemas.microsoft.com/office/powerpoint/2010/main" val="451714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EC28-26C2-471C-A14E-82B6E6199F19}"/>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Temporary Changes in Monetary Policy</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29E8E499-83FF-40EA-A3DA-45D3CE4569C5}"/>
              </a:ext>
            </a:extLst>
          </p:cNvPr>
          <p:cNvSpPr>
            <a:spLocks noGrp="1"/>
          </p:cNvSpPr>
          <p:nvPr>
            <p:ph sz="quarter" idx="13"/>
          </p:nvPr>
        </p:nvSpPr>
        <p:spPr/>
        <p:txBody>
          <a:bodyPr/>
          <a:lstStyle/>
          <a:p>
            <a:pPr eaLnBrk="1" hangingPunct="1"/>
            <a:r>
              <a:rPr lang="en-US" altLang="en-US" dirty="0">
                <a:latin typeface="Arial (Body)"/>
                <a:ea typeface="ヒラギノ角ゴ Pro W3" pitchFamily="-84" charset="-128"/>
              </a:rPr>
              <a:t>An increase in the quantity of monetary assets supplied lowers interest rates in the short run, causing the domestic currency to depreciate (</a:t>
            </a:r>
            <a:r>
              <a:rPr lang="en-US" altLang="en-US" i="1" dirty="0">
                <a:latin typeface="Arial (Body)"/>
                <a:ea typeface="ヒラギノ角ゴ Pro W3" pitchFamily="-84" charset="-128"/>
              </a:rPr>
              <a:t>E </a:t>
            </a:r>
            <a:r>
              <a:rPr lang="en-US" altLang="en-US" dirty="0">
                <a:latin typeface="Arial (Body)"/>
                <a:ea typeface="ヒラギノ角ゴ Pro W3" pitchFamily="-84" charset="-128"/>
              </a:rPr>
              <a:t>rises).</a:t>
            </a:r>
          </a:p>
          <a:p>
            <a:pPr lvl="1" eaLnBrk="1" hangingPunct="1"/>
            <a:r>
              <a:rPr lang="en-US" altLang="en-US" sz="2400" dirty="0">
                <a:latin typeface="Arial (Body)"/>
                <a:ea typeface="ヒラギノ角ゴ Pro W3" pitchFamily="-84" charset="-128"/>
              </a:rPr>
              <a:t>The </a:t>
            </a:r>
            <a:r>
              <a:rPr lang="en-US" altLang="en-US" sz="2400"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sz="2400" i="1" dirty="0" err="1">
                <a:latin typeface="Arial (Body)"/>
                <a:ea typeface="ヒラギノ角ゴ Pro W3" pitchFamily="-84" charset="-128"/>
              </a:rPr>
              <a:t>A</a:t>
            </a:r>
            <a:r>
              <a:rPr lang="en-US" altLang="en-US" sz="2400" dirty="0">
                <a:latin typeface="Arial (Body)"/>
                <a:ea typeface="ヒラギノ角ゴ Pro W3" pitchFamily="-84" charset="-128"/>
              </a:rPr>
              <a:t> shifts up (right).</a:t>
            </a:r>
          </a:p>
          <a:p>
            <a:pPr lvl="1" eaLnBrk="1" hangingPunct="1"/>
            <a:r>
              <a:rPr lang="en-US" altLang="en-US" sz="2400" dirty="0">
                <a:latin typeface="Arial (Body)"/>
                <a:ea typeface="ヒラギノ角ゴ Pro W3" pitchFamily="-84" charset="-128"/>
              </a:rPr>
              <a:t>Domestic products relative to foreign products are cheaper, so that aggregate demand and output increase until a new short-run equilibrium is achieved.</a:t>
            </a:r>
          </a:p>
        </p:txBody>
      </p:sp>
    </p:spTree>
    <p:extLst>
      <p:ext uri="{BB962C8B-B14F-4D97-AF65-F5344CB8AC3E}">
        <p14:creationId xmlns:p14="http://schemas.microsoft.com/office/powerpoint/2010/main" val="42232700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7A82-C19B-47BA-801E-964FA4831DB2}"/>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17.10 Effects of a Temporary Increase in the Money Supply</a:t>
            </a:r>
            <a:endParaRPr lang="en-IN" sz="3200" dirty="0">
              <a:cs typeface="Times New Roman" panose="02020603050405020304" pitchFamily="18" charset="0"/>
            </a:endParaRPr>
          </a:p>
        </p:txBody>
      </p:sp>
      <p:pic>
        <p:nvPicPr>
          <p:cNvPr id="9" name="Content Placeholder 8" descr="A graph plots exchange rate E versus output Y. For long description in Notes pane, press F6.">
            <a:extLst>
              <a:ext uri="{FF2B5EF4-FFF2-40B4-BE49-F238E27FC236}">
                <a16:creationId xmlns:a16="http://schemas.microsoft.com/office/drawing/2014/main" id="{4057458B-2C45-499D-BEDB-F70316BB6FCE}"/>
              </a:ext>
            </a:extLst>
          </p:cNvPr>
          <p:cNvPicPr>
            <a:picLocks noGrp="1" noChangeAspect="1"/>
          </p:cNvPicPr>
          <p:nvPr>
            <p:ph sz="quarter" idx="13"/>
          </p:nvPr>
        </p:nvPicPr>
        <p:blipFill>
          <a:blip r:embed="rId3"/>
          <a:stretch>
            <a:fillRect/>
          </a:stretch>
        </p:blipFill>
        <p:spPr>
          <a:xfrm>
            <a:off x="2666638" y="1518199"/>
            <a:ext cx="3600025" cy="3511842"/>
          </a:xfrm>
        </p:spPr>
      </p:pic>
      <p:sp>
        <p:nvSpPr>
          <p:cNvPr id="4" name="Content Placeholder 3">
            <a:extLst>
              <a:ext uri="{FF2B5EF4-FFF2-40B4-BE49-F238E27FC236}">
                <a16:creationId xmlns:a16="http://schemas.microsoft.com/office/drawing/2014/main" id="{980EC69C-44C7-4362-A681-4E4198809324}"/>
              </a:ext>
            </a:extLst>
          </p:cNvPr>
          <p:cNvSpPr>
            <a:spLocks noGrp="1"/>
          </p:cNvSpPr>
          <p:nvPr>
            <p:ph sz="quarter" idx="14"/>
          </p:nvPr>
        </p:nvSpPr>
        <p:spPr>
          <a:xfrm>
            <a:off x="468313" y="5348787"/>
            <a:ext cx="1261427" cy="441595"/>
          </a:xfrm>
        </p:spPr>
        <p:txBody>
          <a:bodyPr/>
          <a:lstStyle/>
          <a:p>
            <a:pPr marL="432" indent="0">
              <a:buNone/>
            </a:pPr>
            <a:r>
              <a:rPr lang="en-US" sz="1800" dirty="0">
                <a:latin typeface="Arial (Body)"/>
              </a:rPr>
              <a:t>By shifting</a:t>
            </a:r>
            <a:endParaRPr lang="en-IN" sz="1800" dirty="0"/>
          </a:p>
        </p:txBody>
      </p:sp>
      <p:graphicFrame>
        <p:nvGraphicFramePr>
          <p:cNvPr id="7" name="Object 6" descr="A A super 1">
            <a:extLst>
              <a:ext uri="{FF2B5EF4-FFF2-40B4-BE49-F238E27FC236}">
                <a16:creationId xmlns:a16="http://schemas.microsoft.com/office/drawing/2014/main" id="{79CFAA0F-4371-43BF-BFD8-901E190E1E6C}"/>
              </a:ext>
            </a:extLst>
          </p:cNvPr>
          <p:cNvGraphicFramePr>
            <a:graphicFrameLocks noChangeAspect="1"/>
          </p:cNvGraphicFramePr>
          <p:nvPr>
            <p:extLst>
              <p:ext uri="{D42A27DB-BD31-4B8C-83A1-F6EECF244321}">
                <p14:modId xmlns:p14="http://schemas.microsoft.com/office/powerpoint/2010/main" val="3377465094"/>
              </p:ext>
            </p:extLst>
          </p:nvPr>
        </p:nvGraphicFramePr>
        <p:xfrm>
          <a:off x="1809618" y="5437796"/>
          <a:ext cx="426435" cy="286210"/>
        </p:xfrm>
        <a:graphic>
          <a:graphicData uri="http://schemas.openxmlformats.org/presentationml/2006/ole">
            <mc:AlternateContent xmlns:mc="http://schemas.openxmlformats.org/markup-compatibility/2006">
              <mc:Choice xmlns:v="urn:schemas-microsoft-com:vml" Requires="v">
                <p:oleObj name="Equation" r:id="rId4" imgW="291960" imgH="190440" progId="Equation.DSMT4">
                  <p:embed/>
                </p:oleObj>
              </mc:Choice>
              <mc:Fallback>
                <p:oleObj name="Equation" r:id="rId4" imgW="291960" imgH="190440" progId="Equation.DSMT4">
                  <p:embed/>
                  <p:pic>
                    <p:nvPicPr>
                      <p:cNvPr id="9" name="Object 8">
                        <a:extLst>
                          <a:ext uri="{FF2B5EF4-FFF2-40B4-BE49-F238E27FC236}">
                            <a16:creationId xmlns:a16="http://schemas.microsoft.com/office/drawing/2014/main" id="{5F61B8D2-D52E-4564-AD6C-61DA559D1B35}"/>
                          </a:ext>
                        </a:extLst>
                      </p:cNvPr>
                      <p:cNvPicPr/>
                      <p:nvPr/>
                    </p:nvPicPr>
                    <p:blipFill>
                      <a:blip r:embed="rId5"/>
                      <a:stretch>
                        <a:fillRect/>
                      </a:stretch>
                    </p:blipFill>
                    <p:spPr>
                      <a:xfrm>
                        <a:off x="1809618" y="5437796"/>
                        <a:ext cx="426435" cy="28621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53EC813D-F6F7-43CB-970F-B2A1732169C7}"/>
              </a:ext>
            </a:extLst>
          </p:cNvPr>
          <p:cNvSpPr>
            <a:spLocks noGrp="1"/>
          </p:cNvSpPr>
          <p:nvPr>
            <p:ph sz="quarter" idx="15"/>
          </p:nvPr>
        </p:nvSpPr>
        <p:spPr>
          <a:xfrm>
            <a:off x="2307325" y="5368243"/>
            <a:ext cx="5451511" cy="395248"/>
          </a:xfrm>
        </p:spPr>
        <p:txBody>
          <a:bodyPr/>
          <a:lstStyle/>
          <a:p>
            <a:pPr marL="432" indent="0">
              <a:buNone/>
            </a:pPr>
            <a:r>
              <a:rPr lang="en-US" sz="1800" dirty="0">
                <a:latin typeface="Arial (Body)"/>
              </a:rPr>
              <a:t>upward, a temporary increase in the money supply</a:t>
            </a:r>
            <a:endParaRPr lang="en-IN" sz="1800" dirty="0"/>
          </a:p>
        </p:txBody>
      </p:sp>
      <p:sp>
        <p:nvSpPr>
          <p:cNvPr id="6" name="Content Placeholder 5">
            <a:extLst>
              <a:ext uri="{FF2B5EF4-FFF2-40B4-BE49-F238E27FC236}">
                <a16:creationId xmlns:a16="http://schemas.microsoft.com/office/drawing/2014/main" id="{EC80DF27-89FF-46DB-BBD8-7C7E97420F93}"/>
              </a:ext>
            </a:extLst>
          </p:cNvPr>
          <p:cNvSpPr>
            <a:spLocks noGrp="1"/>
          </p:cNvSpPr>
          <p:nvPr>
            <p:ph sz="quarter" idx="16"/>
          </p:nvPr>
        </p:nvSpPr>
        <p:spPr>
          <a:xfrm>
            <a:off x="468313" y="5842630"/>
            <a:ext cx="5505855" cy="350351"/>
          </a:xfrm>
        </p:spPr>
        <p:txBody>
          <a:bodyPr tIns="0" bIns="0"/>
          <a:lstStyle/>
          <a:p>
            <a:pPr marL="432" indent="0">
              <a:buNone/>
            </a:pPr>
            <a:r>
              <a:rPr lang="en-US" sz="1800" dirty="0">
                <a:latin typeface="Arial (Body)"/>
              </a:rPr>
              <a:t>causes a currency depreciation and a rise in output.</a:t>
            </a:r>
          </a:p>
        </p:txBody>
      </p:sp>
    </p:spTree>
    <p:extLst>
      <p:ext uri="{BB962C8B-B14F-4D97-AF65-F5344CB8AC3E}">
        <p14:creationId xmlns:p14="http://schemas.microsoft.com/office/powerpoint/2010/main" val="4042377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257C-2E11-4934-B915-2FF2E79C6446}"/>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Temporary Changes in Fiscal Policy</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F6EC28F-8A93-40BD-A872-4FA6C2F7A81B}"/>
              </a:ext>
            </a:extLst>
          </p:cNvPr>
          <p:cNvSpPr>
            <a:spLocks noGrp="1"/>
          </p:cNvSpPr>
          <p:nvPr>
            <p:ph sz="quarter" idx="13"/>
          </p:nvPr>
        </p:nvSpPr>
        <p:spPr>
          <a:xfrm>
            <a:off x="457200" y="1556327"/>
            <a:ext cx="7624916" cy="4586896"/>
          </a:xfrm>
        </p:spPr>
        <p:txBody>
          <a:bodyPr/>
          <a:lstStyle/>
          <a:p>
            <a:pPr eaLnBrk="1" hangingPunct="1"/>
            <a:r>
              <a:rPr lang="en-US" altLang="en-US" dirty="0">
                <a:latin typeface="Arial (Body)"/>
                <a:ea typeface="ヒラギノ角ゴ Pro W3" pitchFamily="-84" charset="-128"/>
              </a:rPr>
              <a:t>An increase in government purchases or a decrease in taxes increases aggregate demand and output in the short run.</a:t>
            </a:r>
          </a:p>
          <a:p>
            <a:pPr lvl="1" eaLnBrk="1" hangingPunct="1"/>
            <a:r>
              <a:rPr lang="en-US" altLang="en-US" dirty="0">
                <a:latin typeface="Arial (Body)"/>
                <a:ea typeface="ヒラギノ角ゴ Pro W3" pitchFamily="-84" charset="-128"/>
              </a:rPr>
              <a:t>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dirty="0">
                <a:latin typeface="Arial (Body)"/>
                <a:ea typeface="ヒラギノ角ゴ Pro W3" pitchFamily="-84" charset="-128"/>
              </a:rPr>
              <a:t> curve shifts right.</a:t>
            </a:r>
          </a:p>
          <a:p>
            <a:pPr lvl="1" eaLnBrk="1" hangingPunct="1"/>
            <a:r>
              <a:rPr lang="en-US" altLang="en-US" dirty="0">
                <a:latin typeface="Arial (Body)"/>
                <a:ea typeface="ヒラギノ角ゴ Pro W3" pitchFamily="-84" charset="-128"/>
              </a:rPr>
              <a:t>Higher output increases the demand for real monetary assets, </a:t>
            </a:r>
          </a:p>
          <a:p>
            <a:pPr lvl="2" eaLnBrk="1" hangingPunct="1"/>
            <a:r>
              <a:rPr lang="en-US" altLang="en-US" dirty="0">
                <a:latin typeface="Arial (Body)"/>
                <a:ea typeface="ヒラギノ角ゴ Pro W3" pitchFamily="-84" charset="-128"/>
              </a:rPr>
              <a:t>thereby increasing interest rates,</a:t>
            </a:r>
          </a:p>
          <a:p>
            <a:pPr lvl="2" eaLnBrk="1" hangingPunct="1"/>
            <a:r>
              <a:rPr lang="en-US" altLang="en-US" dirty="0">
                <a:latin typeface="Arial (Body)"/>
                <a:ea typeface="ヒラギノ角ゴ Pro W3" pitchFamily="-84" charset="-128"/>
              </a:rPr>
              <a:t>causing the domestic currency to appreciate (</a:t>
            </a:r>
            <a:r>
              <a:rPr lang="en-US" altLang="en-US" i="1" dirty="0">
                <a:latin typeface="Arial (Body)"/>
                <a:ea typeface="ヒラギノ角ゴ Pro W3" pitchFamily="-84" charset="-128"/>
              </a:rPr>
              <a:t>E </a:t>
            </a:r>
            <a:r>
              <a:rPr lang="en-US" altLang="en-US" dirty="0">
                <a:latin typeface="Arial (Body)"/>
                <a:ea typeface="ヒラギノ角ゴ Pro W3" pitchFamily="-84" charset="-128"/>
              </a:rPr>
              <a:t>falls).</a:t>
            </a:r>
          </a:p>
        </p:txBody>
      </p:sp>
    </p:spTree>
    <p:extLst>
      <p:ext uri="{BB962C8B-B14F-4D97-AF65-F5344CB8AC3E}">
        <p14:creationId xmlns:p14="http://schemas.microsoft.com/office/powerpoint/2010/main" val="1983589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7A82-C19B-47BA-801E-964FA4831DB2}"/>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17.11 Effects of a Temporary Fiscal Expansion</a:t>
            </a:r>
            <a:endParaRPr lang="en-IN" sz="3200" dirty="0">
              <a:cs typeface="Times New Roman" panose="02020603050405020304" pitchFamily="18" charset="0"/>
            </a:endParaRPr>
          </a:p>
        </p:txBody>
      </p:sp>
      <p:pic>
        <p:nvPicPr>
          <p:cNvPr id="11" name="Content Placeholder 10" descr="A graph plots exchange rate E versus output Y. For long description in Notes pane, press F6.">
            <a:extLst>
              <a:ext uri="{FF2B5EF4-FFF2-40B4-BE49-F238E27FC236}">
                <a16:creationId xmlns:a16="http://schemas.microsoft.com/office/drawing/2014/main" id="{137CB9D0-D215-497D-BFB5-40BA9509C09F}"/>
              </a:ext>
            </a:extLst>
          </p:cNvPr>
          <p:cNvPicPr>
            <a:picLocks noGrp="1" noChangeAspect="1"/>
          </p:cNvPicPr>
          <p:nvPr>
            <p:ph sz="quarter" idx="13"/>
          </p:nvPr>
        </p:nvPicPr>
        <p:blipFill>
          <a:blip r:embed="rId3"/>
          <a:stretch>
            <a:fillRect/>
          </a:stretch>
        </p:blipFill>
        <p:spPr>
          <a:xfrm>
            <a:off x="3090008" y="1571032"/>
            <a:ext cx="3675184" cy="3490896"/>
          </a:xfrm>
        </p:spPr>
      </p:pic>
      <p:sp>
        <p:nvSpPr>
          <p:cNvPr id="4" name="Content Placeholder 3">
            <a:extLst>
              <a:ext uri="{FF2B5EF4-FFF2-40B4-BE49-F238E27FC236}">
                <a16:creationId xmlns:a16="http://schemas.microsoft.com/office/drawing/2014/main" id="{980EC69C-44C7-4362-A681-4E4198809324}"/>
              </a:ext>
            </a:extLst>
          </p:cNvPr>
          <p:cNvSpPr>
            <a:spLocks noGrp="1"/>
          </p:cNvSpPr>
          <p:nvPr>
            <p:ph sz="quarter" idx="14"/>
          </p:nvPr>
        </p:nvSpPr>
        <p:spPr>
          <a:xfrm>
            <a:off x="468313" y="5348787"/>
            <a:ext cx="1261427" cy="441595"/>
          </a:xfrm>
        </p:spPr>
        <p:txBody>
          <a:bodyPr/>
          <a:lstStyle/>
          <a:p>
            <a:pPr marL="432" indent="0">
              <a:buNone/>
            </a:pPr>
            <a:r>
              <a:rPr lang="en-US" sz="1800" dirty="0">
                <a:latin typeface="Arial (Body)"/>
              </a:rPr>
              <a:t>By shifting</a:t>
            </a:r>
            <a:endParaRPr lang="en-IN" sz="1800" dirty="0"/>
          </a:p>
        </p:txBody>
      </p:sp>
      <p:graphicFrame>
        <p:nvGraphicFramePr>
          <p:cNvPr id="7" name="Object 6" descr="D D super 1">
            <a:extLst>
              <a:ext uri="{FF2B5EF4-FFF2-40B4-BE49-F238E27FC236}">
                <a16:creationId xmlns:a16="http://schemas.microsoft.com/office/drawing/2014/main" id="{79CFAA0F-4371-43BF-BFD8-901E190E1E6C}"/>
              </a:ext>
            </a:extLst>
          </p:cNvPr>
          <p:cNvGraphicFramePr>
            <a:graphicFrameLocks noChangeAspect="1"/>
          </p:cNvGraphicFramePr>
          <p:nvPr>
            <p:extLst>
              <p:ext uri="{D42A27DB-BD31-4B8C-83A1-F6EECF244321}">
                <p14:modId xmlns:p14="http://schemas.microsoft.com/office/powerpoint/2010/main" val="1826950441"/>
              </p:ext>
            </p:extLst>
          </p:nvPr>
        </p:nvGraphicFramePr>
        <p:xfrm>
          <a:off x="1842977" y="5425468"/>
          <a:ext cx="445643" cy="286211"/>
        </p:xfrm>
        <a:graphic>
          <a:graphicData uri="http://schemas.openxmlformats.org/presentationml/2006/ole">
            <mc:AlternateContent xmlns:mc="http://schemas.openxmlformats.org/markup-compatibility/2006">
              <mc:Choice xmlns:v="urn:schemas-microsoft-com:vml" Requires="v">
                <p:oleObj name="Equation" r:id="rId4" imgW="304560" imgH="190440" progId="Equation.DSMT4">
                  <p:embed/>
                </p:oleObj>
              </mc:Choice>
              <mc:Fallback>
                <p:oleObj name="Equation" r:id="rId4" imgW="304560" imgH="190440" progId="Equation.DSMT4">
                  <p:embed/>
                  <p:pic>
                    <p:nvPicPr>
                      <p:cNvPr id="7" name="Object 6">
                        <a:extLst>
                          <a:ext uri="{FF2B5EF4-FFF2-40B4-BE49-F238E27FC236}">
                            <a16:creationId xmlns:a16="http://schemas.microsoft.com/office/drawing/2014/main" id="{79CFAA0F-4371-43BF-BFD8-901E190E1E6C}"/>
                          </a:ext>
                        </a:extLst>
                      </p:cNvPr>
                      <p:cNvPicPr/>
                      <p:nvPr/>
                    </p:nvPicPr>
                    <p:blipFill>
                      <a:blip r:embed="rId5"/>
                      <a:stretch>
                        <a:fillRect/>
                      </a:stretch>
                    </p:blipFill>
                    <p:spPr>
                      <a:xfrm>
                        <a:off x="1842977" y="5425468"/>
                        <a:ext cx="445643" cy="286211"/>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53EC813D-F6F7-43CB-970F-B2A1732169C7}"/>
              </a:ext>
            </a:extLst>
          </p:cNvPr>
          <p:cNvSpPr>
            <a:spLocks noGrp="1"/>
          </p:cNvSpPr>
          <p:nvPr>
            <p:ph sz="quarter" idx="15"/>
          </p:nvPr>
        </p:nvSpPr>
        <p:spPr>
          <a:xfrm>
            <a:off x="2373919" y="5353495"/>
            <a:ext cx="5451511" cy="398376"/>
          </a:xfrm>
        </p:spPr>
        <p:txBody>
          <a:bodyPr/>
          <a:lstStyle/>
          <a:p>
            <a:pPr marL="432" indent="0">
              <a:buNone/>
            </a:pPr>
            <a:r>
              <a:rPr lang="en-US" sz="1800" dirty="0">
                <a:latin typeface="Arial (Body)"/>
              </a:rPr>
              <a:t>to the right, a temporary fiscal expansion causes a</a:t>
            </a:r>
            <a:endParaRPr lang="en-IN" sz="1800" dirty="0"/>
          </a:p>
        </p:txBody>
      </p:sp>
      <p:sp>
        <p:nvSpPr>
          <p:cNvPr id="6" name="Content Placeholder 5">
            <a:extLst>
              <a:ext uri="{FF2B5EF4-FFF2-40B4-BE49-F238E27FC236}">
                <a16:creationId xmlns:a16="http://schemas.microsoft.com/office/drawing/2014/main" id="{EC80DF27-89FF-46DB-BBD8-7C7E97420F93}"/>
              </a:ext>
            </a:extLst>
          </p:cNvPr>
          <p:cNvSpPr>
            <a:spLocks noGrp="1"/>
          </p:cNvSpPr>
          <p:nvPr>
            <p:ph sz="quarter" idx="16"/>
          </p:nvPr>
        </p:nvSpPr>
        <p:spPr>
          <a:xfrm>
            <a:off x="468313" y="5867835"/>
            <a:ext cx="4459287" cy="355984"/>
          </a:xfrm>
        </p:spPr>
        <p:txBody>
          <a:bodyPr tIns="0"/>
          <a:lstStyle/>
          <a:p>
            <a:pPr marL="0" indent="0">
              <a:buNone/>
            </a:pPr>
            <a:r>
              <a:rPr lang="en-US" sz="1800" dirty="0">
                <a:latin typeface="Arial (Body)"/>
              </a:rPr>
              <a:t>currency appreciation and a rise in output.</a:t>
            </a:r>
          </a:p>
        </p:txBody>
      </p:sp>
    </p:spTree>
    <p:extLst>
      <p:ext uri="{BB962C8B-B14F-4D97-AF65-F5344CB8AC3E}">
        <p14:creationId xmlns:p14="http://schemas.microsoft.com/office/powerpoint/2010/main" val="7935707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5899-B88A-4A08-84EE-327F3F1DA4B7}"/>
              </a:ext>
            </a:extLst>
          </p:cNvPr>
          <p:cNvSpPr>
            <a:spLocks noGrp="1"/>
          </p:cNvSpPr>
          <p:nvPr>
            <p:ph type="title"/>
          </p:nvPr>
        </p:nvSpPr>
        <p:spPr/>
        <p:txBody>
          <a:bodyPr/>
          <a:lstStyle/>
          <a:p>
            <a:r>
              <a:rPr lang="en-US" altLang="en-US" sz="3000" dirty="0">
                <a:ea typeface="ヒラギノ角ゴ Pro W3" pitchFamily="-84" charset="-128"/>
                <a:cs typeface="Times New Roman" panose="02020603050405020304" pitchFamily="18" charset="0"/>
              </a:rPr>
              <a:t>Policies to Maintain Full Employment </a:t>
            </a:r>
            <a:r>
              <a:rPr lang="en-US" altLang="en-US" sz="2000" b="0" dirty="0">
                <a:ea typeface="ヒラギノ角ゴ Pro W3" pitchFamily="-84" charset="-128"/>
                <a:cs typeface="Times New Roman" panose="02020603050405020304" pitchFamily="18" charset="0"/>
              </a:rPr>
              <a:t>(1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C25A466E-CBAE-4428-AB89-022702644835}"/>
              </a:ext>
            </a:extLst>
          </p:cNvPr>
          <p:cNvSpPr>
            <a:spLocks noGrp="1"/>
          </p:cNvSpPr>
          <p:nvPr>
            <p:ph sz="quarter" idx="13"/>
          </p:nvPr>
        </p:nvSpPr>
        <p:spPr/>
        <p:txBody>
          <a:bodyPr/>
          <a:lstStyle/>
          <a:p>
            <a:pPr eaLnBrk="1" hangingPunct="1"/>
            <a:r>
              <a:rPr lang="en-US" altLang="en-US" sz="2000" dirty="0">
                <a:latin typeface="Arial (Body)"/>
                <a:ea typeface="ヒラギノ角ゴ Pro W3" pitchFamily="-84" charset="-128"/>
              </a:rPr>
              <a:t>Resources used in the production process can either be over-employed or underemployed.</a:t>
            </a:r>
          </a:p>
          <a:p>
            <a:pPr eaLnBrk="1" hangingPunct="1"/>
            <a:r>
              <a:rPr lang="en-US" altLang="en-US" sz="2000" dirty="0">
                <a:latin typeface="Arial (Body)"/>
                <a:ea typeface="ヒラギノ角ゴ Pro W3" pitchFamily="-84" charset="-128"/>
              </a:rPr>
              <a:t>When resources are used effectively and sustainably, economists say that production is at its potential or natural level.</a:t>
            </a:r>
          </a:p>
          <a:p>
            <a:pPr lvl="1" eaLnBrk="1" hangingPunct="1"/>
            <a:r>
              <a:rPr lang="en-US" altLang="en-US" sz="2000" dirty="0">
                <a:latin typeface="Arial (Body)"/>
                <a:ea typeface="ヒラギノ角ゴ Pro W3" pitchFamily="-84" charset="-128"/>
              </a:rPr>
              <a:t>When resources are not used effectively, resources are underemployed: high unemployment, few hours worked, idle equipment, lower than normal production of goods and services.</a:t>
            </a:r>
          </a:p>
          <a:p>
            <a:pPr lvl="1" eaLnBrk="1" hangingPunct="1"/>
            <a:r>
              <a:rPr lang="en-US" altLang="en-US" sz="2000" dirty="0">
                <a:latin typeface="Arial (Body)"/>
                <a:ea typeface="ヒラギノ角ゴ Pro W3" pitchFamily="-84" charset="-128"/>
              </a:rPr>
              <a:t>When resources are not used sustainably, labor is over-employed: low unemployment, many overtime hours, over-utilized equipment, higher than normal production of goods and services.</a:t>
            </a:r>
          </a:p>
        </p:txBody>
      </p:sp>
    </p:spTree>
    <p:extLst>
      <p:ext uri="{BB962C8B-B14F-4D97-AF65-F5344CB8AC3E}">
        <p14:creationId xmlns:p14="http://schemas.microsoft.com/office/powerpoint/2010/main" val="8975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BA5E-763A-47DC-9447-6CD574727221}"/>
              </a:ext>
            </a:extLst>
          </p:cNvPr>
          <p:cNvSpPr>
            <a:spLocks noGrp="1"/>
          </p:cNvSpPr>
          <p:nvPr>
            <p:ph type="title"/>
          </p:nvPr>
        </p:nvSpPr>
        <p:spPr>
          <a:xfrm>
            <a:off x="457199" y="186695"/>
            <a:ext cx="8412480" cy="1097279"/>
          </a:xfrm>
        </p:spPr>
        <p:txBody>
          <a:bodyPr/>
          <a:lstStyle/>
          <a:p>
            <a:r>
              <a:rPr lang="en-US" altLang="en-US" sz="2400" dirty="0">
                <a:ea typeface="ヒラギノ角ゴ Pro W3" pitchFamily="-84" charset="-128"/>
                <a:cs typeface="Times New Roman" panose="02020603050405020304" pitchFamily="18" charset="0"/>
              </a:rPr>
              <a:t>Figure 17.12 Maintaining Full Employment after a Temporary Fall in World Demand for Domestic Products</a:t>
            </a:r>
            <a:endParaRPr lang="en-IN" sz="2400" dirty="0">
              <a:cs typeface="Times New Roman" panose="02020603050405020304" pitchFamily="18" charset="0"/>
            </a:endParaRPr>
          </a:p>
        </p:txBody>
      </p:sp>
      <p:pic>
        <p:nvPicPr>
          <p:cNvPr id="24" name="Content Placeholder 23" descr="A graph plots exchange rate E versus output Y. For long description in Notes pane, press F6.">
            <a:extLst>
              <a:ext uri="{FF2B5EF4-FFF2-40B4-BE49-F238E27FC236}">
                <a16:creationId xmlns:a16="http://schemas.microsoft.com/office/drawing/2014/main" id="{2ACB4D03-D57D-4C78-9A18-A799E4FF7753}"/>
              </a:ext>
            </a:extLst>
          </p:cNvPr>
          <p:cNvPicPr>
            <a:picLocks noGrp="1" noChangeAspect="1"/>
          </p:cNvPicPr>
          <p:nvPr>
            <p:ph sz="quarter" idx="13"/>
          </p:nvPr>
        </p:nvPicPr>
        <p:blipFill>
          <a:blip r:embed="rId3"/>
          <a:stretch>
            <a:fillRect/>
          </a:stretch>
        </p:blipFill>
        <p:spPr>
          <a:xfrm>
            <a:off x="3503224" y="1468345"/>
            <a:ext cx="2197593" cy="2489014"/>
          </a:xfrm>
        </p:spPr>
      </p:pic>
      <p:sp>
        <p:nvSpPr>
          <p:cNvPr id="4" name="Content Placeholder 3">
            <a:extLst>
              <a:ext uri="{FF2B5EF4-FFF2-40B4-BE49-F238E27FC236}">
                <a16:creationId xmlns:a16="http://schemas.microsoft.com/office/drawing/2014/main" id="{CB306C97-987D-4601-A3FA-C1963598466E}"/>
              </a:ext>
            </a:extLst>
          </p:cNvPr>
          <p:cNvSpPr>
            <a:spLocks noGrp="1"/>
          </p:cNvSpPr>
          <p:nvPr>
            <p:ph sz="quarter" idx="14"/>
          </p:nvPr>
        </p:nvSpPr>
        <p:spPr>
          <a:xfrm>
            <a:off x="477837" y="4139875"/>
            <a:ext cx="3698240" cy="276095"/>
          </a:xfrm>
        </p:spPr>
        <p:txBody>
          <a:bodyPr tIns="0" bIns="0"/>
          <a:lstStyle/>
          <a:p>
            <a:pPr marL="432" indent="0">
              <a:buNone/>
            </a:pPr>
            <a:r>
              <a:rPr lang="en-US" sz="1600" dirty="0">
                <a:latin typeface="Arial (Body)"/>
              </a:rPr>
              <a:t>A temporary fall in world demand shifts</a:t>
            </a:r>
            <a:endParaRPr lang="en-IN" sz="1600" dirty="0"/>
          </a:p>
        </p:txBody>
      </p:sp>
      <p:graphicFrame>
        <p:nvGraphicFramePr>
          <p:cNvPr id="17" name="Object 16" descr="D D super 1 to D D super 2,">
            <a:extLst>
              <a:ext uri="{FF2B5EF4-FFF2-40B4-BE49-F238E27FC236}">
                <a16:creationId xmlns:a16="http://schemas.microsoft.com/office/drawing/2014/main" id="{C33E11CA-CDBA-4A60-8606-1EA633B94F5F}"/>
              </a:ext>
            </a:extLst>
          </p:cNvPr>
          <p:cNvGraphicFramePr>
            <a:graphicFrameLocks noChangeAspect="1"/>
          </p:cNvGraphicFramePr>
          <p:nvPr>
            <p:extLst>
              <p:ext uri="{D42A27DB-BD31-4B8C-83A1-F6EECF244321}">
                <p14:modId xmlns:p14="http://schemas.microsoft.com/office/powerpoint/2010/main" val="2099153262"/>
              </p:ext>
            </p:extLst>
          </p:nvPr>
        </p:nvGraphicFramePr>
        <p:xfrm>
          <a:off x="4253365" y="4144258"/>
          <a:ext cx="1028700" cy="268288"/>
        </p:xfrm>
        <a:graphic>
          <a:graphicData uri="http://schemas.openxmlformats.org/presentationml/2006/ole">
            <mc:AlternateContent xmlns:mc="http://schemas.openxmlformats.org/markup-compatibility/2006">
              <mc:Choice xmlns:v="urn:schemas-microsoft-com:vml" Requires="v">
                <p:oleObj name="Equation" r:id="rId4" imgW="850680" imgH="215640" progId="Equation.DSMT4">
                  <p:embed/>
                </p:oleObj>
              </mc:Choice>
              <mc:Fallback>
                <p:oleObj name="Equation" r:id="rId4" imgW="850680" imgH="215640" progId="Equation.DSMT4">
                  <p:embed/>
                  <p:pic>
                    <p:nvPicPr>
                      <p:cNvPr id="7" name="Object 6">
                        <a:extLst>
                          <a:ext uri="{FF2B5EF4-FFF2-40B4-BE49-F238E27FC236}">
                            <a16:creationId xmlns:a16="http://schemas.microsoft.com/office/drawing/2014/main" id="{79CFAA0F-4371-43BF-BFD8-901E190E1E6C}"/>
                          </a:ext>
                        </a:extLst>
                      </p:cNvPr>
                      <p:cNvPicPr/>
                      <p:nvPr/>
                    </p:nvPicPr>
                    <p:blipFill>
                      <a:blip r:embed="rId5"/>
                      <a:stretch>
                        <a:fillRect/>
                      </a:stretch>
                    </p:blipFill>
                    <p:spPr>
                      <a:xfrm>
                        <a:off x="4253365" y="4144258"/>
                        <a:ext cx="1028700" cy="268288"/>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FED6822F-7D92-4785-A003-48C243BA27EE}"/>
              </a:ext>
            </a:extLst>
          </p:cNvPr>
          <p:cNvSpPr>
            <a:spLocks noGrp="1"/>
          </p:cNvSpPr>
          <p:nvPr>
            <p:ph sz="quarter" idx="15"/>
          </p:nvPr>
        </p:nvSpPr>
        <p:spPr>
          <a:xfrm>
            <a:off x="5367699" y="4138515"/>
            <a:ext cx="2054181" cy="291969"/>
          </a:xfrm>
        </p:spPr>
        <p:txBody>
          <a:bodyPr tIns="0" bIns="0"/>
          <a:lstStyle/>
          <a:p>
            <a:pPr marL="432" indent="0">
              <a:buNone/>
            </a:pPr>
            <a:r>
              <a:rPr lang="en-US" sz="1600" dirty="0">
                <a:latin typeface="Arial (Body)"/>
              </a:rPr>
              <a:t>reducing output from</a:t>
            </a:r>
            <a:endParaRPr lang="en-IN" sz="1600" dirty="0"/>
          </a:p>
        </p:txBody>
      </p:sp>
      <p:graphicFrame>
        <p:nvGraphicFramePr>
          <p:cNvPr id="18" name="Object 17" descr="Y super 1 to Y super 2">
            <a:extLst>
              <a:ext uri="{FF2B5EF4-FFF2-40B4-BE49-F238E27FC236}">
                <a16:creationId xmlns:a16="http://schemas.microsoft.com/office/drawing/2014/main" id="{3DEB9830-E770-4944-A153-55EBF5CF9BDA}"/>
              </a:ext>
            </a:extLst>
          </p:cNvPr>
          <p:cNvGraphicFramePr>
            <a:graphicFrameLocks noChangeAspect="1"/>
          </p:cNvGraphicFramePr>
          <p:nvPr>
            <p:extLst>
              <p:ext uri="{D42A27DB-BD31-4B8C-83A1-F6EECF244321}">
                <p14:modId xmlns:p14="http://schemas.microsoft.com/office/powerpoint/2010/main" val="422895763"/>
              </p:ext>
            </p:extLst>
          </p:nvPr>
        </p:nvGraphicFramePr>
        <p:xfrm>
          <a:off x="7506887" y="4140952"/>
          <a:ext cx="722249" cy="245872"/>
        </p:xfrm>
        <a:graphic>
          <a:graphicData uri="http://schemas.openxmlformats.org/presentationml/2006/ole">
            <mc:AlternateContent xmlns:mc="http://schemas.openxmlformats.org/markup-compatibility/2006">
              <mc:Choice xmlns:v="urn:schemas-microsoft-com:vml" Requires="v">
                <p:oleObj name="Equation" r:id="rId6" imgW="596880" imgH="203040" progId="Equation.DSMT4">
                  <p:embed/>
                </p:oleObj>
              </mc:Choice>
              <mc:Fallback>
                <p:oleObj name="Equation" r:id="rId6" imgW="596880" imgH="203040" progId="Equation.DSMT4">
                  <p:embed/>
                  <p:pic>
                    <p:nvPicPr>
                      <p:cNvPr id="0" name=""/>
                      <p:cNvPicPr/>
                      <p:nvPr/>
                    </p:nvPicPr>
                    <p:blipFill>
                      <a:blip r:embed="rId7"/>
                      <a:stretch>
                        <a:fillRect/>
                      </a:stretch>
                    </p:blipFill>
                    <p:spPr>
                      <a:xfrm>
                        <a:off x="7506887" y="4140952"/>
                        <a:ext cx="722249" cy="245872"/>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7F460C4D-9BD5-4CF5-9B46-380D14E2DAA5}"/>
              </a:ext>
            </a:extLst>
          </p:cNvPr>
          <p:cNvSpPr>
            <a:spLocks noGrp="1"/>
          </p:cNvSpPr>
          <p:nvPr>
            <p:ph sz="quarter" idx="16"/>
          </p:nvPr>
        </p:nvSpPr>
        <p:spPr>
          <a:xfrm>
            <a:off x="457198" y="4463546"/>
            <a:ext cx="4157979" cy="268288"/>
          </a:xfrm>
        </p:spPr>
        <p:txBody>
          <a:bodyPr tIns="0" bIns="0"/>
          <a:lstStyle/>
          <a:p>
            <a:pPr marL="432" indent="0">
              <a:buNone/>
            </a:pPr>
            <a:r>
              <a:rPr lang="en-US" sz="1600" dirty="0">
                <a:latin typeface="Arial (Body)"/>
              </a:rPr>
              <a:t>and causing the currency to depreciate from</a:t>
            </a:r>
            <a:endParaRPr lang="en-IN" sz="1600" dirty="0"/>
          </a:p>
        </p:txBody>
      </p:sp>
      <p:graphicFrame>
        <p:nvGraphicFramePr>
          <p:cNvPr id="19" name="Object 18" descr="E super 1 to E super 2">
            <a:extLst>
              <a:ext uri="{FF2B5EF4-FFF2-40B4-BE49-F238E27FC236}">
                <a16:creationId xmlns:a16="http://schemas.microsoft.com/office/drawing/2014/main" id="{4D4A9E5E-E6DE-46F2-BB05-AA0BBA45384A}"/>
              </a:ext>
            </a:extLst>
          </p:cNvPr>
          <p:cNvGraphicFramePr>
            <a:graphicFrameLocks noChangeAspect="1"/>
          </p:cNvGraphicFramePr>
          <p:nvPr>
            <p:extLst>
              <p:ext uri="{D42A27DB-BD31-4B8C-83A1-F6EECF244321}">
                <p14:modId xmlns:p14="http://schemas.microsoft.com/office/powerpoint/2010/main" val="2657622204"/>
              </p:ext>
            </p:extLst>
          </p:nvPr>
        </p:nvGraphicFramePr>
        <p:xfrm>
          <a:off x="4660453" y="4465207"/>
          <a:ext cx="722249" cy="245872"/>
        </p:xfrm>
        <a:graphic>
          <a:graphicData uri="http://schemas.openxmlformats.org/presentationml/2006/ole">
            <mc:AlternateContent xmlns:mc="http://schemas.openxmlformats.org/markup-compatibility/2006">
              <mc:Choice xmlns:v="urn:schemas-microsoft-com:vml" Requires="v">
                <p:oleObj name="Equation" r:id="rId8" imgW="596880" imgH="203040" progId="Equation.DSMT4">
                  <p:embed/>
                </p:oleObj>
              </mc:Choice>
              <mc:Fallback>
                <p:oleObj name="Equation" r:id="rId8" imgW="596880" imgH="203040" progId="Equation.DSMT4">
                  <p:embed/>
                  <p:pic>
                    <p:nvPicPr>
                      <p:cNvPr id="0" name=""/>
                      <p:cNvPicPr/>
                      <p:nvPr/>
                    </p:nvPicPr>
                    <p:blipFill>
                      <a:blip r:embed="rId9"/>
                      <a:stretch>
                        <a:fillRect/>
                      </a:stretch>
                    </p:blipFill>
                    <p:spPr>
                      <a:xfrm>
                        <a:off x="4660453" y="4465207"/>
                        <a:ext cx="722249" cy="245872"/>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DFFA7BD-1271-4778-8D3D-A80F97426116}"/>
              </a:ext>
            </a:extLst>
          </p:cNvPr>
          <p:cNvSpPr>
            <a:spLocks noGrp="1"/>
          </p:cNvSpPr>
          <p:nvPr>
            <p:ph sz="quarter" idx="17"/>
          </p:nvPr>
        </p:nvSpPr>
        <p:spPr>
          <a:xfrm>
            <a:off x="5443218" y="4471947"/>
            <a:ext cx="2560320" cy="279303"/>
          </a:xfrm>
        </p:spPr>
        <p:txBody>
          <a:bodyPr tIns="0" bIns="0"/>
          <a:lstStyle/>
          <a:p>
            <a:pPr marL="432" indent="0">
              <a:buNone/>
            </a:pPr>
            <a:r>
              <a:rPr lang="en-US" sz="1600" dirty="0">
                <a:latin typeface="Arial (Body)"/>
              </a:rPr>
              <a:t>(point 2). Temporary fiscal</a:t>
            </a:r>
            <a:endParaRPr lang="en-IN" sz="1600" dirty="0"/>
          </a:p>
        </p:txBody>
      </p:sp>
      <p:sp>
        <p:nvSpPr>
          <p:cNvPr id="8" name="Content Placeholder 7">
            <a:extLst>
              <a:ext uri="{FF2B5EF4-FFF2-40B4-BE49-F238E27FC236}">
                <a16:creationId xmlns:a16="http://schemas.microsoft.com/office/drawing/2014/main" id="{AABA79C7-4E7B-4866-87D1-DB0DCFAC8E66}"/>
              </a:ext>
            </a:extLst>
          </p:cNvPr>
          <p:cNvSpPr>
            <a:spLocks noGrp="1"/>
          </p:cNvSpPr>
          <p:nvPr>
            <p:ph sz="quarter" idx="18"/>
          </p:nvPr>
        </p:nvSpPr>
        <p:spPr>
          <a:xfrm>
            <a:off x="457199" y="4784329"/>
            <a:ext cx="8412479" cy="264102"/>
          </a:xfrm>
        </p:spPr>
        <p:txBody>
          <a:bodyPr tIns="0" bIns="0"/>
          <a:lstStyle/>
          <a:p>
            <a:pPr marL="432" indent="0">
              <a:buNone/>
            </a:pPr>
            <a:r>
              <a:rPr lang="en-US" sz="1600" dirty="0">
                <a:latin typeface="Arial (Body)"/>
              </a:rPr>
              <a:t>expansion can restore full employment (point 1) by shifting the </a:t>
            </a:r>
            <a:r>
              <a:rPr lang="en-US" sz="1600" i="1" dirty="0">
                <a:latin typeface="Arial (Body)"/>
              </a:rPr>
              <a:t>D</a:t>
            </a:r>
            <a:r>
              <a:rPr lang="en-US" sz="100" i="1" dirty="0">
                <a:latin typeface="Arial (Body)"/>
              </a:rPr>
              <a:t> </a:t>
            </a:r>
            <a:r>
              <a:rPr lang="en-US" sz="1600" i="1" dirty="0">
                <a:latin typeface="Arial (Body)"/>
              </a:rPr>
              <a:t>D </a:t>
            </a:r>
            <a:r>
              <a:rPr lang="en-US" sz="1600" dirty="0">
                <a:latin typeface="Arial (Body)"/>
              </a:rPr>
              <a:t>schedule back to its </a:t>
            </a:r>
            <a:endParaRPr lang="en-IN" sz="1600" dirty="0"/>
          </a:p>
        </p:txBody>
      </p:sp>
      <p:sp>
        <p:nvSpPr>
          <p:cNvPr id="9" name="Content Placeholder 8">
            <a:extLst>
              <a:ext uri="{FF2B5EF4-FFF2-40B4-BE49-F238E27FC236}">
                <a16:creationId xmlns:a16="http://schemas.microsoft.com/office/drawing/2014/main" id="{D635D5A9-66F7-4566-960A-AE74F30B3A06}"/>
              </a:ext>
            </a:extLst>
          </p:cNvPr>
          <p:cNvSpPr>
            <a:spLocks noGrp="1"/>
          </p:cNvSpPr>
          <p:nvPr>
            <p:ph sz="quarter" idx="19"/>
          </p:nvPr>
        </p:nvSpPr>
        <p:spPr>
          <a:xfrm>
            <a:off x="457198" y="5098404"/>
            <a:ext cx="8412479" cy="264102"/>
          </a:xfrm>
        </p:spPr>
        <p:txBody>
          <a:bodyPr tIns="0" bIns="0"/>
          <a:lstStyle/>
          <a:p>
            <a:pPr marL="432" indent="0">
              <a:buNone/>
            </a:pPr>
            <a:r>
              <a:rPr lang="en-US" sz="1600" dirty="0">
                <a:latin typeface="Arial (Body)"/>
              </a:rPr>
              <a:t>original position. Temporary monetary expansion can restore full employment (point 3)</a:t>
            </a:r>
            <a:endParaRPr lang="en-IN" sz="1600" dirty="0"/>
          </a:p>
        </p:txBody>
      </p:sp>
      <p:sp>
        <p:nvSpPr>
          <p:cNvPr id="10" name="Content Placeholder 9">
            <a:extLst>
              <a:ext uri="{FF2B5EF4-FFF2-40B4-BE49-F238E27FC236}">
                <a16:creationId xmlns:a16="http://schemas.microsoft.com/office/drawing/2014/main" id="{354B9945-E052-4044-8A75-EE33D43582EE}"/>
              </a:ext>
            </a:extLst>
          </p:cNvPr>
          <p:cNvSpPr>
            <a:spLocks noGrp="1"/>
          </p:cNvSpPr>
          <p:nvPr>
            <p:ph sz="quarter" idx="20"/>
          </p:nvPr>
        </p:nvSpPr>
        <p:spPr>
          <a:xfrm>
            <a:off x="468312" y="5408692"/>
            <a:ext cx="1109028" cy="263852"/>
          </a:xfrm>
        </p:spPr>
        <p:txBody>
          <a:bodyPr tIns="0" bIns="0"/>
          <a:lstStyle/>
          <a:p>
            <a:pPr marL="432" indent="0">
              <a:buNone/>
            </a:pPr>
            <a:r>
              <a:rPr lang="en-US" sz="1600" dirty="0">
                <a:latin typeface="Arial (Body)"/>
              </a:rPr>
              <a:t>by shifting</a:t>
            </a:r>
            <a:endParaRPr lang="en-IN" sz="1600" dirty="0"/>
          </a:p>
        </p:txBody>
      </p:sp>
      <p:graphicFrame>
        <p:nvGraphicFramePr>
          <p:cNvPr id="20" name="Object 19" descr="A A super 1 to A A super 2.">
            <a:extLst>
              <a:ext uri="{FF2B5EF4-FFF2-40B4-BE49-F238E27FC236}">
                <a16:creationId xmlns:a16="http://schemas.microsoft.com/office/drawing/2014/main" id="{47E9A3F7-301A-4F1D-AB73-6D2745494DB5}"/>
              </a:ext>
            </a:extLst>
          </p:cNvPr>
          <p:cNvGraphicFramePr>
            <a:graphicFrameLocks noChangeAspect="1"/>
          </p:cNvGraphicFramePr>
          <p:nvPr>
            <p:extLst>
              <p:ext uri="{D42A27DB-BD31-4B8C-83A1-F6EECF244321}">
                <p14:modId xmlns:p14="http://schemas.microsoft.com/office/powerpoint/2010/main" val="3733776686"/>
              </p:ext>
            </p:extLst>
          </p:nvPr>
        </p:nvGraphicFramePr>
        <p:xfrm>
          <a:off x="1614094" y="5411071"/>
          <a:ext cx="1029122" cy="253322"/>
        </p:xfrm>
        <a:graphic>
          <a:graphicData uri="http://schemas.openxmlformats.org/presentationml/2006/ole">
            <mc:AlternateContent xmlns:mc="http://schemas.openxmlformats.org/markup-compatibility/2006">
              <mc:Choice xmlns:v="urn:schemas-microsoft-com:vml" Requires="v">
                <p:oleObj name="Equation" r:id="rId10" imgW="825480" imgH="203040" progId="Equation.DSMT4">
                  <p:embed/>
                </p:oleObj>
              </mc:Choice>
              <mc:Fallback>
                <p:oleObj name="Equation" r:id="rId10" imgW="825480" imgH="203040" progId="Equation.DSMT4">
                  <p:embed/>
                  <p:pic>
                    <p:nvPicPr>
                      <p:cNvPr id="0" name=""/>
                      <p:cNvPicPr/>
                      <p:nvPr/>
                    </p:nvPicPr>
                    <p:blipFill>
                      <a:blip r:embed="rId11"/>
                      <a:stretch>
                        <a:fillRect/>
                      </a:stretch>
                    </p:blipFill>
                    <p:spPr>
                      <a:xfrm>
                        <a:off x="1614094" y="5411071"/>
                        <a:ext cx="1029122" cy="253322"/>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D406B8B5-DAB3-4A62-A8A0-33E94E13A526}"/>
              </a:ext>
            </a:extLst>
          </p:cNvPr>
          <p:cNvSpPr>
            <a:spLocks noGrp="1"/>
          </p:cNvSpPr>
          <p:nvPr>
            <p:ph sz="quarter" idx="21"/>
          </p:nvPr>
        </p:nvSpPr>
        <p:spPr>
          <a:xfrm>
            <a:off x="2682827" y="5396172"/>
            <a:ext cx="5787707" cy="269478"/>
          </a:xfrm>
        </p:spPr>
        <p:txBody>
          <a:bodyPr tIns="0" bIns="0"/>
          <a:lstStyle/>
          <a:p>
            <a:pPr marL="432" indent="0">
              <a:buNone/>
            </a:pPr>
            <a:r>
              <a:rPr lang="en-US" sz="1600" dirty="0">
                <a:latin typeface="Arial (Body)"/>
              </a:rPr>
              <a:t>The two policies differ in their exchange rate effects: The </a:t>
            </a:r>
            <a:endParaRPr lang="en-IN" sz="1600" dirty="0"/>
          </a:p>
        </p:txBody>
      </p:sp>
      <p:sp>
        <p:nvSpPr>
          <p:cNvPr id="12" name="Content Placeholder 11">
            <a:extLst>
              <a:ext uri="{FF2B5EF4-FFF2-40B4-BE49-F238E27FC236}">
                <a16:creationId xmlns:a16="http://schemas.microsoft.com/office/drawing/2014/main" id="{688B0F4A-38F9-4731-BFC3-AD57F23C1822}"/>
              </a:ext>
            </a:extLst>
          </p:cNvPr>
          <p:cNvSpPr>
            <a:spLocks noGrp="1"/>
          </p:cNvSpPr>
          <p:nvPr>
            <p:ph sz="quarter" idx="22"/>
          </p:nvPr>
        </p:nvSpPr>
        <p:spPr>
          <a:xfrm>
            <a:off x="457200" y="5734343"/>
            <a:ext cx="5055869" cy="263853"/>
          </a:xfrm>
        </p:spPr>
        <p:txBody>
          <a:bodyPr tIns="0" bIns="0"/>
          <a:lstStyle/>
          <a:p>
            <a:pPr marL="432" indent="0">
              <a:buNone/>
            </a:pPr>
            <a:r>
              <a:rPr lang="en-US" sz="1600" dirty="0">
                <a:latin typeface="Arial (Body)"/>
              </a:rPr>
              <a:t>fiscal policy restores the currency to its previous value</a:t>
            </a:r>
            <a:endParaRPr lang="en-IN" sz="1600" dirty="0"/>
          </a:p>
        </p:txBody>
      </p:sp>
      <p:graphicFrame>
        <p:nvGraphicFramePr>
          <p:cNvPr id="21" name="Object 20" descr="Left parenthesis E super 1 right parenthesis,">
            <a:extLst>
              <a:ext uri="{FF2B5EF4-FFF2-40B4-BE49-F238E27FC236}">
                <a16:creationId xmlns:a16="http://schemas.microsoft.com/office/drawing/2014/main" id="{011A2E39-4E41-43D9-B68C-9D5023EF2D5E}"/>
              </a:ext>
            </a:extLst>
          </p:cNvPr>
          <p:cNvGraphicFramePr>
            <a:graphicFrameLocks noChangeAspect="1"/>
          </p:cNvGraphicFramePr>
          <p:nvPr>
            <p:extLst>
              <p:ext uri="{D42A27DB-BD31-4B8C-83A1-F6EECF244321}">
                <p14:modId xmlns:p14="http://schemas.microsoft.com/office/powerpoint/2010/main" val="304418714"/>
              </p:ext>
            </p:extLst>
          </p:nvPr>
        </p:nvGraphicFramePr>
        <p:xfrm>
          <a:off x="5551488" y="5720487"/>
          <a:ext cx="430212" cy="276225"/>
        </p:xfrm>
        <a:graphic>
          <a:graphicData uri="http://schemas.openxmlformats.org/presentationml/2006/ole">
            <mc:AlternateContent xmlns:mc="http://schemas.openxmlformats.org/markup-compatibility/2006">
              <mc:Choice xmlns:v="urn:schemas-microsoft-com:vml" Requires="v">
                <p:oleObj name="Equation" r:id="rId12" imgW="355320" imgH="228600" progId="Equation.DSMT4">
                  <p:embed/>
                </p:oleObj>
              </mc:Choice>
              <mc:Fallback>
                <p:oleObj name="Equation" r:id="rId12" imgW="355320" imgH="228600" progId="Equation.DSMT4">
                  <p:embed/>
                  <p:pic>
                    <p:nvPicPr>
                      <p:cNvPr id="0" name=""/>
                      <p:cNvPicPr/>
                      <p:nvPr/>
                    </p:nvPicPr>
                    <p:blipFill>
                      <a:blip r:embed="rId13"/>
                      <a:stretch>
                        <a:fillRect/>
                      </a:stretch>
                    </p:blipFill>
                    <p:spPr>
                      <a:xfrm>
                        <a:off x="5551488" y="5720487"/>
                        <a:ext cx="430212" cy="276225"/>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3EAE74A0-10E5-42E2-A1B1-872B959FED2C}"/>
              </a:ext>
            </a:extLst>
          </p:cNvPr>
          <p:cNvSpPr>
            <a:spLocks noGrp="1"/>
          </p:cNvSpPr>
          <p:nvPr>
            <p:ph sz="quarter" idx="23"/>
          </p:nvPr>
        </p:nvSpPr>
        <p:spPr>
          <a:xfrm>
            <a:off x="6027097" y="5736677"/>
            <a:ext cx="2285052" cy="261519"/>
          </a:xfrm>
        </p:spPr>
        <p:txBody>
          <a:bodyPr tIns="0" bIns="0"/>
          <a:lstStyle/>
          <a:p>
            <a:pPr marL="432" indent="0">
              <a:buNone/>
            </a:pPr>
            <a:r>
              <a:rPr lang="en-US" sz="1600" dirty="0">
                <a:latin typeface="Arial (Body)"/>
              </a:rPr>
              <a:t>whereas the monetary</a:t>
            </a:r>
            <a:endParaRPr lang="en-IN" sz="1600" dirty="0"/>
          </a:p>
        </p:txBody>
      </p:sp>
      <p:sp>
        <p:nvSpPr>
          <p:cNvPr id="14" name="Content Placeholder 13">
            <a:extLst>
              <a:ext uri="{FF2B5EF4-FFF2-40B4-BE49-F238E27FC236}">
                <a16:creationId xmlns:a16="http://schemas.microsoft.com/office/drawing/2014/main" id="{40392198-1BE2-46A3-A4D2-817566A10707}"/>
              </a:ext>
            </a:extLst>
          </p:cNvPr>
          <p:cNvSpPr>
            <a:spLocks noGrp="1"/>
          </p:cNvSpPr>
          <p:nvPr>
            <p:ph sz="quarter" idx="24"/>
          </p:nvPr>
        </p:nvSpPr>
        <p:spPr>
          <a:xfrm>
            <a:off x="457199" y="6069769"/>
            <a:ext cx="4754880" cy="263853"/>
          </a:xfrm>
        </p:spPr>
        <p:txBody>
          <a:bodyPr tIns="0" bIns="0"/>
          <a:lstStyle/>
          <a:p>
            <a:pPr marL="432" indent="0">
              <a:buNone/>
            </a:pPr>
            <a:r>
              <a:rPr lang="en-US" sz="1600" dirty="0">
                <a:latin typeface="Arial (Body)"/>
              </a:rPr>
              <a:t>policy causes the currency to depreciate further, to</a:t>
            </a:r>
            <a:endParaRPr lang="en-IN" sz="1600" dirty="0"/>
          </a:p>
        </p:txBody>
      </p:sp>
      <p:graphicFrame>
        <p:nvGraphicFramePr>
          <p:cNvPr id="22" name="Object 21" descr="Left parenthesis E super 3 right parenthesis.">
            <a:extLst>
              <a:ext uri="{FF2B5EF4-FFF2-40B4-BE49-F238E27FC236}">
                <a16:creationId xmlns:a16="http://schemas.microsoft.com/office/drawing/2014/main" id="{B6FBE208-230B-45C1-82CB-48EAF26678CA}"/>
              </a:ext>
            </a:extLst>
          </p:cNvPr>
          <p:cNvGraphicFramePr>
            <a:graphicFrameLocks noChangeAspect="1"/>
          </p:cNvGraphicFramePr>
          <p:nvPr>
            <p:extLst>
              <p:ext uri="{D42A27DB-BD31-4B8C-83A1-F6EECF244321}">
                <p14:modId xmlns:p14="http://schemas.microsoft.com/office/powerpoint/2010/main" val="1927431921"/>
              </p:ext>
            </p:extLst>
          </p:nvPr>
        </p:nvGraphicFramePr>
        <p:xfrm>
          <a:off x="5307013" y="6070600"/>
          <a:ext cx="307975" cy="230188"/>
        </p:xfrm>
        <a:graphic>
          <a:graphicData uri="http://schemas.openxmlformats.org/presentationml/2006/ole">
            <mc:AlternateContent xmlns:mc="http://schemas.openxmlformats.org/markup-compatibility/2006">
              <mc:Choice xmlns:v="urn:schemas-microsoft-com:vml" Requires="v">
                <p:oleObj name="Equation" r:id="rId14" imgW="253800" imgH="190440" progId="Equation.DSMT4">
                  <p:embed/>
                </p:oleObj>
              </mc:Choice>
              <mc:Fallback>
                <p:oleObj name="Equation" r:id="rId14" imgW="253800" imgH="190440" progId="Equation.DSMT4">
                  <p:embed/>
                  <p:pic>
                    <p:nvPicPr>
                      <p:cNvPr id="0" name=""/>
                      <p:cNvPicPr/>
                      <p:nvPr/>
                    </p:nvPicPr>
                    <p:blipFill>
                      <a:blip r:embed="rId15"/>
                      <a:stretch>
                        <a:fillRect/>
                      </a:stretch>
                    </p:blipFill>
                    <p:spPr>
                      <a:xfrm>
                        <a:off x="5307013" y="6070600"/>
                        <a:ext cx="307975" cy="230188"/>
                      </a:xfrm>
                      <a:prstGeom prst="rect">
                        <a:avLst/>
                      </a:prstGeom>
                    </p:spPr>
                  </p:pic>
                </p:oleObj>
              </mc:Fallback>
            </mc:AlternateContent>
          </a:graphicData>
        </a:graphic>
      </p:graphicFrame>
    </p:spTree>
    <p:extLst>
      <p:ext uri="{BB962C8B-B14F-4D97-AF65-F5344CB8AC3E}">
        <p14:creationId xmlns:p14="http://schemas.microsoft.com/office/powerpoint/2010/main" val="29558351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D5603-0ED8-48FB-A0F9-D20D5E178D79}"/>
              </a:ext>
            </a:extLst>
          </p:cNvPr>
          <p:cNvSpPr>
            <a:spLocks noGrp="1"/>
          </p:cNvSpPr>
          <p:nvPr>
            <p:ph type="title"/>
          </p:nvPr>
        </p:nvSpPr>
        <p:spPr>
          <a:xfrm>
            <a:off x="457200" y="215371"/>
            <a:ext cx="8385858" cy="1097279"/>
          </a:xfrm>
        </p:spPr>
        <p:txBody>
          <a:bodyPr/>
          <a:lstStyle/>
          <a:p>
            <a:r>
              <a:rPr lang="en-US" altLang="en-US" sz="3000" dirty="0">
                <a:ea typeface="ヒラギノ角ゴ Pro W3" pitchFamily="-84" charset="-128"/>
              </a:rPr>
              <a:t>Figure 17.13 Policies to Maintain Full Employment After a Money Demand Increase</a:t>
            </a:r>
            <a:endParaRPr lang="en-IN" sz="3000" dirty="0"/>
          </a:p>
        </p:txBody>
      </p:sp>
      <p:pic>
        <p:nvPicPr>
          <p:cNvPr id="22" name="Content Placeholder 21" descr="A graph plots exchange rate E versus output Y. For long description in Notes pane, press F6.">
            <a:extLst>
              <a:ext uri="{FF2B5EF4-FFF2-40B4-BE49-F238E27FC236}">
                <a16:creationId xmlns:a16="http://schemas.microsoft.com/office/drawing/2014/main" id="{2348CAFD-9021-4243-AC28-1D151817FD9E}"/>
              </a:ext>
            </a:extLst>
          </p:cNvPr>
          <p:cNvPicPr>
            <a:picLocks noGrp="1" noChangeAspect="1"/>
          </p:cNvPicPr>
          <p:nvPr>
            <p:ph sz="quarter" idx="13"/>
          </p:nvPr>
        </p:nvPicPr>
        <p:blipFill>
          <a:blip r:embed="rId3"/>
          <a:stretch>
            <a:fillRect/>
          </a:stretch>
        </p:blipFill>
        <p:spPr>
          <a:xfrm>
            <a:off x="3214282" y="1531820"/>
            <a:ext cx="2715436" cy="3044092"/>
          </a:xfrm>
        </p:spPr>
      </p:pic>
      <p:sp>
        <p:nvSpPr>
          <p:cNvPr id="4" name="Content Placeholder 3">
            <a:extLst>
              <a:ext uri="{FF2B5EF4-FFF2-40B4-BE49-F238E27FC236}">
                <a16:creationId xmlns:a16="http://schemas.microsoft.com/office/drawing/2014/main" id="{E5C00DA9-24D6-4D6E-A992-7A4A72B196B6}"/>
              </a:ext>
            </a:extLst>
          </p:cNvPr>
          <p:cNvSpPr>
            <a:spLocks noGrp="1"/>
          </p:cNvSpPr>
          <p:nvPr>
            <p:ph sz="quarter" idx="14"/>
          </p:nvPr>
        </p:nvSpPr>
        <p:spPr>
          <a:xfrm>
            <a:off x="457200" y="4767316"/>
            <a:ext cx="6146800" cy="283654"/>
          </a:xfrm>
        </p:spPr>
        <p:txBody>
          <a:bodyPr lIns="0" tIns="0" rIns="0" bIns="0"/>
          <a:lstStyle/>
          <a:p>
            <a:pPr marL="432" indent="0">
              <a:buNone/>
            </a:pPr>
            <a:r>
              <a:rPr lang="en-US" sz="1600" dirty="0"/>
              <a:t>After a temporary money demand increase (shown by the shift from</a:t>
            </a:r>
            <a:endParaRPr lang="en-IN" sz="1600" dirty="0"/>
          </a:p>
        </p:txBody>
      </p:sp>
      <p:graphicFrame>
        <p:nvGraphicFramePr>
          <p:cNvPr id="17" name="Object 16" descr="A A super 1 to A A super 2.">
            <a:extLst>
              <a:ext uri="{FF2B5EF4-FFF2-40B4-BE49-F238E27FC236}">
                <a16:creationId xmlns:a16="http://schemas.microsoft.com/office/drawing/2014/main" id="{8FF0048A-681C-48A7-A03E-F6702E3FD7DD}"/>
              </a:ext>
            </a:extLst>
          </p:cNvPr>
          <p:cNvGraphicFramePr>
            <a:graphicFrameLocks noChangeAspect="1"/>
          </p:cNvGraphicFramePr>
          <p:nvPr>
            <p:extLst>
              <p:ext uri="{D42A27DB-BD31-4B8C-83A1-F6EECF244321}">
                <p14:modId xmlns:p14="http://schemas.microsoft.com/office/powerpoint/2010/main" val="896070178"/>
              </p:ext>
            </p:extLst>
          </p:nvPr>
        </p:nvGraphicFramePr>
        <p:xfrm>
          <a:off x="6672036" y="4758304"/>
          <a:ext cx="1074738" cy="284162"/>
        </p:xfrm>
        <a:graphic>
          <a:graphicData uri="http://schemas.openxmlformats.org/presentationml/2006/ole">
            <mc:AlternateContent xmlns:mc="http://schemas.openxmlformats.org/markup-compatibility/2006">
              <mc:Choice xmlns:v="urn:schemas-microsoft-com:vml" Requires="v">
                <p:oleObj name="Equation" r:id="rId4" imgW="888840" imgH="228600" progId="Equation.DSMT4">
                  <p:embed/>
                </p:oleObj>
              </mc:Choice>
              <mc:Fallback>
                <p:oleObj name="Equation" r:id="rId4" imgW="888840" imgH="228600" progId="Equation.DSMT4">
                  <p:embed/>
                  <p:pic>
                    <p:nvPicPr>
                      <p:cNvPr id="17" name="Object 16">
                        <a:extLst>
                          <a:ext uri="{FF2B5EF4-FFF2-40B4-BE49-F238E27FC236}">
                            <a16:creationId xmlns:a16="http://schemas.microsoft.com/office/drawing/2014/main" id="{C33E11CA-CDBA-4A60-8606-1EA633B94F5F}"/>
                          </a:ext>
                        </a:extLst>
                      </p:cNvPr>
                      <p:cNvPicPr/>
                      <p:nvPr/>
                    </p:nvPicPr>
                    <p:blipFill>
                      <a:blip r:embed="rId5"/>
                      <a:stretch>
                        <a:fillRect/>
                      </a:stretch>
                    </p:blipFill>
                    <p:spPr>
                      <a:xfrm>
                        <a:off x="6672036" y="4758304"/>
                        <a:ext cx="1074738" cy="284162"/>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C56AC409-8CCF-4E75-A8A0-970C2EEC46DB}"/>
              </a:ext>
            </a:extLst>
          </p:cNvPr>
          <p:cNvSpPr>
            <a:spLocks noGrp="1"/>
          </p:cNvSpPr>
          <p:nvPr>
            <p:ph sz="quarter" idx="15"/>
          </p:nvPr>
        </p:nvSpPr>
        <p:spPr>
          <a:xfrm>
            <a:off x="457200" y="5110300"/>
            <a:ext cx="8385858" cy="525368"/>
          </a:xfrm>
        </p:spPr>
        <p:txBody>
          <a:bodyPr lIns="0" tIns="0" rIns="0" bIns="0"/>
          <a:lstStyle/>
          <a:p>
            <a:pPr marL="432" indent="0">
              <a:buNone/>
            </a:pPr>
            <a:r>
              <a:rPr lang="en-US" sz="1600" dirty="0"/>
              <a:t>either an increase in the money supply or temporary fiscal expansion can be used to maintain full employment. The two policies have different exchange rate effects: The</a:t>
            </a:r>
            <a:endParaRPr lang="en-IN" sz="1600" dirty="0"/>
          </a:p>
        </p:txBody>
      </p:sp>
      <p:sp>
        <p:nvSpPr>
          <p:cNvPr id="6" name="Content Placeholder 5">
            <a:extLst>
              <a:ext uri="{FF2B5EF4-FFF2-40B4-BE49-F238E27FC236}">
                <a16:creationId xmlns:a16="http://schemas.microsoft.com/office/drawing/2014/main" id="{632365D7-2D9D-475C-8769-98CE875D8A92}"/>
              </a:ext>
            </a:extLst>
          </p:cNvPr>
          <p:cNvSpPr>
            <a:spLocks noGrp="1"/>
          </p:cNvSpPr>
          <p:nvPr>
            <p:ph sz="quarter" idx="16"/>
          </p:nvPr>
        </p:nvSpPr>
        <p:spPr>
          <a:xfrm>
            <a:off x="468313" y="5680969"/>
            <a:ext cx="4739833" cy="295317"/>
          </a:xfrm>
        </p:spPr>
        <p:txBody>
          <a:bodyPr lIns="0" tIns="0" rIns="0" bIns="0"/>
          <a:lstStyle/>
          <a:p>
            <a:pPr marL="432" indent="0">
              <a:buNone/>
            </a:pPr>
            <a:r>
              <a:rPr lang="en-US" sz="1600" dirty="0"/>
              <a:t>monetary</a:t>
            </a:r>
            <a:r>
              <a:rPr lang="en-IN" sz="1600" dirty="0"/>
              <a:t> </a:t>
            </a:r>
            <a:r>
              <a:rPr lang="en-US" sz="1600" dirty="0"/>
              <a:t>policy restores the exchange rate back to</a:t>
            </a:r>
            <a:endParaRPr lang="en-IN" sz="1600" dirty="0"/>
          </a:p>
        </p:txBody>
      </p:sp>
      <p:graphicFrame>
        <p:nvGraphicFramePr>
          <p:cNvPr id="18" name="Object 17" descr="E super 1,">
            <a:extLst>
              <a:ext uri="{FF2B5EF4-FFF2-40B4-BE49-F238E27FC236}">
                <a16:creationId xmlns:a16="http://schemas.microsoft.com/office/drawing/2014/main" id="{E4133E03-C8C7-47B8-898E-E79B5ED17255}"/>
              </a:ext>
            </a:extLst>
          </p:cNvPr>
          <p:cNvGraphicFramePr>
            <a:graphicFrameLocks noChangeAspect="1"/>
          </p:cNvGraphicFramePr>
          <p:nvPr>
            <p:extLst>
              <p:ext uri="{D42A27DB-BD31-4B8C-83A1-F6EECF244321}">
                <p14:modId xmlns:p14="http://schemas.microsoft.com/office/powerpoint/2010/main" val="1690415285"/>
              </p:ext>
            </p:extLst>
          </p:nvPr>
        </p:nvGraphicFramePr>
        <p:xfrm>
          <a:off x="5333194" y="5680969"/>
          <a:ext cx="304267" cy="287363"/>
        </p:xfrm>
        <a:graphic>
          <a:graphicData uri="http://schemas.openxmlformats.org/presentationml/2006/ole">
            <mc:AlternateContent xmlns:mc="http://schemas.openxmlformats.org/markup-compatibility/2006">
              <mc:Choice xmlns:v="urn:schemas-microsoft-com:vml" Requires="v">
                <p:oleObj name="Equation" r:id="rId6" imgW="228600" imgH="215640" progId="Equation.DSMT4">
                  <p:embed/>
                </p:oleObj>
              </mc:Choice>
              <mc:Fallback>
                <p:oleObj name="Equation" r:id="rId6" imgW="228600" imgH="215640" progId="Equation.DSMT4">
                  <p:embed/>
                  <p:pic>
                    <p:nvPicPr>
                      <p:cNvPr id="0" name=""/>
                      <p:cNvPicPr/>
                      <p:nvPr/>
                    </p:nvPicPr>
                    <p:blipFill>
                      <a:blip r:embed="rId7"/>
                      <a:stretch>
                        <a:fillRect/>
                      </a:stretch>
                    </p:blipFill>
                    <p:spPr>
                      <a:xfrm>
                        <a:off x="5333194" y="5680969"/>
                        <a:ext cx="304267" cy="28736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8C97CD2B-B966-4ED5-9DC2-A7F40955FD09}"/>
              </a:ext>
            </a:extLst>
          </p:cNvPr>
          <p:cNvSpPr>
            <a:spLocks noGrp="1"/>
          </p:cNvSpPr>
          <p:nvPr>
            <p:ph sz="quarter" idx="17"/>
          </p:nvPr>
        </p:nvSpPr>
        <p:spPr>
          <a:xfrm>
            <a:off x="5812304" y="5676505"/>
            <a:ext cx="2424112" cy="315527"/>
          </a:xfrm>
        </p:spPr>
        <p:txBody>
          <a:bodyPr lIns="0" tIns="0" rIns="0" bIns="0"/>
          <a:lstStyle/>
          <a:p>
            <a:pPr marL="432" indent="0">
              <a:buNone/>
            </a:pPr>
            <a:r>
              <a:rPr lang="en-US" sz="1600" dirty="0"/>
              <a:t>whereas the fiscal policy</a:t>
            </a:r>
            <a:endParaRPr lang="en-IN" sz="1600" dirty="0"/>
          </a:p>
        </p:txBody>
      </p:sp>
      <p:sp>
        <p:nvSpPr>
          <p:cNvPr id="8" name="Content Placeholder 7">
            <a:extLst>
              <a:ext uri="{FF2B5EF4-FFF2-40B4-BE49-F238E27FC236}">
                <a16:creationId xmlns:a16="http://schemas.microsoft.com/office/drawing/2014/main" id="{3611E142-9812-445D-AE55-8B6AFDEE3B11}"/>
              </a:ext>
            </a:extLst>
          </p:cNvPr>
          <p:cNvSpPr>
            <a:spLocks noGrp="1"/>
          </p:cNvSpPr>
          <p:nvPr>
            <p:ph sz="quarter" idx="18"/>
          </p:nvPr>
        </p:nvSpPr>
        <p:spPr>
          <a:xfrm>
            <a:off x="457201" y="6035230"/>
            <a:ext cx="2657856" cy="279479"/>
          </a:xfrm>
        </p:spPr>
        <p:txBody>
          <a:bodyPr lIns="0" tIns="0" rIns="0" bIns="0"/>
          <a:lstStyle/>
          <a:p>
            <a:pPr marL="432" indent="0">
              <a:buNone/>
            </a:pPr>
            <a:r>
              <a:rPr lang="en-US" sz="1600" dirty="0"/>
              <a:t>leads to greater appreciation</a:t>
            </a:r>
            <a:endParaRPr lang="en-IN" sz="1600" dirty="0"/>
          </a:p>
        </p:txBody>
      </p:sp>
      <p:graphicFrame>
        <p:nvGraphicFramePr>
          <p:cNvPr id="19" name="Object 18" descr="Left parenthesis E super 3 right parenthesis.">
            <a:extLst>
              <a:ext uri="{FF2B5EF4-FFF2-40B4-BE49-F238E27FC236}">
                <a16:creationId xmlns:a16="http://schemas.microsoft.com/office/drawing/2014/main" id="{02E309DC-1555-43D6-969B-A62E4C398594}"/>
              </a:ext>
            </a:extLst>
          </p:cNvPr>
          <p:cNvGraphicFramePr>
            <a:graphicFrameLocks noChangeAspect="1"/>
          </p:cNvGraphicFramePr>
          <p:nvPr>
            <p:extLst>
              <p:ext uri="{D42A27DB-BD31-4B8C-83A1-F6EECF244321}">
                <p14:modId xmlns:p14="http://schemas.microsoft.com/office/powerpoint/2010/main" val="450570189"/>
              </p:ext>
            </p:extLst>
          </p:nvPr>
        </p:nvGraphicFramePr>
        <p:xfrm>
          <a:off x="3186531" y="6027749"/>
          <a:ext cx="461010" cy="338074"/>
        </p:xfrm>
        <a:graphic>
          <a:graphicData uri="http://schemas.openxmlformats.org/presentationml/2006/ole">
            <mc:AlternateContent xmlns:mc="http://schemas.openxmlformats.org/markup-compatibility/2006">
              <mc:Choice xmlns:v="urn:schemas-microsoft-com:vml" Requires="v">
                <p:oleObj name="Equation" r:id="rId8" imgW="380880" imgH="279360" progId="Equation.DSMT4">
                  <p:embed/>
                </p:oleObj>
              </mc:Choice>
              <mc:Fallback>
                <p:oleObj name="Equation" r:id="rId8" imgW="380880" imgH="279360" progId="Equation.DSMT4">
                  <p:embed/>
                  <p:pic>
                    <p:nvPicPr>
                      <p:cNvPr id="0" name=""/>
                      <p:cNvPicPr/>
                      <p:nvPr/>
                    </p:nvPicPr>
                    <p:blipFill>
                      <a:blip r:embed="rId9"/>
                      <a:stretch>
                        <a:fillRect/>
                      </a:stretch>
                    </p:blipFill>
                    <p:spPr>
                      <a:xfrm>
                        <a:off x="3186531" y="6027749"/>
                        <a:ext cx="461010" cy="338074"/>
                      </a:xfrm>
                      <a:prstGeom prst="rect">
                        <a:avLst/>
                      </a:prstGeom>
                    </p:spPr>
                  </p:pic>
                </p:oleObj>
              </mc:Fallback>
            </mc:AlternateContent>
          </a:graphicData>
        </a:graphic>
      </p:graphicFrame>
    </p:spTree>
    <p:extLst>
      <p:ext uri="{BB962C8B-B14F-4D97-AF65-F5344CB8AC3E}">
        <p14:creationId xmlns:p14="http://schemas.microsoft.com/office/powerpoint/2010/main" val="4274915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5D787-2A4D-4704-833B-5A152BE3801E}"/>
              </a:ext>
            </a:extLst>
          </p:cNvPr>
          <p:cNvSpPr>
            <a:spLocks noGrp="1"/>
          </p:cNvSpPr>
          <p:nvPr>
            <p:ph type="title"/>
          </p:nvPr>
        </p:nvSpPr>
        <p:spPr>
          <a:xfrm>
            <a:off x="457200" y="215371"/>
            <a:ext cx="8351520" cy="1097279"/>
          </a:xfrm>
        </p:spPr>
        <p:txBody>
          <a:bodyPr/>
          <a:lstStyle/>
          <a:p>
            <a:r>
              <a:rPr lang="en-US" altLang="en-US" sz="3200" dirty="0">
                <a:ea typeface="ヒラギノ角ゴ Pro W3" pitchFamily="-84" charset="-128"/>
                <a:cs typeface="Times New Roman" panose="02020603050405020304" pitchFamily="18" charset="0"/>
              </a:rPr>
              <a:t>Policies to Maintain Full Employment </a:t>
            </a:r>
            <a:r>
              <a:rPr lang="en-US" altLang="en-US" sz="2000" b="0" dirty="0">
                <a:ea typeface="ヒラギノ角ゴ Pro W3" pitchFamily="-84" charset="-128"/>
                <a:cs typeface="Times New Roman" panose="02020603050405020304" pitchFamily="18" charset="0"/>
              </a:rPr>
              <a:t>(2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49F5E17-A3AC-4014-9052-14861497B5B8}"/>
              </a:ext>
            </a:extLst>
          </p:cNvPr>
          <p:cNvSpPr>
            <a:spLocks noGrp="1"/>
          </p:cNvSpPr>
          <p:nvPr>
            <p:ph sz="quarter" idx="13"/>
          </p:nvPr>
        </p:nvSpPr>
        <p:spPr>
          <a:xfrm>
            <a:off x="466602" y="1552575"/>
            <a:ext cx="8351519" cy="804545"/>
          </a:xfrm>
        </p:spPr>
        <p:txBody>
          <a:bodyPr/>
          <a:lstStyle/>
          <a:p>
            <a:r>
              <a:rPr lang="en-US" altLang="en-US" sz="2000" dirty="0">
                <a:latin typeface="Arial (Body)"/>
                <a:ea typeface="ヒラギノ角ゴ Pro W3" pitchFamily="-84" charset="-128"/>
              </a:rPr>
              <a:t>Policies to maintain full employment may seem easy in theory, but are hard in practice.</a:t>
            </a:r>
          </a:p>
        </p:txBody>
      </p:sp>
      <p:sp>
        <p:nvSpPr>
          <p:cNvPr id="4" name="Content Placeholder 3">
            <a:extLst>
              <a:ext uri="{FF2B5EF4-FFF2-40B4-BE49-F238E27FC236}">
                <a16:creationId xmlns:a16="http://schemas.microsoft.com/office/drawing/2014/main" id="{097FFC50-F76A-4F50-A22B-7820E7914E41}"/>
              </a:ext>
            </a:extLst>
          </p:cNvPr>
          <p:cNvSpPr>
            <a:spLocks noGrp="1"/>
          </p:cNvSpPr>
          <p:nvPr>
            <p:ph sz="quarter" idx="14"/>
          </p:nvPr>
        </p:nvSpPr>
        <p:spPr>
          <a:xfrm>
            <a:off x="468313" y="2464965"/>
            <a:ext cx="8340407" cy="1047491"/>
          </a:xfrm>
        </p:spPr>
        <p:txBody>
          <a:bodyPr/>
          <a:lstStyle/>
          <a:p>
            <a:pPr marL="432000" indent="-432000">
              <a:buFont typeface="+mj-lt"/>
              <a:buAutoNum type="arabicPeriod"/>
            </a:pPr>
            <a:r>
              <a:rPr lang="en-US" altLang="en-US" sz="2000" dirty="0">
                <a:latin typeface="Arial (Body)"/>
                <a:ea typeface="ヒラギノ角ゴ Pro W3" pitchFamily="-84" charset="-128"/>
              </a:rPr>
              <a:t>We have assumed that prices and expectations do not change, but people may anticipate the effects of policy changes and modify their behavior.</a:t>
            </a:r>
          </a:p>
        </p:txBody>
      </p:sp>
      <p:sp>
        <p:nvSpPr>
          <p:cNvPr id="5" name="Content Placeholder 4">
            <a:extLst>
              <a:ext uri="{FF2B5EF4-FFF2-40B4-BE49-F238E27FC236}">
                <a16:creationId xmlns:a16="http://schemas.microsoft.com/office/drawing/2014/main" id="{BA323581-67D7-4C7D-BD3C-AC388FBDD340}"/>
              </a:ext>
            </a:extLst>
          </p:cNvPr>
          <p:cNvSpPr>
            <a:spLocks noGrp="1"/>
          </p:cNvSpPr>
          <p:nvPr>
            <p:ph sz="quarter" idx="15"/>
          </p:nvPr>
        </p:nvSpPr>
        <p:spPr>
          <a:xfrm>
            <a:off x="468313" y="3563259"/>
            <a:ext cx="8218487" cy="2357121"/>
          </a:xfrm>
        </p:spPr>
        <p:txBody>
          <a:bodyPr/>
          <a:lstStyle/>
          <a:p>
            <a:pPr marL="740664" lvl="1" indent="-283464" eaLnBrk="1" hangingPunct="1"/>
            <a:r>
              <a:rPr lang="en-US" altLang="en-US" sz="2000" dirty="0">
                <a:latin typeface="Arial (Body)"/>
                <a:ea typeface="ヒラギノ角ゴ Pro W3" pitchFamily="-84" charset="-128"/>
              </a:rPr>
              <a:t>Workers may require higher wages if they expect overtime and easy employment, and producers may raise prices if they expect high wages and strong demand due to monetary and fiscal policies.</a:t>
            </a:r>
          </a:p>
          <a:p>
            <a:pPr marL="740664" lvl="1" indent="-283464" eaLnBrk="1" hangingPunct="1"/>
            <a:r>
              <a:rPr lang="en-US" altLang="en-US" sz="2000" dirty="0">
                <a:latin typeface="Arial (Body)"/>
                <a:ea typeface="ヒラギノ角ゴ Pro W3" pitchFamily="-84" charset="-128"/>
              </a:rPr>
              <a:t>Fiscal and monetary policies may therefore create price changes and inflation, thereby preventing high output and employment: </a:t>
            </a:r>
            <a:r>
              <a:rPr lang="en-US" altLang="en-US" sz="2000" b="1" dirty="0">
                <a:latin typeface="Arial (Body)"/>
                <a:ea typeface="ヒラギノ角ゴ Pro W3" pitchFamily="-84" charset="-128"/>
              </a:rPr>
              <a:t>inflationary bias</a:t>
            </a:r>
            <a:r>
              <a:rPr lang="en-US" altLang="en-US" sz="2000" dirty="0">
                <a:latin typeface="Arial (Body)"/>
                <a:ea typeface="ヒラギノ角ゴ Pro W3" pitchFamily="-84" charset="-128"/>
              </a:rPr>
              <a:t>. </a:t>
            </a:r>
          </a:p>
        </p:txBody>
      </p:sp>
    </p:spTree>
    <p:extLst>
      <p:ext uri="{BB962C8B-B14F-4D97-AF65-F5344CB8AC3E}">
        <p14:creationId xmlns:p14="http://schemas.microsoft.com/office/powerpoint/2010/main" val="29963418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5D787-2A4D-4704-833B-5A152BE3801E}"/>
              </a:ext>
            </a:extLst>
          </p:cNvPr>
          <p:cNvSpPr>
            <a:spLocks noGrp="1"/>
          </p:cNvSpPr>
          <p:nvPr>
            <p:ph type="title"/>
          </p:nvPr>
        </p:nvSpPr>
        <p:spPr>
          <a:xfrm>
            <a:off x="457200" y="215371"/>
            <a:ext cx="8361680" cy="1097279"/>
          </a:xfrm>
        </p:spPr>
        <p:txBody>
          <a:bodyPr/>
          <a:lstStyle/>
          <a:p>
            <a:r>
              <a:rPr lang="en-US" altLang="en-US" sz="3200" dirty="0">
                <a:ea typeface="ヒラギノ角ゴ Pro W3" pitchFamily="-84" charset="-128"/>
                <a:cs typeface="Times New Roman" panose="02020603050405020304" pitchFamily="18" charset="0"/>
              </a:rPr>
              <a:t>Policies to Maintain Full Employment </a:t>
            </a:r>
            <a:r>
              <a:rPr lang="en-US" altLang="en-US" sz="2000" b="0" dirty="0">
                <a:ea typeface="ヒラギノ角ゴ Pro W3" pitchFamily="-84" charset="-128"/>
                <a:cs typeface="Times New Roman" panose="02020603050405020304" pitchFamily="18" charset="0"/>
              </a:rPr>
              <a:t>(3 of 3)</a:t>
            </a:r>
            <a:endParaRPr lang="en-IN" sz="2000" dirty="0">
              <a:cs typeface="Times New Roman" panose="02020603050405020304" pitchFamily="18" charset="0"/>
            </a:endParaRPr>
          </a:p>
        </p:txBody>
      </p:sp>
      <p:sp>
        <p:nvSpPr>
          <p:cNvPr id="12" name="Content Placeholder 11">
            <a:extLst>
              <a:ext uri="{FF2B5EF4-FFF2-40B4-BE49-F238E27FC236}">
                <a16:creationId xmlns:a16="http://schemas.microsoft.com/office/drawing/2014/main" id="{2C968756-C87A-44B9-BB48-19E6CE5204FD}"/>
              </a:ext>
            </a:extLst>
          </p:cNvPr>
          <p:cNvSpPr>
            <a:spLocks noGrp="1"/>
          </p:cNvSpPr>
          <p:nvPr>
            <p:ph sz="quarter" idx="13"/>
          </p:nvPr>
        </p:nvSpPr>
        <p:spPr>
          <a:xfrm>
            <a:off x="457200" y="1552576"/>
            <a:ext cx="8107680" cy="421368"/>
          </a:xfrm>
        </p:spPr>
        <p:txBody>
          <a:bodyPr/>
          <a:lstStyle/>
          <a:p>
            <a:pPr marL="432000" indent="-432000">
              <a:buFont typeface="+mj-lt"/>
              <a:buAutoNum type="arabicPeriod" startAt="2"/>
            </a:pPr>
            <a:r>
              <a:rPr lang="en-US" altLang="en-US" sz="2000" dirty="0">
                <a:ea typeface="ヒラギノ角ゴ Pro W3" pitchFamily="-84" charset="-128"/>
              </a:rPr>
              <a:t>Economic data are difficult to measure and to understand.</a:t>
            </a:r>
            <a:endParaRPr lang="en-IN" sz="2000" dirty="0"/>
          </a:p>
        </p:txBody>
      </p:sp>
      <p:sp>
        <p:nvSpPr>
          <p:cNvPr id="13" name="Content Placeholder 12">
            <a:extLst>
              <a:ext uri="{FF2B5EF4-FFF2-40B4-BE49-F238E27FC236}">
                <a16:creationId xmlns:a16="http://schemas.microsoft.com/office/drawing/2014/main" id="{39128F45-4622-4483-80BE-A49406D9EE4C}"/>
              </a:ext>
            </a:extLst>
          </p:cNvPr>
          <p:cNvSpPr>
            <a:spLocks noGrp="1"/>
          </p:cNvSpPr>
          <p:nvPr>
            <p:ph sz="quarter" idx="14"/>
          </p:nvPr>
        </p:nvSpPr>
        <p:spPr>
          <a:xfrm>
            <a:off x="468313" y="2052324"/>
            <a:ext cx="8218487" cy="1039220"/>
          </a:xfrm>
        </p:spPr>
        <p:txBody>
          <a:bodyPr/>
          <a:lstStyle/>
          <a:p>
            <a:pPr lvl="1" indent="-284400"/>
            <a:r>
              <a:rPr lang="en-US" altLang="en-US" sz="2000" dirty="0">
                <a:ea typeface="ヒラギノ角ゴ Pro W3" pitchFamily="-84" charset="-128"/>
              </a:rPr>
              <a:t>Policy makers cannot interpret data about asset markets and aggregate demand with certainty, and sometimes they make mistakes.</a:t>
            </a:r>
          </a:p>
        </p:txBody>
      </p:sp>
      <p:sp>
        <p:nvSpPr>
          <p:cNvPr id="14" name="Content Placeholder 13">
            <a:extLst>
              <a:ext uri="{FF2B5EF4-FFF2-40B4-BE49-F238E27FC236}">
                <a16:creationId xmlns:a16="http://schemas.microsoft.com/office/drawing/2014/main" id="{BE67233F-87B2-4D34-97E9-5299BE2AACB1}"/>
              </a:ext>
            </a:extLst>
          </p:cNvPr>
          <p:cNvSpPr>
            <a:spLocks noGrp="1"/>
          </p:cNvSpPr>
          <p:nvPr>
            <p:ph sz="quarter" idx="15"/>
          </p:nvPr>
        </p:nvSpPr>
        <p:spPr>
          <a:xfrm>
            <a:off x="468313" y="3142345"/>
            <a:ext cx="8218487" cy="762000"/>
          </a:xfrm>
        </p:spPr>
        <p:txBody>
          <a:bodyPr/>
          <a:lstStyle/>
          <a:p>
            <a:pPr marL="432000" indent="-432000">
              <a:buFont typeface="+mj-lt"/>
              <a:buAutoNum type="arabicPeriod" startAt="3"/>
            </a:pPr>
            <a:r>
              <a:rPr lang="en-US" altLang="en-US" sz="2000" dirty="0">
                <a:ea typeface="ヒラギノ角ゴ Pro W3" pitchFamily="-84" charset="-128"/>
              </a:rPr>
              <a:t>Changes in policies take time to be implemented and to affect the economy.</a:t>
            </a:r>
          </a:p>
        </p:txBody>
      </p:sp>
      <p:sp>
        <p:nvSpPr>
          <p:cNvPr id="15" name="Content Placeholder 14">
            <a:extLst>
              <a:ext uri="{FF2B5EF4-FFF2-40B4-BE49-F238E27FC236}">
                <a16:creationId xmlns:a16="http://schemas.microsoft.com/office/drawing/2014/main" id="{75E99186-1808-443D-A599-40710CFE278C}"/>
              </a:ext>
            </a:extLst>
          </p:cNvPr>
          <p:cNvSpPr>
            <a:spLocks noGrp="1"/>
          </p:cNvSpPr>
          <p:nvPr>
            <p:ph sz="quarter" idx="16"/>
          </p:nvPr>
        </p:nvSpPr>
        <p:spPr>
          <a:xfrm>
            <a:off x="468313" y="3968070"/>
            <a:ext cx="8218487" cy="762000"/>
          </a:xfrm>
        </p:spPr>
        <p:txBody>
          <a:bodyPr/>
          <a:lstStyle/>
          <a:p>
            <a:pPr lvl="1" indent="-284400"/>
            <a:r>
              <a:rPr lang="en-US" altLang="en-US" sz="2000" dirty="0">
                <a:ea typeface="ヒラギノ角ゴ Pro W3" pitchFamily="-84" charset="-128"/>
              </a:rPr>
              <a:t>Because they are slow, policies may affect the economy after the effects of an economic change have dissipated.</a:t>
            </a:r>
            <a:endParaRPr lang="en-IN" sz="2000" dirty="0"/>
          </a:p>
        </p:txBody>
      </p:sp>
      <p:sp>
        <p:nvSpPr>
          <p:cNvPr id="16" name="Content Placeholder 15">
            <a:extLst>
              <a:ext uri="{FF2B5EF4-FFF2-40B4-BE49-F238E27FC236}">
                <a16:creationId xmlns:a16="http://schemas.microsoft.com/office/drawing/2014/main" id="{8587C1F5-ED50-4B0A-B069-854AA09415E1}"/>
              </a:ext>
            </a:extLst>
          </p:cNvPr>
          <p:cNvSpPr>
            <a:spLocks noGrp="1"/>
          </p:cNvSpPr>
          <p:nvPr>
            <p:ph sz="quarter" idx="17"/>
          </p:nvPr>
        </p:nvSpPr>
        <p:spPr>
          <a:xfrm>
            <a:off x="457200" y="4827451"/>
            <a:ext cx="8229600" cy="789304"/>
          </a:xfrm>
        </p:spPr>
        <p:txBody>
          <a:bodyPr/>
          <a:lstStyle/>
          <a:p>
            <a:pPr marL="432000" indent="-432000">
              <a:buFont typeface="+mj-lt"/>
              <a:buAutoNum type="arabicPeriod" startAt="4"/>
            </a:pPr>
            <a:r>
              <a:rPr lang="en-US" altLang="en-US" sz="2000" dirty="0">
                <a:ea typeface="ヒラギノ角ゴ Pro W3" pitchFamily="-84" charset="-128"/>
              </a:rPr>
              <a:t>Policies are sometimes influenced by political or bureaucratic interests.</a:t>
            </a:r>
            <a:endParaRPr lang="en-IN" sz="2000" dirty="0"/>
          </a:p>
        </p:txBody>
      </p:sp>
    </p:spTree>
    <p:extLst>
      <p:ext uri="{BB962C8B-B14F-4D97-AF65-F5344CB8AC3E}">
        <p14:creationId xmlns:p14="http://schemas.microsoft.com/office/powerpoint/2010/main" val="39036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A14AD-5E4F-4E2C-8FB5-74AFFE6AF935}"/>
              </a:ext>
            </a:extLst>
          </p:cNvPr>
          <p:cNvSpPr>
            <a:spLocks noGrp="1"/>
          </p:cNvSpPr>
          <p:nvPr>
            <p:ph type="title"/>
          </p:nvPr>
        </p:nvSpPr>
        <p:spPr/>
        <p:txBody>
          <a:bodyPr/>
          <a:lstStyle/>
          <a:p>
            <a:r>
              <a:rPr lang="en-US" altLang="en-US" sz="3200" dirty="0">
                <a:ea typeface="ヒラギノ角ゴ Pro W3" pitchFamily="-84" charset="-128"/>
              </a:rPr>
              <a:t>Permanent Changes in Monetary and Fiscal Policy</a:t>
            </a:r>
            <a:endParaRPr lang="en-IN" sz="3200" dirty="0"/>
          </a:p>
        </p:txBody>
      </p:sp>
      <p:sp>
        <p:nvSpPr>
          <p:cNvPr id="3" name="Content Placeholder 2">
            <a:extLst>
              <a:ext uri="{FF2B5EF4-FFF2-40B4-BE49-F238E27FC236}">
                <a16:creationId xmlns:a16="http://schemas.microsoft.com/office/drawing/2014/main" id="{E7449CA9-9D5E-4F78-8ECC-7D04DCB5FFFA}"/>
              </a:ext>
            </a:extLst>
          </p:cNvPr>
          <p:cNvSpPr>
            <a:spLocks noGrp="1"/>
          </p:cNvSpPr>
          <p:nvPr>
            <p:ph sz="quarter" idx="13"/>
          </p:nvPr>
        </p:nvSpPr>
        <p:spPr>
          <a:xfrm>
            <a:off x="457200" y="1556327"/>
            <a:ext cx="8229600" cy="1257993"/>
          </a:xfrm>
        </p:spPr>
        <p:txBody>
          <a:bodyPr/>
          <a:lstStyle/>
          <a:p>
            <a:r>
              <a:rPr lang="en-US" altLang="ja-JP" dirty="0">
                <a:ea typeface="ヒラギノ角ゴ Pro W3" pitchFamily="-84" charset="-128"/>
              </a:rPr>
              <a:t>“</a:t>
            </a:r>
            <a:r>
              <a:rPr lang="en-US" altLang="ja-JP" sz="2400" dirty="0">
                <a:ea typeface="ヒラギノ角ゴ Pro W3" pitchFamily="-84" charset="-128"/>
              </a:rPr>
              <a:t>Permanent” policy changes are those that are assumed to modify people</a:t>
            </a:r>
            <a:r>
              <a:rPr lang="en-US" altLang="ja-JP" dirty="0">
                <a:ea typeface="ヒラギノ角ゴ Pro W3" pitchFamily="-84" charset="-128"/>
              </a:rPr>
              <a:t>’</a:t>
            </a:r>
            <a:r>
              <a:rPr lang="en-US" altLang="ja-JP" sz="2400" dirty="0">
                <a:ea typeface="ヒラギノ角ゴ Pro W3" pitchFamily="-84" charset="-128"/>
              </a:rPr>
              <a:t>s expectations about exchange rates in the long run.</a:t>
            </a:r>
            <a:endParaRPr lang="en-US" altLang="en-US" sz="2400" dirty="0">
              <a:ea typeface="ヒラギノ角ゴ Pro W3" pitchFamily="-84" charset="-128"/>
            </a:endParaRPr>
          </a:p>
        </p:txBody>
      </p:sp>
    </p:spTree>
    <p:extLst>
      <p:ext uri="{BB962C8B-B14F-4D97-AF65-F5344CB8AC3E}">
        <p14:creationId xmlns:p14="http://schemas.microsoft.com/office/powerpoint/2010/main" val="852534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0D6F-13C1-49C1-9BF8-98FD1CC14C2A}"/>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Permanent Changes in Monetary Policy</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8793619D-2870-44EB-93F4-9710FF989648}"/>
              </a:ext>
            </a:extLst>
          </p:cNvPr>
          <p:cNvSpPr>
            <a:spLocks noGrp="1"/>
          </p:cNvSpPr>
          <p:nvPr>
            <p:ph sz="quarter" idx="13"/>
          </p:nvPr>
        </p:nvSpPr>
        <p:spPr/>
        <p:txBody>
          <a:bodyPr/>
          <a:lstStyle/>
          <a:p>
            <a:pPr eaLnBrk="1" hangingPunct="1"/>
            <a:r>
              <a:rPr lang="en-US" altLang="en-US" dirty="0">
                <a:latin typeface="Arial (Body)"/>
                <a:ea typeface="ヒラギノ角ゴ Pro W3" pitchFamily="-84" charset="-128"/>
              </a:rPr>
              <a:t>A permanent increase in the quantity of monetary assets supplied has several effects:</a:t>
            </a:r>
          </a:p>
          <a:p>
            <a:pPr lvl="1" eaLnBrk="1" hangingPunct="1"/>
            <a:r>
              <a:rPr lang="en-US" altLang="en-US" dirty="0">
                <a:latin typeface="Arial (Body)"/>
                <a:ea typeface="ヒラギノ角ゴ Pro W3" pitchFamily="-84" charset="-128"/>
              </a:rPr>
              <a:t>It lowers interest rates in the short run and makes people expect future depreciation of the domestic currency, increasing the expected rate of return on foreign currency deposits. </a:t>
            </a:r>
          </a:p>
          <a:p>
            <a:pPr lvl="1" eaLnBrk="1" hangingPunct="1"/>
            <a:r>
              <a:rPr lang="en-US" altLang="en-US" dirty="0">
                <a:latin typeface="Arial (Body)"/>
                <a:ea typeface="ヒラギノ角ゴ Pro W3" pitchFamily="-84" charset="-128"/>
              </a:rPr>
              <a:t>The domestic currency depreciates (</a:t>
            </a:r>
            <a:r>
              <a:rPr lang="en-US" altLang="en-US" i="1" dirty="0">
                <a:latin typeface="Arial (Body)"/>
                <a:ea typeface="ヒラギノ角ゴ Pro W3" pitchFamily="-84" charset="-128"/>
              </a:rPr>
              <a:t>E</a:t>
            </a:r>
            <a:r>
              <a:rPr lang="en-US" altLang="en-US" dirty="0">
                <a:latin typeface="Arial (Body)"/>
                <a:ea typeface="ヒラギノ角ゴ Pro W3" pitchFamily="-84" charset="-128"/>
              </a:rPr>
              <a:t> rises) more than is the case when expectations are constant (Econ Chapter 14/Finance Chapter 3 results). </a:t>
            </a:r>
          </a:p>
          <a:p>
            <a:pPr lvl="1" eaLnBrk="1" hangingPunct="1"/>
            <a:r>
              <a:rPr lang="en-US" altLang="en-US" dirty="0">
                <a:latin typeface="Arial (Body)"/>
                <a:ea typeface="ヒラギノ角ゴ Pro W3" pitchFamily="-84" charset="-128"/>
              </a:rPr>
              <a:t>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 shifts up (right) more than is the case when expectations are held constant.</a:t>
            </a:r>
          </a:p>
        </p:txBody>
      </p:sp>
    </p:spTree>
    <p:extLst>
      <p:ext uri="{BB962C8B-B14F-4D97-AF65-F5344CB8AC3E}">
        <p14:creationId xmlns:p14="http://schemas.microsoft.com/office/powerpoint/2010/main" val="3044983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65526-203D-4205-A5C6-5B758C681E43}"/>
              </a:ext>
            </a:extLst>
          </p:cNvPr>
          <p:cNvSpPr>
            <a:spLocks noGrp="1"/>
          </p:cNvSpPr>
          <p:nvPr>
            <p:ph type="title"/>
          </p:nvPr>
        </p:nvSpPr>
        <p:spPr/>
        <p:txBody>
          <a:bodyPr/>
          <a:lstStyle/>
          <a:p>
            <a:r>
              <a:rPr lang="en-US" altLang="en-US" sz="3000" dirty="0">
                <a:ea typeface="ヒラギノ角ゴ Pro W3" pitchFamily="-84" charset="-128"/>
                <a:cs typeface="Times New Roman" panose="02020603050405020304" pitchFamily="18" charset="0"/>
              </a:rPr>
              <a:t>Figure 17.14 Short-Run Effects of a Permanent Increase in the Money Supply</a:t>
            </a:r>
            <a:endParaRPr lang="en-IN" sz="3000" dirty="0">
              <a:cs typeface="Times New Roman" panose="02020603050405020304" pitchFamily="18" charset="0"/>
            </a:endParaRPr>
          </a:p>
        </p:txBody>
      </p:sp>
      <p:pic>
        <p:nvPicPr>
          <p:cNvPr id="9" name="Content Placeholder 8" descr="A graph plots exchange rate E versus output Y. For long description in Notes pane, press F6.">
            <a:extLst>
              <a:ext uri="{FF2B5EF4-FFF2-40B4-BE49-F238E27FC236}">
                <a16:creationId xmlns:a16="http://schemas.microsoft.com/office/drawing/2014/main" id="{107A1761-EA6A-4FDE-A826-1A820D639D3E}"/>
              </a:ext>
            </a:extLst>
          </p:cNvPr>
          <p:cNvPicPr>
            <a:picLocks noGrp="1" noChangeAspect="1"/>
          </p:cNvPicPr>
          <p:nvPr>
            <p:ph sz="quarter" idx="13"/>
          </p:nvPr>
        </p:nvPicPr>
        <p:blipFill>
          <a:blip r:embed="rId3"/>
          <a:stretch>
            <a:fillRect/>
          </a:stretch>
        </p:blipFill>
        <p:spPr>
          <a:xfrm>
            <a:off x="3109505" y="1414048"/>
            <a:ext cx="2924990" cy="3286568"/>
          </a:xfrm>
        </p:spPr>
      </p:pic>
      <p:sp>
        <p:nvSpPr>
          <p:cNvPr id="4" name="Content Placeholder 3">
            <a:extLst>
              <a:ext uri="{FF2B5EF4-FFF2-40B4-BE49-F238E27FC236}">
                <a16:creationId xmlns:a16="http://schemas.microsoft.com/office/drawing/2014/main" id="{395FD6B8-7D2C-4D6C-9E0F-8F311972D5FB}"/>
              </a:ext>
            </a:extLst>
          </p:cNvPr>
          <p:cNvSpPr>
            <a:spLocks noGrp="1"/>
          </p:cNvSpPr>
          <p:nvPr>
            <p:ph sz="quarter" idx="14"/>
          </p:nvPr>
        </p:nvSpPr>
        <p:spPr>
          <a:xfrm>
            <a:off x="468312" y="4894278"/>
            <a:ext cx="5839891" cy="412806"/>
          </a:xfrm>
        </p:spPr>
        <p:txBody>
          <a:bodyPr/>
          <a:lstStyle/>
          <a:p>
            <a:pPr marL="432" indent="0">
              <a:buNone/>
            </a:pPr>
            <a:r>
              <a:rPr lang="en-US" sz="1800" dirty="0">
                <a:latin typeface="Arial (Body)"/>
              </a:rPr>
              <a:t>A permanent increase in the money supply, which shifts</a:t>
            </a:r>
            <a:endParaRPr lang="en-IN" sz="1800" dirty="0"/>
          </a:p>
        </p:txBody>
      </p:sp>
      <p:graphicFrame>
        <p:nvGraphicFramePr>
          <p:cNvPr id="7" name="Object 6" descr="A A super 1 to A A super 2">
            <a:extLst>
              <a:ext uri="{FF2B5EF4-FFF2-40B4-BE49-F238E27FC236}">
                <a16:creationId xmlns:a16="http://schemas.microsoft.com/office/drawing/2014/main" id="{62434C9B-149F-4F45-A6EE-EEA2B46C27A9}"/>
              </a:ext>
            </a:extLst>
          </p:cNvPr>
          <p:cNvGraphicFramePr>
            <a:graphicFrameLocks noChangeAspect="1"/>
          </p:cNvGraphicFramePr>
          <p:nvPr>
            <p:extLst>
              <p:ext uri="{D42A27DB-BD31-4B8C-83A1-F6EECF244321}">
                <p14:modId xmlns:p14="http://schemas.microsoft.com/office/powerpoint/2010/main" val="4085040885"/>
              </p:ext>
            </p:extLst>
          </p:nvPr>
        </p:nvGraphicFramePr>
        <p:xfrm>
          <a:off x="6401019" y="4982357"/>
          <a:ext cx="1156367" cy="297735"/>
        </p:xfrm>
        <a:graphic>
          <a:graphicData uri="http://schemas.openxmlformats.org/presentationml/2006/ole">
            <mc:AlternateContent xmlns:mc="http://schemas.openxmlformats.org/markup-compatibility/2006">
              <mc:Choice xmlns:v="urn:schemas-microsoft-com:vml" Requires="v">
                <p:oleObj name="Equation" r:id="rId4" imgW="787320" imgH="203040" progId="Equation.DSMT4">
                  <p:embed/>
                </p:oleObj>
              </mc:Choice>
              <mc:Fallback>
                <p:oleObj name="Equation" r:id="rId4" imgW="787320" imgH="203040" progId="Equation.DSMT4">
                  <p:embed/>
                  <p:pic>
                    <p:nvPicPr>
                      <p:cNvPr id="19" name="Object 18">
                        <a:extLst>
                          <a:ext uri="{FF2B5EF4-FFF2-40B4-BE49-F238E27FC236}">
                            <a16:creationId xmlns:a16="http://schemas.microsoft.com/office/drawing/2014/main" id="{02E309DC-1555-43D6-969B-A62E4C398594}"/>
                          </a:ext>
                        </a:extLst>
                      </p:cNvPr>
                      <p:cNvPicPr/>
                      <p:nvPr/>
                    </p:nvPicPr>
                    <p:blipFill>
                      <a:blip r:embed="rId5"/>
                      <a:stretch>
                        <a:fillRect/>
                      </a:stretch>
                    </p:blipFill>
                    <p:spPr>
                      <a:xfrm>
                        <a:off x="6401019" y="4982357"/>
                        <a:ext cx="1156367" cy="29773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CA12DF93-EA57-427F-AE31-DF26450CB79E}"/>
              </a:ext>
            </a:extLst>
          </p:cNvPr>
          <p:cNvSpPr>
            <a:spLocks noGrp="1"/>
          </p:cNvSpPr>
          <p:nvPr>
            <p:ph sz="quarter" idx="15"/>
          </p:nvPr>
        </p:nvSpPr>
        <p:spPr>
          <a:xfrm>
            <a:off x="468312" y="5379454"/>
            <a:ext cx="8218487" cy="905232"/>
          </a:xfrm>
        </p:spPr>
        <p:txBody>
          <a:bodyPr tIns="0"/>
          <a:lstStyle/>
          <a:p>
            <a:pPr marL="432" indent="0">
              <a:buNone/>
            </a:pPr>
            <a:r>
              <a:rPr lang="en-US" sz="1800" dirty="0">
                <a:latin typeface="Arial (Body)"/>
              </a:rPr>
              <a:t>and moves the economy from point 1 to point 2, has stronger effects on the exchange rate and output than an equal temporary increase, which moves the economy only to point 3.</a:t>
            </a:r>
            <a:endParaRPr lang="en-IN" sz="1800" dirty="0"/>
          </a:p>
        </p:txBody>
      </p:sp>
    </p:spTree>
    <p:extLst>
      <p:ext uri="{BB962C8B-B14F-4D97-AF65-F5344CB8AC3E}">
        <p14:creationId xmlns:p14="http://schemas.microsoft.com/office/powerpoint/2010/main" val="14288813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E59C9-32F2-4A3B-8953-5897C665AE4D}"/>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Effects of Permanent Changes in Monetary Policy in the Long Run</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ADA82009-0FF2-43D3-9B5C-90C3E16A7131}"/>
              </a:ext>
            </a:extLst>
          </p:cNvPr>
          <p:cNvSpPr>
            <a:spLocks noGrp="1"/>
          </p:cNvSpPr>
          <p:nvPr>
            <p:ph sz="quarter" idx="13"/>
          </p:nvPr>
        </p:nvSpPr>
        <p:spPr/>
        <p:txBody>
          <a:bodyPr/>
          <a:lstStyle/>
          <a:p>
            <a:pPr eaLnBrk="1" hangingPunct="1"/>
            <a:r>
              <a:rPr lang="en-US" altLang="en-US" dirty="0">
                <a:latin typeface="Arial (Body)"/>
                <a:ea typeface="ヒラギノ角ゴ Pro W3" pitchFamily="-84" charset="-128"/>
              </a:rPr>
              <a:t>With employment and hours above their normal levels, there is a tendency for wages to rise over time.</a:t>
            </a:r>
          </a:p>
          <a:p>
            <a:pPr eaLnBrk="1" hangingPunct="1"/>
            <a:r>
              <a:rPr lang="en-US" altLang="en-US" dirty="0">
                <a:latin typeface="Arial (Body)"/>
                <a:ea typeface="ヒラギノ角ゴ Pro W3" pitchFamily="-84" charset="-128"/>
              </a:rPr>
              <a:t>With strong demand for goods and services and with increasing wages, producers have an incentive to raise prices over time.</a:t>
            </a:r>
          </a:p>
          <a:p>
            <a:pPr eaLnBrk="1" hangingPunct="1"/>
            <a:r>
              <a:rPr lang="en-US" altLang="en-US" dirty="0">
                <a:latin typeface="Arial (Body)"/>
                <a:ea typeface="ヒラギノ角ゴ Pro W3" pitchFamily="-84" charset="-128"/>
              </a:rPr>
              <a:t>Both higher wages and higher output prices are reflected in a higher level of average prices.</a:t>
            </a:r>
          </a:p>
          <a:p>
            <a:pPr eaLnBrk="1" hangingPunct="1"/>
            <a:r>
              <a:rPr lang="en-US" altLang="en-US" dirty="0">
                <a:latin typeface="Arial (Body)"/>
                <a:ea typeface="ヒラギノ角ゴ Pro W3" pitchFamily="-84" charset="-128"/>
              </a:rPr>
              <a:t>What are the effects of rising prices?</a:t>
            </a:r>
          </a:p>
        </p:txBody>
      </p:sp>
    </p:spTree>
    <p:extLst>
      <p:ext uri="{BB962C8B-B14F-4D97-AF65-F5344CB8AC3E}">
        <p14:creationId xmlns:p14="http://schemas.microsoft.com/office/powerpoint/2010/main" val="34706577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A969D-1976-4D47-B1B6-EA6380AA8AE2}"/>
              </a:ext>
            </a:extLst>
          </p:cNvPr>
          <p:cNvSpPr>
            <a:spLocks noGrp="1"/>
          </p:cNvSpPr>
          <p:nvPr>
            <p:ph type="title"/>
          </p:nvPr>
        </p:nvSpPr>
        <p:spPr/>
        <p:txBody>
          <a:bodyPr/>
          <a:lstStyle/>
          <a:p>
            <a:r>
              <a:rPr lang="en-US" altLang="en-US" sz="3000" dirty="0">
                <a:ea typeface="ヒラギノ角ゴ Pro W3" pitchFamily="-84" charset="-128"/>
                <a:cs typeface="Times New Roman" panose="02020603050405020304" pitchFamily="18" charset="0"/>
              </a:rPr>
              <a:t>Figure 17.15 Long-Run Adjustment to a Permanent Increase in the Money Supply</a:t>
            </a:r>
            <a:endParaRPr lang="en-IN" sz="3000" dirty="0">
              <a:cs typeface="Times New Roman" panose="02020603050405020304" pitchFamily="18" charset="0"/>
            </a:endParaRPr>
          </a:p>
        </p:txBody>
      </p:sp>
      <p:pic>
        <p:nvPicPr>
          <p:cNvPr id="6" name="Content Placeholder 5" descr="A graph plots exchange rate E versus output Y. For long description in Notes pane, press F6.">
            <a:extLst>
              <a:ext uri="{FF2B5EF4-FFF2-40B4-BE49-F238E27FC236}">
                <a16:creationId xmlns:a16="http://schemas.microsoft.com/office/drawing/2014/main" id="{0053488E-F58F-4890-A910-BFFC3A649700}"/>
              </a:ext>
            </a:extLst>
          </p:cNvPr>
          <p:cNvPicPr>
            <a:picLocks noGrp="1" noChangeAspect="1"/>
          </p:cNvPicPr>
          <p:nvPr>
            <p:ph sz="quarter" idx="13"/>
          </p:nvPr>
        </p:nvPicPr>
        <p:blipFill>
          <a:blip r:embed="rId3"/>
          <a:stretch>
            <a:fillRect/>
          </a:stretch>
        </p:blipFill>
        <p:spPr>
          <a:xfrm>
            <a:off x="3093034" y="1663608"/>
            <a:ext cx="2957933" cy="3321366"/>
          </a:xfrm>
        </p:spPr>
      </p:pic>
      <p:sp>
        <p:nvSpPr>
          <p:cNvPr id="4" name="Content Placeholder 3">
            <a:extLst>
              <a:ext uri="{FF2B5EF4-FFF2-40B4-BE49-F238E27FC236}">
                <a16:creationId xmlns:a16="http://schemas.microsoft.com/office/drawing/2014/main" id="{B3811081-B267-488D-926C-1797D7BC0F3E}"/>
              </a:ext>
            </a:extLst>
          </p:cNvPr>
          <p:cNvSpPr>
            <a:spLocks noGrp="1"/>
          </p:cNvSpPr>
          <p:nvPr>
            <p:ph sz="quarter" idx="14"/>
          </p:nvPr>
        </p:nvSpPr>
        <p:spPr>
          <a:xfrm>
            <a:off x="457200" y="5335932"/>
            <a:ext cx="8229600" cy="1018572"/>
          </a:xfrm>
        </p:spPr>
        <p:txBody>
          <a:bodyPr/>
          <a:lstStyle/>
          <a:p>
            <a:pPr marL="432" indent="0">
              <a:buNone/>
            </a:pPr>
            <a:r>
              <a:rPr lang="en-US" sz="1800" dirty="0">
                <a:latin typeface="Arial (Body)"/>
              </a:rPr>
              <a:t>After a permanent money supply increase, a steadily increasing price level shifts the </a:t>
            </a:r>
            <a:r>
              <a:rPr lang="en-US" sz="1800" i="1" dirty="0">
                <a:latin typeface="Arial (Body)"/>
              </a:rPr>
              <a:t>D</a:t>
            </a:r>
            <a:r>
              <a:rPr lang="en-US" sz="100" i="1" dirty="0">
                <a:latin typeface="Arial (Body)"/>
              </a:rPr>
              <a:t> </a:t>
            </a:r>
            <a:r>
              <a:rPr lang="en-US" sz="1800" i="1" dirty="0" err="1">
                <a:latin typeface="Arial (Body)"/>
              </a:rPr>
              <a:t>D</a:t>
            </a:r>
            <a:r>
              <a:rPr lang="en-US" sz="1800" i="1" dirty="0">
                <a:latin typeface="Arial (Body)"/>
              </a:rPr>
              <a:t> </a:t>
            </a:r>
            <a:r>
              <a:rPr lang="en-US" sz="1800" dirty="0">
                <a:latin typeface="Arial (Body)"/>
              </a:rPr>
              <a:t>and </a:t>
            </a:r>
            <a:r>
              <a:rPr lang="en-US" sz="1800" i="1" dirty="0">
                <a:latin typeface="Arial (Body)"/>
              </a:rPr>
              <a:t>A</a:t>
            </a:r>
            <a:r>
              <a:rPr lang="en-US" sz="100" i="1" dirty="0">
                <a:latin typeface="Arial (Body)"/>
              </a:rPr>
              <a:t> </a:t>
            </a:r>
            <a:r>
              <a:rPr lang="en-US" sz="1800" i="1" dirty="0" err="1">
                <a:latin typeface="Arial (Body)"/>
              </a:rPr>
              <a:t>A</a:t>
            </a:r>
            <a:r>
              <a:rPr lang="en-US" sz="1800" i="1" dirty="0">
                <a:latin typeface="Arial (Body)"/>
              </a:rPr>
              <a:t> </a:t>
            </a:r>
            <a:r>
              <a:rPr lang="en-US" sz="1800" dirty="0">
                <a:latin typeface="Arial (Body)"/>
              </a:rPr>
              <a:t>schedules to the left until a new long-run equilibrium (point 3) is reached.</a:t>
            </a:r>
          </a:p>
        </p:txBody>
      </p:sp>
    </p:spTree>
    <p:extLst>
      <p:ext uri="{BB962C8B-B14F-4D97-AF65-F5344CB8AC3E}">
        <p14:creationId xmlns:p14="http://schemas.microsoft.com/office/powerpoint/2010/main" val="24435167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EBD7-EA82-44C2-9111-E4432235EFA5}"/>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Effects of Permanent Changes in Fiscal Policy </a:t>
            </a:r>
            <a:r>
              <a:rPr lang="en-US" altLang="en-US" sz="2000" b="0" dirty="0">
                <a:ea typeface="ヒラギノ角ゴ Pro W3" pitchFamily="-84" charset="-128"/>
                <a:cs typeface="Times New Roman" panose="02020603050405020304" pitchFamily="18" charset="0"/>
              </a:rPr>
              <a:t>(1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4CC44CBF-500B-48BF-A6D3-5F0BD9E61DEC}"/>
              </a:ext>
            </a:extLst>
          </p:cNvPr>
          <p:cNvSpPr>
            <a:spLocks noGrp="1"/>
          </p:cNvSpPr>
          <p:nvPr>
            <p:ph sz="quarter" idx="13"/>
          </p:nvPr>
        </p:nvSpPr>
        <p:spPr/>
        <p:txBody>
          <a:bodyPr/>
          <a:lstStyle/>
          <a:p>
            <a:pPr eaLnBrk="1" hangingPunct="1"/>
            <a:r>
              <a:rPr lang="en-US" altLang="en-US" sz="2200" dirty="0">
                <a:latin typeface="Arial (Body)"/>
                <a:ea typeface="ヒラギノ角ゴ Pro W3" pitchFamily="-84" charset="-128"/>
              </a:rPr>
              <a:t>A permanent increase in government purchases or reduction in taxes </a:t>
            </a:r>
          </a:p>
          <a:p>
            <a:pPr lvl="1" eaLnBrk="1" hangingPunct="1"/>
            <a:r>
              <a:rPr lang="en-US" altLang="en-US" sz="2200" dirty="0">
                <a:latin typeface="Arial (Body)"/>
                <a:ea typeface="ヒラギノ角ゴ Pro W3" pitchFamily="-84" charset="-128"/>
              </a:rPr>
              <a:t>increases aggregate demand</a:t>
            </a:r>
          </a:p>
          <a:p>
            <a:pPr lvl="1" eaLnBrk="1" hangingPunct="1"/>
            <a:r>
              <a:rPr lang="en-US" altLang="en-US" sz="2200" dirty="0">
                <a:latin typeface="Arial (Body)"/>
                <a:ea typeface="ヒラギノ角ゴ Pro W3" pitchFamily="-84" charset="-128"/>
              </a:rPr>
              <a:t>makes people expect the domestic currency to appreciate in the short run due to increased aggregate demand, thereby reducing the expected rate of return on foreign currency deposits and making the domestic currency appreciate.</a:t>
            </a:r>
          </a:p>
          <a:p>
            <a:pPr eaLnBrk="1" hangingPunct="1"/>
            <a:r>
              <a:rPr lang="en-US" altLang="en-US" sz="2200" dirty="0">
                <a:latin typeface="Arial (Body)"/>
                <a:ea typeface="ヒラギノ角ゴ Pro W3" pitchFamily="-84" charset="-128"/>
              </a:rPr>
              <a:t>The first effect increases aggregate demand of domestic products, the second effect decreases aggregate demand of domestic products (by making them more expensive).</a:t>
            </a:r>
          </a:p>
        </p:txBody>
      </p:sp>
    </p:spTree>
    <p:extLst>
      <p:ext uri="{BB962C8B-B14F-4D97-AF65-F5344CB8AC3E}">
        <p14:creationId xmlns:p14="http://schemas.microsoft.com/office/powerpoint/2010/main" val="38515088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EBD7-EA82-44C2-9111-E4432235EFA5}"/>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Effects of Permanent Changes in Fiscal Policy </a:t>
            </a:r>
            <a:r>
              <a:rPr lang="en-US" altLang="en-US" sz="2000" b="0" dirty="0">
                <a:ea typeface="ヒラギノ角ゴ Pro W3" pitchFamily="-84" charset="-128"/>
                <a:cs typeface="Times New Roman" panose="02020603050405020304" pitchFamily="18" charset="0"/>
              </a:rPr>
              <a:t>(2 of 2)</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4CC44CBF-500B-48BF-A6D3-5F0BD9E61DEC}"/>
              </a:ext>
            </a:extLst>
          </p:cNvPr>
          <p:cNvSpPr>
            <a:spLocks noGrp="1"/>
          </p:cNvSpPr>
          <p:nvPr>
            <p:ph sz="quarter" idx="13"/>
          </p:nvPr>
        </p:nvSpPr>
        <p:spPr>
          <a:xfrm>
            <a:off x="457200" y="1556327"/>
            <a:ext cx="8229600" cy="2471663"/>
          </a:xfrm>
        </p:spPr>
        <p:txBody>
          <a:bodyPr/>
          <a:lstStyle/>
          <a:p>
            <a:pPr eaLnBrk="1" hangingPunct="1"/>
            <a:r>
              <a:rPr lang="en-US" altLang="en-US" sz="2200" dirty="0">
                <a:latin typeface="Arial (Body)"/>
                <a:ea typeface="ヒラギノ角ゴ Pro W3" pitchFamily="-84" charset="-128"/>
              </a:rPr>
              <a:t>If the change in fiscal policy is expected to be permanent, the first and second effects exactly offset each other, so that output remains at its potential or natural (or long run) level.</a:t>
            </a:r>
          </a:p>
          <a:p>
            <a:pPr eaLnBrk="1" hangingPunct="1"/>
            <a:r>
              <a:rPr lang="en-US" altLang="en-US" sz="2200" dirty="0">
                <a:latin typeface="Arial (Body)"/>
                <a:ea typeface="ヒラギノ角ゴ Pro W3" pitchFamily="-84" charset="-128"/>
              </a:rPr>
              <a:t>We say that an increase in government purchases completely </a:t>
            </a:r>
            <a:r>
              <a:rPr lang="en-US" altLang="en-US" sz="2200" b="1" dirty="0">
                <a:latin typeface="Arial (Body)"/>
                <a:ea typeface="ヒラギノ角ゴ Pro W3" pitchFamily="-84" charset="-128"/>
              </a:rPr>
              <a:t>crowds out</a:t>
            </a:r>
            <a:r>
              <a:rPr lang="en-US" altLang="en-US" sz="2200" dirty="0">
                <a:latin typeface="Arial (Body)"/>
                <a:ea typeface="ヒラギノ角ゴ Pro W3" pitchFamily="-84" charset="-128"/>
              </a:rPr>
              <a:t> net exports, due to the effect of the appreciated domestic currency.</a:t>
            </a:r>
          </a:p>
        </p:txBody>
      </p:sp>
    </p:spTree>
    <p:extLst>
      <p:ext uri="{BB962C8B-B14F-4D97-AF65-F5344CB8AC3E}">
        <p14:creationId xmlns:p14="http://schemas.microsoft.com/office/powerpoint/2010/main" val="33174581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82551-5EFC-45E6-A2A4-DB74EF7D08D2}"/>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17.16 Effects of a Permanent Fiscal Expansion</a:t>
            </a:r>
            <a:endParaRPr lang="en-IN" sz="3200" dirty="0">
              <a:cs typeface="Times New Roman" panose="02020603050405020304" pitchFamily="18" charset="0"/>
            </a:endParaRPr>
          </a:p>
        </p:txBody>
      </p:sp>
      <p:pic>
        <p:nvPicPr>
          <p:cNvPr id="14" name="Content Placeholder 13" descr="A graph plots exchange rate E versus output Y. For long description in Notes pane, press F6.">
            <a:extLst>
              <a:ext uri="{FF2B5EF4-FFF2-40B4-BE49-F238E27FC236}">
                <a16:creationId xmlns:a16="http://schemas.microsoft.com/office/drawing/2014/main" id="{F2131447-6133-4ECA-976A-FD256379ED65}"/>
              </a:ext>
            </a:extLst>
          </p:cNvPr>
          <p:cNvPicPr>
            <a:picLocks noGrp="1" noChangeAspect="1"/>
          </p:cNvPicPr>
          <p:nvPr>
            <p:ph sz="quarter" idx="13"/>
          </p:nvPr>
        </p:nvPicPr>
        <p:blipFill>
          <a:blip r:embed="rId3"/>
          <a:stretch>
            <a:fillRect/>
          </a:stretch>
        </p:blipFill>
        <p:spPr>
          <a:xfrm>
            <a:off x="3237935" y="1610664"/>
            <a:ext cx="2668131" cy="3009060"/>
          </a:xfrm>
        </p:spPr>
      </p:pic>
      <p:sp>
        <p:nvSpPr>
          <p:cNvPr id="4" name="Content Placeholder 3">
            <a:extLst>
              <a:ext uri="{FF2B5EF4-FFF2-40B4-BE49-F238E27FC236}">
                <a16:creationId xmlns:a16="http://schemas.microsoft.com/office/drawing/2014/main" id="{ECD96A07-6654-42F7-982D-6EDD2204DD81}"/>
              </a:ext>
            </a:extLst>
          </p:cNvPr>
          <p:cNvSpPr>
            <a:spLocks noGrp="1"/>
          </p:cNvSpPr>
          <p:nvPr>
            <p:ph sz="quarter" idx="14"/>
          </p:nvPr>
        </p:nvSpPr>
        <p:spPr>
          <a:xfrm>
            <a:off x="410008" y="4975795"/>
            <a:ext cx="8229600" cy="311757"/>
          </a:xfrm>
        </p:spPr>
        <p:txBody>
          <a:bodyPr lIns="0" tIns="0" rIns="0" bIns="0"/>
          <a:lstStyle/>
          <a:p>
            <a:pPr marL="432" indent="0">
              <a:buNone/>
            </a:pPr>
            <a:r>
              <a:rPr lang="en-US" sz="1800" dirty="0">
                <a:latin typeface="Arial (Body)"/>
              </a:rPr>
              <a:t>Because a permanent fiscal expansion changes exchange rate expectations,</a:t>
            </a:r>
            <a:endParaRPr lang="en-IN" sz="1800" dirty="0"/>
          </a:p>
        </p:txBody>
      </p:sp>
      <p:sp>
        <p:nvSpPr>
          <p:cNvPr id="5" name="Content Placeholder 4">
            <a:extLst>
              <a:ext uri="{FF2B5EF4-FFF2-40B4-BE49-F238E27FC236}">
                <a16:creationId xmlns:a16="http://schemas.microsoft.com/office/drawing/2014/main" id="{66601B12-C689-431F-8D0A-5F80EA43093C}"/>
              </a:ext>
            </a:extLst>
          </p:cNvPr>
          <p:cNvSpPr>
            <a:spLocks noGrp="1"/>
          </p:cNvSpPr>
          <p:nvPr>
            <p:ph sz="quarter" idx="15"/>
          </p:nvPr>
        </p:nvSpPr>
        <p:spPr>
          <a:xfrm>
            <a:off x="410009" y="5363982"/>
            <a:ext cx="786332" cy="301435"/>
          </a:xfrm>
        </p:spPr>
        <p:txBody>
          <a:bodyPr lIns="0" tIns="0" rIns="0" bIns="0"/>
          <a:lstStyle/>
          <a:p>
            <a:pPr marL="432" indent="0">
              <a:buNone/>
            </a:pPr>
            <a:r>
              <a:rPr lang="en-US" sz="1800" dirty="0">
                <a:latin typeface="Arial (Body)"/>
              </a:rPr>
              <a:t>it shifts</a:t>
            </a:r>
            <a:endParaRPr lang="en-IN" sz="1800" dirty="0"/>
          </a:p>
        </p:txBody>
      </p:sp>
      <p:graphicFrame>
        <p:nvGraphicFramePr>
          <p:cNvPr id="11" name="Object 10" descr="A A super 1">
            <a:extLst>
              <a:ext uri="{FF2B5EF4-FFF2-40B4-BE49-F238E27FC236}">
                <a16:creationId xmlns:a16="http://schemas.microsoft.com/office/drawing/2014/main" id="{DE8D5D3B-F19D-4D03-9338-40C445E435E2}"/>
              </a:ext>
            </a:extLst>
          </p:cNvPr>
          <p:cNvGraphicFramePr>
            <a:graphicFrameLocks noChangeAspect="1"/>
          </p:cNvGraphicFramePr>
          <p:nvPr>
            <p:extLst>
              <p:ext uri="{D42A27DB-BD31-4B8C-83A1-F6EECF244321}">
                <p14:modId xmlns:p14="http://schemas.microsoft.com/office/powerpoint/2010/main" val="4264631444"/>
              </p:ext>
            </p:extLst>
          </p:nvPr>
        </p:nvGraphicFramePr>
        <p:xfrm>
          <a:off x="1302824" y="5360125"/>
          <a:ext cx="427832" cy="277654"/>
        </p:xfrm>
        <a:graphic>
          <a:graphicData uri="http://schemas.openxmlformats.org/presentationml/2006/ole">
            <mc:AlternateContent xmlns:mc="http://schemas.openxmlformats.org/markup-compatibility/2006">
              <mc:Choice xmlns:v="urn:schemas-microsoft-com:vml" Requires="v">
                <p:oleObj name="Equation" r:id="rId4" imgW="291960" imgH="190440" progId="Equation.DSMT4">
                  <p:embed/>
                </p:oleObj>
              </mc:Choice>
              <mc:Fallback>
                <p:oleObj name="Equation" r:id="rId4" imgW="291960" imgH="190440" progId="Equation.DSMT4">
                  <p:embed/>
                  <p:pic>
                    <p:nvPicPr>
                      <p:cNvPr id="7" name="Object 6">
                        <a:extLst>
                          <a:ext uri="{FF2B5EF4-FFF2-40B4-BE49-F238E27FC236}">
                            <a16:creationId xmlns:a16="http://schemas.microsoft.com/office/drawing/2014/main" id="{62434C9B-149F-4F45-A6EE-EEA2B46C27A9}"/>
                          </a:ext>
                        </a:extLst>
                      </p:cNvPr>
                      <p:cNvPicPr/>
                      <p:nvPr/>
                    </p:nvPicPr>
                    <p:blipFill>
                      <a:blip r:embed="rId5"/>
                      <a:stretch>
                        <a:fillRect/>
                      </a:stretch>
                    </p:blipFill>
                    <p:spPr>
                      <a:xfrm>
                        <a:off x="1302824" y="5360125"/>
                        <a:ext cx="427832" cy="277654"/>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BA8AB30-642A-4D1F-A1E4-BD4F238FACD1}"/>
              </a:ext>
            </a:extLst>
          </p:cNvPr>
          <p:cNvSpPr>
            <a:spLocks noGrp="1"/>
          </p:cNvSpPr>
          <p:nvPr>
            <p:ph sz="quarter" idx="16"/>
          </p:nvPr>
        </p:nvSpPr>
        <p:spPr>
          <a:xfrm>
            <a:off x="1883404" y="5363982"/>
            <a:ext cx="1956578" cy="294123"/>
          </a:xfrm>
        </p:spPr>
        <p:txBody>
          <a:bodyPr lIns="0" tIns="0" rIns="0" bIns="0"/>
          <a:lstStyle/>
          <a:p>
            <a:pPr marL="432" indent="0">
              <a:buNone/>
            </a:pPr>
            <a:r>
              <a:rPr lang="en-US" sz="1800" dirty="0">
                <a:latin typeface="Arial (Body)"/>
              </a:rPr>
              <a:t>leftward as it shifts</a:t>
            </a:r>
            <a:endParaRPr lang="en-IN" sz="1800" dirty="0"/>
          </a:p>
        </p:txBody>
      </p:sp>
      <p:graphicFrame>
        <p:nvGraphicFramePr>
          <p:cNvPr id="12" name="Object 11" descr="D D super 1">
            <a:extLst>
              <a:ext uri="{FF2B5EF4-FFF2-40B4-BE49-F238E27FC236}">
                <a16:creationId xmlns:a16="http://schemas.microsoft.com/office/drawing/2014/main" id="{8B2C2C03-0B80-4012-8B25-3A899A09E7A2}"/>
              </a:ext>
            </a:extLst>
          </p:cNvPr>
          <p:cNvGraphicFramePr>
            <a:graphicFrameLocks noChangeAspect="1"/>
          </p:cNvGraphicFramePr>
          <p:nvPr>
            <p:extLst>
              <p:ext uri="{D42A27DB-BD31-4B8C-83A1-F6EECF244321}">
                <p14:modId xmlns:p14="http://schemas.microsoft.com/office/powerpoint/2010/main" val="1473247237"/>
              </p:ext>
            </p:extLst>
          </p:nvPr>
        </p:nvGraphicFramePr>
        <p:xfrm>
          <a:off x="3965882" y="5341327"/>
          <a:ext cx="446258" cy="278912"/>
        </p:xfrm>
        <a:graphic>
          <a:graphicData uri="http://schemas.openxmlformats.org/presentationml/2006/ole">
            <mc:AlternateContent xmlns:mc="http://schemas.openxmlformats.org/markup-compatibility/2006">
              <mc:Choice xmlns:v="urn:schemas-microsoft-com:vml" Requires="v">
                <p:oleObj name="Equation" r:id="rId6" imgW="304560" imgH="190440" progId="Equation.DSMT4">
                  <p:embed/>
                </p:oleObj>
              </mc:Choice>
              <mc:Fallback>
                <p:oleObj name="Equation" r:id="rId6" imgW="304560" imgH="190440" progId="Equation.DSMT4">
                  <p:embed/>
                  <p:pic>
                    <p:nvPicPr>
                      <p:cNvPr id="0" name=""/>
                      <p:cNvPicPr/>
                      <p:nvPr/>
                    </p:nvPicPr>
                    <p:blipFill>
                      <a:blip r:embed="rId7"/>
                      <a:stretch>
                        <a:fillRect/>
                      </a:stretch>
                    </p:blipFill>
                    <p:spPr>
                      <a:xfrm>
                        <a:off x="3965882" y="5341327"/>
                        <a:ext cx="446258" cy="278912"/>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8D4D7EB9-9C43-45C3-A0E5-8269BCC86E4F}"/>
              </a:ext>
            </a:extLst>
          </p:cNvPr>
          <p:cNvSpPr>
            <a:spLocks noGrp="1"/>
          </p:cNvSpPr>
          <p:nvPr>
            <p:ph sz="quarter" idx="17"/>
          </p:nvPr>
        </p:nvSpPr>
        <p:spPr>
          <a:xfrm>
            <a:off x="4516507" y="5361502"/>
            <a:ext cx="3589700" cy="333237"/>
          </a:xfrm>
        </p:spPr>
        <p:txBody>
          <a:bodyPr lIns="0" tIns="0" rIns="0" bIns="0"/>
          <a:lstStyle/>
          <a:p>
            <a:pPr marL="0" indent="0">
              <a:buNone/>
            </a:pPr>
            <a:r>
              <a:rPr lang="en-US" sz="1800" dirty="0">
                <a:latin typeface="Arial (Body)"/>
              </a:rPr>
              <a:t>to the right. The effect on output</a:t>
            </a:r>
            <a:endParaRPr lang="en-IN" sz="1800" dirty="0"/>
          </a:p>
        </p:txBody>
      </p:sp>
      <p:sp>
        <p:nvSpPr>
          <p:cNvPr id="8" name="Content Placeholder 7">
            <a:extLst>
              <a:ext uri="{FF2B5EF4-FFF2-40B4-BE49-F238E27FC236}">
                <a16:creationId xmlns:a16="http://schemas.microsoft.com/office/drawing/2014/main" id="{563F319D-2702-4A0A-A02F-7705FCE9CF88}"/>
              </a:ext>
            </a:extLst>
          </p:cNvPr>
          <p:cNvSpPr>
            <a:spLocks noGrp="1"/>
          </p:cNvSpPr>
          <p:nvPr>
            <p:ph sz="quarter" idx="18"/>
          </p:nvPr>
        </p:nvSpPr>
        <p:spPr>
          <a:xfrm>
            <a:off x="349983" y="5757091"/>
            <a:ext cx="8229600" cy="596304"/>
          </a:xfrm>
        </p:spPr>
        <p:txBody>
          <a:bodyPr lIns="0" tIns="0" rIns="0" bIns="0"/>
          <a:lstStyle/>
          <a:p>
            <a:pPr marL="101600" indent="0">
              <a:buNone/>
            </a:pPr>
            <a:r>
              <a:rPr lang="en-US" sz="1800" dirty="0">
                <a:latin typeface="Arial (Body)"/>
              </a:rPr>
              <a:t>(point 2) is nil if the economy starts in long-run equilibrium. A comparable </a:t>
            </a:r>
            <a:r>
              <a:rPr lang="en-US" sz="1800" b="1" dirty="0">
                <a:latin typeface="Arial (Body)"/>
              </a:rPr>
              <a:t>temporary </a:t>
            </a:r>
            <a:r>
              <a:rPr lang="en-US" sz="1800" dirty="0">
                <a:latin typeface="Arial (Body)"/>
              </a:rPr>
              <a:t>fiscal expansion, in contrast, would leave the economy at point 3.</a:t>
            </a:r>
            <a:endParaRPr lang="en-IN" sz="1800" dirty="0"/>
          </a:p>
        </p:txBody>
      </p:sp>
    </p:spTree>
    <p:extLst>
      <p:ext uri="{BB962C8B-B14F-4D97-AF65-F5344CB8AC3E}">
        <p14:creationId xmlns:p14="http://schemas.microsoft.com/office/powerpoint/2010/main" val="28108735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20BB-0BA6-48EC-97B7-E5B3835D0196}"/>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Macroeconomic Policies and the Current Account </a:t>
            </a:r>
            <a:r>
              <a:rPr lang="en-US" altLang="en-US" sz="2000" b="0" dirty="0">
                <a:ea typeface="ヒラギノ角ゴ Pro W3" pitchFamily="-84" charset="-128"/>
                <a:cs typeface="Times New Roman" panose="02020603050405020304" pitchFamily="18" charset="0"/>
              </a:rPr>
              <a:t>(1 of 4)</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7D4C0BE-3BA3-4CE5-A411-18F24907F0D8}"/>
              </a:ext>
            </a:extLst>
          </p:cNvPr>
          <p:cNvSpPr>
            <a:spLocks noGrp="1"/>
          </p:cNvSpPr>
          <p:nvPr>
            <p:ph sz="quarter" idx="13"/>
          </p:nvPr>
        </p:nvSpPr>
        <p:spPr/>
        <p:txBody>
          <a:bodyPr/>
          <a:lstStyle/>
          <a:p>
            <a:pPr eaLnBrk="1" hangingPunct="1"/>
            <a:r>
              <a:rPr lang="en-US" altLang="en-US" sz="2200" dirty="0">
                <a:latin typeface="Arial (Body)"/>
                <a:ea typeface="ヒラギノ角ゴ Pro W3" pitchFamily="-84" charset="-128"/>
              </a:rPr>
              <a:t>To determine the effect of monetary and fiscal policies on the current account, </a:t>
            </a:r>
          </a:p>
          <a:p>
            <a:pPr lvl="1" eaLnBrk="1" hangingPunct="1"/>
            <a:r>
              <a:rPr lang="en-US" altLang="en-US" sz="2200" dirty="0">
                <a:latin typeface="Arial (Body)"/>
                <a:ea typeface="ヒラギノ角ゴ Pro W3" pitchFamily="-84" charset="-128"/>
              </a:rPr>
              <a:t>derive the </a:t>
            </a:r>
            <a:r>
              <a:rPr lang="en-US" altLang="en-US" sz="2200" i="1" dirty="0">
                <a:latin typeface="Arial (Body)"/>
                <a:ea typeface="ヒラギノ角ゴ Pro W3" pitchFamily="-84" charset="-128"/>
              </a:rPr>
              <a:t>X</a:t>
            </a:r>
            <a:r>
              <a:rPr lang="en-US" altLang="en-US" sz="100" i="1" dirty="0">
                <a:latin typeface="Arial (Body)"/>
                <a:ea typeface="ヒラギノ角ゴ Pro W3" pitchFamily="-84" charset="-128"/>
              </a:rPr>
              <a:t> </a:t>
            </a:r>
            <a:r>
              <a:rPr lang="en-US" altLang="en-US" sz="2200" i="1" dirty="0" err="1">
                <a:latin typeface="Arial (Body)"/>
                <a:ea typeface="ヒラギノ角ゴ Pro W3" pitchFamily="-84" charset="-128"/>
              </a:rPr>
              <a:t>X</a:t>
            </a:r>
            <a:r>
              <a:rPr lang="en-US" altLang="en-US" sz="2200" dirty="0">
                <a:latin typeface="Arial (Body)"/>
                <a:ea typeface="ヒラギノ角ゴ Pro W3" pitchFamily="-84" charset="-128"/>
              </a:rPr>
              <a:t> curve to represent the combinations of output and exchange rates at which the current account is at its desired level. </a:t>
            </a:r>
          </a:p>
          <a:p>
            <a:pPr eaLnBrk="1" hangingPunct="1"/>
            <a:r>
              <a:rPr lang="en-US" altLang="en-US" sz="2200" dirty="0">
                <a:latin typeface="Arial (Body)"/>
                <a:ea typeface="ヒラギノ角ゴ Pro W3" pitchFamily="-84" charset="-128"/>
              </a:rPr>
              <a:t>As income from production increases, imports increase and the current account decreases when other factors remain constant.</a:t>
            </a:r>
          </a:p>
          <a:p>
            <a:pPr eaLnBrk="1" hangingPunct="1"/>
            <a:r>
              <a:rPr lang="en-US" altLang="en-US" sz="2200" dirty="0">
                <a:latin typeface="Arial (Body)"/>
                <a:ea typeface="ヒラギノ角ゴ Pro W3" pitchFamily="-84" charset="-128"/>
              </a:rPr>
              <a:t>To keep the current account at its desired level, the domestic currency must depreciate as income from production increases: the </a:t>
            </a:r>
            <a:r>
              <a:rPr lang="en-US" altLang="en-US" sz="2200" i="1" dirty="0">
                <a:latin typeface="Arial (Body)"/>
                <a:ea typeface="ヒラギノ角ゴ Pro W3" pitchFamily="-84" charset="-128"/>
              </a:rPr>
              <a:t>X</a:t>
            </a:r>
            <a:r>
              <a:rPr lang="en-US" altLang="en-US" sz="100" i="1" dirty="0">
                <a:latin typeface="Arial (Body)"/>
                <a:ea typeface="ヒラギノ角ゴ Pro W3" pitchFamily="-84" charset="-128"/>
              </a:rPr>
              <a:t> </a:t>
            </a:r>
            <a:r>
              <a:rPr lang="en-US" altLang="en-US" sz="2200" i="1" dirty="0" err="1">
                <a:latin typeface="Arial (Body)"/>
                <a:ea typeface="ヒラギノ角ゴ Pro W3" pitchFamily="-84" charset="-128"/>
              </a:rPr>
              <a:t>X</a:t>
            </a:r>
            <a:r>
              <a:rPr lang="en-US" altLang="en-US" sz="2200" dirty="0">
                <a:latin typeface="Arial (Body)"/>
                <a:ea typeface="ヒラギノ角ゴ Pro W3" pitchFamily="-84" charset="-128"/>
              </a:rPr>
              <a:t> curve should slope upward.</a:t>
            </a:r>
          </a:p>
        </p:txBody>
      </p:sp>
    </p:spTree>
    <p:extLst>
      <p:ext uri="{BB962C8B-B14F-4D97-AF65-F5344CB8AC3E}">
        <p14:creationId xmlns:p14="http://schemas.microsoft.com/office/powerpoint/2010/main" val="7742909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DA377-6230-49A3-B77B-FEC4C8AF4715}"/>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17.17 How Macroeconomic Policies Affect the Current Account</a:t>
            </a:r>
            <a:endParaRPr lang="en-IN" sz="3200" dirty="0">
              <a:cs typeface="Times New Roman" panose="02020603050405020304" pitchFamily="18" charset="0"/>
            </a:endParaRPr>
          </a:p>
        </p:txBody>
      </p:sp>
      <p:pic>
        <p:nvPicPr>
          <p:cNvPr id="6" name="Content Placeholder 5" descr="The graph plots exchange rate E versus output Y. For long description in Notes pane, press F6.">
            <a:extLst>
              <a:ext uri="{FF2B5EF4-FFF2-40B4-BE49-F238E27FC236}">
                <a16:creationId xmlns:a16="http://schemas.microsoft.com/office/drawing/2014/main" id="{500A0E98-03DD-45F0-A889-BDCD89BBA2A3}"/>
              </a:ext>
            </a:extLst>
          </p:cNvPr>
          <p:cNvPicPr>
            <a:picLocks noGrp="1" noChangeAspect="1"/>
          </p:cNvPicPr>
          <p:nvPr>
            <p:ph sz="quarter" idx="13"/>
          </p:nvPr>
        </p:nvPicPr>
        <p:blipFill>
          <a:blip r:embed="rId3"/>
          <a:stretch>
            <a:fillRect/>
          </a:stretch>
        </p:blipFill>
        <p:spPr>
          <a:xfrm>
            <a:off x="3067254" y="1700213"/>
            <a:ext cx="3009491" cy="3019424"/>
          </a:xfrm>
        </p:spPr>
      </p:pic>
      <p:sp>
        <p:nvSpPr>
          <p:cNvPr id="4" name="Content Placeholder 3">
            <a:extLst>
              <a:ext uri="{FF2B5EF4-FFF2-40B4-BE49-F238E27FC236}">
                <a16:creationId xmlns:a16="http://schemas.microsoft.com/office/drawing/2014/main" id="{9B15F635-4671-4153-8CFB-CEEDF2950E63}"/>
              </a:ext>
            </a:extLst>
          </p:cNvPr>
          <p:cNvSpPr>
            <a:spLocks noGrp="1"/>
          </p:cNvSpPr>
          <p:nvPr>
            <p:ph sz="quarter" idx="14"/>
          </p:nvPr>
        </p:nvSpPr>
        <p:spPr>
          <a:xfrm>
            <a:off x="457200" y="4828453"/>
            <a:ext cx="8229600" cy="1514475"/>
          </a:xfrm>
        </p:spPr>
        <p:txBody>
          <a:bodyPr/>
          <a:lstStyle/>
          <a:p>
            <a:pPr marL="432" indent="0">
              <a:buNone/>
            </a:pPr>
            <a:r>
              <a:rPr lang="en-US" sz="1800" dirty="0">
                <a:latin typeface="Arial (Body)"/>
              </a:rPr>
              <a:t>Along the curve </a:t>
            </a:r>
            <a:r>
              <a:rPr lang="en-US" sz="1800" i="1" dirty="0">
                <a:latin typeface="Arial (Body)"/>
              </a:rPr>
              <a:t>X</a:t>
            </a:r>
            <a:r>
              <a:rPr lang="en-US" sz="100" i="1" dirty="0">
                <a:latin typeface="Arial (Body)"/>
              </a:rPr>
              <a:t> </a:t>
            </a:r>
            <a:r>
              <a:rPr lang="en-US" sz="1800" i="1" dirty="0" err="1">
                <a:latin typeface="Arial (Body)"/>
              </a:rPr>
              <a:t>X</a:t>
            </a:r>
            <a:r>
              <a:rPr lang="en-US" sz="1800" dirty="0">
                <a:latin typeface="Arial (Body)"/>
              </a:rPr>
              <a:t>, the current account is constant at the level </a:t>
            </a:r>
            <a:r>
              <a:rPr lang="en-US" sz="1800" i="1" dirty="0">
                <a:latin typeface="Arial (Body)"/>
              </a:rPr>
              <a:t>C</a:t>
            </a:r>
            <a:r>
              <a:rPr lang="en-US" sz="100" i="1" dirty="0">
                <a:latin typeface="Arial (Body)"/>
              </a:rPr>
              <a:t> </a:t>
            </a:r>
            <a:r>
              <a:rPr lang="en-US" sz="1800" i="1" dirty="0">
                <a:latin typeface="Arial (Body)"/>
              </a:rPr>
              <a:t>A </a:t>
            </a:r>
            <a:r>
              <a:rPr lang="en-US" sz="1800" dirty="0">
                <a:latin typeface="Arial (Body)"/>
              </a:rPr>
              <a:t>= </a:t>
            </a:r>
            <a:r>
              <a:rPr lang="en-US" sz="1800" i="1" dirty="0">
                <a:latin typeface="Arial (Body)"/>
              </a:rPr>
              <a:t>X</a:t>
            </a:r>
            <a:r>
              <a:rPr lang="en-US" sz="1800" dirty="0">
                <a:latin typeface="Arial (Body)"/>
              </a:rPr>
              <a:t>. Monetary expansion moves the economy to point 2 and thus raises the current account balance. Temporary fiscal expansion moves the economy to point 3, while permanent fiscal expansion moves it to point 4; in either case, the current account balance falls.</a:t>
            </a:r>
          </a:p>
        </p:txBody>
      </p:sp>
    </p:spTree>
    <p:extLst>
      <p:ext uri="{BB962C8B-B14F-4D97-AF65-F5344CB8AC3E}">
        <p14:creationId xmlns:p14="http://schemas.microsoft.com/office/powerpoint/2010/main" val="4563360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20BB-0BA6-48EC-97B7-E5B3835D0196}"/>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Macroeconomic Policies and the Current Account </a:t>
            </a:r>
            <a:r>
              <a:rPr lang="en-US" altLang="en-US" sz="2000" b="0" dirty="0">
                <a:ea typeface="ヒラギノ角ゴ Pro W3" pitchFamily="-84" charset="-128"/>
                <a:cs typeface="Times New Roman" panose="02020603050405020304" pitchFamily="18" charset="0"/>
              </a:rPr>
              <a:t>(2 of 4)</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7D4C0BE-3BA3-4CE5-A411-18F24907F0D8}"/>
              </a:ext>
            </a:extLst>
          </p:cNvPr>
          <p:cNvSpPr>
            <a:spLocks noGrp="1"/>
          </p:cNvSpPr>
          <p:nvPr>
            <p:ph sz="quarter" idx="13"/>
          </p:nvPr>
        </p:nvSpPr>
        <p:spPr>
          <a:xfrm>
            <a:off x="457200" y="1556327"/>
            <a:ext cx="8229600" cy="3640706"/>
          </a:xfrm>
        </p:spPr>
        <p:txBody>
          <a:bodyPr/>
          <a:lstStyle/>
          <a:p>
            <a:pPr eaLnBrk="1" hangingPunct="1"/>
            <a:r>
              <a:rPr lang="en-US" altLang="en-US" dirty="0">
                <a:latin typeface="Arial (Body)"/>
                <a:ea typeface="ヒラギノ角ゴ Pro W3" pitchFamily="-84" charset="-128"/>
              </a:rPr>
              <a:t>The </a:t>
            </a:r>
            <a:r>
              <a:rPr lang="en-US" altLang="en-US" i="1" dirty="0">
                <a:latin typeface="Arial (Body)"/>
                <a:ea typeface="ヒラギノ角ゴ Pro W3" pitchFamily="-84" charset="-128"/>
              </a:rPr>
              <a:t>X</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X</a:t>
            </a:r>
            <a:r>
              <a:rPr lang="en-US" altLang="en-US" dirty="0">
                <a:latin typeface="Arial (Body)"/>
                <a:ea typeface="ヒラギノ角ゴ Pro W3" pitchFamily="-84" charset="-128"/>
              </a:rPr>
              <a:t> curve slopes upward but is flatter than 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dirty="0">
                <a:latin typeface="Arial (Body)"/>
                <a:ea typeface="ヒラギノ角ゴ Pro W3" pitchFamily="-84" charset="-128"/>
              </a:rPr>
              <a:t> curve.</a:t>
            </a:r>
          </a:p>
          <a:p>
            <a:pPr lvl="1" eaLnBrk="1" hangingPunct="1"/>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i="1" dirty="0">
                <a:latin typeface="Arial (Body)"/>
                <a:ea typeface="ヒラギノ角ゴ Pro W3" pitchFamily="-84" charset="-128"/>
              </a:rPr>
              <a:t> </a:t>
            </a:r>
            <a:r>
              <a:rPr lang="en-US" altLang="en-US" dirty="0">
                <a:latin typeface="Arial (Body)"/>
                <a:ea typeface="ヒラギノ角ゴ Pro W3" pitchFamily="-84" charset="-128"/>
              </a:rPr>
              <a:t>represents equilibrium values of aggregate demand and domestic output.</a:t>
            </a:r>
          </a:p>
          <a:p>
            <a:pPr lvl="1" eaLnBrk="1" hangingPunct="1"/>
            <a:r>
              <a:rPr lang="en-US" altLang="en-US" dirty="0">
                <a:latin typeface="Arial (Body)"/>
                <a:ea typeface="ヒラギノ角ゴ Pro W3" pitchFamily="-84" charset="-128"/>
              </a:rPr>
              <a:t>As domestic income and production increase, domestic saving increases, which means that aggregate demand (willingness to spend) </a:t>
            </a:r>
            <a:r>
              <a:rPr lang="en-US" altLang="en-US" b="1" dirty="0">
                <a:latin typeface="Arial (Body)"/>
                <a:ea typeface="ヒラギノ角ゴ Pro W3" pitchFamily="-84" charset="-128"/>
              </a:rPr>
              <a:t>by domestic residents</a:t>
            </a:r>
            <a:r>
              <a:rPr lang="en-US" altLang="en-US" dirty="0">
                <a:latin typeface="Arial (Body)"/>
                <a:ea typeface="ヒラギノ角ゴ Pro W3" pitchFamily="-84" charset="-128"/>
              </a:rPr>
              <a:t> does not rise as rapidly as income and production.</a:t>
            </a:r>
          </a:p>
        </p:txBody>
      </p:sp>
    </p:spTree>
    <p:extLst>
      <p:ext uri="{BB962C8B-B14F-4D97-AF65-F5344CB8AC3E}">
        <p14:creationId xmlns:p14="http://schemas.microsoft.com/office/powerpoint/2010/main" val="20304422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20BB-0BA6-48EC-97B7-E5B3835D0196}"/>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Macroeconomic Policies and the Current Account </a:t>
            </a:r>
            <a:r>
              <a:rPr lang="en-US" altLang="en-US" sz="2000" b="0" dirty="0">
                <a:ea typeface="ヒラギノ角ゴ Pro W3" pitchFamily="-84" charset="-128"/>
                <a:cs typeface="Times New Roman" panose="02020603050405020304" pitchFamily="18" charset="0"/>
              </a:rPr>
              <a:t>(3 of 4)</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7D4C0BE-3BA3-4CE5-A411-18F24907F0D8}"/>
              </a:ext>
            </a:extLst>
          </p:cNvPr>
          <p:cNvSpPr>
            <a:spLocks noGrp="1"/>
          </p:cNvSpPr>
          <p:nvPr>
            <p:ph sz="quarter" idx="13"/>
          </p:nvPr>
        </p:nvSpPr>
        <p:spPr>
          <a:xfrm>
            <a:off x="457200" y="1556326"/>
            <a:ext cx="8229600" cy="4467103"/>
          </a:xfrm>
        </p:spPr>
        <p:txBody>
          <a:bodyPr/>
          <a:lstStyle/>
          <a:p>
            <a:pPr lvl="1" eaLnBrk="1" hangingPunct="1"/>
            <a:r>
              <a:rPr lang="en-US" altLang="en-US" sz="2200" dirty="0">
                <a:latin typeface="Arial (Body)"/>
                <a:ea typeface="ヒラギノ角ゴ Pro W3" pitchFamily="-84" charset="-128"/>
              </a:rPr>
              <a:t>As domestic income and production increase, the domestic currency must depreciate to entice foreigners to increase their demand of domestic products in order to keep the current account (only one component of aggregate demand) at its desired level—on the </a:t>
            </a:r>
            <a:r>
              <a:rPr lang="en-US" altLang="en-US" sz="2200" i="1" dirty="0">
                <a:latin typeface="Arial (Body)"/>
                <a:ea typeface="ヒラギノ角ゴ Pro W3" pitchFamily="-84" charset="-128"/>
              </a:rPr>
              <a:t>X</a:t>
            </a:r>
            <a:r>
              <a:rPr lang="en-US" altLang="en-US" sz="100" i="1" dirty="0">
                <a:latin typeface="Arial (Body)"/>
                <a:ea typeface="ヒラギノ角ゴ Pro W3" pitchFamily="-84" charset="-128"/>
              </a:rPr>
              <a:t> </a:t>
            </a:r>
            <a:r>
              <a:rPr lang="en-US" altLang="en-US" sz="2200" i="1" dirty="0" err="1">
                <a:latin typeface="Arial (Body)"/>
                <a:ea typeface="ヒラギノ角ゴ Pro W3" pitchFamily="-84" charset="-128"/>
              </a:rPr>
              <a:t>X</a:t>
            </a:r>
            <a:r>
              <a:rPr lang="en-US" altLang="en-US" sz="2200" dirty="0">
                <a:latin typeface="Arial (Body)"/>
                <a:ea typeface="ヒラギノ角ゴ Pro W3" pitchFamily="-84" charset="-128"/>
              </a:rPr>
              <a:t> curve.</a:t>
            </a:r>
          </a:p>
          <a:p>
            <a:pPr lvl="1" eaLnBrk="1" hangingPunct="1"/>
            <a:r>
              <a:rPr lang="en-US" altLang="en-US" sz="2200" dirty="0">
                <a:latin typeface="Arial (Body)"/>
                <a:ea typeface="ヒラギノ角ゴ Pro W3" pitchFamily="-84" charset="-128"/>
              </a:rPr>
              <a:t>As domestic income and production increase, the domestic currency must depreciate </a:t>
            </a:r>
            <a:r>
              <a:rPr lang="en-US" altLang="en-US" sz="2200" b="1" dirty="0">
                <a:latin typeface="Arial (Body)"/>
                <a:ea typeface="ヒラギノ角ゴ Pro W3" pitchFamily="-84" charset="-128"/>
              </a:rPr>
              <a:t>more rapidly</a:t>
            </a:r>
            <a:r>
              <a:rPr lang="en-US" altLang="en-US" sz="2200" dirty="0">
                <a:latin typeface="Arial (Body)"/>
                <a:ea typeface="ヒラギノ角ゴ Pro W3" pitchFamily="-84" charset="-128"/>
              </a:rPr>
              <a:t> to entice foreigners to increase their demand of domestic products in order to keep </a:t>
            </a:r>
            <a:r>
              <a:rPr lang="en-US" altLang="en-US" sz="2200" b="1" dirty="0">
                <a:latin typeface="Arial (Body)"/>
                <a:ea typeface="ヒラギノ角ゴ Pro W3" pitchFamily="-84" charset="-128"/>
              </a:rPr>
              <a:t>aggregate</a:t>
            </a:r>
            <a:r>
              <a:rPr lang="en-US" altLang="en-US" sz="2200" dirty="0">
                <a:latin typeface="Arial (Body)"/>
                <a:ea typeface="ヒラギノ角ゴ Pro W3" pitchFamily="-84" charset="-128"/>
              </a:rPr>
              <a:t> demand (by domestic residents and foreigners) equal to production—on the </a:t>
            </a:r>
            <a:r>
              <a:rPr lang="en-US" altLang="en-US" sz="2200"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sz="2200" i="1" dirty="0" err="1">
                <a:latin typeface="Arial (Body)"/>
                <a:ea typeface="ヒラギノ角ゴ Pro W3" pitchFamily="-84" charset="-128"/>
              </a:rPr>
              <a:t>D</a:t>
            </a:r>
            <a:r>
              <a:rPr lang="en-US" altLang="en-US" sz="2200" dirty="0">
                <a:latin typeface="Arial (Body)"/>
                <a:ea typeface="ヒラギノ角ゴ Pro W3" pitchFamily="-84" charset="-128"/>
              </a:rPr>
              <a:t> curve.</a:t>
            </a:r>
          </a:p>
        </p:txBody>
      </p:sp>
    </p:spTree>
    <p:extLst>
      <p:ext uri="{BB962C8B-B14F-4D97-AF65-F5344CB8AC3E}">
        <p14:creationId xmlns:p14="http://schemas.microsoft.com/office/powerpoint/2010/main" val="42859197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20BB-0BA6-48EC-97B7-E5B3835D0196}"/>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Macroeconomic Policies and the Current Account </a:t>
            </a:r>
            <a:r>
              <a:rPr lang="en-US" altLang="en-US" sz="2000" b="0" dirty="0">
                <a:ea typeface="ヒラギノ角ゴ Pro W3" pitchFamily="-84" charset="-128"/>
                <a:cs typeface="Times New Roman" panose="02020603050405020304" pitchFamily="18" charset="0"/>
              </a:rPr>
              <a:t>(4 of 4)</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7D4C0BE-3BA3-4CE5-A411-18F24907F0D8}"/>
              </a:ext>
            </a:extLst>
          </p:cNvPr>
          <p:cNvSpPr>
            <a:spLocks noGrp="1"/>
          </p:cNvSpPr>
          <p:nvPr>
            <p:ph sz="quarter" idx="13"/>
          </p:nvPr>
        </p:nvSpPr>
        <p:spPr>
          <a:xfrm>
            <a:off x="457200" y="1556327"/>
            <a:ext cx="8229600" cy="3258742"/>
          </a:xfrm>
        </p:spPr>
        <p:txBody>
          <a:bodyPr/>
          <a:lstStyle/>
          <a:p>
            <a:pPr eaLnBrk="1" hangingPunct="1"/>
            <a:r>
              <a:rPr lang="en-US" altLang="en-US" dirty="0">
                <a:latin typeface="Arial (Body)"/>
                <a:ea typeface="ヒラギノ角ゴ Pro W3" pitchFamily="-84" charset="-128"/>
              </a:rPr>
              <a:t>Policies affect the current account through their influence on the value of the domestic currency.</a:t>
            </a:r>
          </a:p>
          <a:p>
            <a:pPr lvl="1" eaLnBrk="1" hangingPunct="1"/>
            <a:r>
              <a:rPr lang="en-US" altLang="en-US" dirty="0">
                <a:latin typeface="Arial (Body)"/>
                <a:ea typeface="ヒラギノ角ゴ Pro W3" pitchFamily="-84" charset="-128"/>
              </a:rPr>
              <a:t>An increase in the quantity of monetary assets supplied depreciates the domestic currency and often increases the current account in the short run.</a:t>
            </a:r>
          </a:p>
          <a:p>
            <a:pPr lvl="1" eaLnBrk="1" hangingPunct="1"/>
            <a:r>
              <a:rPr lang="en-US" altLang="en-US" dirty="0">
                <a:latin typeface="Arial (Body)"/>
                <a:ea typeface="ヒラギノ角ゴ Pro W3" pitchFamily="-84" charset="-128"/>
              </a:rPr>
              <a:t>An increase in government purchases or decrease in taxes appreciates the domestic currency and often decreases the current account in the short run.</a:t>
            </a:r>
          </a:p>
        </p:txBody>
      </p:sp>
    </p:spTree>
    <p:extLst>
      <p:ext uri="{BB962C8B-B14F-4D97-AF65-F5344CB8AC3E}">
        <p14:creationId xmlns:p14="http://schemas.microsoft.com/office/powerpoint/2010/main" val="33063352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096B6-076D-454D-8339-3A25880AEEEA}"/>
              </a:ext>
            </a:extLst>
          </p:cNvPr>
          <p:cNvSpPr>
            <a:spLocks noGrp="1"/>
          </p:cNvSpPr>
          <p:nvPr>
            <p:ph type="title"/>
          </p:nvPr>
        </p:nvSpPr>
        <p:spPr>
          <a:xfrm>
            <a:off x="457200" y="215371"/>
            <a:ext cx="7374194" cy="1097279"/>
          </a:xfrm>
        </p:spPr>
        <p:txBody>
          <a:bodyPr/>
          <a:lstStyle/>
          <a:p>
            <a:r>
              <a:rPr lang="en-US" altLang="en-US" sz="3200" dirty="0">
                <a:ea typeface="ヒラギノ角ゴ Pro W3" pitchFamily="-84" charset="-128"/>
              </a:rPr>
              <a:t>Value Effect, Volume Effect, and the J-Curve </a:t>
            </a:r>
            <a:r>
              <a:rPr lang="en-US" altLang="en-US" sz="2000" b="0" dirty="0">
                <a:ea typeface="ヒラギノ角ゴ Pro W3" pitchFamily="-84" charset="-128"/>
              </a:rPr>
              <a:t>(1 of 3)</a:t>
            </a:r>
            <a:endParaRPr lang="en-IN" sz="2000" dirty="0"/>
          </a:p>
        </p:txBody>
      </p:sp>
      <p:sp>
        <p:nvSpPr>
          <p:cNvPr id="3" name="Content Placeholder 2">
            <a:extLst>
              <a:ext uri="{FF2B5EF4-FFF2-40B4-BE49-F238E27FC236}">
                <a16:creationId xmlns:a16="http://schemas.microsoft.com/office/drawing/2014/main" id="{24FCB856-9F06-4E27-ADD7-94D1A3F37172}"/>
              </a:ext>
            </a:extLst>
          </p:cNvPr>
          <p:cNvSpPr>
            <a:spLocks noGrp="1"/>
          </p:cNvSpPr>
          <p:nvPr>
            <p:ph sz="quarter" idx="13"/>
          </p:nvPr>
        </p:nvSpPr>
        <p:spPr>
          <a:xfrm>
            <a:off x="457200" y="1556327"/>
            <a:ext cx="8229600" cy="1835055"/>
          </a:xfrm>
        </p:spPr>
        <p:txBody>
          <a:bodyPr/>
          <a:lstStyle/>
          <a:p>
            <a:pPr eaLnBrk="1" hangingPunct="1"/>
            <a:r>
              <a:rPr lang="en-US" altLang="en-US" sz="2000" dirty="0">
                <a:ea typeface="ヒラギノ角ゴ Pro W3" pitchFamily="-84" charset="-128"/>
              </a:rPr>
              <a:t>If the volume of imports and exports is fixed in the short run, a depreciation of the domestic currency </a:t>
            </a:r>
          </a:p>
          <a:p>
            <a:pPr lvl="1" eaLnBrk="1" hangingPunct="1"/>
            <a:r>
              <a:rPr lang="en-US" altLang="en-US" sz="2000" dirty="0">
                <a:ea typeface="ヒラギノ角ゴ Pro W3" pitchFamily="-84" charset="-128"/>
              </a:rPr>
              <a:t>will not affect the volume of imports or exports, </a:t>
            </a:r>
          </a:p>
          <a:p>
            <a:pPr lvl="1" eaLnBrk="1" hangingPunct="1"/>
            <a:r>
              <a:rPr lang="en-US" altLang="en-US" sz="2000" dirty="0">
                <a:ea typeface="ヒラギノ角ゴ Pro W3" pitchFamily="-84" charset="-128"/>
              </a:rPr>
              <a:t>but will increase the value/price of imports in domestic currency and decrease the current account:</a:t>
            </a:r>
            <a:endParaRPr lang="en-US" altLang="en-US" sz="2000" i="1" dirty="0">
              <a:ea typeface="ヒラギノ角ゴ Pro W3" pitchFamily="-84" charset="-128"/>
            </a:endParaRPr>
          </a:p>
        </p:txBody>
      </p:sp>
      <p:graphicFrame>
        <p:nvGraphicFramePr>
          <p:cNvPr id="5" name="Object 4" descr="C A approximately equals E X minus I M.">
            <a:extLst>
              <a:ext uri="{FF2B5EF4-FFF2-40B4-BE49-F238E27FC236}">
                <a16:creationId xmlns:a16="http://schemas.microsoft.com/office/drawing/2014/main" id="{A4946003-9231-4699-B80C-3C7CD0B22989}"/>
              </a:ext>
            </a:extLst>
          </p:cNvPr>
          <p:cNvGraphicFramePr>
            <a:graphicFrameLocks noChangeAspect="1"/>
          </p:cNvGraphicFramePr>
          <p:nvPr>
            <p:extLst>
              <p:ext uri="{D42A27DB-BD31-4B8C-83A1-F6EECF244321}">
                <p14:modId xmlns:p14="http://schemas.microsoft.com/office/powerpoint/2010/main" val="986001306"/>
              </p:ext>
            </p:extLst>
          </p:nvPr>
        </p:nvGraphicFramePr>
        <p:xfrm>
          <a:off x="3493344" y="3722155"/>
          <a:ext cx="1573213" cy="328613"/>
        </p:xfrm>
        <a:graphic>
          <a:graphicData uri="http://schemas.openxmlformats.org/presentationml/2006/ole">
            <mc:AlternateContent xmlns:mc="http://schemas.openxmlformats.org/markup-compatibility/2006">
              <mc:Choice xmlns:v="urn:schemas-microsoft-com:vml" Requires="v">
                <p:oleObj name="Equation" r:id="rId2" imgW="977760" imgH="203040" progId="Equation.DSMT4">
                  <p:embed/>
                </p:oleObj>
              </mc:Choice>
              <mc:Fallback>
                <p:oleObj name="Equation" r:id="rId2" imgW="977760" imgH="203040" progId="Equation.DSMT4">
                  <p:embed/>
                  <p:pic>
                    <p:nvPicPr>
                      <p:cNvPr id="12" name="Object 11">
                        <a:extLst>
                          <a:ext uri="{FF2B5EF4-FFF2-40B4-BE49-F238E27FC236}">
                            <a16:creationId xmlns:a16="http://schemas.microsoft.com/office/drawing/2014/main" id="{8B2C2C03-0B80-4012-8B25-3A899A09E7A2}"/>
                          </a:ext>
                        </a:extLst>
                      </p:cNvPr>
                      <p:cNvPicPr/>
                      <p:nvPr/>
                    </p:nvPicPr>
                    <p:blipFill>
                      <a:blip r:embed="rId3"/>
                      <a:stretch>
                        <a:fillRect/>
                      </a:stretch>
                    </p:blipFill>
                    <p:spPr>
                      <a:xfrm>
                        <a:off x="3493344" y="3722155"/>
                        <a:ext cx="1573213" cy="32861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A2582551-DC80-4D3D-8426-9FDC510AB645}"/>
              </a:ext>
            </a:extLst>
          </p:cNvPr>
          <p:cNvSpPr>
            <a:spLocks noGrp="1"/>
          </p:cNvSpPr>
          <p:nvPr>
            <p:ph sz="quarter" idx="14"/>
          </p:nvPr>
        </p:nvSpPr>
        <p:spPr>
          <a:xfrm>
            <a:off x="457200" y="4377038"/>
            <a:ext cx="8229600" cy="1583923"/>
          </a:xfrm>
        </p:spPr>
        <p:txBody>
          <a:bodyPr/>
          <a:lstStyle/>
          <a:p>
            <a:pPr lvl="1"/>
            <a:r>
              <a:rPr lang="en-US" altLang="en-US" sz="2000" dirty="0">
                <a:ea typeface="ヒラギノ角ゴ Pro W3" pitchFamily="-84" charset="-128"/>
              </a:rPr>
              <a:t>The value of exports in domestic currency does not change.</a:t>
            </a:r>
          </a:p>
          <a:p>
            <a:r>
              <a:rPr lang="en-US" altLang="en-US" sz="2000" dirty="0">
                <a:ea typeface="ヒラギノ角ゴ Pro W3" pitchFamily="-84" charset="-128"/>
              </a:rPr>
              <a:t>The current account could immediately decrease after a currency depreciation, then increase gradually as the volume effect begins to dominate the value effect.</a:t>
            </a:r>
            <a:endParaRPr lang="en-US" sz="2000" dirty="0"/>
          </a:p>
        </p:txBody>
      </p:sp>
    </p:spTree>
    <p:extLst>
      <p:ext uri="{BB962C8B-B14F-4D97-AF65-F5344CB8AC3E}">
        <p14:creationId xmlns:p14="http://schemas.microsoft.com/office/powerpoint/2010/main" val="13403136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4CE7-1333-4E6E-80E7-3A1517838B05}"/>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Figure 17.18 The J-Curve</a:t>
            </a:r>
            <a:endParaRPr lang="en-IN" dirty="0">
              <a:cs typeface="Times New Roman" panose="02020603050405020304" pitchFamily="18" charset="0"/>
            </a:endParaRPr>
          </a:p>
        </p:txBody>
      </p:sp>
      <p:pic>
        <p:nvPicPr>
          <p:cNvPr id="6" name="Content Placeholder 5" descr="The graph plots current account in domestic output units versus time. For long description in Notes pane, press F6.">
            <a:extLst>
              <a:ext uri="{FF2B5EF4-FFF2-40B4-BE49-F238E27FC236}">
                <a16:creationId xmlns:a16="http://schemas.microsoft.com/office/drawing/2014/main" id="{2B35CACB-1208-4EF7-9D1B-13E5245ACDCE}"/>
              </a:ext>
            </a:extLst>
          </p:cNvPr>
          <p:cNvPicPr>
            <a:picLocks noGrp="1" noChangeAspect="1"/>
          </p:cNvPicPr>
          <p:nvPr>
            <p:ph sz="quarter" idx="13"/>
          </p:nvPr>
        </p:nvPicPr>
        <p:blipFill>
          <a:blip r:embed="rId3"/>
          <a:stretch>
            <a:fillRect/>
          </a:stretch>
        </p:blipFill>
        <p:spPr>
          <a:xfrm>
            <a:off x="2577177" y="1705883"/>
            <a:ext cx="3989647" cy="3653503"/>
          </a:xfrm>
        </p:spPr>
      </p:pic>
      <p:sp>
        <p:nvSpPr>
          <p:cNvPr id="4" name="Content Placeholder 3">
            <a:extLst>
              <a:ext uri="{FF2B5EF4-FFF2-40B4-BE49-F238E27FC236}">
                <a16:creationId xmlns:a16="http://schemas.microsoft.com/office/drawing/2014/main" id="{83ED5D82-340B-417D-9A5D-16E6C0755A18}"/>
              </a:ext>
            </a:extLst>
          </p:cNvPr>
          <p:cNvSpPr>
            <a:spLocks noGrp="1"/>
          </p:cNvSpPr>
          <p:nvPr>
            <p:ph sz="quarter" idx="14"/>
          </p:nvPr>
        </p:nvSpPr>
        <p:spPr>
          <a:xfrm>
            <a:off x="457200" y="5601964"/>
            <a:ext cx="8229600" cy="683147"/>
          </a:xfrm>
        </p:spPr>
        <p:txBody>
          <a:bodyPr/>
          <a:lstStyle/>
          <a:p>
            <a:pPr marL="432" indent="0">
              <a:buNone/>
            </a:pPr>
            <a:r>
              <a:rPr lang="en-US" sz="1800" dirty="0">
                <a:latin typeface="Arial (Body)"/>
              </a:rPr>
              <a:t>The J-curve describes the time lag with which a real currency depreciation improves the current account.</a:t>
            </a:r>
          </a:p>
        </p:txBody>
      </p:sp>
    </p:spTree>
    <p:extLst>
      <p:ext uri="{BB962C8B-B14F-4D97-AF65-F5344CB8AC3E}">
        <p14:creationId xmlns:p14="http://schemas.microsoft.com/office/powerpoint/2010/main" val="15464726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096B6-076D-454D-8339-3A25880AEEEA}"/>
              </a:ext>
            </a:extLst>
          </p:cNvPr>
          <p:cNvSpPr>
            <a:spLocks noGrp="1"/>
          </p:cNvSpPr>
          <p:nvPr>
            <p:ph type="title"/>
          </p:nvPr>
        </p:nvSpPr>
        <p:spPr>
          <a:xfrm>
            <a:off x="457200" y="215371"/>
            <a:ext cx="7477432" cy="1097279"/>
          </a:xfrm>
        </p:spPr>
        <p:txBody>
          <a:bodyPr/>
          <a:lstStyle/>
          <a:p>
            <a:r>
              <a:rPr lang="en-US" altLang="en-US" sz="3200" dirty="0">
                <a:ea typeface="ヒラギノ角ゴ Pro W3" pitchFamily="-84" charset="-128"/>
              </a:rPr>
              <a:t>Value Effect, Volume Effect, and the J-Curve </a:t>
            </a:r>
            <a:r>
              <a:rPr lang="en-US" altLang="en-US" sz="2000" b="0" dirty="0">
                <a:ea typeface="ヒラギノ角ゴ Pro W3" pitchFamily="-84" charset="-128"/>
              </a:rPr>
              <a:t>(2 of 3)</a:t>
            </a:r>
            <a:endParaRPr lang="en-IN" sz="2000" dirty="0"/>
          </a:p>
        </p:txBody>
      </p:sp>
      <p:sp>
        <p:nvSpPr>
          <p:cNvPr id="3" name="Content Placeholder 2">
            <a:extLst>
              <a:ext uri="{FF2B5EF4-FFF2-40B4-BE49-F238E27FC236}">
                <a16:creationId xmlns:a16="http://schemas.microsoft.com/office/drawing/2014/main" id="{24FCB856-9F06-4E27-ADD7-94D1A3F37172}"/>
              </a:ext>
            </a:extLst>
          </p:cNvPr>
          <p:cNvSpPr>
            <a:spLocks noGrp="1"/>
          </p:cNvSpPr>
          <p:nvPr>
            <p:ph sz="quarter" idx="13"/>
          </p:nvPr>
        </p:nvSpPr>
        <p:spPr>
          <a:xfrm>
            <a:off x="457200" y="1556327"/>
            <a:ext cx="8229600" cy="4346762"/>
          </a:xfrm>
        </p:spPr>
        <p:txBody>
          <a:bodyPr/>
          <a:lstStyle/>
          <a:p>
            <a:pPr eaLnBrk="1" hangingPunct="1">
              <a:spcBef>
                <a:spcPct val="50000"/>
              </a:spcBef>
            </a:pPr>
            <a:r>
              <a:rPr lang="en-US" altLang="en-US" sz="2200" b="1" dirty="0">
                <a:latin typeface="Arial (Body)"/>
                <a:ea typeface="ヒラギノ角ゴ Pro W3" pitchFamily="-84" charset="-128"/>
              </a:rPr>
              <a:t>Pass-through</a:t>
            </a:r>
            <a:r>
              <a:rPr lang="en-US" altLang="en-US" sz="2200" dirty="0">
                <a:latin typeface="Arial (Body)"/>
                <a:ea typeface="ヒラギノ角ゴ Pro W3" pitchFamily="-84" charset="-128"/>
              </a:rPr>
              <a:t> from the exchange rate to import prices measures the percentage by which import prices change when the value of the domestic currency changes by 1%.</a:t>
            </a:r>
          </a:p>
          <a:p>
            <a:pPr eaLnBrk="1" hangingPunct="1">
              <a:spcBef>
                <a:spcPct val="50000"/>
              </a:spcBef>
            </a:pPr>
            <a:r>
              <a:rPr lang="en-US" altLang="en-US" sz="2200" dirty="0">
                <a:latin typeface="Arial (Body)"/>
                <a:ea typeface="ヒラギノ角ゴ Pro W3" pitchFamily="-84" charset="-128"/>
              </a:rPr>
              <a:t>In the </a:t>
            </a:r>
            <a:r>
              <a:rPr lang="en-US" altLang="en-US" sz="2200"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sz="2200" i="1" dirty="0">
                <a:latin typeface="Arial (Body)"/>
                <a:ea typeface="ヒラギノ角ゴ Pro W3" pitchFamily="-84" charset="-128"/>
              </a:rPr>
              <a:t>D-A</a:t>
            </a:r>
            <a:r>
              <a:rPr lang="en-US" altLang="en-US" sz="100" i="1" dirty="0">
                <a:latin typeface="Arial (Body)"/>
                <a:ea typeface="ヒラギノ角ゴ Pro W3" pitchFamily="-84" charset="-128"/>
              </a:rPr>
              <a:t> </a:t>
            </a:r>
            <a:r>
              <a:rPr lang="en-US" altLang="en-US" sz="2200" i="1" dirty="0">
                <a:latin typeface="Arial (Body)"/>
                <a:ea typeface="ヒラギノ角ゴ Pro W3" pitchFamily="-84" charset="-128"/>
              </a:rPr>
              <a:t>A</a:t>
            </a:r>
            <a:r>
              <a:rPr lang="en-US" altLang="en-US" sz="2200" dirty="0">
                <a:latin typeface="Arial (Body)"/>
                <a:ea typeface="ヒラギノ角ゴ Pro W3" pitchFamily="-84" charset="-128"/>
              </a:rPr>
              <a:t> model, the pass-through rate is 100%: import prices in domestic currency exactly match a depreciation of the domestic currency.</a:t>
            </a:r>
          </a:p>
          <a:p>
            <a:pPr eaLnBrk="1" hangingPunct="1">
              <a:spcBef>
                <a:spcPct val="50000"/>
              </a:spcBef>
            </a:pPr>
            <a:r>
              <a:rPr lang="en-US" altLang="en-US" sz="2200" dirty="0">
                <a:latin typeface="Arial (Body)"/>
                <a:ea typeface="ヒラギノ角ゴ Pro W3" pitchFamily="-84" charset="-128"/>
              </a:rPr>
              <a:t>In reality, pass-through may be less than 100% due to price discrimination in different countries. </a:t>
            </a:r>
          </a:p>
          <a:p>
            <a:pPr lvl="1" eaLnBrk="1" hangingPunct="1"/>
            <a:r>
              <a:rPr lang="en-US" altLang="en-US" sz="2200" dirty="0">
                <a:latin typeface="Arial (Body)"/>
                <a:ea typeface="ヒラギノ角ゴ Pro W3" pitchFamily="-84" charset="-128"/>
              </a:rPr>
              <a:t>Firms that set prices may decide not to match changes in the exchange rate with changes in prices of foreign products denominated in domestic currency.</a:t>
            </a:r>
          </a:p>
        </p:txBody>
      </p:sp>
    </p:spTree>
    <p:extLst>
      <p:ext uri="{BB962C8B-B14F-4D97-AF65-F5344CB8AC3E}">
        <p14:creationId xmlns:p14="http://schemas.microsoft.com/office/powerpoint/2010/main" val="40628117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096B6-076D-454D-8339-3A25880AEEEA}"/>
              </a:ext>
            </a:extLst>
          </p:cNvPr>
          <p:cNvSpPr>
            <a:spLocks noGrp="1"/>
          </p:cNvSpPr>
          <p:nvPr>
            <p:ph type="title"/>
          </p:nvPr>
        </p:nvSpPr>
        <p:spPr>
          <a:xfrm>
            <a:off x="457200" y="215371"/>
            <a:ext cx="7477432" cy="1097279"/>
          </a:xfrm>
        </p:spPr>
        <p:txBody>
          <a:bodyPr/>
          <a:lstStyle/>
          <a:p>
            <a:r>
              <a:rPr lang="en-US" altLang="en-US" sz="3200" dirty="0">
                <a:ea typeface="ヒラギノ角ゴ Pro W3" pitchFamily="-84" charset="-128"/>
              </a:rPr>
              <a:t>Value Effect, Volume Effect, and the J-Curve </a:t>
            </a:r>
            <a:r>
              <a:rPr lang="en-US" altLang="en-US" sz="2000" b="0" dirty="0">
                <a:ea typeface="ヒラギノ角ゴ Pro W3" pitchFamily="-84" charset="-128"/>
              </a:rPr>
              <a:t>(3 of 3)</a:t>
            </a:r>
            <a:endParaRPr lang="en-IN" sz="2000" dirty="0"/>
          </a:p>
        </p:txBody>
      </p:sp>
      <p:sp>
        <p:nvSpPr>
          <p:cNvPr id="3" name="Content Placeholder 2">
            <a:extLst>
              <a:ext uri="{FF2B5EF4-FFF2-40B4-BE49-F238E27FC236}">
                <a16:creationId xmlns:a16="http://schemas.microsoft.com/office/drawing/2014/main" id="{24FCB856-9F06-4E27-ADD7-94D1A3F37172}"/>
              </a:ext>
            </a:extLst>
          </p:cNvPr>
          <p:cNvSpPr>
            <a:spLocks noGrp="1"/>
          </p:cNvSpPr>
          <p:nvPr>
            <p:ph sz="quarter" idx="13"/>
          </p:nvPr>
        </p:nvSpPr>
        <p:spPr>
          <a:xfrm>
            <a:off x="457200" y="1556327"/>
            <a:ext cx="8229600" cy="4346762"/>
          </a:xfrm>
        </p:spPr>
        <p:txBody>
          <a:bodyPr/>
          <a:lstStyle/>
          <a:p>
            <a:pPr eaLnBrk="1" hangingPunct="1">
              <a:spcBef>
                <a:spcPct val="50000"/>
              </a:spcBef>
            </a:pPr>
            <a:r>
              <a:rPr lang="en-US" altLang="en-US" sz="2200" dirty="0">
                <a:latin typeface="Arial (Body)"/>
                <a:ea typeface="ヒラギノ角ゴ Pro W3" pitchFamily="-84" charset="-128"/>
              </a:rPr>
              <a:t>If prices of foreign products in domestic currency do not change much because of a pass-through rate less than 100%, then </a:t>
            </a:r>
          </a:p>
          <a:p>
            <a:pPr lvl="1" eaLnBrk="1" hangingPunct="1"/>
            <a:r>
              <a:rPr lang="en-US" altLang="en-US" sz="2200" dirty="0">
                <a:latin typeface="Arial (Body)"/>
                <a:ea typeface="ヒラギノ角ゴ Pro W3" pitchFamily="-84" charset="-128"/>
              </a:rPr>
              <a:t>the value of imports will not rise much after a domestic currency depreciation, and the current account will not fall much, making the J-curve effect smaller.</a:t>
            </a:r>
          </a:p>
          <a:p>
            <a:pPr lvl="1" eaLnBrk="1" hangingPunct="1"/>
            <a:r>
              <a:rPr lang="en-US" altLang="en-US" sz="2200" dirty="0">
                <a:latin typeface="Arial (Body)"/>
                <a:ea typeface="ヒラギノ角ゴ Pro W3" pitchFamily="-84" charset="-128"/>
              </a:rPr>
              <a:t>the volume of imports and exports will not adjust much over time, since domestic currency prices do not change much. </a:t>
            </a:r>
          </a:p>
          <a:p>
            <a:pPr eaLnBrk="1" hangingPunct="1">
              <a:spcBef>
                <a:spcPct val="50000"/>
              </a:spcBef>
            </a:pPr>
            <a:r>
              <a:rPr lang="en-US" altLang="en-US" sz="2200" dirty="0">
                <a:latin typeface="Arial (Body)"/>
                <a:ea typeface="ヒラギノ角ゴ Pro W3" pitchFamily="-84" charset="-128"/>
              </a:rPr>
              <a:t>Pass-through of less than 100% dampens the effect of depreciation or appreciation on the current account.</a:t>
            </a:r>
          </a:p>
        </p:txBody>
      </p:sp>
    </p:spTree>
    <p:extLst>
      <p:ext uri="{BB962C8B-B14F-4D97-AF65-F5344CB8AC3E}">
        <p14:creationId xmlns:p14="http://schemas.microsoft.com/office/powerpoint/2010/main" val="1221338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2FFE-4033-4A5A-8C86-61F7C187CBC5}"/>
              </a:ext>
            </a:extLst>
          </p:cNvPr>
          <p:cNvSpPr>
            <a:spLocks noGrp="1"/>
          </p:cNvSpPr>
          <p:nvPr>
            <p:ph type="title"/>
          </p:nvPr>
        </p:nvSpPr>
        <p:spPr/>
        <p:txBody>
          <a:bodyPr/>
          <a:lstStyle/>
          <a:p>
            <a:r>
              <a:rPr lang="en-US" altLang="en-US" sz="3000" dirty="0">
                <a:ea typeface="ヒラギノ角ゴ Pro W3" pitchFamily="-84" charset="-128"/>
                <a:cs typeface="Times New Roman" panose="02020603050405020304" pitchFamily="18" charset="0"/>
              </a:rPr>
              <a:t>Global Value Chains and Exchange Rate Effects of Export and Import Prices</a:t>
            </a:r>
            <a:endParaRPr lang="en-IN" sz="3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A051B42E-28C8-4596-8A54-A9A8AAE320B7}"/>
              </a:ext>
            </a:extLst>
          </p:cNvPr>
          <p:cNvSpPr>
            <a:spLocks noGrp="1"/>
          </p:cNvSpPr>
          <p:nvPr>
            <p:ph sz="quarter" idx="13"/>
          </p:nvPr>
        </p:nvSpPr>
        <p:spPr>
          <a:xfrm>
            <a:off x="457200" y="1556327"/>
            <a:ext cx="8229600" cy="4184716"/>
          </a:xfrm>
        </p:spPr>
        <p:txBody>
          <a:bodyPr/>
          <a:lstStyle/>
          <a:p>
            <a:pPr eaLnBrk="1" hangingPunct="1">
              <a:spcBef>
                <a:spcPct val="50000"/>
              </a:spcBef>
            </a:pPr>
            <a:r>
              <a:rPr lang="en-US" altLang="en-US" sz="2200" dirty="0">
                <a:latin typeface="Arial (Body)"/>
                <a:ea typeface="ヒラギノ角ゴ Pro W3" pitchFamily="-84" charset="-128"/>
              </a:rPr>
              <a:t>Some imported intermediate goods become part of goods that are exported, leading to complex global value chains in which multiple countries produce portions of the value added of final products.</a:t>
            </a:r>
          </a:p>
          <a:p>
            <a:pPr>
              <a:spcBef>
                <a:spcPct val="50000"/>
              </a:spcBef>
            </a:pPr>
            <a:r>
              <a:rPr lang="en-US" altLang="en-US" sz="2200" dirty="0">
                <a:latin typeface="Arial (Body)"/>
                <a:ea typeface="ヒラギノ角ゴ Pro W3" pitchFamily="-84" charset="-128"/>
              </a:rPr>
              <a:t>For many countries, imported value accounts for a significant portion of the gross value of exports (backward linkages).</a:t>
            </a:r>
          </a:p>
          <a:p>
            <a:pPr lvl="1">
              <a:spcBef>
                <a:spcPct val="50000"/>
              </a:spcBef>
            </a:pPr>
            <a:r>
              <a:rPr lang="en-US" altLang="en-US" sz="2200" dirty="0">
                <a:latin typeface="Arial (Body)"/>
                <a:ea typeface="ヒラギノ角ゴ Pro W3" pitchFamily="-84" charset="-128"/>
              </a:rPr>
              <a:t>A country’s exports may go on to be included in exports from other countries (forward linkages).</a:t>
            </a:r>
          </a:p>
          <a:p>
            <a:pPr eaLnBrk="1" hangingPunct="1">
              <a:spcBef>
                <a:spcPct val="50000"/>
              </a:spcBef>
            </a:pPr>
            <a:r>
              <a:rPr lang="en-US" altLang="en-US" sz="2200" dirty="0">
                <a:latin typeface="Arial (Body)"/>
                <a:ea typeface="ヒラギノ角ゴ Pro W3" pitchFamily="-84" charset="-128"/>
              </a:rPr>
              <a:t>Backward and forward linkages tend to dampen the effects of currency depreciations by creating offsetting forces.</a:t>
            </a:r>
          </a:p>
        </p:txBody>
      </p:sp>
    </p:spTree>
    <p:extLst>
      <p:ext uri="{BB962C8B-B14F-4D97-AF65-F5344CB8AC3E}">
        <p14:creationId xmlns:p14="http://schemas.microsoft.com/office/powerpoint/2010/main" val="12270952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3C635-6E15-4314-9E45-2828825F686B}"/>
              </a:ext>
            </a:extLst>
          </p:cNvPr>
          <p:cNvSpPr>
            <a:spLocks noGrp="1"/>
          </p:cNvSpPr>
          <p:nvPr>
            <p:ph type="title"/>
          </p:nvPr>
        </p:nvSpPr>
        <p:spPr>
          <a:xfrm>
            <a:off x="457200" y="215371"/>
            <a:ext cx="8351134" cy="1097279"/>
          </a:xfrm>
        </p:spPr>
        <p:txBody>
          <a:bodyPr/>
          <a:lstStyle/>
          <a:p>
            <a:r>
              <a:rPr lang="en-US" altLang="en-US" sz="2600" dirty="0">
                <a:ea typeface="ヒラギノ角ゴ Pro W3" pitchFamily="-84" charset="-128"/>
                <a:cs typeface="Times New Roman" panose="02020603050405020304" pitchFamily="18" charset="0"/>
              </a:rPr>
              <a:t>Figure 17.19 Import Content of Exports for Selected Countries in the European Union, 2005–2016</a:t>
            </a:r>
            <a:endParaRPr lang="en-IN" sz="2600" dirty="0">
              <a:cs typeface="Times New Roman" panose="02020603050405020304" pitchFamily="18" charset="0"/>
            </a:endParaRPr>
          </a:p>
        </p:txBody>
      </p:sp>
      <p:pic>
        <p:nvPicPr>
          <p:cNvPr id="6" name="Content Placeholder 5" descr="The graph plots percent of value versus year. For long description in Notes pane, press F6.">
            <a:extLst>
              <a:ext uri="{FF2B5EF4-FFF2-40B4-BE49-F238E27FC236}">
                <a16:creationId xmlns:a16="http://schemas.microsoft.com/office/drawing/2014/main" id="{1D367AD3-B7C7-4872-877A-AB0270D484BE}"/>
              </a:ext>
            </a:extLst>
          </p:cNvPr>
          <p:cNvPicPr>
            <a:picLocks noGrp="1" noChangeAspect="1"/>
          </p:cNvPicPr>
          <p:nvPr>
            <p:ph sz="quarter" idx="13"/>
          </p:nvPr>
        </p:nvPicPr>
        <p:blipFill>
          <a:blip r:embed="rId3"/>
          <a:stretch>
            <a:fillRect/>
          </a:stretch>
        </p:blipFill>
        <p:spPr>
          <a:xfrm>
            <a:off x="1148316" y="1636460"/>
            <a:ext cx="6847366" cy="3321366"/>
          </a:xfrm>
        </p:spPr>
      </p:pic>
      <p:sp>
        <p:nvSpPr>
          <p:cNvPr id="4" name="Content Placeholder 3">
            <a:extLst>
              <a:ext uri="{FF2B5EF4-FFF2-40B4-BE49-F238E27FC236}">
                <a16:creationId xmlns:a16="http://schemas.microsoft.com/office/drawing/2014/main" id="{626498B5-078F-4475-B3A4-35962D722A56}"/>
              </a:ext>
            </a:extLst>
          </p:cNvPr>
          <p:cNvSpPr>
            <a:spLocks noGrp="1"/>
          </p:cNvSpPr>
          <p:nvPr>
            <p:ph sz="quarter" idx="14"/>
          </p:nvPr>
        </p:nvSpPr>
        <p:spPr>
          <a:xfrm>
            <a:off x="457200" y="5116011"/>
            <a:ext cx="8229600" cy="1168675"/>
          </a:xfrm>
        </p:spPr>
        <p:txBody>
          <a:bodyPr/>
          <a:lstStyle/>
          <a:p>
            <a:pPr marL="0" indent="0">
              <a:buFont typeface="Arial" panose="020B0604020202020204" pitchFamily="34" charset="0"/>
              <a:buNone/>
            </a:pPr>
            <a:r>
              <a:rPr lang="en-US" sz="1800" dirty="0">
                <a:latin typeface="Arial (Body)"/>
              </a:rPr>
              <a:t>Imported value added can account for a significant fraction of the value of exports.</a:t>
            </a:r>
          </a:p>
          <a:p>
            <a:pPr marL="0" indent="0">
              <a:buFont typeface="Arial" panose="020B0604020202020204" pitchFamily="34" charset="0"/>
              <a:buNone/>
            </a:pPr>
            <a:r>
              <a:rPr lang="en-US" sz="1800" dirty="0">
                <a:latin typeface="Arial (Body)"/>
              </a:rPr>
              <a:t>Source: O</a:t>
            </a:r>
            <a:r>
              <a:rPr lang="en-US" sz="100" dirty="0">
                <a:latin typeface="Arial (Body)"/>
              </a:rPr>
              <a:t> </a:t>
            </a:r>
            <a:r>
              <a:rPr lang="en-US" sz="1800" dirty="0">
                <a:latin typeface="Arial (Body)"/>
              </a:rPr>
              <a:t>E</a:t>
            </a:r>
            <a:r>
              <a:rPr lang="en-US" sz="100" dirty="0">
                <a:latin typeface="Arial (Body)"/>
              </a:rPr>
              <a:t> </a:t>
            </a:r>
            <a:r>
              <a:rPr lang="en-US" sz="1800" dirty="0">
                <a:latin typeface="Arial (Body)"/>
              </a:rPr>
              <a:t>C</a:t>
            </a:r>
            <a:r>
              <a:rPr lang="en-US" sz="100" dirty="0">
                <a:latin typeface="Arial (Body)"/>
              </a:rPr>
              <a:t> </a:t>
            </a:r>
            <a:r>
              <a:rPr lang="en-US" sz="1800" dirty="0">
                <a:latin typeface="Arial (Body)"/>
              </a:rPr>
              <a:t>D.</a:t>
            </a:r>
          </a:p>
        </p:txBody>
      </p:sp>
    </p:spTree>
    <p:extLst>
      <p:ext uri="{BB962C8B-B14F-4D97-AF65-F5344CB8AC3E}">
        <p14:creationId xmlns:p14="http://schemas.microsoft.com/office/powerpoint/2010/main" val="13602673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A6E76-2328-4095-BB86-F4F0EBA68D20}"/>
              </a:ext>
            </a:extLst>
          </p:cNvPr>
          <p:cNvSpPr>
            <a:spLocks noGrp="1"/>
          </p:cNvSpPr>
          <p:nvPr>
            <p:ph type="title"/>
          </p:nvPr>
        </p:nvSpPr>
        <p:spPr/>
        <p:txBody>
          <a:bodyPr/>
          <a:lstStyle/>
          <a:p>
            <a:r>
              <a:rPr lang="en-US" dirty="0"/>
              <a:t>The Liquidity Trap </a:t>
            </a:r>
            <a:r>
              <a:rPr lang="en-US" altLang="en-US" sz="2000" b="0" dirty="0">
                <a:ea typeface="ヒラギノ角ゴ Pro W3" pitchFamily="-84" charset="-128"/>
              </a:rPr>
              <a:t>(1 of 3)</a:t>
            </a:r>
            <a:endParaRPr lang="en-IN" sz="2000" dirty="0"/>
          </a:p>
        </p:txBody>
      </p:sp>
      <p:sp>
        <p:nvSpPr>
          <p:cNvPr id="3" name="Content Placeholder 2">
            <a:extLst>
              <a:ext uri="{FF2B5EF4-FFF2-40B4-BE49-F238E27FC236}">
                <a16:creationId xmlns:a16="http://schemas.microsoft.com/office/drawing/2014/main" id="{A2DC5934-D05F-4669-98EF-105FBCA143D8}"/>
              </a:ext>
            </a:extLst>
          </p:cNvPr>
          <p:cNvSpPr>
            <a:spLocks noGrp="1"/>
          </p:cNvSpPr>
          <p:nvPr>
            <p:ph sz="quarter" idx="13"/>
          </p:nvPr>
        </p:nvSpPr>
        <p:spPr/>
        <p:txBody>
          <a:bodyPr/>
          <a:lstStyle/>
          <a:p>
            <a:r>
              <a:rPr lang="en-US" sz="2000" dirty="0">
                <a:latin typeface="Arial (Body)"/>
              </a:rPr>
              <a:t>During the Great Depression of the 1930s, the nominal interest rate hit zero in the United States, and the country found itself in a </a:t>
            </a:r>
            <a:r>
              <a:rPr lang="en-US" sz="2000" b="1" dirty="0">
                <a:latin typeface="Arial (Body)"/>
              </a:rPr>
              <a:t>liquidity trap</a:t>
            </a:r>
            <a:r>
              <a:rPr lang="en-US" sz="2000" dirty="0">
                <a:latin typeface="Arial (Body)"/>
              </a:rPr>
              <a:t>.</a:t>
            </a:r>
          </a:p>
          <a:p>
            <a:r>
              <a:rPr lang="en-US" sz="2000" dirty="0">
                <a:latin typeface="Arial (Body)"/>
              </a:rPr>
              <a:t>Once an economy’s nominal interest rate falls to zero, a central bank experiences difficulty lowering it any further.</a:t>
            </a:r>
          </a:p>
          <a:p>
            <a:pPr lvl="1"/>
            <a:r>
              <a:rPr lang="en-US" sz="2000" dirty="0">
                <a:latin typeface="Arial (Body)"/>
              </a:rPr>
              <a:t>At negative nominal interest rates, people find holding money preferable to bonds.</a:t>
            </a:r>
          </a:p>
          <a:p>
            <a:pPr lvl="1"/>
            <a:r>
              <a:rPr lang="en-US" sz="2000" dirty="0">
                <a:latin typeface="Arial (Body)"/>
              </a:rPr>
              <a:t>Central banks may want to avoid the </a:t>
            </a:r>
            <a:r>
              <a:rPr lang="en-US" sz="2000" b="1" dirty="0">
                <a:latin typeface="Arial (Body)"/>
              </a:rPr>
              <a:t>zero lower bound (Z</a:t>
            </a:r>
            <a:r>
              <a:rPr lang="en-US" sz="100" b="1" dirty="0">
                <a:latin typeface="Arial (Body)"/>
              </a:rPr>
              <a:t> </a:t>
            </a:r>
            <a:r>
              <a:rPr lang="en-US" sz="2000" b="1" dirty="0">
                <a:latin typeface="Arial (Body)"/>
              </a:rPr>
              <a:t>L</a:t>
            </a:r>
            <a:r>
              <a:rPr lang="en-US" sz="100" b="1" dirty="0">
                <a:latin typeface="Arial (Body)"/>
              </a:rPr>
              <a:t> </a:t>
            </a:r>
            <a:r>
              <a:rPr lang="en-US" sz="2000" b="1" dirty="0">
                <a:latin typeface="Arial (Body)"/>
              </a:rPr>
              <a:t>B) </a:t>
            </a:r>
            <a:r>
              <a:rPr lang="en-US" sz="2000" dirty="0">
                <a:latin typeface="Arial (Body)"/>
              </a:rPr>
              <a:t>on the nominal interest rate to keep monetary expansion as an option.</a:t>
            </a:r>
          </a:p>
          <a:p>
            <a:pPr lvl="1"/>
            <a:r>
              <a:rPr lang="en-US" sz="2000" dirty="0">
                <a:latin typeface="Arial (Body)"/>
              </a:rPr>
              <a:t>Starting in 2014, some major central banks have pushed nominal interest rates into slightly negative territory.</a:t>
            </a:r>
          </a:p>
        </p:txBody>
      </p:sp>
    </p:spTree>
    <p:extLst>
      <p:ext uri="{BB962C8B-B14F-4D97-AF65-F5344CB8AC3E}">
        <p14:creationId xmlns:p14="http://schemas.microsoft.com/office/powerpoint/2010/main" val="5559807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A6E76-2328-4095-BB86-F4F0EBA68D20}"/>
              </a:ext>
            </a:extLst>
          </p:cNvPr>
          <p:cNvSpPr>
            <a:spLocks noGrp="1"/>
          </p:cNvSpPr>
          <p:nvPr>
            <p:ph type="title"/>
          </p:nvPr>
        </p:nvSpPr>
        <p:spPr/>
        <p:txBody>
          <a:bodyPr/>
          <a:lstStyle/>
          <a:p>
            <a:r>
              <a:rPr lang="en-US" dirty="0"/>
              <a:t>The Liquidity Trap </a:t>
            </a:r>
            <a:r>
              <a:rPr lang="en-US" altLang="en-US" sz="2000" b="0" dirty="0">
                <a:ea typeface="ヒラギノ角ゴ Pro W3" pitchFamily="-84" charset="-128"/>
              </a:rPr>
              <a:t>(2 of 3)</a:t>
            </a:r>
            <a:endParaRPr lang="en-IN" sz="2000" dirty="0"/>
          </a:p>
        </p:txBody>
      </p:sp>
      <p:sp>
        <p:nvSpPr>
          <p:cNvPr id="4" name="Content Placeholder 3">
            <a:extLst>
              <a:ext uri="{FF2B5EF4-FFF2-40B4-BE49-F238E27FC236}">
                <a16:creationId xmlns:a16="http://schemas.microsoft.com/office/drawing/2014/main" id="{FA4ACC63-5065-4A17-9257-C8FF8090EC9A}"/>
              </a:ext>
            </a:extLst>
          </p:cNvPr>
          <p:cNvSpPr>
            <a:spLocks noGrp="1"/>
          </p:cNvSpPr>
          <p:nvPr>
            <p:ph sz="quarter" idx="13"/>
          </p:nvPr>
        </p:nvSpPr>
        <p:spPr>
          <a:xfrm>
            <a:off x="457200" y="1552575"/>
            <a:ext cx="8229600" cy="1097279"/>
          </a:xfrm>
        </p:spPr>
        <p:txBody>
          <a:bodyPr/>
          <a:lstStyle/>
          <a:p>
            <a:r>
              <a:rPr lang="en-US" sz="2000" dirty="0"/>
              <a:t>The dilemma facing a central bank when the economy is in a liquidity trap slowdown can be seen by considering the interest parity condition when the domestic interest rate </a:t>
            </a:r>
            <a:r>
              <a:rPr lang="en-US" sz="2000" i="1" dirty="0"/>
              <a:t>R = 0</a:t>
            </a:r>
            <a:r>
              <a:rPr lang="en-US" sz="2000" dirty="0"/>
              <a:t>,</a:t>
            </a:r>
            <a:endParaRPr lang="en-IN" sz="2000" dirty="0"/>
          </a:p>
        </p:txBody>
      </p:sp>
      <p:graphicFrame>
        <p:nvGraphicFramePr>
          <p:cNvPr id="10" name="Object 9" descr="R = 0 = R asterisk + start fraction left parenthesis E to lower e power minus E right parenthesis over E end fraction.">
            <a:extLst>
              <a:ext uri="{FF2B5EF4-FFF2-40B4-BE49-F238E27FC236}">
                <a16:creationId xmlns:a16="http://schemas.microsoft.com/office/drawing/2014/main" id="{22BA2720-3D90-417D-83FF-F413F792F309}"/>
              </a:ext>
            </a:extLst>
          </p:cNvPr>
          <p:cNvGraphicFramePr>
            <a:graphicFrameLocks noChangeAspect="1"/>
          </p:cNvGraphicFramePr>
          <p:nvPr>
            <p:extLst>
              <p:ext uri="{D42A27DB-BD31-4B8C-83A1-F6EECF244321}">
                <p14:modId xmlns:p14="http://schemas.microsoft.com/office/powerpoint/2010/main" val="4034818439"/>
              </p:ext>
            </p:extLst>
          </p:nvPr>
        </p:nvGraphicFramePr>
        <p:xfrm>
          <a:off x="2911475" y="2774950"/>
          <a:ext cx="2738438" cy="450850"/>
        </p:xfrm>
        <a:graphic>
          <a:graphicData uri="http://schemas.openxmlformats.org/presentationml/2006/ole">
            <mc:AlternateContent xmlns:mc="http://schemas.openxmlformats.org/markup-compatibility/2006">
              <mc:Choice xmlns:v="urn:schemas-microsoft-com:vml" Requires="v">
                <p:oleObj name="Equation" r:id="rId2" imgW="1701720" imgH="279360" progId="Equation.DSMT4">
                  <p:embed/>
                </p:oleObj>
              </mc:Choice>
              <mc:Fallback>
                <p:oleObj name="Equation" r:id="rId2" imgW="1701720" imgH="279360" progId="Equation.DSMT4">
                  <p:embed/>
                  <p:pic>
                    <p:nvPicPr>
                      <p:cNvPr id="5" name="Object 4">
                        <a:extLst>
                          <a:ext uri="{FF2B5EF4-FFF2-40B4-BE49-F238E27FC236}">
                            <a16:creationId xmlns:a16="http://schemas.microsoft.com/office/drawing/2014/main" id="{A4946003-9231-4699-B80C-3C7CD0B22989}"/>
                          </a:ext>
                        </a:extLst>
                      </p:cNvPr>
                      <p:cNvPicPr/>
                      <p:nvPr/>
                    </p:nvPicPr>
                    <p:blipFill>
                      <a:blip r:embed="rId3"/>
                      <a:stretch>
                        <a:fillRect/>
                      </a:stretch>
                    </p:blipFill>
                    <p:spPr>
                      <a:xfrm>
                        <a:off x="2911475" y="2774950"/>
                        <a:ext cx="2738438" cy="45085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2A99642F-920E-476D-AEE5-F90066EE8D41}"/>
              </a:ext>
            </a:extLst>
          </p:cNvPr>
          <p:cNvSpPr>
            <a:spLocks noGrp="1"/>
          </p:cNvSpPr>
          <p:nvPr>
            <p:ph sz="quarter" idx="14"/>
          </p:nvPr>
        </p:nvSpPr>
        <p:spPr>
          <a:xfrm>
            <a:off x="468313" y="3346989"/>
            <a:ext cx="7872412" cy="441240"/>
          </a:xfrm>
        </p:spPr>
        <p:txBody>
          <a:bodyPr/>
          <a:lstStyle/>
          <a:p>
            <a:r>
              <a:rPr lang="en-US" sz="2000" dirty="0"/>
              <a:t>Assume for the moment that the expected future exchange rate,</a:t>
            </a:r>
            <a:endParaRPr lang="en-IN" sz="2000" dirty="0"/>
          </a:p>
        </p:txBody>
      </p:sp>
      <p:graphicFrame>
        <p:nvGraphicFramePr>
          <p:cNvPr id="11" name="Object 10" descr="E to the lower e power,">
            <a:extLst>
              <a:ext uri="{FF2B5EF4-FFF2-40B4-BE49-F238E27FC236}">
                <a16:creationId xmlns:a16="http://schemas.microsoft.com/office/drawing/2014/main" id="{4D5DEED2-E124-4461-A113-F02BDE27FD5B}"/>
              </a:ext>
            </a:extLst>
          </p:cNvPr>
          <p:cNvGraphicFramePr>
            <a:graphicFrameLocks noChangeAspect="1"/>
          </p:cNvGraphicFramePr>
          <p:nvPr>
            <p:extLst>
              <p:ext uri="{D42A27DB-BD31-4B8C-83A1-F6EECF244321}">
                <p14:modId xmlns:p14="http://schemas.microsoft.com/office/powerpoint/2010/main" val="982250215"/>
              </p:ext>
            </p:extLst>
          </p:nvPr>
        </p:nvGraphicFramePr>
        <p:xfrm>
          <a:off x="803528" y="3844440"/>
          <a:ext cx="409069" cy="347709"/>
        </p:xfrm>
        <a:graphic>
          <a:graphicData uri="http://schemas.openxmlformats.org/presentationml/2006/ole">
            <mc:AlternateContent xmlns:mc="http://schemas.openxmlformats.org/markup-compatibility/2006">
              <mc:Choice xmlns:v="urn:schemas-microsoft-com:vml" Requires="v">
                <p:oleObj name="Equation" r:id="rId4" imgW="253800" imgH="215640" progId="Equation.DSMT4">
                  <p:embed/>
                </p:oleObj>
              </mc:Choice>
              <mc:Fallback>
                <p:oleObj name="Equation" r:id="rId4" imgW="253800" imgH="215640" progId="Equation.DSMT4">
                  <p:embed/>
                  <p:pic>
                    <p:nvPicPr>
                      <p:cNvPr id="0" name=""/>
                      <p:cNvPicPr/>
                      <p:nvPr/>
                    </p:nvPicPr>
                    <p:blipFill>
                      <a:blip r:embed="rId5"/>
                      <a:stretch>
                        <a:fillRect/>
                      </a:stretch>
                    </p:blipFill>
                    <p:spPr>
                      <a:xfrm>
                        <a:off x="803528" y="3844440"/>
                        <a:ext cx="409069" cy="347709"/>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ACC7856-23D0-4BBE-90BF-BDA20E02C829}"/>
              </a:ext>
            </a:extLst>
          </p:cNvPr>
          <p:cNvSpPr>
            <a:spLocks noGrp="1"/>
          </p:cNvSpPr>
          <p:nvPr>
            <p:ph sz="quarter" idx="15"/>
          </p:nvPr>
        </p:nvSpPr>
        <p:spPr>
          <a:xfrm>
            <a:off x="1331052" y="3856196"/>
            <a:ext cx="1093385" cy="352947"/>
          </a:xfrm>
        </p:spPr>
        <p:txBody>
          <a:bodyPr tIns="0" bIns="0"/>
          <a:lstStyle/>
          <a:p>
            <a:pPr marL="0" indent="0">
              <a:buNone/>
            </a:pPr>
            <a:r>
              <a:rPr lang="en-US" sz="2000" dirty="0"/>
              <a:t>is fixed.</a:t>
            </a:r>
            <a:endParaRPr lang="en-IN" sz="2000" dirty="0"/>
          </a:p>
        </p:txBody>
      </p:sp>
      <p:sp>
        <p:nvSpPr>
          <p:cNvPr id="7" name="Content Placeholder 6">
            <a:extLst>
              <a:ext uri="{FF2B5EF4-FFF2-40B4-BE49-F238E27FC236}">
                <a16:creationId xmlns:a16="http://schemas.microsoft.com/office/drawing/2014/main" id="{A5AC1580-DBCF-446D-A756-F085E5892EAC}"/>
              </a:ext>
            </a:extLst>
          </p:cNvPr>
          <p:cNvSpPr>
            <a:spLocks noGrp="1"/>
          </p:cNvSpPr>
          <p:nvPr>
            <p:ph sz="quarter" idx="16"/>
          </p:nvPr>
        </p:nvSpPr>
        <p:spPr>
          <a:xfrm>
            <a:off x="457200" y="4279525"/>
            <a:ext cx="8108066" cy="1105278"/>
          </a:xfrm>
        </p:spPr>
        <p:txBody>
          <a:bodyPr/>
          <a:lstStyle/>
          <a:p>
            <a:r>
              <a:rPr lang="en-US" sz="2000" dirty="0"/>
              <a:t>Suppose the central bank raises the domestic money supply so as to depreciate the currency temporarily</a:t>
            </a:r>
          </a:p>
          <a:p>
            <a:pPr lvl="1"/>
            <a:r>
              <a:rPr lang="en-US" sz="2000" dirty="0"/>
              <a:t>that is, to raise </a:t>
            </a:r>
            <a:r>
              <a:rPr lang="en-US" sz="2000" i="1" dirty="0"/>
              <a:t>E</a:t>
            </a:r>
            <a:r>
              <a:rPr lang="en-US" sz="2000" dirty="0"/>
              <a:t> today but return the exchange rate to</a:t>
            </a:r>
            <a:endParaRPr lang="en-IN" sz="2000" dirty="0"/>
          </a:p>
        </p:txBody>
      </p:sp>
      <p:sp>
        <p:nvSpPr>
          <p:cNvPr id="8" name="Content Placeholder 7">
            <a:extLst>
              <a:ext uri="{FF2B5EF4-FFF2-40B4-BE49-F238E27FC236}">
                <a16:creationId xmlns:a16="http://schemas.microsoft.com/office/drawing/2014/main" id="{727F736B-C219-4C29-88FE-4537C9C1808E}"/>
              </a:ext>
            </a:extLst>
          </p:cNvPr>
          <p:cNvSpPr>
            <a:spLocks noGrp="1"/>
          </p:cNvSpPr>
          <p:nvPr>
            <p:ph sz="quarter" idx="17"/>
          </p:nvPr>
        </p:nvSpPr>
        <p:spPr>
          <a:xfrm>
            <a:off x="457199" y="5453284"/>
            <a:ext cx="1904036" cy="352431"/>
          </a:xfrm>
        </p:spPr>
        <p:txBody>
          <a:bodyPr tIns="0" bIns="0"/>
          <a:lstStyle/>
          <a:p>
            <a:pPr marL="741600" lvl="1" indent="0">
              <a:buNone/>
            </a:pPr>
            <a:r>
              <a:rPr lang="en-US" sz="2000" dirty="0"/>
              <a:t>the level</a:t>
            </a:r>
            <a:endParaRPr lang="en-IN" sz="2000" dirty="0"/>
          </a:p>
        </p:txBody>
      </p:sp>
      <p:graphicFrame>
        <p:nvGraphicFramePr>
          <p:cNvPr id="12" name="Object 11" descr="E to the lower e power">
            <a:extLst>
              <a:ext uri="{FF2B5EF4-FFF2-40B4-BE49-F238E27FC236}">
                <a16:creationId xmlns:a16="http://schemas.microsoft.com/office/drawing/2014/main" id="{4D1EE6A9-5CCF-419B-9456-6D7899D02631}"/>
              </a:ext>
            </a:extLst>
          </p:cNvPr>
          <p:cNvGraphicFramePr>
            <a:graphicFrameLocks noChangeAspect="1"/>
          </p:cNvGraphicFramePr>
          <p:nvPr>
            <p:extLst>
              <p:ext uri="{D42A27DB-BD31-4B8C-83A1-F6EECF244321}">
                <p14:modId xmlns:p14="http://schemas.microsoft.com/office/powerpoint/2010/main" val="3846572345"/>
              </p:ext>
            </p:extLst>
          </p:nvPr>
        </p:nvGraphicFramePr>
        <p:xfrm>
          <a:off x="2453464" y="5460839"/>
          <a:ext cx="347709" cy="306803"/>
        </p:xfrm>
        <a:graphic>
          <a:graphicData uri="http://schemas.openxmlformats.org/presentationml/2006/ole">
            <mc:AlternateContent xmlns:mc="http://schemas.openxmlformats.org/markup-compatibility/2006">
              <mc:Choice xmlns:v="urn:schemas-microsoft-com:vml" Requires="v">
                <p:oleObj name="Equation" r:id="rId6" imgW="215640" imgH="190440" progId="Equation.DSMT4">
                  <p:embed/>
                </p:oleObj>
              </mc:Choice>
              <mc:Fallback>
                <p:oleObj name="Equation" r:id="rId6" imgW="215640" imgH="190440" progId="Equation.DSMT4">
                  <p:embed/>
                  <p:pic>
                    <p:nvPicPr>
                      <p:cNvPr id="0" name=""/>
                      <p:cNvPicPr/>
                      <p:nvPr/>
                    </p:nvPicPr>
                    <p:blipFill>
                      <a:blip r:embed="rId7"/>
                      <a:stretch>
                        <a:fillRect/>
                      </a:stretch>
                    </p:blipFill>
                    <p:spPr>
                      <a:xfrm>
                        <a:off x="2453464" y="5460839"/>
                        <a:ext cx="347709" cy="30680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9446864-7B90-4175-9143-E606D1E68C77}"/>
              </a:ext>
            </a:extLst>
          </p:cNvPr>
          <p:cNvSpPr>
            <a:spLocks noGrp="1"/>
          </p:cNvSpPr>
          <p:nvPr>
            <p:ph sz="quarter" idx="18"/>
          </p:nvPr>
        </p:nvSpPr>
        <p:spPr>
          <a:xfrm>
            <a:off x="2920634" y="5453284"/>
            <a:ext cx="1069774" cy="366946"/>
          </a:xfrm>
        </p:spPr>
        <p:txBody>
          <a:bodyPr lIns="0" tIns="0" bIns="0"/>
          <a:lstStyle/>
          <a:p>
            <a:pPr marL="0" lvl="1" indent="0">
              <a:buNone/>
            </a:pPr>
            <a:r>
              <a:rPr lang="en-US" sz="2000" dirty="0"/>
              <a:t>later.</a:t>
            </a:r>
            <a:endParaRPr lang="en-IN" sz="2000" dirty="0"/>
          </a:p>
        </p:txBody>
      </p:sp>
    </p:spTree>
    <p:extLst>
      <p:ext uri="{BB962C8B-B14F-4D97-AF65-F5344CB8AC3E}">
        <p14:creationId xmlns:p14="http://schemas.microsoft.com/office/powerpoint/2010/main" val="2973422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A6E76-2328-4095-BB86-F4F0EBA68D20}"/>
              </a:ext>
            </a:extLst>
          </p:cNvPr>
          <p:cNvSpPr>
            <a:spLocks noGrp="1"/>
          </p:cNvSpPr>
          <p:nvPr>
            <p:ph type="title"/>
          </p:nvPr>
        </p:nvSpPr>
        <p:spPr/>
        <p:txBody>
          <a:bodyPr/>
          <a:lstStyle/>
          <a:p>
            <a:r>
              <a:rPr lang="en-US" dirty="0"/>
              <a:t>The Liquidity Trap </a:t>
            </a:r>
            <a:r>
              <a:rPr lang="en-US" altLang="en-US" sz="2000" b="0" dirty="0">
                <a:ea typeface="ヒラギノ角ゴ Pro W3" pitchFamily="-84" charset="-128"/>
              </a:rPr>
              <a:t>(3 of 3)</a:t>
            </a:r>
            <a:endParaRPr lang="en-IN" sz="2000" dirty="0"/>
          </a:p>
        </p:txBody>
      </p:sp>
      <p:sp>
        <p:nvSpPr>
          <p:cNvPr id="24" name="Content Placeholder 23">
            <a:extLst>
              <a:ext uri="{FF2B5EF4-FFF2-40B4-BE49-F238E27FC236}">
                <a16:creationId xmlns:a16="http://schemas.microsoft.com/office/drawing/2014/main" id="{045B3445-6D77-46AF-82A6-8F5AE5E111E8}"/>
              </a:ext>
            </a:extLst>
          </p:cNvPr>
          <p:cNvSpPr>
            <a:spLocks noGrp="1"/>
          </p:cNvSpPr>
          <p:nvPr>
            <p:ph sz="quarter" idx="13"/>
          </p:nvPr>
        </p:nvSpPr>
        <p:spPr>
          <a:xfrm>
            <a:off x="457200" y="1556327"/>
            <a:ext cx="8229600" cy="2013724"/>
          </a:xfrm>
        </p:spPr>
        <p:txBody>
          <a:bodyPr/>
          <a:lstStyle/>
          <a:p>
            <a:r>
              <a:rPr lang="en-US" sz="2200" dirty="0"/>
              <a:t>The interest parity condition shows that </a:t>
            </a:r>
            <a:r>
              <a:rPr lang="en-US" sz="2200" i="1" dirty="0"/>
              <a:t>E</a:t>
            </a:r>
            <a:r>
              <a:rPr lang="en-US" sz="2200" dirty="0"/>
              <a:t> cannot rise once </a:t>
            </a:r>
            <a:r>
              <a:rPr lang="en-US" sz="2200" i="1" dirty="0"/>
              <a:t>R</a:t>
            </a:r>
            <a:r>
              <a:rPr lang="en-US" sz="2200" dirty="0"/>
              <a:t> = 0 because the interest rate would have to become negative. </a:t>
            </a:r>
          </a:p>
          <a:p>
            <a:r>
              <a:rPr lang="en-US" sz="2200" dirty="0"/>
              <a:t>Instead, despite the increase in the money supply, currency cannot depreciate further and the exchange rate remains steady at </a:t>
            </a:r>
          </a:p>
        </p:txBody>
      </p:sp>
      <p:graphicFrame>
        <p:nvGraphicFramePr>
          <p:cNvPr id="27" name="Object 26" descr="E = start fraction E to the lower e power over left parenthesis 1 minus R asterisk right parenthesis end fraction.">
            <a:extLst>
              <a:ext uri="{FF2B5EF4-FFF2-40B4-BE49-F238E27FC236}">
                <a16:creationId xmlns:a16="http://schemas.microsoft.com/office/drawing/2014/main" id="{CAAEDCE2-1F18-4F65-844A-82EE27A52220}"/>
              </a:ext>
            </a:extLst>
          </p:cNvPr>
          <p:cNvGraphicFramePr>
            <a:graphicFrameLocks noChangeAspect="1"/>
          </p:cNvGraphicFramePr>
          <p:nvPr>
            <p:extLst>
              <p:ext uri="{D42A27DB-BD31-4B8C-83A1-F6EECF244321}">
                <p14:modId xmlns:p14="http://schemas.microsoft.com/office/powerpoint/2010/main" val="1777314540"/>
              </p:ext>
            </p:extLst>
          </p:nvPr>
        </p:nvGraphicFramePr>
        <p:xfrm>
          <a:off x="3288470" y="3881534"/>
          <a:ext cx="1984719" cy="437282"/>
        </p:xfrm>
        <a:graphic>
          <a:graphicData uri="http://schemas.openxmlformats.org/presentationml/2006/ole">
            <mc:AlternateContent xmlns:mc="http://schemas.openxmlformats.org/markup-compatibility/2006">
              <mc:Choice xmlns:v="urn:schemas-microsoft-com:vml" Requires="v">
                <p:oleObj name="Equation" r:id="rId2" imgW="1155600" imgH="253800" progId="Equation.DSMT4">
                  <p:embed/>
                </p:oleObj>
              </mc:Choice>
              <mc:Fallback>
                <p:oleObj name="Equation" r:id="rId2" imgW="1155600" imgH="253800" progId="Equation.DSMT4">
                  <p:embed/>
                  <p:pic>
                    <p:nvPicPr>
                      <p:cNvPr id="10" name="Object 9">
                        <a:extLst>
                          <a:ext uri="{FF2B5EF4-FFF2-40B4-BE49-F238E27FC236}">
                            <a16:creationId xmlns:a16="http://schemas.microsoft.com/office/drawing/2014/main" id="{22BA2720-3D90-417D-83FF-F413F792F309}"/>
                          </a:ext>
                        </a:extLst>
                      </p:cNvPr>
                      <p:cNvPicPr/>
                      <p:nvPr/>
                    </p:nvPicPr>
                    <p:blipFill>
                      <a:blip r:embed="rId3"/>
                      <a:stretch>
                        <a:fillRect/>
                      </a:stretch>
                    </p:blipFill>
                    <p:spPr>
                      <a:xfrm>
                        <a:off x="3288470" y="3881534"/>
                        <a:ext cx="1984719" cy="437282"/>
                      </a:xfrm>
                      <a:prstGeom prst="rect">
                        <a:avLst/>
                      </a:prstGeom>
                    </p:spPr>
                  </p:pic>
                </p:oleObj>
              </mc:Fallback>
            </mc:AlternateContent>
          </a:graphicData>
        </a:graphic>
      </p:graphicFrame>
      <p:sp>
        <p:nvSpPr>
          <p:cNvPr id="25" name="Content Placeholder 24">
            <a:extLst>
              <a:ext uri="{FF2B5EF4-FFF2-40B4-BE49-F238E27FC236}">
                <a16:creationId xmlns:a16="http://schemas.microsoft.com/office/drawing/2014/main" id="{ABB797BC-CC50-411C-885B-36A33093A70D}"/>
              </a:ext>
            </a:extLst>
          </p:cNvPr>
          <p:cNvSpPr>
            <a:spLocks noGrp="1"/>
          </p:cNvSpPr>
          <p:nvPr>
            <p:ph sz="quarter" idx="14"/>
          </p:nvPr>
        </p:nvSpPr>
        <p:spPr>
          <a:xfrm>
            <a:off x="447472" y="4556515"/>
            <a:ext cx="8229600" cy="1533930"/>
          </a:xfrm>
        </p:spPr>
        <p:txBody>
          <a:bodyPr/>
          <a:lstStyle/>
          <a:p>
            <a:r>
              <a:rPr lang="en-US" sz="2200" dirty="0"/>
              <a:t>At an interest rate of R = 0, people are indifferent between bonds and money as both yield a zero nominal rate of return.</a:t>
            </a:r>
          </a:p>
          <a:p>
            <a:pPr lvl="1"/>
            <a:r>
              <a:rPr lang="en-US" sz="2200" dirty="0"/>
              <a:t>An increase in the money supply has no effect on the economy!</a:t>
            </a:r>
            <a:endParaRPr lang="en-IN" sz="2200" dirty="0"/>
          </a:p>
        </p:txBody>
      </p:sp>
    </p:spTree>
    <p:extLst>
      <p:ext uri="{BB962C8B-B14F-4D97-AF65-F5344CB8AC3E}">
        <p14:creationId xmlns:p14="http://schemas.microsoft.com/office/powerpoint/2010/main" val="29655959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86025-57F4-49F2-9A86-7A331CC42144}"/>
              </a:ext>
            </a:extLst>
          </p:cNvPr>
          <p:cNvSpPr>
            <a:spLocks noGrp="1"/>
          </p:cNvSpPr>
          <p:nvPr>
            <p:ph type="title"/>
          </p:nvPr>
        </p:nvSpPr>
        <p:spPr/>
        <p:txBody>
          <a:bodyPr/>
          <a:lstStyle/>
          <a:p>
            <a:r>
              <a:rPr lang="en-US" altLang="en-US" sz="3200" dirty="0">
                <a:latin typeface="+mn-lt"/>
                <a:ea typeface="ヒラギノ角ゴ Pro W3" pitchFamily="-84" charset="-128"/>
                <a:cs typeface="Times New Roman" panose="02020603050405020304" pitchFamily="18" charset="0"/>
              </a:rPr>
              <a:t>Figure 17.20 A Low-Output Liquidity Trap</a:t>
            </a:r>
            <a:endParaRPr lang="en-IN" sz="3200" dirty="0">
              <a:latin typeface="+mn-lt"/>
              <a:cs typeface="Times New Roman" panose="02020603050405020304" pitchFamily="18" charset="0"/>
            </a:endParaRPr>
          </a:p>
        </p:txBody>
      </p:sp>
      <p:pic>
        <p:nvPicPr>
          <p:cNvPr id="11" name="Content Placeholder 10" descr="The graph plots exchange rate E versus output Y. For long description in Notes pane, press F6.">
            <a:extLst>
              <a:ext uri="{FF2B5EF4-FFF2-40B4-BE49-F238E27FC236}">
                <a16:creationId xmlns:a16="http://schemas.microsoft.com/office/drawing/2014/main" id="{BC70EB84-C467-426B-847A-ABFA50B340AC}"/>
              </a:ext>
            </a:extLst>
          </p:cNvPr>
          <p:cNvPicPr>
            <a:picLocks noGrp="1" noChangeAspect="1"/>
          </p:cNvPicPr>
          <p:nvPr>
            <p:ph sz="quarter" idx="13"/>
          </p:nvPr>
        </p:nvPicPr>
        <p:blipFill>
          <a:blip r:embed="rId3"/>
          <a:stretch>
            <a:fillRect/>
          </a:stretch>
        </p:blipFill>
        <p:spPr>
          <a:xfrm>
            <a:off x="2797203" y="1702146"/>
            <a:ext cx="3492612" cy="2881634"/>
          </a:xfrm>
        </p:spPr>
      </p:pic>
      <p:sp>
        <p:nvSpPr>
          <p:cNvPr id="4" name="Content Placeholder 3">
            <a:extLst>
              <a:ext uri="{FF2B5EF4-FFF2-40B4-BE49-F238E27FC236}">
                <a16:creationId xmlns:a16="http://schemas.microsoft.com/office/drawing/2014/main" id="{3F2E1C4F-9C0C-44AA-9CD4-B8AD0B71B77F}"/>
              </a:ext>
            </a:extLst>
          </p:cNvPr>
          <p:cNvSpPr>
            <a:spLocks noGrp="1"/>
          </p:cNvSpPr>
          <p:nvPr>
            <p:ph sz="quarter" idx="14"/>
          </p:nvPr>
        </p:nvSpPr>
        <p:spPr>
          <a:xfrm>
            <a:off x="468313" y="4878377"/>
            <a:ext cx="8150393" cy="297040"/>
          </a:xfrm>
        </p:spPr>
        <p:txBody>
          <a:bodyPr lIns="0" tIns="0" rIns="0" bIns="0"/>
          <a:lstStyle/>
          <a:p>
            <a:pPr marL="432" indent="0">
              <a:buNone/>
            </a:pPr>
            <a:r>
              <a:rPr lang="en-US" sz="1800" dirty="0">
                <a:latin typeface="Arial (Body)"/>
              </a:rPr>
              <a:t>At point 1, output is below its full employment level. Because exchange rate</a:t>
            </a:r>
            <a:endParaRPr lang="en-IN" sz="1800" dirty="0"/>
          </a:p>
        </p:txBody>
      </p:sp>
      <p:sp>
        <p:nvSpPr>
          <p:cNvPr id="5" name="Content Placeholder 4">
            <a:extLst>
              <a:ext uri="{FF2B5EF4-FFF2-40B4-BE49-F238E27FC236}">
                <a16:creationId xmlns:a16="http://schemas.microsoft.com/office/drawing/2014/main" id="{109423C0-5FC3-428E-A2EB-57AA2F26CA3E}"/>
              </a:ext>
            </a:extLst>
          </p:cNvPr>
          <p:cNvSpPr>
            <a:spLocks noGrp="1"/>
          </p:cNvSpPr>
          <p:nvPr>
            <p:ph sz="quarter" idx="15"/>
          </p:nvPr>
        </p:nvSpPr>
        <p:spPr>
          <a:xfrm>
            <a:off x="457199" y="5239421"/>
            <a:ext cx="1376364" cy="296418"/>
          </a:xfrm>
        </p:spPr>
        <p:txBody>
          <a:bodyPr lIns="0" tIns="0" rIns="0" bIns="0"/>
          <a:lstStyle/>
          <a:p>
            <a:pPr marL="432" indent="0">
              <a:buNone/>
            </a:pPr>
            <a:r>
              <a:rPr lang="en-US" sz="1800" dirty="0">
                <a:latin typeface="Arial (Body)"/>
              </a:rPr>
              <a:t>expectations</a:t>
            </a:r>
            <a:endParaRPr lang="en-IN" sz="1800" dirty="0"/>
          </a:p>
        </p:txBody>
      </p:sp>
      <p:graphicFrame>
        <p:nvGraphicFramePr>
          <p:cNvPr id="9" name="Object 8" descr="E to the lower e power">
            <a:extLst>
              <a:ext uri="{FF2B5EF4-FFF2-40B4-BE49-F238E27FC236}">
                <a16:creationId xmlns:a16="http://schemas.microsoft.com/office/drawing/2014/main" id="{276E16D0-82A8-4387-8F86-8BA98A7A4E05}"/>
              </a:ext>
            </a:extLst>
          </p:cNvPr>
          <p:cNvGraphicFramePr>
            <a:graphicFrameLocks noChangeAspect="1"/>
          </p:cNvGraphicFramePr>
          <p:nvPr>
            <p:extLst>
              <p:ext uri="{D42A27DB-BD31-4B8C-83A1-F6EECF244321}">
                <p14:modId xmlns:p14="http://schemas.microsoft.com/office/powerpoint/2010/main" val="1211328419"/>
              </p:ext>
            </p:extLst>
          </p:nvPr>
        </p:nvGraphicFramePr>
        <p:xfrm>
          <a:off x="1912328" y="5238235"/>
          <a:ext cx="316058" cy="278535"/>
        </p:xfrm>
        <a:graphic>
          <a:graphicData uri="http://schemas.openxmlformats.org/presentationml/2006/ole">
            <mc:AlternateContent xmlns:mc="http://schemas.openxmlformats.org/markup-compatibility/2006">
              <mc:Choice xmlns:v="urn:schemas-microsoft-com:vml" Requires="v">
                <p:oleObj name="Equation" r:id="rId4" imgW="215640" imgH="190440" progId="Equation.DSMT4">
                  <p:embed/>
                </p:oleObj>
              </mc:Choice>
              <mc:Fallback>
                <p:oleObj name="Equation" r:id="rId4" imgW="215640" imgH="190440" progId="Equation.DSMT4">
                  <p:embed/>
                  <p:pic>
                    <p:nvPicPr>
                      <p:cNvPr id="27" name="Object 26">
                        <a:extLst>
                          <a:ext uri="{FF2B5EF4-FFF2-40B4-BE49-F238E27FC236}">
                            <a16:creationId xmlns:a16="http://schemas.microsoft.com/office/drawing/2014/main" id="{CAAEDCE2-1F18-4F65-844A-82EE27A52220}"/>
                          </a:ext>
                        </a:extLst>
                      </p:cNvPr>
                      <p:cNvPicPr/>
                      <p:nvPr/>
                    </p:nvPicPr>
                    <p:blipFill>
                      <a:blip r:embed="rId5"/>
                      <a:stretch>
                        <a:fillRect/>
                      </a:stretch>
                    </p:blipFill>
                    <p:spPr>
                      <a:xfrm>
                        <a:off x="1912328" y="5238235"/>
                        <a:ext cx="316058" cy="278535"/>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A97F9812-2FC8-4294-957D-A8D325164FB7}"/>
              </a:ext>
            </a:extLst>
          </p:cNvPr>
          <p:cNvSpPr>
            <a:spLocks noGrp="1"/>
          </p:cNvSpPr>
          <p:nvPr>
            <p:ph sz="quarter" idx="16"/>
          </p:nvPr>
        </p:nvSpPr>
        <p:spPr>
          <a:xfrm>
            <a:off x="2298503" y="5239421"/>
            <a:ext cx="6033780" cy="315587"/>
          </a:xfrm>
        </p:spPr>
        <p:txBody>
          <a:bodyPr lIns="0" tIns="0" rIns="0" bIns="0"/>
          <a:lstStyle/>
          <a:p>
            <a:pPr marL="432" indent="0">
              <a:buNone/>
            </a:pPr>
            <a:r>
              <a:rPr lang="en-US" sz="1800" dirty="0">
                <a:latin typeface="Arial (Body)"/>
              </a:rPr>
              <a:t>are fixed, however, a monetary expansion will merely shift</a:t>
            </a:r>
            <a:endParaRPr lang="en-IN" sz="1800" dirty="0"/>
          </a:p>
        </p:txBody>
      </p:sp>
      <p:sp>
        <p:nvSpPr>
          <p:cNvPr id="7" name="Content Placeholder 6">
            <a:extLst>
              <a:ext uri="{FF2B5EF4-FFF2-40B4-BE49-F238E27FC236}">
                <a16:creationId xmlns:a16="http://schemas.microsoft.com/office/drawing/2014/main" id="{0E37A2E0-96A8-4486-B713-4BF82C535C28}"/>
              </a:ext>
            </a:extLst>
          </p:cNvPr>
          <p:cNvSpPr>
            <a:spLocks noGrp="1"/>
          </p:cNvSpPr>
          <p:nvPr>
            <p:ph sz="quarter" idx="17"/>
          </p:nvPr>
        </p:nvSpPr>
        <p:spPr>
          <a:xfrm>
            <a:off x="478040" y="5605087"/>
            <a:ext cx="8208759" cy="618720"/>
          </a:xfrm>
        </p:spPr>
        <p:txBody>
          <a:bodyPr lIns="0" tIns="0" rIns="0" bIns="0"/>
          <a:lstStyle/>
          <a:p>
            <a:pPr marL="0" indent="0">
              <a:buNone/>
            </a:pPr>
            <a:r>
              <a:rPr lang="en-US" sz="1800" i="1" dirty="0">
                <a:latin typeface="Arial (Body)"/>
              </a:rPr>
              <a:t>A</a:t>
            </a:r>
            <a:r>
              <a:rPr lang="en-US" sz="100" i="1" dirty="0">
                <a:latin typeface="Arial (Body)"/>
              </a:rPr>
              <a:t> </a:t>
            </a:r>
            <a:r>
              <a:rPr lang="en-US" sz="1800" i="1" dirty="0" err="1">
                <a:latin typeface="Arial (Body)"/>
              </a:rPr>
              <a:t>A</a:t>
            </a:r>
            <a:r>
              <a:rPr lang="en-US" sz="1800" i="1" dirty="0">
                <a:latin typeface="Arial (Body)"/>
              </a:rPr>
              <a:t> </a:t>
            </a:r>
            <a:r>
              <a:rPr lang="en-US" sz="1800" dirty="0">
                <a:latin typeface="Arial (Body)"/>
              </a:rPr>
              <a:t>to the right, leaving the initial equilibrium point the same. The horizontal stretch of </a:t>
            </a:r>
            <a:r>
              <a:rPr lang="en-US" sz="1800" i="1" dirty="0">
                <a:latin typeface="Arial (Body)"/>
              </a:rPr>
              <a:t>A</a:t>
            </a:r>
            <a:r>
              <a:rPr lang="en-US" sz="100" i="1" dirty="0">
                <a:latin typeface="Arial (Body)"/>
              </a:rPr>
              <a:t> </a:t>
            </a:r>
            <a:r>
              <a:rPr lang="en-US" sz="1800" i="1" dirty="0" err="1">
                <a:latin typeface="Arial (Body)"/>
              </a:rPr>
              <a:t>A</a:t>
            </a:r>
            <a:r>
              <a:rPr lang="en-US" sz="1800" i="1" dirty="0">
                <a:latin typeface="Arial (Body)"/>
              </a:rPr>
              <a:t> </a:t>
            </a:r>
            <a:r>
              <a:rPr lang="en-US" sz="1800" dirty="0">
                <a:latin typeface="Arial (Body)"/>
              </a:rPr>
              <a:t>gives rise to the liquidity trap.</a:t>
            </a:r>
            <a:endParaRPr lang="en-IN" sz="1800" dirty="0"/>
          </a:p>
        </p:txBody>
      </p:sp>
    </p:spTree>
    <p:extLst>
      <p:ext uri="{BB962C8B-B14F-4D97-AF65-F5344CB8AC3E}">
        <p14:creationId xmlns:p14="http://schemas.microsoft.com/office/powerpoint/2010/main" val="3375086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54BB-0838-4DB3-BB88-C3334D2D7A10}"/>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Summary </a:t>
            </a:r>
            <a:r>
              <a:rPr lang="en-US" altLang="en-US" sz="2000" b="0" dirty="0">
                <a:ea typeface="ヒラギノ角ゴ Pro W3" pitchFamily="-84" charset="-128"/>
                <a:cs typeface="Times New Roman" panose="02020603050405020304" pitchFamily="18" charset="0"/>
              </a:rPr>
              <a:t>(1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7028D4A6-4C3E-4CF8-B761-36E1104ACE29}"/>
              </a:ext>
            </a:extLst>
          </p:cNvPr>
          <p:cNvSpPr>
            <a:spLocks noGrp="1"/>
          </p:cNvSpPr>
          <p:nvPr>
            <p:ph sz="quarter" idx="13"/>
          </p:nvPr>
        </p:nvSpPr>
        <p:spPr>
          <a:xfrm>
            <a:off x="457200" y="1556327"/>
            <a:ext cx="8229600" cy="3524959"/>
          </a:xfrm>
        </p:spPr>
        <p:txBody>
          <a:bodyPr/>
          <a:lstStyle/>
          <a:p>
            <a:pPr marL="432000" indent="-432000" eaLnBrk="1" hangingPunct="1">
              <a:buFont typeface="Times" pitchFamily="-84" charset="0"/>
              <a:buAutoNum type="arabicPeriod"/>
            </a:pPr>
            <a:r>
              <a:rPr lang="en-US" altLang="en-US" dirty="0">
                <a:latin typeface="Arial (Body)"/>
                <a:ea typeface="ヒラギノ角ゴ Pro W3" pitchFamily="-84" charset="-128"/>
              </a:rPr>
              <a:t>Aggregate demand is influenced by disposable income and the real exchange rate.</a:t>
            </a:r>
          </a:p>
          <a:p>
            <a:pPr marL="432000" indent="-432000" eaLnBrk="1" hangingPunct="1">
              <a:buFont typeface="Times" pitchFamily="-84" charset="0"/>
              <a:buAutoNum type="arabicPeriod"/>
            </a:pPr>
            <a:r>
              <a:rPr lang="en-US" altLang="en-US" dirty="0">
                <a:latin typeface="Arial (Body)"/>
                <a:ea typeface="ヒラギノ角ゴ Pro W3" pitchFamily="-84" charset="-128"/>
              </a:rPr>
              <a:t>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D</a:t>
            </a:r>
            <a:r>
              <a:rPr lang="en-US" altLang="en-US" dirty="0">
                <a:latin typeface="Arial (Body)"/>
                <a:ea typeface="ヒラギノ角ゴ Pro W3" pitchFamily="-84" charset="-128"/>
              </a:rPr>
              <a:t> curve shows combinations of exchange rates and output where aggregate demand = aggregate output.</a:t>
            </a:r>
          </a:p>
          <a:p>
            <a:pPr marL="432000" indent="-432000" eaLnBrk="1" hangingPunct="1">
              <a:buFont typeface="Times" pitchFamily="-84" charset="0"/>
              <a:buAutoNum type="arabicPeriod"/>
            </a:pPr>
            <a:r>
              <a:rPr lang="en-US" altLang="en-US" dirty="0">
                <a:latin typeface="Arial (Body)"/>
                <a:ea typeface="ヒラギノ角ゴ Pro W3" pitchFamily="-84" charset="-128"/>
              </a:rPr>
              <a:t>The </a:t>
            </a:r>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i="1" dirty="0">
                <a:latin typeface="Arial (Body)"/>
                <a:ea typeface="ヒラギノ角ゴ Pro W3" pitchFamily="-84" charset="-128"/>
              </a:rPr>
              <a:t> </a:t>
            </a:r>
            <a:r>
              <a:rPr lang="en-US" altLang="en-US" dirty="0">
                <a:latin typeface="Arial (Body)"/>
                <a:ea typeface="ヒラギノ角ゴ Pro W3" pitchFamily="-84" charset="-128"/>
              </a:rPr>
              <a:t>curve shows combinations of exchange rates and output where the foreign exchange markets and money market are in equilibrium.</a:t>
            </a:r>
          </a:p>
        </p:txBody>
      </p:sp>
    </p:spTree>
    <p:extLst>
      <p:ext uri="{BB962C8B-B14F-4D97-AF65-F5344CB8AC3E}">
        <p14:creationId xmlns:p14="http://schemas.microsoft.com/office/powerpoint/2010/main" val="19697088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54BB-0838-4DB3-BB88-C3334D2D7A10}"/>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Summary </a:t>
            </a:r>
            <a:r>
              <a:rPr lang="en-US" altLang="en-US" sz="2000" b="0" dirty="0">
                <a:ea typeface="ヒラギノ角ゴ Pro W3" pitchFamily="-84" charset="-128"/>
                <a:cs typeface="Times New Roman" panose="02020603050405020304" pitchFamily="18" charset="0"/>
              </a:rPr>
              <a:t>(2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7028D4A6-4C3E-4CF8-B761-36E1104ACE29}"/>
              </a:ext>
            </a:extLst>
          </p:cNvPr>
          <p:cNvSpPr>
            <a:spLocks noGrp="1"/>
          </p:cNvSpPr>
          <p:nvPr>
            <p:ph sz="quarter" idx="13"/>
          </p:nvPr>
        </p:nvSpPr>
        <p:spPr>
          <a:xfrm>
            <a:off x="457200" y="1556328"/>
            <a:ext cx="8294914" cy="2795754"/>
          </a:xfrm>
        </p:spPr>
        <p:txBody>
          <a:bodyPr/>
          <a:lstStyle/>
          <a:p>
            <a:pPr marL="432000" indent="-432000" eaLnBrk="1" hangingPunct="1">
              <a:buFont typeface="Times" pitchFamily="-84" charset="0"/>
              <a:buAutoNum type="arabicPeriod" startAt="4"/>
            </a:pPr>
            <a:r>
              <a:rPr lang="en-US" altLang="en-US" dirty="0">
                <a:latin typeface="Arial (Body)"/>
                <a:ea typeface="ヒラギノ角ゴ Pro W3" pitchFamily="-84" charset="-128"/>
              </a:rPr>
              <a:t>In the </a:t>
            </a:r>
            <a:r>
              <a:rPr lang="en-US" altLang="en-US" i="1" dirty="0">
                <a:latin typeface="Arial (Body)"/>
                <a:ea typeface="ヒラギノ角ゴ Pro W3" pitchFamily="-84" charset="-128"/>
              </a:rPr>
              <a:t>D</a:t>
            </a:r>
            <a:r>
              <a:rPr lang="en-US" altLang="en-US" sz="100" i="1" dirty="0">
                <a:latin typeface="Arial (Body)"/>
                <a:ea typeface="ヒラギノ角ゴ Pro W3" pitchFamily="-84" charset="-128"/>
              </a:rPr>
              <a:t> </a:t>
            </a:r>
            <a:r>
              <a:rPr lang="en-US" altLang="en-US" i="1" dirty="0">
                <a:latin typeface="Arial (Body)"/>
                <a:ea typeface="ヒラギノ角ゴ Pro W3" pitchFamily="-84" charset="-128"/>
              </a:rPr>
              <a:t>D-A</a:t>
            </a:r>
            <a:r>
              <a:rPr lang="en-US" altLang="en-US" sz="100" i="1" dirty="0">
                <a:latin typeface="Arial (Body)"/>
                <a:ea typeface="ヒラギノ角ゴ Pro W3" pitchFamily="-84" charset="-128"/>
              </a:rPr>
              <a:t> </a:t>
            </a:r>
            <a:r>
              <a:rPr lang="en-US" altLang="en-US" i="1" dirty="0">
                <a:latin typeface="Arial (Body)"/>
                <a:ea typeface="ヒラギノ角ゴ Pro W3" pitchFamily="-84" charset="-128"/>
              </a:rPr>
              <a:t>A</a:t>
            </a:r>
            <a:r>
              <a:rPr lang="en-US" altLang="en-US" dirty="0">
                <a:latin typeface="Arial (Body)"/>
                <a:ea typeface="ヒラギノ角ゴ Pro W3" pitchFamily="-84" charset="-128"/>
              </a:rPr>
              <a:t> model, we assume that a depreciation of the domestic currency leads to an increase in the current account and aggregate demand.</a:t>
            </a:r>
          </a:p>
          <a:p>
            <a:pPr marL="432000" indent="-432000" eaLnBrk="1" hangingPunct="1">
              <a:buFont typeface="Times" pitchFamily="-84" charset="0"/>
              <a:buAutoNum type="arabicPeriod" startAt="4"/>
            </a:pPr>
            <a:r>
              <a:rPr lang="en-US" altLang="en-US" dirty="0">
                <a:latin typeface="Arial (Body)"/>
                <a:ea typeface="ヒラギノ角ゴ Pro W3" pitchFamily="-84" charset="-128"/>
              </a:rPr>
              <a:t>But reality is more complicated, and the </a:t>
            </a:r>
            <a:br>
              <a:rPr lang="en-US" altLang="en-US" dirty="0">
                <a:latin typeface="Arial (Body)"/>
                <a:ea typeface="ヒラギノ角ゴ Pro W3" pitchFamily="-84" charset="-128"/>
              </a:rPr>
            </a:br>
            <a:r>
              <a:rPr lang="en-US" altLang="en-US" dirty="0">
                <a:latin typeface="Arial (Body)"/>
                <a:ea typeface="ヒラギノ角ゴ Pro W3" pitchFamily="-84" charset="-128"/>
              </a:rPr>
              <a:t>J-curve shows that the value effect at first dominates the volume effect.</a:t>
            </a:r>
          </a:p>
        </p:txBody>
      </p:sp>
    </p:spTree>
    <p:extLst>
      <p:ext uri="{BB962C8B-B14F-4D97-AF65-F5344CB8AC3E}">
        <p14:creationId xmlns:p14="http://schemas.microsoft.com/office/powerpoint/2010/main" val="9486017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54BB-0838-4DB3-BB88-C3334D2D7A10}"/>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Summary </a:t>
            </a:r>
            <a:r>
              <a:rPr lang="en-US" altLang="en-US" sz="2000" b="0" dirty="0">
                <a:ea typeface="ヒラギノ角ゴ Pro W3" pitchFamily="-84" charset="-128"/>
                <a:cs typeface="Times New Roman" panose="02020603050405020304" pitchFamily="18" charset="0"/>
              </a:rPr>
              <a:t>(3 of 3)</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7028D4A6-4C3E-4CF8-B761-36E1104ACE29}"/>
              </a:ext>
            </a:extLst>
          </p:cNvPr>
          <p:cNvSpPr>
            <a:spLocks noGrp="1"/>
          </p:cNvSpPr>
          <p:nvPr>
            <p:ph sz="quarter" idx="13"/>
          </p:nvPr>
        </p:nvSpPr>
        <p:spPr>
          <a:xfrm>
            <a:off x="457200" y="1556328"/>
            <a:ext cx="8280400" cy="4196290"/>
          </a:xfrm>
        </p:spPr>
        <p:txBody>
          <a:bodyPr/>
          <a:lstStyle/>
          <a:p>
            <a:pPr marL="432000" indent="-432000" eaLnBrk="1" hangingPunct="1">
              <a:buFont typeface="Times" pitchFamily="-84" charset="0"/>
              <a:buAutoNum type="arabicPeriod" startAt="6"/>
            </a:pPr>
            <a:r>
              <a:rPr lang="en-US" altLang="en-US" sz="2200" dirty="0">
                <a:latin typeface="Arial (Body)"/>
                <a:ea typeface="ヒラギノ角ゴ Pro W3" pitchFamily="-84" charset="-128"/>
              </a:rPr>
              <a:t>A temporary increase in the money supply is predicted to increase output and depreciate the domestic currency.</a:t>
            </a:r>
          </a:p>
          <a:p>
            <a:pPr marL="432000" indent="-432000" eaLnBrk="1" hangingPunct="1">
              <a:buFont typeface="Times" pitchFamily="-84" charset="0"/>
              <a:buAutoNum type="arabicPeriod" startAt="6"/>
            </a:pPr>
            <a:r>
              <a:rPr lang="en-US" altLang="en-US" sz="2200" dirty="0">
                <a:latin typeface="Arial (Body)"/>
                <a:ea typeface="ヒラギノ角ゴ Pro W3" pitchFamily="-84" charset="-128"/>
              </a:rPr>
              <a:t>A permanent increase does both to a larger degree in the short run, but in the long run output returns to its normal level.</a:t>
            </a:r>
          </a:p>
          <a:p>
            <a:pPr marL="432000" indent="-432000" eaLnBrk="1" hangingPunct="1">
              <a:buFont typeface="Times" pitchFamily="-84" charset="0"/>
              <a:buAutoNum type="arabicPeriod" startAt="6"/>
            </a:pPr>
            <a:r>
              <a:rPr lang="en-US" altLang="en-US" sz="2200" dirty="0">
                <a:latin typeface="Arial (Body)"/>
                <a:ea typeface="ヒラギノ角ゴ Pro W3" pitchFamily="-84" charset="-128"/>
              </a:rPr>
              <a:t>A temporary increase in government purchases is predicted to increase output and appreciate the domestic currency.</a:t>
            </a:r>
          </a:p>
          <a:p>
            <a:pPr marL="432000" indent="-432000" eaLnBrk="1" hangingPunct="1">
              <a:buFont typeface="Times" pitchFamily="-84" charset="0"/>
              <a:buAutoNum type="arabicPeriod" startAt="6"/>
            </a:pPr>
            <a:r>
              <a:rPr lang="en-US" altLang="en-US" sz="2200" dirty="0">
                <a:latin typeface="Arial (Body)"/>
                <a:ea typeface="ヒラギノ角ゴ Pro W3" pitchFamily="-84" charset="-128"/>
              </a:rPr>
              <a:t>A permanent increase in government purchases is predicted to completely crowd out net exports, and therefore to have no effect on output. </a:t>
            </a:r>
          </a:p>
        </p:txBody>
      </p:sp>
    </p:spTree>
    <p:extLst>
      <p:ext uri="{BB962C8B-B14F-4D97-AF65-F5344CB8AC3E}">
        <p14:creationId xmlns:p14="http://schemas.microsoft.com/office/powerpoint/2010/main" val="41098037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DD633-77A2-4B2B-B0DD-1FA49B840AFD}"/>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17A1.1 Change in Output and Saving </a:t>
            </a:r>
            <a:endParaRPr lang="en-IN" sz="3200" dirty="0">
              <a:cs typeface="Times New Roman" panose="02020603050405020304" pitchFamily="18" charset="0"/>
            </a:endParaRPr>
          </a:p>
        </p:txBody>
      </p:sp>
      <p:pic>
        <p:nvPicPr>
          <p:cNvPr id="5" name="Content Placeholder 4" descr="The graph plots future consumption versus present consumption. For long description in Notes pane, press F6.">
            <a:extLst>
              <a:ext uri="{FF2B5EF4-FFF2-40B4-BE49-F238E27FC236}">
                <a16:creationId xmlns:a16="http://schemas.microsoft.com/office/drawing/2014/main" id="{9C9560BE-AA2D-4552-A40F-82942D3E65FB}"/>
              </a:ext>
            </a:extLst>
          </p:cNvPr>
          <p:cNvPicPr>
            <a:picLocks noGrp="1" noChangeAspect="1"/>
          </p:cNvPicPr>
          <p:nvPr>
            <p:ph sz="quarter" idx="13"/>
          </p:nvPr>
        </p:nvPicPr>
        <p:blipFill>
          <a:blip r:embed="rId3"/>
          <a:stretch>
            <a:fillRect/>
          </a:stretch>
        </p:blipFill>
        <p:spPr>
          <a:xfrm>
            <a:off x="2371344" y="1661223"/>
            <a:ext cx="4401312" cy="4376928"/>
          </a:xfrm>
        </p:spPr>
      </p:pic>
    </p:spTree>
    <p:extLst>
      <p:ext uri="{BB962C8B-B14F-4D97-AF65-F5344CB8AC3E}">
        <p14:creationId xmlns:p14="http://schemas.microsoft.com/office/powerpoint/2010/main" val="12521040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5C56-6E84-4EBA-BFFA-8FFA57B03E78}"/>
              </a:ext>
            </a:extLst>
          </p:cNvPr>
          <p:cNvSpPr>
            <a:spLocks noGrp="1"/>
          </p:cNvSpPr>
          <p:nvPr>
            <p:ph type="title"/>
          </p:nvPr>
        </p:nvSpPr>
        <p:spPr/>
        <p:txBody>
          <a:bodyPr/>
          <a:lstStyle/>
          <a:p>
            <a:r>
              <a:rPr lang="en-US" altLang="en-US" sz="3000" dirty="0">
                <a:ea typeface="ヒラギノ角ゴ Pro W3" pitchFamily="-84" charset="-128"/>
              </a:rPr>
              <a:t>Table 17A2.1 Estimated Price Elasticities for International Trade in Manufactured Goods</a:t>
            </a:r>
            <a:endParaRPr lang="en-US" sz="3000" dirty="0"/>
          </a:p>
        </p:txBody>
      </p:sp>
      <p:pic>
        <p:nvPicPr>
          <p:cNvPr id="5" name="Content Placeholder 4" descr="A table. Each column represents a different country.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196295" y="1477161"/>
            <a:ext cx="4751408" cy="3581515"/>
          </a:xfrm>
        </p:spPr>
      </p:pic>
      <p:sp>
        <p:nvSpPr>
          <p:cNvPr id="4" name="Content Placeholder 3">
            <a:extLst>
              <a:ext uri="{FF2B5EF4-FFF2-40B4-BE49-F238E27FC236}">
                <a16:creationId xmlns:a16="http://schemas.microsoft.com/office/drawing/2014/main" id="{E990CBC8-8315-495C-B078-22E183FA3665}"/>
              </a:ext>
            </a:extLst>
          </p:cNvPr>
          <p:cNvSpPr>
            <a:spLocks noGrp="1"/>
          </p:cNvSpPr>
          <p:nvPr>
            <p:ph sz="quarter" idx="14"/>
          </p:nvPr>
        </p:nvSpPr>
        <p:spPr>
          <a:xfrm>
            <a:off x="457200" y="5179183"/>
            <a:ext cx="8229600" cy="1149046"/>
          </a:xfrm>
        </p:spPr>
        <p:txBody>
          <a:bodyPr tIns="0"/>
          <a:lstStyle/>
          <a:p>
            <a:pPr marL="432" indent="0">
              <a:buNone/>
            </a:pPr>
            <a:r>
              <a:rPr lang="en-US" sz="1600" b="1" dirty="0"/>
              <a:t>Source:</a:t>
            </a:r>
            <a:r>
              <a:rPr lang="en-US" sz="1600" dirty="0"/>
              <a:t> Estimates come from Jacques R. </a:t>
            </a:r>
            <a:r>
              <a:rPr lang="en-US" sz="1600" dirty="0" err="1"/>
              <a:t>Artus</a:t>
            </a:r>
            <a:r>
              <a:rPr lang="en-US" sz="1600" dirty="0"/>
              <a:t> and Malcolm D. Knight, </a:t>
            </a:r>
            <a:r>
              <a:rPr lang="en-US" sz="1600" b="1" dirty="0"/>
              <a:t>Issues in the Assessment of the Exchange Rates of Industrial Countries</a:t>
            </a:r>
            <a:r>
              <a:rPr lang="en-US" sz="1600" dirty="0"/>
              <a:t>. Occasional Paper 29. Washington, D.C.: International Monetary Fund, July 1984, table 4. Dashes indicate unavailable estimates.</a:t>
            </a:r>
            <a:endParaRPr lang="en-US" sz="1600" dirty="0">
              <a:latin typeface="Arial (Body)"/>
            </a:endParaRPr>
          </a:p>
        </p:txBody>
      </p:sp>
    </p:spTree>
    <p:extLst>
      <p:ext uri="{BB962C8B-B14F-4D97-AF65-F5344CB8AC3E}">
        <p14:creationId xmlns:p14="http://schemas.microsoft.com/office/powerpoint/2010/main" val="16292812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148656</TotalTime>
  <Words>8367</Words>
  <Application>Microsoft Office PowerPoint</Application>
  <PresentationFormat>On-screen Show (4:3)</PresentationFormat>
  <Paragraphs>414</Paragraphs>
  <Slides>77</Slides>
  <Notes>26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77</vt:i4>
      </vt:variant>
    </vt:vector>
  </HeadingPairs>
  <TitlesOfParts>
    <vt:vector size="86" baseType="lpstr">
      <vt:lpstr>Arial</vt:lpstr>
      <vt:lpstr>Times New Roman</vt:lpstr>
      <vt:lpstr>Times</vt:lpstr>
      <vt:lpstr>Verdana</vt:lpstr>
      <vt:lpstr>Arial (Body)</vt:lpstr>
      <vt:lpstr>Noto Sans Symbols</vt:lpstr>
      <vt:lpstr>USHE</vt:lpstr>
      <vt:lpstr>USHE_slide options</vt:lpstr>
      <vt:lpstr>Equation</vt:lpstr>
      <vt:lpstr>International Economics: Theory and Policy</vt:lpstr>
      <vt:lpstr>Learning Objectives (1 of 2)</vt:lpstr>
      <vt:lpstr>Learning Objectives (2 of 2)</vt:lpstr>
      <vt:lpstr>Preview</vt:lpstr>
      <vt:lpstr>Introduction</vt:lpstr>
      <vt:lpstr>Determinants of Aggregate Demand (1 of 3)</vt:lpstr>
      <vt:lpstr>Determinants of Aggregate Demand (2 of 3)</vt:lpstr>
      <vt:lpstr>Determinants of Aggregate Demand (3 of 3)</vt:lpstr>
      <vt:lpstr>Table 17.1 Factors Determining the Current Account</vt:lpstr>
      <vt:lpstr>How Real Exchange Rate Changes Affect the Current Account (1 of 2)</vt:lpstr>
      <vt:lpstr>How Real Exchange Rate Changes Affect the Current Account (2 of 2)</vt:lpstr>
      <vt:lpstr>Figure 17.1 Aggregate Demand as a Function of Output</vt:lpstr>
      <vt:lpstr>Determinants of Aggregate Demand (1 of 4)</vt:lpstr>
      <vt:lpstr>Determinants of Aggregate Demand (2 of 4)</vt:lpstr>
      <vt:lpstr>Determinants of Aggregate Demand (3 of 4)</vt:lpstr>
      <vt:lpstr>Determinants of Aggregate Demand (4 of 4)</vt:lpstr>
      <vt:lpstr>Short-Run Equilibrium for Aggregate Demand and Output</vt:lpstr>
      <vt:lpstr>Figure 17.2 The Determination of Output in the Short Run</vt:lpstr>
      <vt:lpstr>Short-Run Equilibrium and the Exchange Rate: D D Schedule (1 of 2)</vt:lpstr>
      <vt:lpstr>Figure 17.3 Output Effect of a Currency Depreciation with Fixed Output Prices</vt:lpstr>
      <vt:lpstr>Figure 17.4 Deriving the D D Schedule</vt:lpstr>
      <vt:lpstr>Short-Run Equilibrium and the Exchange Rate: D D Schedule (2 of 2)</vt:lpstr>
      <vt:lpstr>Shifting the D D Curve (1 of 3)</vt:lpstr>
      <vt:lpstr>Figure 17.5 Government Demand and the Position of the D D Schedule</vt:lpstr>
      <vt:lpstr>Shifting the D D Curve (2 of 3)</vt:lpstr>
      <vt:lpstr>Shifting the D D Curve (3 of 3)</vt:lpstr>
      <vt:lpstr>Short-Run Equilibrium in Asset Markets (1 of 2)</vt:lpstr>
      <vt:lpstr>Figure 17.6 Output and the Exchange Rate in Asset Market Equilibrium</vt:lpstr>
      <vt:lpstr>Short-Run Equilibrium in Asset Markets (2 of 2)</vt:lpstr>
      <vt:lpstr>Short-Run Equilibrium in Asset Markets: A A Curve</vt:lpstr>
      <vt:lpstr>Figure 17.7 The A A Schedule </vt:lpstr>
      <vt:lpstr>Shifting the A A Curve (1 of 3)</vt:lpstr>
      <vt:lpstr>Shifting the A A Curve (2 of 3)</vt:lpstr>
      <vt:lpstr>Shifting the A A Curve (3 of 3)</vt:lpstr>
      <vt:lpstr>Putting the Pieces Together: the D D and A A Curves (1 of 2)</vt:lpstr>
      <vt:lpstr>Putting the Pieces Together: the D D and A A Curves (2 of 2)</vt:lpstr>
      <vt:lpstr>Figure 17.8 Short-Run Equilibrium: The Intersection of D D and A A</vt:lpstr>
      <vt:lpstr>Figure 17.9 How the Economy Reaches Its Short-Run Equilibrium</vt:lpstr>
      <vt:lpstr>Temporary Changes in Monetary and Fiscal Policy</vt:lpstr>
      <vt:lpstr>Temporary Changes in Monetary Policy</vt:lpstr>
      <vt:lpstr>Figure 17.10 Effects of a Temporary Increase in the Money Supply</vt:lpstr>
      <vt:lpstr>Temporary Changes in Fiscal Policy</vt:lpstr>
      <vt:lpstr>Figure 17.11 Effects of a Temporary Fiscal Expansion</vt:lpstr>
      <vt:lpstr>Policies to Maintain Full Employment (1 of 3)</vt:lpstr>
      <vt:lpstr>Figure 17.12 Maintaining Full Employment after a Temporary Fall in World Demand for Domestic Products</vt:lpstr>
      <vt:lpstr>Figure 17.13 Policies to Maintain Full Employment After a Money Demand Increase</vt:lpstr>
      <vt:lpstr>Policies to Maintain Full Employment (2 of 3)</vt:lpstr>
      <vt:lpstr>Policies to Maintain Full Employment (3 of 3)</vt:lpstr>
      <vt:lpstr>Permanent Changes in Monetary and Fiscal Policy</vt:lpstr>
      <vt:lpstr>Permanent Changes in Monetary Policy</vt:lpstr>
      <vt:lpstr>Figure 17.14 Short-Run Effects of a Permanent Increase in the Money Supply</vt:lpstr>
      <vt:lpstr>Effects of Permanent Changes in Monetary Policy in the Long Run</vt:lpstr>
      <vt:lpstr>Figure 17.15 Long-Run Adjustment to a Permanent Increase in the Money Supply</vt:lpstr>
      <vt:lpstr>Effects of Permanent Changes in Fiscal Policy (1 of 2)</vt:lpstr>
      <vt:lpstr>Effects of Permanent Changes in Fiscal Policy (2 of 2)</vt:lpstr>
      <vt:lpstr>Figure 17.16 Effects of a Permanent Fiscal Expansion</vt:lpstr>
      <vt:lpstr>Macroeconomic Policies and the Current Account (1 of 4)</vt:lpstr>
      <vt:lpstr>Figure 17.17 How Macroeconomic Policies Affect the Current Account</vt:lpstr>
      <vt:lpstr>Macroeconomic Policies and the Current Account (2 of 4)</vt:lpstr>
      <vt:lpstr>Macroeconomic Policies and the Current Account (3 of 4)</vt:lpstr>
      <vt:lpstr>Macroeconomic Policies and the Current Account (4 of 4)</vt:lpstr>
      <vt:lpstr>Value Effect, Volume Effect, and the J-Curve (1 of 3)</vt:lpstr>
      <vt:lpstr>Figure 17.18 The J-Curve</vt:lpstr>
      <vt:lpstr>Value Effect, Volume Effect, and the J-Curve (2 of 3)</vt:lpstr>
      <vt:lpstr>Value Effect, Volume Effect, and the J-Curve (3 of 3)</vt:lpstr>
      <vt:lpstr>Global Value Chains and Exchange Rate Effects of Export and Import Prices</vt:lpstr>
      <vt:lpstr>Figure 17.19 Import Content of Exports for Selected Countries in the European Union, 2005–2016</vt:lpstr>
      <vt:lpstr>The Liquidity Trap (1 of 3)</vt:lpstr>
      <vt:lpstr>The Liquidity Trap (2 of 3)</vt:lpstr>
      <vt:lpstr>The Liquidity Trap (3 of 3)</vt:lpstr>
      <vt:lpstr>Figure 17.20 A Low-Output Liquidity Trap</vt:lpstr>
      <vt:lpstr>Summary (1 of 3)</vt:lpstr>
      <vt:lpstr>Summary (2 of 3)</vt:lpstr>
      <vt:lpstr>Summary (3 of 3)</vt:lpstr>
      <vt:lpstr>Figure 17A1.1 Change in Output and Saving </vt:lpstr>
      <vt:lpstr>Table 17A2.1 Estimated Price Elasticities for International Trade in Manufactured Goods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17, Output and the Exchange Rate in the Short Run</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dc:description>
  <cp:lastModifiedBy>Chellapandi Murugan</cp:lastModifiedBy>
  <cp:revision>1016</cp:revision>
  <dcterms:modified xsi:type="dcterms:W3CDTF">2021-10-22T16:22:31Z</dcterms:modified>
</cp:coreProperties>
</file>