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7" Type="http://schemas.openxmlformats.org/officeDocument/2006/relationships/viewProps" Target="viewProps.xml" /><Relationship Id="rId4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9" Type="http://schemas.openxmlformats.org/officeDocument/2006/relationships/tableStyles" Target="tableStyles.xml" /><Relationship Id="rId4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jstor.org/stable/26774368" TargetMode="External" /><Relationship Id="rId3" Type="http://schemas.openxmlformats.org/officeDocument/2006/relationships/hyperlink" Target="https://www.jstor.org/stable/26966340" TargetMode="External" /><Relationship Id="rId4" Type="http://schemas.openxmlformats.org/officeDocument/2006/relationships/hyperlink" Target="https://doi.org/10.1016/j.jdeveco.2015.07.005" TargetMode="External" /><Relationship Id="rId5" Type="http://schemas.openxmlformats.org/officeDocument/2006/relationships/hyperlink" Target="" TargetMode="External" /><Relationship Id="rId6" Type="http://schemas.openxmlformats.org/officeDocument/2006/relationships/hyperlink" Target="http://www.jstor.org/stable/25760231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Bartik Instrument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Shift-share IV in trade economics</a:t>
            </a:r>
            <a:br/>
            <a:br/>
            <a:r>
              <a:rPr/>
              <a:t>Imed Krisna Gupta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August 26, 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Gains exist, distribution is messy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Aggregate gains from trade are robust across HO, Ricardian, and new-trade models.</a:t>
            </a:r>
          </a:p>
          <a:p>
            <a:pPr lvl="0"/>
            <a:r>
              <a:rPr i="1"/>
              <a:t>Who</a:t>
            </a:r>
            <a:r>
              <a:rPr/>
              <a:t> gains and loses depends on factor mobility.</a:t>
            </a:r>
          </a:p>
          <a:p>
            <a:pPr lvl="0"/>
            <a:r>
              <a:rPr/>
              <a:t>HO: gains accrue to the abundant factor (Stolper-Samuelson), </a:t>
            </a:r>
            <a:r>
              <a:rPr i="1"/>
              <a:t>assuming factors move freely across industries.</a:t>
            </a:r>
          </a:p>
          <a:p>
            <a:pPr lvl="0"/>
            <a:r>
              <a:rPr/>
              <a:t>SFM (Specific Factor Model): in the short run, some factors are tied to a sector → clear winners and losers.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textbook distinction in one 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HO: long run, perfect mobility, factor-price equalization.</a:t>
            </a:r>
          </a:p>
          <a:p>
            <a:pPr lvl="0"/>
            <a:r>
              <a:rPr/>
              <a:t>SFM: short run, sector-specific factors, sectoral wage gaps.</a:t>
            </a:r>
          </a:p>
          <a:p>
            <a:pPr lvl="0"/>
            <a:r>
              <a:rPr b="1"/>
              <a:t>Empirical reality:</a:t>
            </a:r>
            <a:r>
              <a:rPr/>
              <a:t> the “short run” can last a decade or more, and the location of immobile factors is </a:t>
            </a:r>
            <a:r>
              <a:rPr i="1"/>
              <a:t>regional</a:t>
            </a:r>
            <a:r>
              <a:rPr/>
              <a:t>.</a:t>
            </a:r>
          </a:p>
          <a:p>
            <a:pPr lvl="0"/>
            <a:r>
              <a:rPr/>
              <a:t>This is what shift-share designs let us see in the data.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within-country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Cross-country evidence on gains from trade is settled.</a:t>
            </a:r>
          </a:p>
          <a:p>
            <a:pPr lvl="0"/>
            <a:r>
              <a:rPr i="1"/>
              <a:t>Within</a:t>
            </a:r>
            <a:r>
              <a:rPr/>
              <a:t>-country evidence is mixed and politically explosive.</a:t>
            </a:r>
          </a:p>
          <a:p>
            <a:pPr lvl="0"/>
            <a:r>
              <a:rPr/>
              <a:t>Why? Adjustment is </a:t>
            </a:r>
            <a:r>
              <a:rPr b="1"/>
              <a:t>spatial</a:t>
            </a:r>
            <a:r>
              <a:rPr/>
              <a:t>: districts, commuting zones, and provinces specialize in different sectors and absorb shocks differently.</a:t>
            </a:r>
          </a:p>
          <a:p>
            <a:pPr lvl="0"/>
            <a:r>
              <a:rPr/>
              <a:t>Reasons for imperfect mobility:</a:t>
            </a:r>
          </a:p>
          <a:p>
            <a:pPr lvl="1"/>
            <a:r>
              <a:rPr/>
              <a:t>skill mismatch (sector-specific human capital)</a:t>
            </a:r>
          </a:p>
          <a:p>
            <a:pPr lvl="1"/>
            <a:r>
              <a:rPr/>
              <a:t>geographic immobility (housing, family ties, language)</a:t>
            </a:r>
          </a:p>
          <a:p>
            <a:pPr lvl="1"/>
            <a:r>
              <a:rPr/>
              <a:t>institutional frictions (labor laws, licensing)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want to estimate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We want a local causal effect of a trade shock: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m:t>ℓ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α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δ</m:t>
                      </m:r>
                      <m:r>
                        <m:t> 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m:t>ℓ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m:t>ℓ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m:t>ℓ</m:t>
                        </m:r>
                      </m:sub>
                    </m:sSub>
                  </m:oMath>
                </a14:m>
                <a:r>
                  <a:rPr/>
                  <a:t> — outcome in region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ℓ</m:t>
                    </m:r>
                  </m:oMath>
                </a14:m>
                <a:r>
                  <a:rPr/>
                  <a:t> (employment, wages, poverty)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m:t>ℓ</m:t>
                        </m:r>
                      </m:sub>
                    </m:sSub>
                  </m:oMath>
                </a14:m>
                <a:r>
                  <a:rPr/>
                  <a:t> — local exposure to the trade shock (e.g., change in import penetration)</a:t>
                </a:r>
              </a:p>
              <a:p>
                <a:pPr lvl="0"/>
                <a14:m>
                  <m:oMath xmlns:m="http://schemas.openxmlformats.org/officeDocument/2006/math">
                    <m:r>
                      <m:t>δ</m:t>
                    </m:r>
                  </m:oMath>
                </a14:m>
                <a:r>
                  <a:rPr/>
                  <a:t> — the parameter we care about</a:t>
                </a:r>
              </a:p>
              <a:p>
                <a:pPr lvl="0" indent="0" marL="0">
                  <a:buNone/>
                </a:pPr>
                <a:r>
                  <a:rPr b="1"/>
                  <a:t>Problem.</a:t>
                </a:r>
                <a:r>
                  <a:rPr/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m:t>ℓ</m:t>
                        </m:r>
                      </m:sub>
                    </m:sSub>
                  </m:oMath>
                </a14:m>
                <a:r>
                  <a:rPr/>
                  <a:t> is endogenous: regions that import more are also regions where productivity, demand, or politics differ in unobserved ways.</a:t>
                </a:r>
              </a:p>
              <a:p>
                <a:pPr lvl="0" indent="0" marL="0">
                  <a:buNone/>
                </a:pPr>
                <a:r>
                  <a:rPr/>
                  <a:t>→ We need an </a:t>
                </a:r>
                <a:r>
                  <a:rPr b="1"/>
                  <a:t>instrument</a:t>
                </a:r>
                <a:r>
                  <a:rPr/>
                  <a:t> for </a:t>
                </a:r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m:t>ℓ</m:t>
                        </m:r>
                      </m:sub>
                    </m:sSub>
                  </m:oMath>
                </a14:m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Bartik (shift-share) idea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Two ingredients:</a:t>
                </a:r>
              </a:p>
              <a:p>
                <a:pPr lvl="0"/>
                <a:r>
                  <a:rPr b="1"/>
                  <a:t>Shares</a:t>
                </a:r>
                <a:r>
                  <a:rPr/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m:t>ℓ</m:t>
                        </m:r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 — region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ℓ</m:t>
                    </m:r>
                  </m:oMath>
                </a14:m>
                <a:r>
                  <a:rPr/>
                  <a:t>’s pre-period exposure to sector </a:t>
                </a:r>
                <a14:m>
                  <m:oMath xmlns:m="http://schemas.openxmlformats.org/officeDocument/2006/math">
                    <m:r>
                      <m:t>k</m:t>
                    </m:r>
                  </m:oMath>
                </a14:m>
                <a:r>
                  <a:rPr/>
                  <a:t> (employment, output, or expenditure share)</a:t>
                </a:r>
              </a:p>
              <a:p>
                <a:pPr lvl="0"/>
                <a:r>
                  <a:rPr b="1"/>
                  <a:t>Shifts</a:t>
                </a:r>
                <a:r>
                  <a:rPr/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m:t>g</m:t>
                        </m:r>
                      </m:e>
                      <m:sub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 — a common (national or world) shock to sector </a:t>
                </a:r>
                <a14:m>
                  <m:oMath xmlns:m="http://schemas.openxmlformats.org/officeDocument/2006/math">
                    <m:r>
                      <m:t>k</m:t>
                    </m:r>
                  </m:oMath>
                </a14:m>
              </a:p>
              <a:p>
                <a:pPr lvl="0" indent="0" marL="0">
                  <a:buNone/>
                </a:pPr>
                <a:r>
                  <a:rPr/>
                  <a:t>Combine into a single regional exposure measure: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Z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m:t>ℓ</m:t>
                          </m:r>
                        </m:sub>
                      </m:sSub>
                      <m:r>
                        <m:t> 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 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k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m:t>ℓ</m:t>
                              </m:r>
                              <m:r>
                                <m:t>k</m:t>
                              </m:r>
                            </m:sub>
                          </m:sSub>
                        </m:e>
                      </m:nary>
                      <m:r>
                        <m:t> </m:t>
                      </m:r>
                      <m:sSub>
                        <m:e>
                          <m:r>
                            <m:t>g</m:t>
                          </m:r>
                        </m:e>
                        <m:sub>
                          <m:r>
                            <m:t>k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 instrument predicts </a:t>
                </a:r>
                <a:r>
                  <a:rPr i="1"/>
                  <a:t>how hard</a:t>
                </a:r>
                <a:r>
                  <a:rPr/>
                  <a:t> region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ℓ</m:t>
                    </m:r>
                  </m:oMath>
                </a14:m>
                <a:r>
                  <a:rPr/>
                  <a:t> should be hit by a common shock, given its industrial structure.</a:t>
                </a:r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call it “Bartik”?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Tim Bartik (1991) used national industry growth rates interacted with local industry mix to predict local labor demand growth.</a:t>
            </a:r>
          </a:p>
          <a:p>
            <a:pPr lvl="0"/>
            <a:r>
              <a:rPr/>
              <a:t>The construct predates him (Perloff 1957, Freeman 1980) but the name stuck after Blanchard &amp; Katz (1992) popularized it.</a:t>
            </a:r>
          </a:p>
          <a:p>
            <a:pPr lvl="0"/>
            <a:r>
              <a:rPr/>
              <a:t>In trade: replace national growth with </a:t>
            </a:r>
            <a:r>
              <a:rPr i="1"/>
              <a:t>tariff changes</a:t>
            </a:r>
            <a:r>
              <a:rPr/>
              <a:t> (Topalova) or </a:t>
            </a:r>
            <a:r>
              <a:rPr i="1"/>
              <a:t>import surges</a:t>
            </a:r>
            <a:r>
              <a:rPr/>
              <a:t> (ADH).</a:t>
            </a:r>
          </a:p>
          <a:p>
            <a:pPr lvl="0"/>
            <a:r>
              <a:rPr/>
              <a:t>Goldsmith-Pinkham, Sorkin, and Swift (2020) formalize it as a GMM problem with the shares as instruments.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first numerical look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3 regions × 2 sectors. Tariffs fall between 1987 and 1988.</a:t>
                </a:r>
              </a:p>
              <a:p>
                <a:pPr lvl="0" indent="0" marL="0">
                  <a:buNone/>
                </a:pPr>
                <a:r>
                  <a:rPr/>
                  <a:t>National tariff change 1987→1988: Agri 30 → 10, Manuf 20 → 5.</a:t>
                </a:r>
              </a:p>
              <a:p>
                <a:pPr lvl="0" indent="0" marL="0">
                  <a:buNone/>
                </a:pPr>
                <a:r>
                  <a:rPr/>
                  <a:t>Bartik exposure </a:t>
                </a:r>
                <a14:m>
                  <m:oMath xmlns:m="http://schemas.openxmlformats.org/officeDocument/2006/math">
                    <m:sSub>
                      <m:e>
                        <m:r>
                          <m:t>Z</m:t>
                        </m:r>
                      </m:e>
                      <m:sub>
                        <m:r>
                          <m:rPr>
                            <m:sty m:val="p"/>
                          </m:rPr>
                          <m:t>ℓ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m:t>ℓ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rPr>
                            <m:nor/>
                            <m:sty m:val="p"/>
                          </m:rPr>
                          <m:t>Agri</m:t>
                        </m:r>
                      </m:sub>
                    </m:sSub>
                    <m:r>
                      <m:t>Δ</m:t>
                    </m:r>
                    <m:r>
                      <m:rPr>
                        <m:sty m:val="p"/>
                      </m:rPr>
                      <m:t>log</m:t>
                    </m:r>
                    <m:sSub>
                      <m:e>
                        <m:r>
                          <m:t>t</m:t>
                        </m:r>
                      </m:e>
                      <m:sub>
                        <m:r>
                          <m:rPr>
                            <m:nor/>
                            <m:sty m:val="p"/>
                          </m:rPr>
                          <m:t>Agri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m:t>ℓ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rPr>
                            <m:nor/>
                            <m:sty m:val="p"/>
                          </m:rPr>
                          <m:t>Manuf</m:t>
                        </m:r>
                      </m:sub>
                    </m:sSub>
                    <m:r>
                      <m:t>Δ</m:t>
                    </m:r>
                    <m:r>
                      <m:rPr>
                        <m:sty m:val="p"/>
                      </m:rPr>
                      <m:t>log</m:t>
                    </m:r>
                    <m:sSub>
                      <m:e>
                        <m:r>
                          <m:t>t</m:t>
                        </m:r>
                      </m:e>
                      <m:sub>
                        <m:r>
                          <m:rPr>
                            <m:nor/>
                            <m:sty m:val="p"/>
                          </m:rPr>
                          <m:t>Manuf</m:t>
                        </m:r>
                      </m:sub>
                    </m:sSub>
                  </m:oMath>
                </a14:m>
                <a:r>
                  <a:rPr/>
                  <a:t>:</a:t>
                </a:r>
              </a:p>
              <a:p>
                <a:pPr lvl="0" indent="0" marL="0">
                  <a:buNone/>
                </a:pPr>
                <a:r>
                  <a:rPr/>
                  <a:t>Note the </a:t>
                </a:r>
                <a:r>
                  <a:rPr b="1"/>
                  <a:t>ranking flips</a:t>
                </a:r>
                <a:r>
                  <a:rPr/>
                  <a:t>: log change makes A most exposed; level change makes B most exposed.</a:t>
                </a:r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just happened?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Manuf had the larger </a:t>
                </a:r>
                <a:r>
                  <a:rPr i="1"/>
                  <a:t>proportional</a:t>
                </a:r>
                <a:r>
                  <a:rPr/>
                  <a:t> cut: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log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5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20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1.39</m:t>
                    </m:r>
                  </m:oMath>
                </a14:m>
                <a:r>
                  <a:rPr/>
                  <a:t> vs. 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log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10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30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1.10</m:t>
                    </m:r>
                  </m:oMath>
                </a14:m>
                <a:r>
                  <a:rPr/>
                  <a:t>.</a:t>
                </a:r>
              </a:p>
              <a:p>
                <a:pPr lvl="0"/>
                <a:r>
                  <a:rPr/>
                  <a:t>Agri had the larger </a:t>
                </a:r>
                <a:r>
                  <a:rPr i="1"/>
                  <a:t>absolute</a:t>
                </a:r>
                <a:r>
                  <a:rPr/>
                  <a:t> cut: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t>20</m:t>
                    </m:r>
                  </m:oMath>
                </a14:m>
                <a:r>
                  <a:rPr/>
                  <a:t> pp vs. 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t>15</m:t>
                    </m:r>
                  </m:oMath>
                </a14:m>
                <a:r>
                  <a:rPr/>
                  <a:t> pp.</a:t>
                </a:r>
              </a:p>
              <a:p>
                <a:pPr lvl="0"/>
                <a:r>
                  <a:rPr/>
                  <a:t>Which one matters? Depends on the </a:t>
                </a:r>
                <a:r>
                  <a:rPr b="1"/>
                  <a:t>outcome model</a:t>
                </a:r>
                <a:r>
                  <a:rPr/>
                  <a:t>: log-log specifications need </a:t>
                </a:r>
                <a14:m>
                  <m:oMath xmlns:m="http://schemas.openxmlformats.org/officeDocument/2006/math">
                    <m:r>
                      <m:t>Δ</m:t>
                    </m:r>
                    <m:r>
                      <m:rPr>
                        <m:sty m:val="p"/>
                      </m:rPr>
                      <m:t>log</m:t>
                    </m:r>
                    <m:r>
                      <m:t>t</m:t>
                    </m:r>
                  </m:oMath>
                </a14:m>
                <a:r>
                  <a:rPr/>
                  <a:t>, level specifications need </a:t>
                </a:r>
                <a14:m>
                  <m:oMath xmlns:m="http://schemas.openxmlformats.org/officeDocument/2006/math">
                    <m:r>
                      <m:t>Δ</m:t>
                    </m:r>
                    <m:r>
                      <m:t>t</m:t>
                    </m:r>
                  </m:oMath>
                </a14:m>
                <a:r>
                  <a:rPr/>
                  <a:t>.</a:t>
                </a:r>
              </a:p>
              <a:p>
                <a:pPr lvl="0"/>
                <a:r>
                  <a:rPr/>
                  <a:t>Lesson: the Bartik is only as well-motivated as the production-side or trade-elasticity model behind it.</a:t>
                </a:r>
              </a:p>
            </p:txBody>
          </p:sp>
        </mc:Choice>
      </mc:AlternateContent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First stage, reduced form, IV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Bartik is used as an instrument:</a:t>
                </a:r>
              </a:p>
              <a:p>
                <a:pPr lvl="0" indent="0" marL="0">
                  <a:buNone/>
                </a:pPr>
                <a:r>
                  <a:rPr b="1"/>
                  <a:t>First stage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 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m:t>ℓ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π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π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sSub>
                      <m:e>
                        <m:r>
                          <m:t>Z</m:t>
                        </m:r>
                      </m:e>
                      <m:sub>
                        <m:r>
                          <m:rPr>
                            <m:sty m:val="p"/>
                          </m:rPr>
                          <m:t>ℓ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m:t>ℓ</m:t>
                        </m:r>
                      </m:sub>
                    </m:sSub>
                  </m:oMath>
                </a14:m>
              </a:p>
              <a:p>
                <a:pPr lvl="0" indent="0" marL="0">
                  <a:buNone/>
                </a:pPr>
                <a:r>
                  <a:rPr b="1"/>
                  <a:t>Reduced form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 </m:t>
                    </m:r>
                    <m:sSub>
                      <m:e>
                        <m: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m:t>ℓ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ρ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ρ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sSub>
                      <m:e>
                        <m:r>
                          <m:t>Z</m:t>
                        </m:r>
                      </m:e>
                      <m:sub>
                        <m:r>
                          <m:rPr>
                            <m:sty m:val="p"/>
                          </m:rPr>
                          <m:t>ℓ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m:t>ℓ</m:t>
                        </m:r>
                      </m:sub>
                    </m:sSub>
                  </m:oMath>
                </a14:m>
              </a:p>
              <a:p>
                <a:pPr lvl="0" indent="0" marL="0">
                  <a:buNone/>
                </a:pPr>
                <a:r>
                  <a:rPr b="1"/>
                  <a:t>2SLS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 </m:t>
                    </m:r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δ</m:t>
                            </m:r>
                          </m:e>
                        </m:acc>
                      </m:e>
                      <m:sub>
                        <m:r>
                          <m:rPr>
                            <m:nor/>
                            <m:sty m:val="p"/>
                          </m:rPr>
                          <m:t>IV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ρ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/</m:t>
                    </m:r>
                    <m:sSub>
                      <m:e>
                        <m:r>
                          <m:t>π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</a:p>
              <a:p>
                <a:pPr lvl="0"/>
                <a:r>
                  <a:rPr/>
                  <a:t>Many papers (ADH 2013, Topalova) report the reduced-form coefficient </a:t>
                </a:r>
                <a14:m>
                  <m:oMath xmlns:m="http://schemas.openxmlformats.org/officeDocument/2006/math">
                    <m:sSub>
                      <m:e>
                        <m:r>
                          <m:t>ρ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 directly, calling </a:t>
                </a:r>
                <a14:m>
                  <m:oMath xmlns:m="http://schemas.openxmlformats.org/officeDocument/2006/math">
                    <m:sSub>
                      <m:e>
                        <m:r>
                          <m:t>Z</m:t>
                        </m:r>
                      </m:e>
                      <m:sub>
                        <m:r>
                          <m:rPr>
                            <m:sty m:val="p"/>
                          </m:rPr>
                          <m:t>ℓ</m:t>
                        </m:r>
                      </m:sub>
                    </m:sSub>
                  </m:oMath>
                </a14:m>
                <a:r>
                  <a:rPr/>
                  <a:t> “exposure.”</a:t>
                </a:r>
              </a:p>
              <a:p>
                <a:pPr lvl="0"/>
                <a:r>
                  <a:rPr/>
                  <a:t>The 2SLS scaling requires </a:t>
                </a:r>
                <a14:m>
                  <m:oMath xmlns:m="http://schemas.openxmlformats.org/officeDocument/2006/math">
                    <m:sSub>
                      <m:e>
                        <m:r>
                          <m:t>π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≠</m:t>
                    </m:r>
                    <m:r>
                      <m:t>0</m:t>
                    </m:r>
                  </m:oMath>
                </a14:m>
                <a:r>
                  <a:rPr/>
                  <a:t> and the exclusion restriction </a:t>
                </a:r>
                <a14:m>
                  <m:oMath xmlns:m="http://schemas.openxmlformats.org/officeDocument/2006/math">
                    <m:r>
                      <m:t>E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</m:dPr>
                      <m:e>
                        <m:sSub>
                          <m:e>
                            <m:r>
                              <m:t>Z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m:t>ℓ</m:t>
                            </m:r>
                          </m:sub>
                        </m:sSub>
                        <m:sSub>
                          <m:e>
                            <m:r>
                              <m:t>ε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m:t>ℓ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Identification: two camps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Goldsmith-Pinkham, Sorkin, and Swift (2020) ask the central question: </a:t>
            </a:r>
            <a:r>
              <a:rPr i="1"/>
              <a:t>which assumption makes the Bartik valid?</a:t>
            </a:r>
          </a:p>
          <a:p>
            <a:pPr lvl="0" indent="0" marL="0">
              <a:buNone/>
            </a:pPr>
            <a:r>
              <a:rPr/>
              <a:t>Both deliver consistent IV under different conditions. The right diagnostic depends on which assumption you lean on.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Share exogeneity (GP framework)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Goldsmith-Pinkham, Sorkin, and Swift (2020) prove: the Bartik 2SLS estimator equals a GMM estimator where each </a:t>
                </a:r>
                <a:r>
                  <a:rPr b="1"/>
                  <a:t>share</a:t>
                </a:r>
                <a:r>
                  <a:rPr/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m:t>ℓ</m:t>
                        </m:r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 acts as a separate instrument, weighted by </a:t>
                </a:r>
                <a:r>
                  <a:rPr b="1"/>
                  <a:t>Rotemberg weights</a:t>
                </a:r>
                <a:r>
                  <a:rPr/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m:t>α</m:t>
                        </m:r>
                      </m:e>
                      <m:sub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δ</m:t>
                              </m:r>
                            </m:e>
                          </m:acc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Bartik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k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sSub>
                            <m:e>
                              <m:r>
                                <m:t>α</m:t>
                              </m:r>
                            </m:e>
                            <m:sub>
                              <m:r>
                                <m:t>k</m:t>
                              </m:r>
                            </m:sub>
                          </m:sSub>
                        </m:e>
                      </m:nary>
                      <m:r>
                        <m:t> 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δ</m:t>
                              </m:r>
                            </m:e>
                          </m:acc>
                        </m:e>
                        <m:sub>
                          <m:r>
                            <m:t>k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δ</m:t>
                            </m:r>
                          </m:e>
                        </m:acc>
                      </m:e>
                      <m:sub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 — just-identified IV using share </a:t>
                </a:r>
                <a14:m>
                  <m:oMath xmlns:m="http://schemas.openxmlformats.org/officeDocument/2006/math">
                    <m:sSub>
                      <m:e>
                        <m: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m:t>⋅</m:t>
                        </m:r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 alone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α</m:t>
                        </m:r>
                      </m:e>
                      <m:sub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 — Rotemberg weight,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</m:naryPr>
                      <m:sub>
                        <m:r>
                          <m:t>k</m:t>
                        </m:r>
                      </m:sub>
                      <m:sup>
                        <m:r>
                          <m:t>​</m:t>
                        </m:r>
                      </m:sup>
                      <m:e>
                        <m:sSub>
                          <m:e>
                            <m:r>
                              <m:t>α</m:t>
                            </m:r>
                          </m:e>
                          <m:sub>
                            <m:r>
                              <m:t>k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</m:oMath>
                </a14:m>
                <a:r>
                  <a:rPr/>
                  <a:t>, can be negative</a:t>
                </a:r>
              </a:p>
              <a:p>
                <a:pPr lvl="0"/>
                <a:r>
                  <a:rPr/>
                  <a:t>A few industries usually carry most of the weight → the design hinges on the exogeneity of those few shares.</a:t>
                </a:r>
              </a:p>
            </p:txBody>
          </p:sp>
        </mc:Choice>
      </mc:AlternateContent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Rotemberg weights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For each industry </a:t>
                </a:r>
                <a14:m>
                  <m:oMath xmlns:m="http://schemas.openxmlformats.org/officeDocument/2006/math">
                    <m:r>
                      <m:t>k</m:t>
                    </m:r>
                  </m:oMath>
                </a14:m>
                <a:r>
                  <a:rPr/>
                  <a:t>, the weight is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k</m:t>
                          </m:r>
                        </m:sub>
                      </m:sSub>
                      <m:r>
                        <m:t> 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 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t>g</m:t>
                              </m:r>
                            </m:e>
                            <m:sub>
                              <m:r>
                                <m:t>k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⋅</m:t>
                          </m:r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m:t>ℓ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sSub>
                                <m:e>
                                  <m:r>
                                    <m:t>s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m:t>ℓ</m:t>
                                  </m:r>
                                  <m:r>
                                    <m:t>k</m:t>
                                  </m:r>
                                </m:sub>
                              </m:sSub>
                            </m:e>
                          </m:nary>
                          <m:r>
                            <m:t> </m:t>
                          </m:r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m:t>ℓ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m:t>′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sSub>
                                <m:e>
                                  <m:r>
                                    <m:t>g</m:t>
                                  </m:r>
                                </m:e>
                                <m:sub>
                                  <m:r>
                                    <m:t>k</m:t>
                                  </m:r>
                                  <m:r>
                                    <m:rPr>
                                      <m:sty m:val="p"/>
                                    </m:rPr>
                                    <m:t>′</m:t>
                                  </m:r>
                                </m:sub>
                              </m:sSub>
                            </m:e>
                          </m:nary>
                          <m:r>
                            <m:rPr>
                              <m:sty m:val="p"/>
                            </m:rPr>
                            <m:t>⋅</m:t>
                          </m:r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m:t>ℓ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sSub>
                                <m:e>
                                  <m:r>
                                    <m:t>s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m:t>ℓ</m:t>
                                  </m:r>
                                  <m:r>
                                    <m:t>k</m:t>
                                  </m:r>
                                  <m:r>
                                    <m:rPr>
                                      <m:sty m:val="p"/>
                                    </m:rPr>
                                    <m:t>′</m:t>
                                  </m:r>
                                </m:sub>
                              </m:sSub>
                            </m:e>
                          </m:nary>
                          <m:r>
                            <m:t> </m:t>
                          </m:r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m:t>ℓ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k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sSub>
                            <m:e>
                              <m:r>
                                <m:t>α</m:t>
                              </m:r>
                            </m:e>
                            <m:sub>
                              <m:r>
                                <m:t>k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m:t>=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Two ingredients drive </a:t>
                </a:r>
                <a14:m>
                  <m:oMath xmlns:m="http://schemas.openxmlformats.org/officeDocument/2006/math">
                    <m:sSub>
                      <m:e>
                        <m:r>
                          <m:t>α</m:t>
                        </m:r>
                      </m:e>
                      <m:sub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:</a:t>
                </a:r>
              </a:p>
              <a:p>
                <a:pPr lvl="0"/>
                <a:r>
                  <a:rPr b="1"/>
                  <a:t>size of the shift</a:t>
                </a:r>
                <a:r>
                  <a:rPr/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m:t>g</m:t>
                        </m:r>
                      </m:e>
                      <m:sub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 — industries with bigger national shocks matter more.</a:t>
                </a:r>
              </a:p>
              <a:p>
                <a:pPr lvl="0"/>
                <a:r>
                  <a:rPr b="1"/>
                  <a:t>first-stage covariance</a:t>
                </a:r>
                <a:r>
                  <a:rPr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</m:naryPr>
                      <m:sub>
                        <m:r>
                          <m:rPr>
                            <m:sty m:val="p"/>
                          </m:rPr>
                          <m:t>ℓ</m:t>
                        </m:r>
                      </m:sub>
                      <m:sup>
                        <m:r>
                          <m:t>​</m:t>
                        </m:r>
                      </m:sup>
                      <m:e>
                        <m:sSub>
                          <m:e>
                            <m: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m:t>ℓ</m:t>
                            </m:r>
                            <m:r>
                              <m:t>k</m:t>
                            </m:r>
                          </m:sub>
                        </m:sSub>
                      </m:e>
                    </m:nary>
                    <m:r>
                      <m:t> 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m:t>ℓ</m:t>
                        </m:r>
                      </m:sub>
                    </m:sSub>
                  </m:oMath>
                </a14:m>
                <a:r>
                  <a:rPr/>
                  <a:t> — how strongly industry </a:t>
                </a:r>
                <a14:m>
                  <m:oMath xmlns:m="http://schemas.openxmlformats.org/officeDocument/2006/math">
                    <m:r>
                      <m:t>k</m:t>
                    </m:r>
                  </m:oMath>
                </a14:m>
                <a:r>
                  <a:rPr/>
                  <a:t>’s shares correlate with the endogenous regressor.</a:t>
                </a:r>
              </a:p>
              <a:p>
                <a:pPr lvl="0" indent="0" marL="0">
                  <a:buNone/>
                </a:pPr>
                <a:r>
                  <a:rPr/>
                  <a:t>Weights </a:t>
                </a:r>
                <a:r>
                  <a:rPr b="1"/>
                  <a:t>can be negative</a:t>
                </a:r>
                <a:r>
                  <a:rPr/>
                  <a:t>: if </a:t>
                </a:r>
                <a14:m>
                  <m:oMath xmlns:m="http://schemas.openxmlformats.org/officeDocument/2006/math">
                    <m:sSub>
                      <m:e>
                        <m:r>
                          <m:t>g</m:t>
                        </m:r>
                      </m:e>
                      <m:sub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 and the first-stage covariance have opposite signs, that industry pulls the Bartik in the opposite direction. A handful of industries usually carry most of the weight.</a:t>
                </a:r>
              </a:p>
              <a:p>
                <a:pPr lvl="0" indent="0" marL="0">
                  <a:buNone/>
                </a:pPr>
                <a:r>
                  <a:rPr/>
                  <a:t>Named for Julio Rotemberg (1983), who used the same decomposition logic in a different IV setting; Goldsmith-Pinkham, Sorkin, and Swift (2020) formalised it for the Bartik.</a:t>
                </a:r>
              </a:p>
            </p:txBody>
          </p:sp>
        </mc:Choice>
      </mc:AlternateContent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Rotemberg weights: 2x2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Use our toy data. Set </a:t>
                </a:r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m:t>ℓ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Sup>
                      <m:e>
                        <m:r>
                          <m:t>Z</m:t>
                        </m:r>
                      </m:e>
                      <m:sub>
                        <m:r>
                          <m:rPr>
                            <m:sty m:val="p"/>
                          </m:rPr>
                          <m:t>ℓ</m:t>
                        </m:r>
                      </m:sub>
                      <m:sup>
                        <m:r>
                          <m:rPr>
                            <m:nor/>
                            <m:sty m:val="p"/>
                          </m:rPr>
                          <m:t>lev</m:t>
                        </m:r>
                      </m:sup>
                    </m:sSubSup>
                  </m:oMath>
                </a14:m>
                <a:r>
                  <a:rPr/>
                  <a:t> so the mechanics are visible: </a:t>
                </a:r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A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15.1</m:t>
                    </m:r>
                    <m:r>
                      <m:rPr>
                        <m:sty m:val="p"/>
                      </m:rPr>
                      <m:t>,</m:t>
                    </m:r>
                    <m:r>
                      <m:t> 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B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18.6</m:t>
                    </m:r>
                    <m:r>
                      <m:rPr>
                        <m:sty m:val="p"/>
                      </m:rPr>
                      <m:t>,</m:t>
                    </m:r>
                    <m:r>
                      <m:t> 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C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15.9</m:t>
                    </m:r>
                  </m:oMath>
                </a14:m>
                <a:r>
                  <a:rPr/>
                  <a:t>, with shifts </a:t>
                </a:r>
                <a14:m>
                  <m:oMath xmlns:m="http://schemas.openxmlformats.org/officeDocument/2006/math">
                    <m:sSub>
                      <m:e>
                        <m:r>
                          <m:t>g</m:t>
                        </m:r>
                      </m:e>
                      <m:sub>
                        <m:r>
                          <m:rPr>
                            <m:nor/>
                            <m:sty m:val="p"/>
                          </m:rPr>
                          <m:t>Agri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20</m:t>
                    </m:r>
                    <m:r>
                      <m:rPr>
                        <m:sty m:val="p"/>
                      </m:rPr>
                      <m:t>,</m:t>
                    </m:r>
                    <m:r>
                      <m:t> </m:t>
                    </m:r>
                    <m:sSub>
                      <m:e>
                        <m:r>
                          <m:t>g</m:t>
                        </m:r>
                      </m:e>
                      <m:sub>
                        <m:r>
                          <m:rPr>
                            <m:nor/>
                            <m:sty m:val="p"/>
                          </m:rPr>
                          <m:t>Manuf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15</m:t>
                    </m:r>
                  </m:oMath>
                </a14:m>
                <a:r>
                  <a:rPr/>
                  <a:t>.</a:t>
                </a:r>
              </a:p>
              <a:p>
                <a:pPr lvl="0" indent="0" marL="0">
                  <a:buNone/>
                </a:pPr>
                <a:r>
                  <a:rPr/>
                  <a:t>First-stage covariances: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rPr>
                              <m:sty m:val="p"/>
                            </m:rPr>
                            <m:t>ℓ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m:t>ℓ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rPr>
                                  <m:nor/>
                                  <m:sty m:val="p"/>
                                </m:rPr>
                                <m:t>Agri</m:t>
                              </m:r>
                            </m:sub>
                          </m:sSub>
                        </m:e>
                      </m:nary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m:t>ℓ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0.011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15.1</m:t>
                          </m:r>
                        </m:e>
                      </m:d>
                      <m:r>
                        <m:rPr>
                          <m:sty m:val="p"/>
                        </m:rPr>
                        <m:t>+</m:t>
                      </m:r>
                      <m:r>
                        <m:t>0.714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18.6</m:t>
                          </m:r>
                        </m:e>
                      </m:d>
                      <m:r>
                        <m:rPr>
                          <m:sty m:val="p"/>
                        </m:rPr>
                        <m:t>+</m:t>
                      </m:r>
                      <m:r>
                        <m:t>0.189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15.9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16.45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rPr>
                              <m:sty m:val="p"/>
                            </m:rPr>
                            <m:t>ℓ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m:t>ℓ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rPr>
                                  <m:nor/>
                                  <m:sty m:val="p"/>
                                </m:rPr>
                                <m:t>Manuf</m:t>
                              </m:r>
                            </m:sub>
                          </m:sSub>
                        </m:e>
                      </m:nary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m:t>ℓ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0.989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15.1</m:t>
                          </m:r>
                        </m:e>
                      </m:d>
                      <m:r>
                        <m:rPr>
                          <m:sty m:val="p"/>
                        </m:rPr>
                        <m:t>+</m:t>
                      </m:r>
                      <m:r>
                        <m:t>0.286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18.6</m:t>
                          </m:r>
                        </m:e>
                      </m:d>
                      <m:r>
                        <m:rPr>
                          <m:sty m:val="p"/>
                        </m:rPr>
                        <m:t>+</m:t>
                      </m:r>
                      <m:r>
                        <m:t>0.811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15.9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33.15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Numerators: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20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16.45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r>
                      <m:t>329.0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15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33.15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r>
                      <m:t>497.2</m:t>
                    </m:r>
                  </m:oMath>
                </a14:m>
                <a:r>
                  <a:rPr/>
                  <a:t>. Denominator </a:t>
                </a:r>
                <a14:m>
                  <m:oMath xmlns:m="http://schemas.openxmlformats.org/officeDocument/2006/math">
                    <m:r>
                      <m:t>826.2</m:t>
                    </m:r>
                  </m:oMath>
                </a14:m>
                <a:r>
                  <a:rPr/>
                  <a:t>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e>
                          <m:sSub>
                            <m:e>
                              <m:r>
                                <m:t>α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Agri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0.40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  </m:t>
                          </m:r>
                          <m:sSub>
                            <m:e>
                              <m:r>
                                <m:t>α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Manuf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0.60</m:t>
                          </m:r>
                          <m:r>
                            <m:rPr>
                              <m:sty m:val="p"/>
                            </m:rPr>
                            <m:t>.</m:t>
                          </m:r>
                        </m:e>
                      </m:borderBox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Manufacturing carries 60% of the Bartik. With 100+ industries in Topalova or ADH, 5–10 industries typically carry 80% of the weight — those are the shares whose exogeneity you actually need to defend.</a:t>
                </a:r>
              </a:p>
            </p:txBody>
          </p:sp>
        </mc:Choice>
      </mc:AlternateContent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Rotemberg weights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shares: L × K matrix; g: length K; X: length L</a:t>
            </a:r>
            <a:br/>
            <a:r>
              <a:rPr>
                <a:latin typeface="Courier"/>
              </a:rPr>
              <a:t>fs_cov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as.numeric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t</a:t>
            </a:r>
            <a:r>
              <a:rPr>
                <a:latin typeface="Courier"/>
              </a:rPr>
              <a:t>(shares) </a:t>
            </a:r>
            <a:r>
              <a:rPr>
                <a:solidFill>
                  <a:srgbClr val="4070A0"/>
                </a:solidFill>
                <a:latin typeface="Courier"/>
              </a:rPr>
              <a:t>%*%</a:t>
            </a:r>
            <a:r>
              <a:rPr>
                <a:latin typeface="Courier"/>
              </a:rPr>
              <a:t> X)          </a:t>
            </a:r>
            <a:r>
              <a:rPr i="1">
                <a:solidFill>
                  <a:srgbClr val="60A0B0"/>
                </a:solidFill>
                <a:latin typeface="Courier"/>
              </a:rPr>
              <a:t># first-stage covariances</a:t>
            </a:r>
            <a:br/>
            <a:r>
              <a:rPr>
                <a:latin typeface="Courier"/>
              </a:rPr>
              <a:t>alpha 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g </a:t>
            </a:r>
            <a:r>
              <a:rPr>
                <a:solidFill>
                  <a:srgbClr val="4070A0"/>
                </a:solidFill>
                <a:latin typeface="Courier"/>
              </a:rPr>
              <a:t>*</a:t>
            </a:r>
            <a:r>
              <a:rPr>
                <a:latin typeface="Courier"/>
              </a:rPr>
              <a:t> fs_cov</a:t>
            </a:r>
            <a:br/>
            <a:r>
              <a:rPr>
                <a:latin typeface="Courier"/>
              </a:rPr>
              <a:t>alpha 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alpha </a:t>
            </a:r>
            <a:r>
              <a:rPr>
                <a:solidFill>
                  <a:srgbClr val="4070A0"/>
                </a:solidFill>
                <a:latin typeface="Courier"/>
              </a:rPr>
              <a:t>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(alpha) 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Rotemberg weights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per-industry just-identified IV</a:t>
            </a:r>
            <a:br/>
            <a:r>
              <a:rPr>
                <a:latin typeface="Courier"/>
              </a:rPr>
              <a:t>beta_k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as.numeric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t</a:t>
            </a:r>
            <a:r>
              <a:rPr>
                <a:latin typeface="Courier"/>
              </a:rPr>
              <a:t>(shares) </a:t>
            </a:r>
            <a:r>
              <a:rPr>
                <a:solidFill>
                  <a:srgbClr val="4070A0"/>
                </a:solidFill>
                <a:latin typeface="Courier"/>
              </a:rPr>
              <a:t>%*%</a:t>
            </a:r>
            <a:r>
              <a:rPr>
                <a:latin typeface="Courier"/>
              </a:rPr>
              <a:t> Y) </a:t>
            </a:r>
            <a:r>
              <a:rPr>
                <a:solidFill>
                  <a:srgbClr val="4070A0"/>
                </a:solidFill>
                <a:latin typeface="Courier"/>
              </a:rPr>
              <a:t>/</a:t>
            </a:r>
            <a:r>
              <a:rPr>
                <a:latin typeface="Courier"/>
              </a:rPr>
              <a:t> fs_cov</a:t>
            </a:r>
            <a:br/>
            <a:r>
              <a:rPr>
                <a:solidFill>
                  <a:srgbClr val="06287E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(alpha </a:t>
            </a:r>
            <a:r>
              <a:rPr>
                <a:solidFill>
                  <a:srgbClr val="4070A0"/>
                </a:solidFill>
                <a:latin typeface="Courier"/>
              </a:rPr>
              <a:t>*</a:t>
            </a:r>
            <a:r>
              <a:rPr>
                <a:latin typeface="Courier"/>
              </a:rPr>
              <a:t> beta_k)          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= Bartik 2SLS estimate</a:t>
            </a:r>
          </a:p>
          <a:p>
            <a:pPr lvl="0" indent="0" marL="0">
              <a:buNone/>
            </a:pPr>
            <a:r>
              <a:rPr/>
              <a:t>The </a:t>
            </a:r>
            <a:r>
              <a:rPr>
                <a:latin typeface="Courier"/>
              </a:rPr>
              <a:t>bartik.weight</a:t>
            </a:r>
            <a:r>
              <a:rPr/>
              <a:t> package (GitHub: paulgp/bartik-weight) does this and produces the Goldsmith-Pinkham, Sorkin, and Swift (2020) Table 5 diagnostic panel directly.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Diagnostics from Rotemberg weights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Goldsmith-Pinkham, Sorkin, and Swift (2020) recommend reporting: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Concentration of weights</a:t>
                </a:r>
                <a:r>
                  <a:rPr/>
                  <a:t> — Herfindahl of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</m:dPr>
                      <m:e>
                        <m:sSub>
                          <m:e>
                            <m:r>
                              <m:t>α</m:t>
                            </m:r>
                          </m:e>
                          <m:sub>
                            <m:r>
                              <m:t>k</m:t>
                            </m:r>
                          </m:sub>
                        </m:sSub>
                      </m:e>
                    </m:d>
                  </m:oMath>
                </a14:m>
                <a:r>
                  <a:rPr/>
                  <a:t>. If 2–3 industries dominate, your identification is really about those industries.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Top-5 industries</a:t>
                </a:r>
                <a:r>
                  <a:rPr/>
                  <a:t> — list them and ask: are their </a:t>
                </a:r>
                <a:r>
                  <a:rPr i="1"/>
                  <a:t>shares</a:t>
                </a:r>
                <a:r>
                  <a:rPr/>
                  <a:t> plausibly exogenous to local outcome trends?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Pre-trend checks</a:t>
                </a:r>
                <a:r>
                  <a:rPr/>
                  <a:t> on </a:t>
                </a:r>
                <a14:m>
                  <m:oMath xmlns:m="http://schemas.openxmlformats.org/officeDocument/2006/math">
                    <m:sSub>
                      <m:e>
                        <m:r>
                          <m:t>Z</m:t>
                        </m:r>
                      </m:e>
                      <m:sub>
                        <m:r>
                          <m:rPr>
                            <m:sty m:val="p"/>
                          </m:rPr>
                          <m:t>ℓ</m:t>
                        </m:r>
                      </m:sub>
                    </m:sSub>
                  </m:oMath>
                </a14:m>
                <a:r>
                  <a:rPr/>
                  <a:t> — does pre-shock </a:t>
                </a:r>
                <a14:m>
                  <m:oMath xmlns:m="http://schemas.openxmlformats.org/officeDocument/2006/math">
                    <m:sSub>
                      <m:e>
                        <m:r>
                          <m:t>Z</m:t>
                        </m:r>
                      </m:e>
                      <m:sub>
                        <m:r>
                          <m:rPr>
                            <m:sty m:val="p"/>
                          </m:rPr>
                          <m:t>ℓ</m:t>
                        </m:r>
                      </m:sub>
                    </m:sSub>
                  </m:oMath>
                </a14:m>
                <a:r>
                  <a:rPr/>
                  <a:t> predict pre-shock changes in </a:t>
                </a:r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m:t>ℓ</m:t>
                        </m:r>
                      </m:sub>
                    </m:sSub>
                  </m:oMath>
                </a14:m>
                <a:r>
                  <a:rPr/>
                  <a:t>?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Just-identified IV by industry</a:t>
                </a:r>
                <a:r>
                  <a:rPr/>
                  <a:t> — if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δ</m:t>
                            </m:r>
                          </m:e>
                        </m:acc>
                      </m:e>
                      <m:sub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 varies wildly across top industries, the pooled estimate is fragile.</a:t>
                </a:r>
              </a:p>
            </p:txBody>
          </p:sp>
        </mc:Choice>
      </mc:AlternateContent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Shock exogeneity (BHJ framework)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Borusyak, Hull, and Jaravel (2022) take a different route. Treat the </a:t>
                </a:r>
                <a:r>
                  <a:rPr b="1"/>
                  <a:t>shifts</a:t>
                </a:r>
                <a:r>
                  <a:rPr/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m:t>g</m:t>
                        </m:r>
                      </m:e>
                      <m:sub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 as random and the shares as exposure weights.</a:t>
                </a:r>
              </a:p>
              <a:p>
                <a:pPr lvl="0"/>
                <a:r>
                  <a:rPr/>
                  <a:t>Identification: </a:t>
                </a:r>
                <a14:m>
                  <m:oMath xmlns:m="http://schemas.openxmlformats.org/officeDocument/2006/math">
                    <m:sSub>
                      <m:e>
                        <m:r>
                          <m:t>g</m:t>
                        </m:r>
                      </m:e>
                      <m:sub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 is uncorrelated with sector-average residuals.</a:t>
                </a:r>
              </a:p>
              <a:p>
                <a:pPr lvl="0"/>
                <a:r>
                  <a:rPr/>
                  <a:t>Works well when shifts come from outside the system you study (e.g., supply-driven Chinese import surge from China’s TFP and WTO accession).</a:t>
                </a:r>
              </a:p>
              <a:p>
                <a:pPr lvl="0"/>
                <a:r>
                  <a:rPr/>
                  <a:t>Diagnostic: tests for shock balance — does </a:t>
                </a:r>
                <a14:m>
                  <m:oMath xmlns:m="http://schemas.openxmlformats.org/officeDocument/2006/math">
                    <m:sSub>
                      <m:e>
                        <m:r>
                          <m:t>g</m:t>
                        </m:r>
                      </m:e>
                      <m:sub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 correlate with pre-shock industry characteristics?</a:t>
                </a:r>
              </a:p>
              <a:p>
                <a:pPr lvl="0"/>
                <a:r>
                  <a:rPr/>
                  <a:t>The ADH “instrument with other rich countries’ imports from China” exploits exactly this — it isolates the supply-driven component of the shock.</a:t>
                </a:r>
              </a:p>
            </p:txBody>
          </p:sp>
        </mc:Choice>
      </mc:AlternateContent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Inference: don’t use OLS standard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Adão, Kolesár, and Morales (2019) show that conventional cluster-robust SEs </a:t>
            </a:r>
            <a:r>
              <a:rPr b="1"/>
              <a:t>over-reject</a:t>
            </a:r>
            <a:r>
              <a:rPr/>
              <a:t> with shift-share regressors:</a:t>
            </a:r>
          </a:p>
          <a:p>
            <a:pPr lvl="0"/>
            <a:r>
              <a:rPr/>
              <a:t>Residuals are correlated across regions that share industry mix.</a:t>
            </a:r>
          </a:p>
          <a:p>
            <a:pPr lvl="0"/>
            <a:r>
              <a:rPr/>
              <a:t>Their fix: an exposure-robust SE that treats </a:t>
            </a:r>
            <a:r>
              <a:rPr i="1"/>
              <a:t>industries</a:t>
            </a:r>
            <a:r>
              <a:rPr/>
              <a:t> as the clusters of randomness.</a:t>
            </a:r>
          </a:p>
          <a:p>
            <a:pPr lvl="0"/>
            <a:r>
              <a:rPr/>
              <a:t>In R, you can implement AKM SEs via the </a:t>
            </a:r>
            <a:r>
              <a:rPr>
                <a:latin typeface="Courier"/>
              </a:rPr>
              <a:t>ShiftShareSE</a:t>
            </a:r>
            <a:r>
              <a:rPr/>
              <a:t> package or replicate by IV with industry-level data.</a:t>
            </a:r>
          </a:p>
          <a:p>
            <a:pPr lvl="0"/>
            <a:r>
              <a:rPr/>
              <a:t>Rule of thumb for class: if you see Bartik with white SEs only, be skeptical.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Limitations to keep in mind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Pre-period shares can be endogenous</a:t>
                </a:r>
                <a:r>
                  <a:rPr/>
                  <a:t> (industries locate for a reason).</a:t>
                </a:r>
              </a:p>
              <a:p>
                <a:pPr lvl="0"/>
                <a:r>
                  <a:rPr b="1"/>
                  <a:t>Common shocks may be heterogeneous</a:t>
                </a:r>
                <a:r>
                  <a:rPr/>
                  <a:t> across sub-periods → time-varying </a:t>
                </a:r>
                <a14:m>
                  <m:oMath xmlns:m="http://schemas.openxmlformats.org/officeDocument/2006/math">
                    <m:sSub>
                      <m:e>
                        <m:r>
                          <m:t>g</m:t>
                        </m:r>
                      </m:e>
                      <m:sub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.</a:t>
                </a:r>
              </a:p>
              <a:p>
                <a:pPr lvl="0"/>
                <a:r>
                  <a:rPr b="1"/>
                  <a:t>Placebo tests</a:t>
                </a:r>
                <a:r>
                  <a:rPr/>
                  <a:t> on pre-period 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  <a:r>
                  <a:rPr/>
                  <a:t> are essential.</a:t>
                </a:r>
              </a:p>
              <a:p>
                <a:pPr lvl="0"/>
                <a:r>
                  <a:rPr b="1"/>
                  <a:t>Weighting</a:t>
                </a:r>
                <a:r>
                  <a:rPr/>
                  <a:t>: by region size, by inverse SE, by employment — affects which observations drive the result.</a:t>
                </a:r>
              </a:p>
              <a:p>
                <a:pPr lvl="0"/>
                <a:r>
                  <a:rPr b="1"/>
                  <a:t>Aggregation</a:t>
                </a:r>
                <a:r>
                  <a:rPr/>
                  <a:t> matters: districts vs. provinces vs. commuting zones give different answers.</a:t>
                </a:r>
              </a:p>
            </p:txBody>
          </p:sp>
        </mc:Choice>
      </mc:AlternateContent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Topalova (2010): India 1991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India’s 1991 liberalization cut tariffs unevenly across industries.</a:t>
            </a:r>
          </a:p>
          <a:p>
            <a:pPr lvl="0"/>
            <a:r>
              <a:rPr/>
              <a:t>Cross-district variation in pre-reform industry mix → cross-district variation in exposure.</a:t>
            </a:r>
          </a:p>
          <a:p>
            <a:pPr lvl="0"/>
            <a:r>
              <a:rPr/>
              <a:t>Difference-in-differences with Bartik exposure as the treatment.</a:t>
            </a:r>
          </a:p>
          <a:p>
            <a:pPr lvl="0" indent="0" marL="0">
              <a:buNone/>
            </a:pPr>
            <a:r>
              <a:rPr b="1"/>
              <a:t>Identification:</a:t>
            </a:r>
            <a:r>
              <a:rPr/>
              <a:t> the </a:t>
            </a:r>
            <a:r>
              <a:rPr i="1"/>
              <a:t>pace</a:t>
            </a:r>
            <a:r>
              <a:rPr/>
              <a:t> of tariff cuts was dictated by external (IMF) pressure and was negotiated industry-by-industry without regard to district outcomes → shocks plausibly exogenous to district trends.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Topalova: instrument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m:t>Z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m:t>ℓ</m:t>
                          </m:r>
                        </m:sub>
                        <m:sup>
                          <m:r>
                            <m:rPr>
                              <m:nor/>
                              <m:sty m:val="p"/>
                            </m:rPr>
                            <m:t>Top</m:t>
                          </m:r>
                        </m:sup>
                      </m:sSubSup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k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sSubSup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m:t>ℓ</m:t>
                              </m:r>
                              <m:r>
                                <m:t>k</m:t>
                              </m:r>
                            </m:sub>
                            <m:sup>
                              <m:r>
                                <m:t> </m:t>
                              </m:r>
                              <m:r>
                                <m:t>1987</m:t>
                              </m:r>
                            </m:sup>
                          </m:sSubSup>
                        </m:e>
                      </m:nary>
                      <m:r>
                        <m:t> </m:t>
                      </m:r>
                      <m:r>
                        <m:t>Δ</m:t>
                      </m:r>
                      <m:r>
                        <m:rPr>
                          <m:sty m:val="p"/>
                        </m:rPr>
                        <m:t>log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Tariff</m:t>
                              </m:r>
                            </m:e>
                            <m:sub>
                              <m:r>
                                <m:t>k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  <a:p>
                <a:pPr lvl="0"/>
                <a14:m>
                  <m:oMath xmlns:m="http://schemas.openxmlformats.org/officeDocument/2006/math">
                    <m:sSubSup>
                      <m:e>
                        <m: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m:t>ℓ</m:t>
                        </m:r>
                        <m:r>
                          <m:t>k</m:t>
                        </m:r>
                      </m:sub>
                      <m:sup>
                        <m:r>
                          <m:t>1987</m:t>
                        </m:r>
                      </m:sup>
                    </m:sSubSup>
                  </m:oMath>
                </a14:m>
                <a:r>
                  <a:rPr/>
                  <a:t> — district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ℓ</m:t>
                    </m:r>
                  </m:oMath>
                </a14:m>
                <a:r>
                  <a:rPr/>
                  <a:t>’s pre-reform employment share in industry </a:t>
                </a:r>
                <a14:m>
                  <m:oMath xmlns:m="http://schemas.openxmlformats.org/officeDocument/2006/math">
                    <m:r>
                      <m:t>k</m:t>
                    </m:r>
                  </m:oMath>
                </a14:m>
              </a:p>
              <a:p>
                <a:pPr lvl="0"/>
                <a14:m>
                  <m:oMath xmlns:m="http://schemas.openxmlformats.org/officeDocument/2006/math">
                    <m:r>
                      <m:t>Δ</m:t>
                    </m:r>
                    <m:r>
                      <m:rPr>
                        <m:sty m:val="p"/>
                      </m:rPr>
                      <m:t>log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sSub>
                          <m:e>
                            <m:r>
                              <m:rPr>
                                <m:nor/>
                                <m:sty m:val="p"/>
                              </m:rPr>
                              <m:t>Tariff</m:t>
                            </m:r>
                          </m:e>
                          <m:sub>
                            <m:r>
                              <m:t>k</m:t>
                            </m:r>
                          </m:sub>
                        </m:sSub>
                      </m:e>
                    </m:d>
                  </m:oMath>
                </a14:m>
                <a:r>
                  <a:rPr/>
                  <a:t> — national log-change in industry </a:t>
                </a:r>
                <a14:m>
                  <m:oMath xmlns:m="http://schemas.openxmlformats.org/officeDocument/2006/math">
                    <m:r>
                      <m:t>k</m:t>
                    </m:r>
                  </m:oMath>
                </a14:m>
                <a:r>
                  <a:rPr/>
                  <a:t>’s tariff between 1987 and 1997</a:t>
                </a:r>
              </a:p>
              <a:p>
                <a:pPr lvl="0" indent="0" marL="0">
                  <a:buNone/>
                </a:pPr>
                <a:r>
                  <a:rPr b="1"/>
                  <a:t>Outcomes:</a:t>
                </a:r>
                <a:r>
                  <a:rPr/>
                  <a:t> district-level poverty headcount, poverty gap, consumption growth.</a:t>
                </a:r>
              </a:p>
            </p:txBody>
          </p:sp>
        </mc:Choice>
      </mc:AlternateContent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Topalova: specification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Topalova runs a </a:t>
                </a:r>
                <a:r>
                  <a:rPr b="1"/>
                  <a:t>panel</a:t>
                </a:r>
                <a:r>
                  <a:rPr/>
                  <a:t> across four NSS rounds (1983, 1987–88, 1993–94, 1999–2000):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d</m:t>
                          </m:r>
                          <m: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d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γ</m:t>
                          </m:r>
                        </m:e>
                        <m:sub>
                          <m:r>
                            <m:t>s</m:t>
                          </m:r>
                          <m: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t>δ</m:t>
                      </m:r>
                      <m:r>
                        <m:t> </m:t>
                      </m:r>
                      <m:sSub>
                        <m:e>
                          <m:r>
                            <m:rPr>
                              <m:nor/>
                              <m:sty m:val="p"/>
                            </m:rPr>
                            <m:t>Tariff</m:t>
                          </m:r>
                        </m:e>
                        <m:sub>
                          <m:r>
                            <m:t>d</m:t>
                          </m:r>
                          <m: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b"/>
                        </m:rPr>
                        <m:t>W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m:t>′</m:t>
                          </m:r>
                        </m:e>
                        <m:sub>
                          <m:r>
                            <m:t>d</m:t>
                          </m:r>
                          <m:r>
                            <m:t>t</m:t>
                          </m:r>
                        </m:sub>
                      </m:sSub>
                      <m:r>
                        <m:t>λ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d</m:t>
                          </m:r>
                          <m:r>
                            <m:t>t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with district tariff constructed Bartik-style,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rPr>
                              <m:nor/>
                              <m:sty m:val="p"/>
                            </m:rPr>
                            <m:t>Tariff</m:t>
                          </m:r>
                        </m:e>
                        <m:sub>
                          <m:r>
                            <m:t>d</m:t>
                          </m:r>
                          <m: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k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d</m:t>
                              </m:r>
                              <m: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1987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m:t>⋅</m:t>
                      </m:r>
                      <m:sSub>
                        <m:e>
                          <m:r>
                            <m:rPr>
                              <m:nor/>
                              <m:sty m:val="p"/>
                            </m:rPr>
                            <m:t>Tariff</m:t>
                          </m:r>
                        </m:e>
                        <m:sub>
                          <m:r>
                            <m:t>k</m:t>
                          </m:r>
                          <m:r>
                            <m:t>t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α</m:t>
                        </m:r>
                      </m:e>
                      <m:sub>
                        <m:r>
                          <m:t>d</m:t>
                        </m:r>
                      </m:sub>
                    </m:sSub>
                  </m:oMath>
                </a14:m>
                <a:r>
                  <a:rPr/>
                  <a:t> — district FE (kill all time-invariant district traits)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γ</m:t>
                        </m:r>
                      </m:e>
                      <m:sub>
                        <m:r>
                          <m:t>s</m:t>
                        </m:r>
                        <m:r>
                          <m:t>t</m:t>
                        </m:r>
                      </m:sub>
                    </m:sSub>
                  </m:oMath>
                </a14:m>
                <a:r>
                  <a:rPr/>
                  <a:t> — state × year FE (absorb state-wide trends)</a:t>
                </a:r>
              </a:p>
              <a:p>
                <a:pPr lvl="0"/>
                <a:r>
                  <a:rPr/>
                  <a:t>shares </a:t>
                </a:r>
                <a:r>
                  <a:rPr b="1"/>
                  <a:t>frozen at 1987</a:t>
                </a:r>
                <a:r>
                  <a:rPr/>
                  <a:t>; national tariffs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nor/>
                            <m:sty m:val="p"/>
                          </m:rPr>
                          <m:t>Tariff</m:t>
                        </m:r>
                      </m:e>
                      <m:sub>
                        <m:r>
                          <m:t>k</m:t>
                        </m:r>
                        <m:r>
                          <m:t>t</m:t>
                        </m:r>
                      </m:sub>
                    </m:sSub>
                  </m:oMath>
                </a14:m>
                <a:r>
                  <a:rPr/>
                  <a:t> vary year-by-year</a:t>
                </a:r>
              </a:p>
              <a:p>
                <a:pPr lvl="0"/>
                <a:r>
                  <a:rPr/>
                  <a:t>IV: instrument </a:t>
                </a:r>
                <a:r>
                  <a:rPr i="1"/>
                  <a:t>realised</a:t>
                </a:r>
                <a:r>
                  <a:rPr/>
                  <a:t> tariffs with the </a:t>
                </a:r>
                <a:r>
                  <a:rPr i="1"/>
                  <a:t>scheduled</a:t>
                </a:r>
                <a:r>
                  <a:rPr/>
                  <a:t> tariff reduction path</a:t>
                </a:r>
              </a:p>
              <a:p>
                <a:pPr lvl="0" indent="0" marL="0">
                  <a:buNone/>
                </a:pPr>
                <a:r>
                  <a:rPr/>
                  <a:t>Under two-way FE this is numerically equivalent to a long-difference regression on </a:t>
                </a:r>
                <a14:m>
                  <m:oMath xmlns:m="http://schemas.openxmlformats.org/officeDocument/2006/math">
                    <m:r>
                      <m:t>Δ</m:t>
                    </m:r>
                    <m:sSub>
                      <m:e>
                        <m:r>
                          <m:t>Y</m:t>
                        </m:r>
                      </m:e>
                      <m:sub>
                        <m:r>
                          <m:t>d</m:t>
                        </m:r>
                      </m:sub>
                    </m:sSub>
                  </m:oMath>
                </a14:m>
                <a:r>
                  <a:rPr/>
                  <a:t> vs. </a:t>
                </a:r>
                <a14:m>
                  <m:oMath xmlns:m="http://schemas.openxmlformats.org/officeDocument/2006/math">
                    <m:r>
                      <m:t>Δ</m:t>
                    </m:r>
                    <m:sSub>
                      <m:e>
                        <m:r>
                          <m:rPr>
                            <m:nor/>
                            <m:sty m:val="p"/>
                          </m:rPr>
                          <m:t>Tariff</m:t>
                        </m:r>
                      </m:e>
                      <m:sub>
                        <m:r>
                          <m:t>d</m:t>
                        </m:r>
                      </m:sub>
                    </m:sSub>
                  </m:oMath>
                </a14:m>
                <a:r>
                  <a:rPr/>
                  <a:t> — which is why ADH-style papers (and teaching slides) often present Bartik in differences.</a:t>
                </a:r>
              </a:p>
            </p:txBody>
          </p:sp>
        </mc:Choice>
      </mc:AlternateContent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Topalova: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Rural districts more exposed to tariff cuts → </a:t>
            </a:r>
            <a:r>
              <a:rPr b="1"/>
              <a:t>slower decline in poverty</a:t>
            </a:r>
            <a:r>
              <a:rPr/>
              <a:t>, lower consumption growth.</a:t>
            </a:r>
          </a:p>
          <a:p>
            <a:pPr lvl="0"/>
            <a:r>
              <a:rPr/>
              <a:t>Effect concentrated among the geographically immobile and least skilled.</a:t>
            </a:r>
          </a:p>
          <a:p>
            <a:pPr lvl="0"/>
            <a:r>
              <a:rPr b="1"/>
              <a:t>Mechanism</a:t>
            </a:r>
            <a:r>
              <a:rPr/>
              <a:t>: rigid labor laws → costly to fire and to expand → factor reallocation stalls.</a:t>
            </a:r>
          </a:p>
          <a:p>
            <a:pPr lvl="0"/>
            <a:r>
              <a:rPr/>
              <a:t>In states with flexible labor regulation, the poverty effect of exposure is statistically zero.</a:t>
            </a:r>
          </a:p>
          <a:p>
            <a:pPr lvl="0" indent="0" marL="0">
              <a:buNone/>
            </a:pPr>
            <a:r>
              <a:rPr b="1"/>
              <a:t>Takeaway:</a:t>
            </a:r>
            <a:r>
              <a:rPr/>
              <a:t> Bartik captures </a:t>
            </a:r>
            <a:r>
              <a:rPr i="1"/>
              <a:t>exposure</a:t>
            </a:r>
            <a:r>
              <a:rPr/>
              <a:t>; institutions decide </a:t>
            </a:r>
            <a:r>
              <a:rPr i="1"/>
              <a:t>adjustment</a:t>
            </a:r>
            <a:r>
              <a:rPr/>
              <a:t>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Autor, Dorn &amp; Hanson (2013): the China shock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Autor, Dorn, and Hanson (2013) examine US commuting zones (CZs) 1990–2007.</a:t>
            </a:r>
          </a:p>
          <a:p>
            <a:pPr lvl="0"/>
            <a:r>
              <a:rPr/>
              <a:t>China’s WTO accession (2001) and supply-side reforms drove a sustained import surge.</a:t>
            </a:r>
          </a:p>
          <a:p>
            <a:pPr lvl="0"/>
            <a:r>
              <a:rPr/>
              <a:t>Variation across CZs comes from pre-shock industry mix.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ADH: the instrument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Δ</m:t>
                      </m:r>
                      <m:r>
                        <m:t>I</m:t>
                      </m:r>
                      <m:r>
                        <m:t>P</m:t>
                      </m:r>
                      <m:sSub>
                        <m:e>
                          <m:r>
                            <m:t>W</m:t>
                          </m:r>
                        </m:e>
                        <m:sub>
                          <m:r>
                            <m:t>c</m:t>
                          </m:r>
                          <m:r>
                            <m:t>τ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k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f>
                            <m:fPr>
                              <m:type m:val="bar"/>
                            </m:fPr>
                            <m:num>
                              <m:sSub>
                                <m:e>
                                  <m:r>
                                    <m:t>L</m:t>
                                  </m:r>
                                </m:e>
                                <m:sub>
                                  <m:r>
                                    <m:t>c</m:t>
                                  </m:r>
                                  <m:r>
                                    <m:t>k</m:t>
                                  </m:r>
                                  <m:r>
                                    <m:rPr>
                                      <m:sty m:val="p"/>
                                    </m:rPr>
                                    <m:t>,</m:t>
                                  </m:r>
                                  <m:sSub>
                                    <m:e>
                                      <m:r>
                                        <m:t>t</m:t>
                                      </m:r>
                                    </m:e>
                                    <m:sub>
                                      <m:r>
                                        <m:t>0</m:t>
                                      </m:r>
                                    </m:sub>
                                  </m:sSub>
                                </m:sub>
                              </m:sSub>
                            </m:num>
                            <m:den>
                              <m:sSub>
                                <m:e>
                                  <m:r>
                                    <m:t>L</m:t>
                                  </m:r>
                                </m:e>
                                <m:sub>
                                  <m:r>
                                    <m:t>k</m:t>
                                  </m:r>
                                  <m:r>
                                    <m:rPr>
                                      <m:sty m:val="p"/>
                                    </m:rPr>
                                    <m:t>,</m:t>
                                  </m:r>
                                  <m:sSub>
                                    <m:e>
                                      <m:r>
                                        <m:t>t</m:t>
                                      </m:r>
                                    </m:e>
                                    <m:sub>
                                      <m:r>
                                        <m:t>0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</m:e>
                      </m:nary>
                      <m:r>
                        <m:rPr>
                          <m:sty m:val="p"/>
                        </m:rPr>
                        <m:t>⋅</m:t>
                      </m:r>
                      <m:f>
                        <m:fPr>
                          <m:type m:val="bar"/>
                        </m:fPr>
                        <m:num>
                          <m:r>
                            <m:t>Δ</m:t>
                          </m:r>
                          <m:sSubSup>
                            <m:e>
                              <m:r>
                                <m:t>M</m:t>
                              </m:r>
                            </m:e>
                            <m:sub>
                              <m:r>
                                <m:t>k</m:t>
                              </m:r>
                              <m:r>
                                <m:t>τ</m:t>
                              </m:r>
                            </m:sub>
                            <m:sup>
                              <m:r>
                                <m:t>U</m:t>
                              </m:r>
                              <m:r>
                                <m:t>S</m:t>
                              </m:r>
                            </m:sup>
                          </m:sSubSup>
                        </m:num>
                        <m:den>
                          <m:sSub>
                            <m:e>
                              <m:r>
                                <m:t>L</m:t>
                              </m:r>
                            </m:e>
                            <m:sub>
                              <m:r>
                                <m:t>c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sSub>
                                <m:e>
                                  <m:r>
                                    <m:t>t</m:t>
                                  </m:r>
                                </m:e>
                                <m:sub>
                                  <m:r>
                                    <m:t>0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L</m:t>
                        </m:r>
                      </m:e>
                      <m:sub>
                        <m:r>
                          <m:t>c</m:t>
                        </m:r>
                        <m:r>
                          <m:t>k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sSub>
                          <m:e>
                            <m:r>
                              <m:t>t</m:t>
                            </m:r>
                          </m:e>
                          <m:sub>
                            <m:r>
                              <m:t>0</m:t>
                            </m:r>
                          </m:sub>
                        </m:sSub>
                      </m:sub>
                    </m:sSub>
                  </m:oMath>
                </a14:m>
                <a:r>
                  <a:rPr/>
                  <a:t> — start-of-period employment in CZ </a:t>
                </a:r>
                <a14:m>
                  <m:oMath xmlns:m="http://schemas.openxmlformats.org/officeDocument/2006/math">
                    <m:r>
                      <m:t>c</m:t>
                    </m:r>
                  </m:oMath>
                </a14:m>
                <a:r>
                  <a:rPr/>
                  <a:t>, industry </a:t>
                </a:r>
                <a14:m>
                  <m:oMath xmlns:m="http://schemas.openxmlformats.org/officeDocument/2006/math">
                    <m:r>
                      <m:t>k</m:t>
                    </m:r>
                  </m:oMath>
                </a14:m>
              </a:p>
              <a:p>
                <a:pPr lvl="0"/>
                <a14:m>
                  <m:oMath xmlns:m="http://schemas.openxmlformats.org/officeDocument/2006/math">
                    <m:r>
                      <m:t>Δ</m:t>
                    </m:r>
                    <m:sSubSup>
                      <m:e>
                        <m:r>
                          <m:t>M</m:t>
                        </m:r>
                      </m:e>
                      <m:sub>
                        <m:r>
                          <m:t>k</m:t>
                        </m:r>
                        <m:r>
                          <m:t>τ</m:t>
                        </m:r>
                      </m:sub>
                      <m:sup>
                        <m:r>
                          <m:t>U</m:t>
                        </m:r>
                        <m:r>
                          <m:t>S</m:t>
                        </m:r>
                      </m:sup>
                    </m:sSubSup>
                  </m:oMath>
                </a14:m>
                <a:r>
                  <a:rPr/>
                  <a:t> — change in US imports from China in industry </a:t>
                </a:r>
                <a14:m>
                  <m:oMath xmlns:m="http://schemas.openxmlformats.org/officeDocument/2006/math">
                    <m:r>
                      <m:t>k</m:t>
                    </m:r>
                  </m:oMath>
                </a14:m>
              </a:p>
              <a:p>
                <a:pPr lvl="0" indent="0" marL="0">
                  <a:buNone/>
                </a:pPr>
                <a:r>
                  <a:rPr b="1"/>
                  <a:t>To address shock endogeneity</a:t>
                </a:r>
                <a:r>
                  <a:rPr/>
                  <a:t> (US demand could pull in imports too), ADH instrument </a:t>
                </a:r>
                <a14:m>
                  <m:oMath xmlns:m="http://schemas.openxmlformats.org/officeDocument/2006/math">
                    <m:r>
                      <m:t>Δ</m:t>
                    </m:r>
                    <m:sSup>
                      <m:e>
                        <m:r>
                          <m:t>M</m:t>
                        </m:r>
                      </m:e>
                      <m:sup>
                        <m:r>
                          <m:t>U</m:t>
                        </m:r>
                        <m:r>
                          <m:t>S</m:t>
                        </m:r>
                      </m:sup>
                    </m:sSup>
                  </m:oMath>
                </a14:m>
                <a:r>
                  <a:rPr/>
                  <a:t> with </a:t>
                </a:r>
                <a14:m>
                  <m:oMath xmlns:m="http://schemas.openxmlformats.org/officeDocument/2006/math">
                    <m:r>
                      <m:t>Δ</m:t>
                    </m:r>
                    <m:sSup>
                      <m:e>
                        <m:r>
                          <m:t>M</m:t>
                        </m:r>
                      </m:e>
                      <m:sup>
                        <m:r>
                          <m:t>O</m:t>
                        </m:r>
                        <m:r>
                          <m:t>T</m:t>
                        </m:r>
                        <m:r>
                          <m:t>H</m:t>
                        </m:r>
                      </m:sup>
                    </m:sSup>
                  </m:oMath>
                </a14:m>
                <a:r>
                  <a:rPr/>
                  <a:t> — imports from China to </a:t>
                </a:r>
                <a:r>
                  <a:rPr i="1"/>
                  <a:t>eight other rich countries.</a:t>
                </a:r>
                <a:r>
                  <a:rPr/>
                  <a:t> This isolates the China-side supply shock.</a:t>
                </a:r>
              </a:p>
            </p:txBody>
          </p:sp>
        </mc:Choice>
      </mc:AlternateContent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ADH: main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High-exposure CZs lose more manufacturing jobs.</a:t>
            </a:r>
          </a:p>
          <a:p>
            <a:pPr lvl="0"/>
            <a:r>
              <a:rPr/>
              <a:t>Wages fall, esp. among non-college workers.</a:t>
            </a:r>
          </a:p>
          <a:p>
            <a:pPr lvl="0"/>
            <a:r>
              <a:rPr b="1"/>
              <a:t>No offsetting employment gains</a:t>
            </a:r>
            <a:r>
              <a:rPr/>
              <a:t> in other sectors at the local level.</a:t>
            </a:r>
          </a:p>
          <a:p>
            <a:pPr lvl="0"/>
            <a:r>
              <a:rPr/>
              <a:t>Effects persist for at least a decade.</a:t>
            </a:r>
          </a:p>
          <a:p>
            <a:pPr lvl="0"/>
            <a:r>
              <a:rPr/>
              <a:t>Autor, Dorn, and Hanson (2016) (2016 review) extends to job churning, lifetime earnings, social spending, marriage rates, mortality.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ADH matters methodologically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Cleanest example of the </a:t>
            </a:r>
            <a:r>
              <a:rPr b="1"/>
              <a:t>shock-based</a:t>
            </a:r>
            <a:r>
              <a:rPr/>
              <a:t> identification logic in BHJ.</a:t>
            </a:r>
          </a:p>
          <a:p>
            <a:pPr lvl="0"/>
            <a:r>
              <a:rPr/>
              <a:t>The “other rich countries” instrument is the canonical move for purging demand-side endogeneity from a Bartik.</a:t>
            </a:r>
          </a:p>
          <a:p>
            <a:pPr lvl="0"/>
            <a:r>
              <a:rPr/>
              <a:t>Sparked the AKM (2019) literature on inference because their headline SEs were too tight.</a:t>
            </a:r>
          </a:p>
          <a:p>
            <a:pPr lvl="0"/>
            <a:r>
              <a:rPr/>
              <a:t>Their data and Stata replication files are widely used in teaching.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Kis-Katos &amp; Sparrow (2015): Indonesia 1993–2002</a:t>
            </a:r>
          </a:p>
        </p:txBody>
      </p:sp>
      <p:pic>
        <p:nvPicPr>
          <p:cNvPr descr="Picture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60500"/>
            <a:ext cx="4038600" cy="2857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259 districts; outcome is district-level poverty.</a:t>
            </a:r>
          </a:p>
          <a:p>
            <a:pPr lvl="0"/>
            <a:r>
              <a:rPr/>
              <a:t>Two waves of tariff cuts: WTO 1995 + IMF program 1999.</a:t>
            </a:r>
          </a:p>
          <a:p>
            <a:pPr lvl="0"/>
            <a:r>
              <a:rPr/>
              <a:t>Innovation: separate </a:t>
            </a:r>
            <a:r>
              <a:rPr b="1"/>
              <a:t>output</a:t>
            </a:r>
            <a:r>
              <a:rPr/>
              <a:t> and </a:t>
            </a:r>
            <a:r>
              <a:rPr b="1"/>
              <a:t>input</a:t>
            </a:r>
            <a:r>
              <a:rPr/>
              <a:t> tariff exposure using a 1990 input-output table.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Output vs. input tariffs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O</m:t>
                      </m:r>
                      <m:sSub>
                        <m:e>
                          <m:r>
                            <m:t>t</m:t>
                          </m:r>
                        </m:e>
                        <m:sub>
                          <m:r>
                            <m:t>k</m:t>
                          </m:r>
                          <m: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s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S</m:t>
                          </m:r>
                        </m: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sSub>
                                    <m:e>
                                      <m:r>
                                        <m:t>Q</m:t>
                                      </m:r>
                                    </m:e>
                                    <m:sub>
                                      <m:r>
                                        <m:t>s</m:t>
                                      </m:r>
                                      <m:r>
                                        <m:t>k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m:t>,</m:t>
                                      </m:r>
                                      <m:r>
                                        <m:t>t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m:t>=</m:t>
                                      </m:r>
                                      <m: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e>
                                      <m:r>
                                        <m:t>Q</m:t>
                                      </m:r>
                                    </m:e>
                                    <m:sub>
                                      <m:r>
                                        <m:t>k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m:t>,</m:t>
                                      </m:r>
                                      <m:r>
                                        <m:t>t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m:t>=</m:t>
                                      </m:r>
                                      <m: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m:t>×</m:t>
                              </m:r>
                              <m:sSub>
                                <m:e>
                                  <m:r>
                                    <m:t>t</m:t>
                                  </m:r>
                                </m:e>
                                <m:sub>
                                  <m:r>
                                    <m:t>s</m:t>
                                  </m:r>
                                  <m:r>
                                    <m:t>t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I</m:t>
                      </m:r>
                      <m:sSub>
                        <m:e>
                          <m:r>
                            <m:t>t</m:t>
                          </m:r>
                        </m:e>
                        <m:sub>
                          <m:r>
                            <m:t>k</m:t>
                          </m:r>
                          <m: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s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S</m:t>
                          </m:r>
                        </m: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sSub>
                                    <m:e>
                                      <m:r>
                                        <m:t>Q</m:t>
                                      </m:r>
                                    </m:e>
                                    <m:sub>
                                      <m:r>
                                        <m:t>s</m:t>
                                      </m:r>
                                      <m:r>
                                        <m:t>k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m:t>,</m:t>
                                      </m:r>
                                      <m:r>
                                        <m:t>t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m:t>=</m:t>
                                      </m:r>
                                      <m: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e>
                                      <m:r>
                                        <m:t>Q</m:t>
                                      </m:r>
                                    </m:e>
                                    <m:sub>
                                      <m:r>
                                        <m:t>k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m:t>,</m:t>
                                      </m:r>
                                      <m:r>
                                        <m:t>t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m:t>=</m:t>
                                      </m:r>
                                      <m: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m:t>×</m:t>
                              </m:r>
                              <m:nary>
                                <m:naryPr>
                                  <m:chr m:val="∑"/>
                                  <m:limLoc m:val="undOvr"/>
                                  <m:subHide m:val="off"/>
                                  <m:supHide m:val="off"/>
                                </m:naryPr>
                                <m:sub>
                                  <m:r>
                                    <m:t>j</m:t>
                                  </m:r>
                                  <m:r>
                                    <m:rPr>
                                      <m:sty m:val="p"/>
                                    </m:rPr>
                                    <m:t>=</m:t>
                                  </m:r>
                                  <m:r>
                                    <m:t>1</m:t>
                                  </m:r>
                                </m:sub>
                                <m:sup>
                                  <m:r>
                                    <m:t>J</m:t>
                                  </m:r>
                                </m:sup>
                                <m:e>
                                  <m:f>
                                    <m:fPr>
                                      <m:type m:val="bar"/>
                                    </m:fPr>
                                    <m:num>
                                      <m:sSub>
                                        <m:e>
                                          <m:r>
                                            <m:t>M</m:t>
                                          </m:r>
                                        </m:e>
                                        <m:sub>
                                          <m:r>
                                            <m:t>j</m:t>
                                          </m:r>
                                          <m:r>
                                            <m:t>s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m:t>,</m:t>
                                          </m:r>
                                          <m:r>
                                            <m:t>1990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e>
                                          <m:r>
                                            <m:t>M</m:t>
                                          </m:r>
                                        </m:e>
                                        <m:sub>
                                          <m:r>
                                            <m:t>s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m:t>,</m:t>
                                          </m:r>
                                          <m:r>
                                            <m:t>1990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nary>
                              <m:sSub>
                                <m:e>
                                  <m:r>
                                    <m:t>t</m:t>
                                  </m:r>
                                </m:e>
                                <m:sub>
                                  <m:r>
                                    <m:t>j</m:t>
                                  </m:r>
                                  <m:r>
                                    <m:t>t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sector </a:t>
                </a:r>
                <a14:m>
                  <m:oMath xmlns:m="http://schemas.openxmlformats.org/officeDocument/2006/math">
                    <m:r>
                      <m:t>s</m:t>
                    </m:r>
                  </m:oMath>
                </a14:m>
                <a:r>
                  <a:rPr/>
                  <a:t>, district </a:t>
                </a:r>
                <a14:m>
                  <m:oMath xmlns:m="http://schemas.openxmlformats.org/officeDocument/2006/math">
                    <m:r>
                      <m:t>k</m:t>
                    </m:r>
                  </m:oMath>
                </a14:m>
                <a:r>
                  <a:rPr/>
                  <a:t>, time </a:t>
                </a: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  <a:r>
                  <a:rPr/>
                  <a:t>, input sector </a:t>
                </a:r>
                <a14:m>
                  <m:oMath xmlns:m="http://schemas.openxmlformats.org/officeDocument/2006/math">
                    <m:r>
                      <m:t>j</m:t>
                    </m:r>
                  </m:oMath>
                </a14:m>
                <a:r>
                  <a:rPr/>
                  <a:t>, labor </a:t>
                </a:r>
                <a14:m>
                  <m:oMath xmlns:m="http://schemas.openxmlformats.org/officeDocument/2006/math">
                    <m:r>
                      <m:t>Q</m:t>
                    </m:r>
                  </m:oMath>
                </a14:m>
                <a:r>
                  <a:rPr/>
                  <a:t>, tariff </a:t>
                </a: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</a:p>
              <a:p>
                <a:pPr lvl="0" indent="0" marL="0">
                  <a:buNone/>
                </a:pPr>
                <a:r>
                  <a:rPr/>
                  <a:t>The first share weights output tariffs by district industry mix; the second additionally weights through the I-O matrix to capture </a:t>
                </a:r>
                <a:r>
                  <a:rPr i="1"/>
                  <a:t>imported intermediate inputs</a:t>
                </a:r>
                <a:r>
                  <a:rPr/>
                  <a:t> embodied in each sector.</a:t>
                </a:r>
              </a:p>
            </p:txBody>
          </p:sp>
        </mc:Choice>
      </mc:AlternateContent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Output tariff exposure</a:t>
            </a:r>
          </a:p>
        </p:txBody>
      </p:sp>
      <p:pic>
        <p:nvPicPr>
          <p:cNvPr descr="Picture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46200" y="1193800"/>
            <a:ext cx="6438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Input tariff exposure</a:t>
            </a:r>
          </a:p>
        </p:txBody>
      </p:sp>
      <p:pic>
        <p:nvPicPr>
          <p:cNvPr descr="Picture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74800" y="1193800"/>
            <a:ext cx="5981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Kis-Katos &amp; Sparrow: findings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Δ</m:t>
                      </m:r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k</m:t>
                          </m:r>
                          <m: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α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t>O</m:t>
                      </m:r>
                      <m:sSub>
                        <m:e>
                          <m:r>
                            <m:t>t</m:t>
                          </m:r>
                        </m:e>
                        <m:sub>
                          <m:r>
                            <m:t>k</m:t>
                          </m:r>
                          <m: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t>I</m:t>
                      </m:r>
                      <m:sSub>
                        <m:e>
                          <m:r>
                            <m:t>t</m:t>
                          </m:r>
                        </m:e>
                        <m:sub>
                          <m:r>
                            <m:t>k</m:t>
                          </m:r>
                          <m: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t>γ</m:t>
                      </m:r>
                      <m:r>
                        <m:t>Δ</m:t>
                      </m:r>
                      <m:r>
                        <m:t>X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m:t>′</m:t>
                          </m:r>
                        </m:e>
                        <m:sub>
                          <m:r>
                            <m:t>k</m:t>
                          </m:r>
                          <m: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t>I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m:t>′</m:t>
                          </m:r>
                        </m:e>
                        <m:sub>
                          <m:r>
                            <m:t>k</m:t>
                          </m:r>
                        </m:sub>
                      </m:sSub>
                      <m:r>
                        <m:t>θ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λ</m:t>
                          </m:r>
                        </m:e>
                        <m:sub>
                          <m:r>
                            <m:t>r</m:t>
                          </m:r>
                          <m: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t>Δ</m:t>
                      </m:r>
                      <m:sSub>
                        <m:e>
                          <m:r>
                            <m:t>ϵ</m:t>
                          </m:r>
                        </m:e>
                        <m:sub>
                          <m:r>
                            <m:t>k</m:t>
                          </m:r>
                          <m:r>
                            <m:t>t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&gt;</m:t>
                    </m:r>
                    <m:r>
                      <m:t>0</m:t>
                    </m:r>
                  </m:oMath>
                </a14:m>
                <a:r>
                  <a:rPr/>
                  <a:t> — output tariff cuts </a:t>
                </a:r>
                <a:r>
                  <a:rPr b="1"/>
                  <a:t>raise</a:t>
                </a:r>
                <a:r>
                  <a:rPr/>
                  <a:t> poverty (import competition story).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&lt;</m:t>
                    </m:r>
                    <m:r>
                      <m:t>0</m:t>
                    </m:r>
                  </m:oMath>
                </a14:m>
                <a:r>
                  <a:rPr/>
                  <a:t> and </a:t>
                </a:r>
                <a:r>
                  <a:rPr b="1"/>
                  <a:t>larger in magnitude</a:t>
                </a:r>
                <a:r>
                  <a:rPr/>
                  <a:t> — input tariff cuts </a:t>
                </a:r>
                <a:r>
                  <a:rPr b="1"/>
                  <a:t>reduce</a:t>
                </a:r>
                <a:r>
                  <a:rPr/>
                  <a:t> poverty (cheaper intermediates → firm competitiveness → low-skill work participation and middle-skill wages rise).</a:t>
                </a:r>
              </a:p>
              <a:p>
                <a:pPr lvl="0" indent="0" marL="0">
                  <a:buNone/>
                </a:pPr>
                <a:r>
                  <a:rPr b="1"/>
                  <a:t>Net effect on Indonesian poverty is negative</a:t>
                </a:r>
                <a:r>
                  <a:rPr/>
                  <a:t> — but only because input tariff liberalization dominates. The distributional story matters.</a:t>
                </a:r>
              </a:p>
            </p:txBody>
          </p:sp>
        </mc:Choice>
      </mc:AlternateContent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applications side by side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Hands-on with R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dat.xlsx</a:t>
            </a:r>
            <a:r>
              <a:rPr/>
              <a:t> — 3 regions, 2 sectors, 2 years. Toy data so you can verify by hand.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library</a:t>
            </a:r>
            <a:r>
              <a:rPr>
                <a:latin typeface="Courier"/>
              </a:rPr>
              <a:t>(readxl)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library</a:t>
            </a:r>
            <a:r>
              <a:rPr>
                <a:latin typeface="Courier"/>
              </a:rPr>
              <a:t>(dplyr)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library</a:t>
            </a:r>
            <a:r>
              <a:rPr>
                <a:latin typeface="Courier"/>
              </a:rPr>
              <a:t>(tidyr)</a:t>
            </a:r>
            <a:br/>
            <a:br/>
            <a:r>
              <a:rPr>
                <a:latin typeface="Courier"/>
              </a:rPr>
              <a:t>dat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read_excel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"dat.xlsx"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dat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12 × 5
    year region sector tariff  labor
   &lt;dbl&gt; &lt;chr&gt;  &lt;chr&gt;   &lt;dbl&gt;  &lt;dbl&gt;
 1  1987 A      Agri       30    100
 2  1987 B      Agri       30   1000
 3  1987 C      Agri       30    700
 4  1987 A      Manuf      20   9000
 5  1987 B      Manuf      20    400
 6  1987 C      Manuf      20   3000
 7  1988 A      Agri       10    110
 8  1988 B      Agri       10   1100
 ...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1 — compute 1987 employment shares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shares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dat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filter</a:t>
            </a:r>
            <a:r>
              <a:rPr>
                <a:latin typeface="Courier"/>
              </a:rPr>
              <a:t>(year </a:t>
            </a:r>
            <a:r>
              <a:rPr>
                <a:solidFill>
                  <a:srgbClr val="4070A0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1987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group_by</a:t>
            </a:r>
            <a:r>
              <a:rPr>
                <a:latin typeface="Courier"/>
              </a:rPr>
              <a:t>(region)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mutate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share =</a:t>
            </a:r>
            <a:r>
              <a:rPr>
                <a:latin typeface="Courier"/>
              </a:rPr>
              <a:t> labor </a:t>
            </a:r>
            <a:r>
              <a:rPr>
                <a:solidFill>
                  <a:srgbClr val="4070A0"/>
                </a:solidFill>
                <a:latin typeface="Courier"/>
              </a:rPr>
              <a:t>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(labor))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(region, sector, share)</a:t>
            </a:r>
            <a:br/>
            <a:br/>
            <a:r>
              <a:rPr>
                <a:latin typeface="Courier"/>
              </a:rPr>
              <a:t>shares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3
  region sector  share
  &lt;chr&gt;  &lt;chr&gt;   &lt;dbl&gt;
1 A      Agri   0.0110
2 A      Manuf  0.989
3 B      Agri   0.714
4 B      Manuf  0.286
5 C      Agri   0.189
6 C      Manuf  0.811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2 — compute national tariff shocks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shocks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dat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distinct</a:t>
            </a:r>
            <a:r>
              <a:rPr>
                <a:latin typeface="Courier"/>
              </a:rPr>
              <a:t>(year, sector, tariff)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arrange</a:t>
            </a:r>
            <a:r>
              <a:rPr>
                <a:latin typeface="Courier"/>
              </a:rPr>
              <a:t>(sector, year)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group_by</a:t>
            </a:r>
            <a:r>
              <a:rPr>
                <a:latin typeface="Courier"/>
              </a:rPr>
              <a:t>(sector)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summarise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dlog_t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log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last</a:t>
            </a:r>
            <a:r>
              <a:rPr>
                <a:latin typeface="Courier"/>
              </a:rPr>
              <a:t>(tariff)) </a:t>
            </a:r>
            <a:r>
              <a:rPr>
                <a:solidFill>
                  <a:srgbClr val="4070A0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log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first</a:t>
            </a:r>
            <a:r>
              <a:rPr>
                <a:latin typeface="Courier"/>
              </a:rPr>
              <a:t>(tariff)),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dlev_t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last</a:t>
            </a:r>
            <a:r>
              <a:rPr>
                <a:latin typeface="Courier"/>
              </a:rPr>
              <a:t>(tariff) </a:t>
            </a:r>
            <a:r>
              <a:rPr>
                <a:solidFill>
                  <a:srgbClr val="4070A0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first</a:t>
            </a:r>
            <a:r>
              <a:rPr>
                <a:latin typeface="Courier"/>
              </a:rPr>
              <a:t>(tariff)</a:t>
            </a:r>
            <a:br/>
            <a:r>
              <a:rPr>
                <a:latin typeface="Courier"/>
              </a:rPr>
              <a:t>  )</a:t>
            </a:r>
            <a:br/>
            <a:r>
              <a:rPr>
                <a:latin typeface="Courier"/>
              </a:rPr>
              <a:t>shocks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3
  sector dlog_t dlev_t
  &lt;chr&gt;   &lt;dbl&gt;  &lt;dbl&gt;
1 Agri    -1.10    -20
2 Manuf   -1.39    -15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3 — assemble the Bartik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bartik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shares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left_join</a:t>
            </a:r>
            <a:r>
              <a:rPr>
                <a:latin typeface="Courier"/>
              </a:rPr>
              <a:t>(shocks, </a:t>
            </a:r>
            <a:r>
              <a:rPr>
                <a:solidFill>
                  <a:srgbClr val="7D9029"/>
                </a:solidFill>
                <a:latin typeface="Courier"/>
              </a:rPr>
              <a:t>by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"sector"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group_by</a:t>
            </a:r>
            <a:r>
              <a:rPr>
                <a:latin typeface="Courier"/>
              </a:rPr>
              <a:t>(region)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summarise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Z_log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(share </a:t>
            </a:r>
            <a:r>
              <a:rPr>
                <a:solidFill>
                  <a:srgbClr val="4070A0"/>
                </a:solidFill>
                <a:latin typeface="Courier"/>
              </a:rPr>
              <a:t>*</a:t>
            </a:r>
            <a:r>
              <a:rPr>
                <a:latin typeface="Courier"/>
              </a:rPr>
              <a:t> dlog_t),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Z_lev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(share </a:t>
            </a:r>
            <a:r>
              <a:rPr>
                <a:solidFill>
                  <a:srgbClr val="4070A0"/>
                </a:solidFill>
                <a:latin typeface="Courier"/>
              </a:rPr>
              <a:t>*</a:t>
            </a:r>
            <a:r>
              <a:rPr>
                <a:latin typeface="Courier"/>
              </a:rPr>
              <a:t> dlev_t)</a:t>
            </a:r>
            <a:br/>
            <a:r>
              <a:rPr>
                <a:latin typeface="Courier"/>
              </a:rPr>
              <a:t>  )</a:t>
            </a:r>
            <a:br/>
            <a:r>
              <a:rPr>
                <a:latin typeface="Courier"/>
              </a:rPr>
              <a:t>bartik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3 × 3
  region  Z_log  Z_lev
  &lt;chr&gt;   &lt;dbl&gt;  &lt;dbl&gt;
1 A       -1.38  -15.1
2 B       -1.18  -18.6
3 C       -1.33  -15.9</a:t>
            </a:r>
          </a:p>
          <a:p>
            <a:pPr lvl="0" indent="0" marL="0">
              <a:buNone/>
            </a:pPr>
            <a:r>
              <a:rPr/>
              <a:t>Region A is most exposed in log, region B most exposed in levels — same point we made earlier, now in code.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4 — the (would-be) 2SLS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With only 3 districts there’s nothing to estimate. In a real Topalova-style exercise: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library</a:t>
            </a:r>
            <a:r>
              <a:rPr>
                <a:latin typeface="Courier"/>
              </a:rPr>
              <a:t>(fixest)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pretend `panel` has many districts × years with outcome `dpov`,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realised exposure `Xkt`, instrument `Zkt`, controls W, state-year FE.</a:t>
            </a:r>
            <a:br/>
            <a:r>
              <a:rPr>
                <a:latin typeface="Courier"/>
              </a:rPr>
              <a:t>m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feols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dpov </a:t>
            </a:r>
            <a:r>
              <a:rPr>
                <a:solidFill>
                  <a:srgbClr val="4070A0"/>
                </a:solidFill>
                <a:latin typeface="Courier"/>
              </a:rPr>
              <a:t>~</a:t>
            </a:r>
            <a:r>
              <a:rPr>
                <a:latin typeface="Courier"/>
              </a:rPr>
              <a:t> W1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r>
              <a:rPr>
                <a:latin typeface="Courier"/>
              </a:rPr>
              <a:t> W2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state</a:t>
            </a:r>
            <a:r>
              <a:rPr>
                <a:solidFill>
                  <a:srgbClr val="4070A0"/>
                </a:solidFill>
                <a:latin typeface="Courier"/>
              </a:rPr>
              <a:t>^</a:t>
            </a:r>
            <a:r>
              <a:rPr>
                <a:latin typeface="Courier"/>
              </a:rPr>
              <a:t>year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Xkt </a:t>
            </a:r>
            <a:r>
              <a:rPr>
                <a:solidFill>
                  <a:srgbClr val="4070A0"/>
                </a:solidFill>
                <a:latin typeface="Courier"/>
              </a:rPr>
              <a:t>~</a:t>
            </a:r>
            <a:r>
              <a:rPr>
                <a:latin typeface="Courier"/>
              </a:rPr>
              <a:t> Zkt,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data =</a:t>
            </a:r>
            <a:r>
              <a:rPr>
                <a:latin typeface="Courier"/>
              </a:rPr>
              <a:t> panel,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cluster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~</a:t>
            </a:r>
            <a:r>
              <a:rPr>
                <a:latin typeface="Courier"/>
              </a:rPr>
              <a:t> industry_topshare</a:t>
            </a:r>
            <a:br/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summary</a:t>
            </a:r>
            <a:r>
              <a:rPr>
                <a:latin typeface="Courier"/>
              </a:rPr>
              <a:t>(m)</a:t>
            </a:r>
          </a:p>
          <a:p>
            <a:pPr lvl="0" indent="0" marL="0">
              <a:buNone/>
            </a:pPr>
            <a:r>
              <a:rPr/>
              <a:t>For AKM-corrected SEs, use the </a:t>
            </a:r>
            <a:r>
              <a:rPr>
                <a:latin typeface="Courier"/>
              </a:rPr>
              <a:t>ShiftShareSE</a:t>
            </a:r>
            <a:r>
              <a:rPr/>
              <a:t> package and pass the share matrix.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 (10 min, in pairs)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Using only </a:t>
                </a:r>
                <a:r>
                  <a:rPr>
                    <a:latin typeface="Courier"/>
                  </a:rPr>
                  <a:t>dat.xlsx</a:t>
                </a:r>
                <a:r>
                  <a:rPr/>
                  <a:t>: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Recompute </a:t>
                </a:r>
                <a14:m>
                  <m:oMath xmlns:m="http://schemas.openxmlformats.org/officeDocument/2006/math">
                    <m:sSub>
                      <m:e>
                        <m:r>
                          <m:t>Z</m:t>
                        </m:r>
                      </m:e>
                      <m:sub>
                        <m:r>
                          <m:rPr>
                            <m:sty m:val="p"/>
                          </m:rPr>
                          <m:t>ℓ</m:t>
                        </m:r>
                      </m:sub>
                    </m:sSub>
                  </m:oMath>
                </a14:m>
                <a:r>
                  <a:rPr/>
                  <a:t> assuming the </a:t>
                </a:r>
                <a:r>
                  <a:rPr i="1"/>
                  <a:t>1988</a:t>
                </a:r>
                <a:r>
                  <a:rPr/>
                  <a:t> shares (not 1987). What’s different and why?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Now compute it using </a:t>
                </a:r>
                <a:r>
                  <a:rPr b="1"/>
                  <a:t>employment growth</a:t>
                </a:r>
                <a:r>
                  <a:rPr/>
                  <a:t> as the shift instead of tariffs. Does the ranking of regions change?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Region A is essentially a “manufacturing town.” If we drop A, what happens to the cross-sectional variation in </a:t>
                </a:r>
                <a14:m>
                  <m:oMath xmlns:m="http://schemas.openxmlformats.org/officeDocument/2006/math">
                    <m:r>
                      <m:t>Z</m:t>
                    </m:r>
                  </m:oMath>
                </a14:m>
                <a:r>
                  <a:rPr/>
                  <a:t>? What does that tell you about the Rotemberg-weight diagnostic in GP?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Suppose we observed poverty rates falling by 5pp in A, 2pp in B, 4pp in C. Compute the reduced-form slope of </a:t>
                </a:r>
                <a14:m>
                  <m:oMath xmlns:m="http://schemas.openxmlformats.org/officeDocument/2006/math">
                    <m:r>
                      <m:t>Δ</m:t>
                    </m:r>
                  </m:oMath>
                </a14:m>
                <a:r>
                  <a:rPr/>
                  <a:t>poverty on </a:t>
                </a:r>
                <a14:m>
                  <m:oMath xmlns:m="http://schemas.openxmlformats.org/officeDocument/2006/math">
                    <m:sSub>
                      <m:e>
                        <m:r>
                          <m:t>Z</m:t>
                        </m:r>
                      </m:e>
                      <m:sub>
                        <m:r>
                          <m:rPr>
                            <m:sty m:val="p"/>
                          </m:rPr>
                          <m:t>ℓ</m:t>
                        </m:r>
                      </m:sub>
                    </m:sSub>
                  </m:oMath>
                </a14:m>
                <a:r>
                  <a:rPr/>
                  <a:t>. Interpret with care — what assumption are you making?</a:t>
                </a:r>
              </a:p>
            </p:txBody>
          </p:sp>
        </mc:Choice>
      </mc:AlternateContent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to read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Goldsmith-Pinkham, Sorkin, and Swift (2020) — the canonical methods paper. Tables 5–6 are the diagnostic template you should copy in your own work.</a:t>
            </a:r>
          </a:p>
          <a:p>
            <a:pPr lvl="0"/>
            <a:r>
              <a:rPr/>
              <a:t>Borusyak, Hull, and Jaravel (2022) — when shocks (not shares) carry identification.</a:t>
            </a:r>
          </a:p>
          <a:p>
            <a:pPr lvl="0"/>
            <a:r>
              <a:rPr/>
              <a:t>Adão, Kolesár, and Morales (2019) — the inference paper. The R package </a:t>
            </a:r>
            <a:r>
              <a:rPr>
                <a:latin typeface="Courier"/>
              </a:rPr>
              <a:t>ShiftShareSE</a:t>
            </a:r>
            <a:r>
              <a:rPr/>
              <a:t> implements it.</a:t>
            </a:r>
          </a:p>
          <a:p>
            <a:pPr lvl="0"/>
            <a:r>
              <a:rPr/>
              <a:t>Autor, Dorn, and Hanson (2013) + Autor, Dorn, and Hanson (2016) (review) — the China shock canon.</a:t>
            </a:r>
          </a:p>
          <a:p>
            <a:pPr lvl="0"/>
            <a:r>
              <a:rPr/>
              <a:t>Topalova (2010) — the trade-and-poverty workhorse for developing countries.</a:t>
            </a:r>
          </a:p>
          <a:p>
            <a:pPr lvl="0"/>
            <a:r>
              <a:rPr/>
              <a:t>Kis-Katos and Sparrow (2015) — the closest Indonesian benchmark for your own work.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Frontier and Indonesian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I-O Bartik: extend KK &amp; Sparrow’s input/output split to services value-added (GVC trade).</a:t>
            </a:r>
          </a:p>
          <a:p>
            <a:pPr lvl="0"/>
            <a:r>
              <a:rPr b="1"/>
              <a:t>Granular instruments</a:t>
            </a:r>
            <a:r>
              <a:rPr/>
              <a:t>: large firms as shock units instead of sectors (Gabaix-Koijen 2024).</a:t>
            </a:r>
          </a:p>
          <a:p>
            <a:pPr lvl="0"/>
            <a:r>
              <a:rPr b="1"/>
              <a:t>Uncertainty as a shift</a:t>
            </a:r>
            <a:r>
              <a:rPr/>
              <a:t>: ongoing work by </a:t>
            </a:r>
            <a:r>
              <a:rPr b="1"/>
              <a:t>Pane, Massie &amp; Gupta (2025)</a:t>
            </a:r>
            <a:r>
              <a:rPr/>
              <a:t> uses a geopolitical uncertainty index in place of tariff changes — the share captures exposure to </a:t>
            </a:r>
            <a:r>
              <a:rPr i="1"/>
              <a:t>uncertain</a:t>
            </a:r>
            <a:r>
              <a:rPr/>
              <a:t> trading partners rather than to specific industries (Pane, Massie, and Gupta 2025).</a:t>
            </a:r>
          </a:p>
          <a:p>
            <a:pPr lvl="0"/>
            <a:r>
              <a:rPr/>
              <a:t>Whatever the shift, the identification logic is the same: argue for either share exogeneity or shock exogeneity, then </a:t>
            </a:r>
            <a:r>
              <a:rPr i="1"/>
              <a:t>show diagnostics consistent with that argument.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Wrap-up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Bartik = shares × shifts → predicted regional exposure.</a:t>
            </a:r>
          </a:p>
          <a:p>
            <a:pPr lvl="0"/>
            <a:r>
              <a:rPr/>
              <a:t>Two identification stories; pick one and live by it.</a:t>
            </a:r>
          </a:p>
          <a:p>
            <a:pPr lvl="0"/>
            <a:r>
              <a:rPr/>
              <a:t>Always report Rotemberg weights or shock-balance tests.</a:t>
            </a:r>
          </a:p>
          <a:p>
            <a:pPr lvl="0"/>
            <a:r>
              <a:rPr/>
              <a:t>Use AKM SEs, not white SEs.</a:t>
            </a:r>
          </a:p>
          <a:p>
            <a:pPr lvl="0"/>
            <a:r>
              <a:rPr/>
              <a:t>The trade-policy applications (Topalova, ADH, KK &amp; Sparrow) give you a recipe you can transplant onto any Indonesian liberalization episode.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Adão, Rodrigo, Michal Kolesár, and Eduardo Morales. 2019. “Shift-Share Designs: Theory and Inference.” </a:t>
            </a:r>
            <a:r>
              <a:rPr i="1"/>
              <a:t>Quarterly Journal of Economics</a:t>
            </a:r>
            <a:r>
              <a:rPr/>
              <a:t> 134 (4): 1949–2010.</a:t>
            </a:r>
          </a:p>
          <a:p>
            <a:pPr lvl="0" indent="0" marL="0">
              <a:buNone/>
            </a:pPr>
            <a:r>
              <a:rPr/>
              <a:t>Autor, David H., David Dorn, and Gordon H. Hanson. 2013. “The China Syndrome: Local Labor Market Effects of Import Competition in the United States.” </a:t>
            </a:r>
            <a:r>
              <a:rPr i="1"/>
              <a:t>American Economic Review</a:t>
            </a:r>
            <a:r>
              <a:rPr/>
              <a:t> 103 (6): 2121–68.</a:t>
            </a:r>
          </a:p>
          <a:p>
            <a:pPr lvl="0" indent="0" marL="0">
              <a:buNone/>
            </a:pPr>
            <a:r>
              <a:rPr/>
              <a:t>———. 2016. “The China Shock: Learning from Labor-Market Adjustment to Large Changes in Trade.” </a:t>
            </a:r>
            <a:r>
              <a:rPr i="1"/>
              <a:t>Annual Review of Economics</a:t>
            </a:r>
            <a:r>
              <a:rPr/>
              <a:t> 8: 205–40. </a:t>
            </a:r>
            <a:r>
              <a:rPr>
                <a:hlinkClick r:id="rId2"/>
              </a:rPr>
              <a:t>https://www.jstor.org/stable/26774368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Borusyak, Kirill, Peter Hull, and Xavier Jaravel. 2022. “Quasi-Experimental Shift-Share Research Designs.” </a:t>
            </a:r>
            <a:r>
              <a:rPr i="1"/>
              <a:t>Review of Economic Studies</a:t>
            </a:r>
            <a:r>
              <a:rPr/>
              <a:t> 89 (1): 181–213.</a:t>
            </a:r>
          </a:p>
          <a:p>
            <a:pPr lvl="0" indent="0" marL="0">
              <a:buNone/>
            </a:pPr>
            <a:r>
              <a:rPr/>
              <a:t>Goldsmith-Pinkham, Paul, Isaac Sorkin, and Henry Swift. 2020. “Bartik Instruments: What, When, Why, and How.” </a:t>
            </a:r>
            <a:r>
              <a:rPr i="1"/>
              <a:t>The American Economic Review</a:t>
            </a:r>
            <a:r>
              <a:rPr/>
              <a:t> 110 (8): pp. 2586–2624. </a:t>
            </a:r>
            <a:r>
              <a:rPr>
                <a:hlinkClick r:id="rId3"/>
              </a:rPr>
              <a:t>https://www.jstor.org/stable/26966340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Kis-Katos, Krisztina, and Robert Sparrow. 2015. “Poverty, Labor Markets and Trade Liberalization in Indonesia.” Journal Article. </a:t>
            </a:r>
            <a:r>
              <a:rPr i="1"/>
              <a:t>Journal of Development Economics</a:t>
            </a:r>
            <a:r>
              <a:rPr/>
              <a:t> 117: 94–106. https://doi.org/</a:t>
            </a:r>
            <a:r>
              <a:rPr>
                <a:hlinkClick r:id="rId4"/>
              </a:rPr>
              <a:t>https://doi.org/10.1016/j.jdeveco.2015.07.005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Pane, Deasy, Nathaniel Massie, and Krisna Gupta. 2025. “</a:t>
            </a:r>
            <a:r>
              <a:rPr>
                <a:hlinkClick r:id="rId5"/>
              </a:rPr>
              <a:t>Geopolitical Impacts on Global Investment and Trade Flows and Their Implications for the Indonesian Economy</a:t>
            </a:r>
            <a:r>
              <a:rPr/>
              <a:t>” 2.</a:t>
            </a:r>
          </a:p>
          <a:p>
            <a:pPr lvl="0" indent="0" marL="0">
              <a:buNone/>
            </a:pPr>
            <a:r>
              <a:rPr/>
              <a:t>Topalova, Petia. 2010. “Factor Immobility and Regional Impacts of Trade Liberalization: Evidence on Poverty from India.” </a:t>
            </a:r>
            <a:r>
              <a:rPr i="1"/>
              <a:t>American Economic Journal: Applied Economics</a:t>
            </a:r>
            <a:r>
              <a:rPr/>
              <a:t> 2 (4): 1–41. </a:t>
            </a:r>
            <a:r>
              <a:rPr>
                <a:hlinkClick r:id="rId6"/>
              </a:rPr>
              <a:t>http://www.jstor.org/stable/25760231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Bartik Instrument</dc:title>
  <dc:creator>Imed Krisna Gupta</dc:creator>
  <cp:keywords/>
  <dcterms:created xsi:type="dcterms:W3CDTF">2026-05-23T05:11:12Z</dcterms:created>
  <dcterms:modified xsi:type="dcterms:W3CDTF">2026-05-23T05:11:12Z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ibliography">
    <vt:lpwstr>ref.bib</vt:lpwstr>
  </property>
  <property fmtid="{D5CDD505-2E9C-101B-9397-08002B2CF9AE}" pid="5" name="by-author">
    <vt:lpwstr/>
  </property>
  <property fmtid="{D5CDD505-2E9C-101B-9397-08002B2CF9AE}" pid="6" name="date">
    <vt:lpwstr>August 26, 2025</vt:lpwstr>
  </property>
  <property fmtid="{D5CDD505-2E9C-101B-9397-08002B2CF9AE}" pid="7" name="date-format">
    <vt:lpwstr>long</vt:lpwstr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subtitle">
    <vt:lpwstr>Shift-share IV in trade economics</vt:lpwstr>
  </property>
  <property fmtid="{D5CDD505-2E9C-101B-9397-08002B2CF9AE}" pid="13" name="toc-title">
    <vt:lpwstr>Table of contents</vt:lpwstr>
  </property>
</Properties>
</file>