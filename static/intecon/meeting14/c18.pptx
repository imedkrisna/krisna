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54"/>
  </p:notesMasterIdLst>
  <p:handoutMasterIdLst>
    <p:handoutMasterId r:id="rId55"/>
  </p:handoutMasterIdLst>
  <p:sldIdLst>
    <p:sldId id="330" r:id="rId3"/>
    <p:sldId id="331" r:id="rId4"/>
    <p:sldId id="336" r:id="rId5"/>
    <p:sldId id="337" r:id="rId6"/>
    <p:sldId id="338" r:id="rId7"/>
    <p:sldId id="339" r:id="rId8"/>
    <p:sldId id="340" r:id="rId9"/>
    <p:sldId id="341" r:id="rId10"/>
    <p:sldId id="342" r:id="rId11"/>
    <p:sldId id="343" r:id="rId12"/>
    <p:sldId id="334" r:id="rId13"/>
    <p:sldId id="344" r:id="rId14"/>
    <p:sldId id="345" r:id="rId15"/>
    <p:sldId id="347" r:id="rId16"/>
    <p:sldId id="465" r:id="rId17"/>
    <p:sldId id="466" r:id="rId18"/>
    <p:sldId id="467" r:id="rId19"/>
    <p:sldId id="333" r:id="rId20"/>
    <p:sldId id="468" r:id="rId21"/>
    <p:sldId id="332" r:id="rId22"/>
    <p:sldId id="469" r:id="rId23"/>
    <p:sldId id="470" r:id="rId24"/>
    <p:sldId id="471" r:id="rId25"/>
    <p:sldId id="472" r:id="rId26"/>
    <p:sldId id="473" r:id="rId27"/>
    <p:sldId id="474" r:id="rId28"/>
    <p:sldId id="475" r:id="rId29"/>
    <p:sldId id="476" r:id="rId30"/>
    <p:sldId id="477" r:id="rId31"/>
    <p:sldId id="478" r:id="rId32"/>
    <p:sldId id="479" r:id="rId33"/>
    <p:sldId id="480" r:id="rId34"/>
    <p:sldId id="481" r:id="rId35"/>
    <p:sldId id="482" r:id="rId36"/>
    <p:sldId id="371" r:id="rId37"/>
    <p:sldId id="483" r:id="rId38"/>
    <p:sldId id="370" r:id="rId39"/>
    <p:sldId id="484" r:id="rId40"/>
    <p:sldId id="485" r:id="rId41"/>
    <p:sldId id="486" r:id="rId42"/>
    <p:sldId id="487" r:id="rId43"/>
    <p:sldId id="488" r:id="rId44"/>
    <p:sldId id="489" r:id="rId45"/>
    <p:sldId id="490" r:id="rId46"/>
    <p:sldId id="491" r:id="rId47"/>
    <p:sldId id="492" r:id="rId48"/>
    <p:sldId id="493" r:id="rId49"/>
    <p:sldId id="494" r:id="rId50"/>
    <p:sldId id="496" r:id="rId51"/>
    <p:sldId id="366" r:id="rId52"/>
    <p:sldId id="298" r:id="rId53"/>
  </p:sldIdLst>
  <p:sldSz cx="9144000" cy="6858000" type="screen4x3"/>
  <p:notesSz cx="6858000" cy="9144000"/>
  <p:embeddedFontLst>
    <p:embeddedFont>
      <p:font typeface="Calibri" panose="020F0502020204030204" pitchFamily="34" charset="0"/>
      <p:regular r:id="rId56"/>
      <p:bold r:id="rId57"/>
      <p:italic r:id="rId58"/>
      <p:boldItalic r:id="rId59"/>
    </p:embeddedFont>
    <p:embeddedFont>
      <p:font typeface="Noto Sans Symbols" panose="020B0604020202020204" charset="0"/>
      <p:regular r:id="rId60"/>
      <p:bold r:id="rId61"/>
      <p:italic r:id="rId62"/>
      <p:boldItalic r:id="rId63"/>
    </p:embeddedFont>
    <p:embeddedFont>
      <p:font typeface="Times" panose="02020603050405020304" pitchFamily="18" charset="0"/>
      <p:regular r:id="rId64"/>
      <p:bold r:id="rId65"/>
      <p:italic r:id="rId66"/>
      <p:boldItalic r:id="rId67"/>
    </p:embeddedFont>
    <p:embeddedFont>
      <p:font typeface="Verdana" panose="020B0604030504040204" pitchFamily="34" charset="0"/>
      <p:regular r:id="rId68"/>
      <p:bold r:id="rId69"/>
      <p:italic r:id="rId70"/>
      <p:boldItalic r:id="rId7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74"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709" userDrawn="1">
          <p15:clr>
            <a:srgbClr val="A4A3A4"/>
          </p15:clr>
        </p15:guide>
        <p15:guide id="6" orient="horz" pos="1071" userDrawn="1">
          <p15:clr>
            <a:srgbClr val="A4A3A4"/>
          </p15:clr>
        </p15:guide>
        <p15:guide id="7" pos="635" userDrawn="1">
          <p15:clr>
            <a:srgbClr val="A4A3A4"/>
          </p15:clr>
        </p15:guide>
        <p15:guide id="8" orient="horz" pos="981" userDrawn="1">
          <p15:clr>
            <a:srgbClr val="A4A3A4"/>
          </p15:clr>
        </p15:guide>
        <p15:guide id="9"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77" autoAdjust="0"/>
    <p:restoredTop sz="78848" autoAdjust="0"/>
  </p:normalViewPr>
  <p:slideViewPr>
    <p:cSldViewPr snapToGrid="0" snapToObjects="1">
      <p:cViewPr varScale="1">
        <p:scale>
          <a:sx n="86" d="100"/>
          <a:sy n="86" d="100"/>
        </p:scale>
        <p:origin x="1866" y="90"/>
      </p:cViewPr>
      <p:guideLst>
        <p:guide orient="horz" pos="3974"/>
        <p:guide pos="295"/>
        <p:guide orient="horz" pos="4178"/>
        <p:guide orient="horz" pos="119"/>
        <p:guide orient="horz" pos="709"/>
        <p:guide orient="horz" pos="1071"/>
        <p:guide pos="635"/>
        <p:guide orient="horz" pos="981"/>
        <p:guide orient="horz" pos="822"/>
      </p:guideLst>
    </p:cSldViewPr>
  </p:slideViewPr>
  <p:outlineViewPr>
    <p:cViewPr>
      <p:scale>
        <a:sx n="33" d="100"/>
        <a:sy n="33" d="100"/>
      </p:scale>
      <p:origin x="0" y="-4027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font" Target="fonts/font8.fntdata"/><Relationship Id="rId68" Type="http://schemas.openxmlformats.org/officeDocument/2006/relationships/font" Target="fonts/font13.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font" Target="fonts/font3.fntdata"/><Relationship Id="rId66" Type="http://schemas.openxmlformats.org/officeDocument/2006/relationships/font" Target="fonts/font11.fntdata"/><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font" Target="fonts/font6.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font" Target="fonts/font1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commentAuthors" Target="commen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62" Type="http://schemas.openxmlformats.org/officeDocument/2006/relationships/font" Target="fonts/font7.fntdata"/><Relationship Id="rId70" Type="http://schemas.openxmlformats.org/officeDocument/2006/relationships/font" Target="fonts/font15.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font" Target="fonts/font2.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font" Target="fonts/font5.fntdata"/><Relationship Id="rId65" Type="http://schemas.openxmlformats.org/officeDocument/2006/relationships/font" Target="fonts/font10.fntdata"/><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handoutMaster" Target="handoutMasters/handoutMaster1.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font" Target="fonts/font16.fntdata"/></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wmf"/><Relationship Id="rId1" Type="http://schemas.openxmlformats.org/officeDocument/2006/relationships/image" Target="../media/image3.emf"/><Relationship Id="rId4"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emf"/><Relationship Id="rId1" Type="http://schemas.openxmlformats.org/officeDocument/2006/relationships/image" Target="../media/image13.wmf"/><Relationship Id="rId4"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3.wmf"/><Relationship Id="rId2" Type="http://schemas.openxmlformats.org/officeDocument/2006/relationships/image" Target="../media/image18.wmf"/><Relationship Id="rId1" Type="http://schemas.openxmlformats.org/officeDocument/2006/relationships/image" Target="../media/image14.emf"/><Relationship Id="rId6" Type="http://schemas.openxmlformats.org/officeDocument/2006/relationships/image" Target="../media/image22.wmf"/><Relationship Id="rId5" Type="http://schemas.openxmlformats.org/officeDocument/2006/relationships/image" Target="../media/image21.wmf"/><Relationship Id="rId4"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wmf"/><Relationship Id="rId1"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4.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p>
          <a:p>
            <a:endParaRPr lang="en-US" sz="1200" b="0" i="0" u="none" strike="noStrike" kern="1200" cap="none" dirty="0">
              <a:solidFill>
                <a:schemeClr val="dk1"/>
              </a:solidFill>
              <a:latin typeface="Arial"/>
              <a:cs typeface="Arial"/>
              <a:sym typeface="Arial"/>
            </a:endParaRPr>
          </a:p>
          <a:p>
            <a:r>
              <a:rPr lang="en-US" dirty="0"/>
              <a:t>Slides in this presentation contain hyperlinks. JAWS users should be able to get a list of links by using INSERT+F7</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602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Above y = 0, there is a plot for domestic currency return on foreign deposits, R asterisk + left parenthesis E super 0 minus E right parenthesis over E. The plot falls with decreasing steepness through point 1 prime, (R asterisk, E super 0), and then 3 prime. Below y = 0, the plot for real money demand, L left parenthesis R, Y super 1, right parenthesis, rises with decreasing steepness through point 1, at (R asterisk, M super 1 over p), where y = real money supply. The plot is shifted downward and to the right for L left parenthesis R, Y super 2, right parenthesis, which passes through point 2 at (R asterisk, M super 2 over P), and then point 3, which located at the same x-value as point 3 prime above, where y = real money supply.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03779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 </a:t>
            </a:r>
            <a:r>
              <a:rPr lang="en-US" dirty="0" err="1"/>
              <a:t>D</a:t>
            </a:r>
            <a:r>
              <a:rPr lang="en-US" dirty="0"/>
              <a:t> curve is a rising line that intersects a falling Ay </a:t>
            </a:r>
            <a:r>
              <a:rPr lang="en-US" dirty="0" err="1"/>
              <a:t>Ay</a:t>
            </a:r>
            <a:r>
              <a:rPr lang="en-US" dirty="0"/>
              <a:t> super 1 line at point 1, (Y super 1, E super 0). The Ay </a:t>
            </a:r>
            <a:r>
              <a:rPr lang="en-US" dirty="0" err="1"/>
              <a:t>Ay</a:t>
            </a:r>
            <a:r>
              <a:rPr lang="en-US" dirty="0"/>
              <a:t> super 2 line is parallel to Ay </a:t>
            </a:r>
            <a:r>
              <a:rPr lang="en-US" dirty="0" err="1"/>
              <a:t>Ay</a:t>
            </a:r>
            <a:r>
              <a:rPr lang="en-US" dirty="0"/>
              <a:t> super 1, and intersects D </a:t>
            </a:r>
            <a:r>
              <a:rPr lang="en-US" dirty="0" err="1"/>
              <a:t>D</a:t>
            </a:r>
            <a:r>
              <a:rPr lang="en-US" dirty="0"/>
              <a:t> at point 2, (Y super 2, E super 2), which is above and right of point 1. Arrows in both directions between Ay </a:t>
            </a:r>
            <a:r>
              <a:rPr lang="en-US" dirty="0" err="1"/>
              <a:t>Ay</a:t>
            </a:r>
            <a:r>
              <a:rPr lang="en-US" dirty="0"/>
              <a:t> 1 and Ay </a:t>
            </a:r>
            <a:r>
              <a:rPr lang="en-US" dirty="0" err="1"/>
              <a:t>Ay</a:t>
            </a:r>
            <a:r>
              <a:rPr lang="en-US" dirty="0"/>
              <a:t> 2 indicate shifts in either direction.</a:t>
            </a: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dirty="0"/>
          </a:p>
        </p:txBody>
      </p:sp>
    </p:spTree>
    <p:extLst>
      <p:ext uri="{BB962C8B-B14F-4D97-AF65-F5344CB8AC3E}">
        <p14:creationId xmlns:p14="http://schemas.microsoft.com/office/powerpoint/2010/main" val="3372322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has two sets of parallel lines that show fiscal expansion under a fixed exchange rate. Lines D </a:t>
            </a:r>
            <a:r>
              <a:rPr lang="en-US" dirty="0" err="1"/>
              <a:t>D</a:t>
            </a:r>
            <a:r>
              <a:rPr lang="en-US" dirty="0"/>
              <a:t> super 1 and D </a:t>
            </a:r>
            <a:r>
              <a:rPr lang="en-US" dirty="0" err="1"/>
              <a:t>D</a:t>
            </a:r>
            <a:r>
              <a:rPr lang="en-US" dirty="0"/>
              <a:t> super 2 are parallel and rising, intersecting the falling lines, Ay </a:t>
            </a:r>
            <a:r>
              <a:rPr lang="en-US" dirty="0" err="1"/>
              <a:t>Ay</a:t>
            </a:r>
            <a:r>
              <a:rPr lang="en-US" dirty="0"/>
              <a:t> super 1 and Ay </a:t>
            </a:r>
            <a:r>
              <a:rPr lang="en-US" dirty="0" err="1"/>
              <a:t>Ay</a:t>
            </a:r>
            <a:r>
              <a:rPr lang="en-US" dirty="0"/>
              <a:t> super 2. D </a:t>
            </a:r>
            <a:r>
              <a:rPr lang="en-US" dirty="0" err="1"/>
              <a:t>D</a:t>
            </a:r>
            <a:r>
              <a:rPr lang="en-US" dirty="0"/>
              <a:t> super 1 intersects Ay </a:t>
            </a:r>
            <a:r>
              <a:rPr lang="en-US" dirty="0" err="1"/>
              <a:t>Ay</a:t>
            </a:r>
            <a:r>
              <a:rPr lang="en-US" dirty="0"/>
              <a:t> super 1 at point 1, (Y super 1, E super 0). D </a:t>
            </a:r>
            <a:r>
              <a:rPr lang="en-US" dirty="0" err="1"/>
              <a:t>D</a:t>
            </a:r>
            <a:r>
              <a:rPr lang="en-US" dirty="0"/>
              <a:t> super 2 intersects Ay </a:t>
            </a:r>
            <a:r>
              <a:rPr lang="en-US" dirty="0" err="1"/>
              <a:t>Ay</a:t>
            </a:r>
            <a:r>
              <a:rPr lang="en-US" dirty="0"/>
              <a:t> super 1 at point 2, (Y super 2, E super 2), below and to the right of point 1. Ay </a:t>
            </a:r>
            <a:r>
              <a:rPr lang="en-US" dirty="0" err="1"/>
              <a:t>Ay</a:t>
            </a:r>
            <a:r>
              <a:rPr lang="en-US" dirty="0"/>
              <a:t> super 2 intersects D </a:t>
            </a:r>
            <a:r>
              <a:rPr lang="en-US" dirty="0" err="1"/>
              <a:t>D</a:t>
            </a:r>
            <a:r>
              <a:rPr lang="en-US" dirty="0"/>
              <a:t> super 2 at point 3, (Y super 3, E super 0), which is to the right of point 1 at the same y-value.</a:t>
            </a: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dirty="0"/>
          </a:p>
        </p:txBody>
      </p:sp>
    </p:spTree>
    <p:extLst>
      <p:ext uri="{BB962C8B-B14F-4D97-AF65-F5344CB8AC3E}">
        <p14:creationId xmlns:p14="http://schemas.microsoft.com/office/powerpoint/2010/main" val="2361767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graph has D </a:t>
            </a:r>
            <a:r>
              <a:rPr lang="en-US" dirty="0" err="1"/>
              <a:t>D</a:t>
            </a:r>
            <a:r>
              <a:rPr lang="en-US" dirty="0"/>
              <a:t> rising and intersecting two falling parallel lines, Ay </a:t>
            </a:r>
            <a:r>
              <a:rPr lang="en-US" dirty="0" err="1"/>
              <a:t>Ay</a:t>
            </a:r>
            <a:r>
              <a:rPr lang="en-US" dirty="0"/>
              <a:t> super 1 and Ay </a:t>
            </a:r>
            <a:r>
              <a:rPr lang="en-US" dirty="0" err="1"/>
              <a:t>Ay</a:t>
            </a:r>
            <a:r>
              <a:rPr lang="en-US" dirty="0"/>
              <a:t> super 2. D </a:t>
            </a:r>
            <a:r>
              <a:rPr lang="en-US" dirty="0" err="1"/>
              <a:t>D</a:t>
            </a:r>
            <a:r>
              <a:rPr lang="en-US" dirty="0"/>
              <a:t> intersects Ay </a:t>
            </a:r>
            <a:r>
              <a:rPr lang="en-US" dirty="0" err="1"/>
              <a:t>Ay</a:t>
            </a:r>
            <a:r>
              <a:rPr lang="en-US" dirty="0"/>
              <a:t> super 1 at point 1, (Y super 1, E super 0). D </a:t>
            </a:r>
            <a:r>
              <a:rPr lang="en-US" dirty="0" err="1"/>
              <a:t>D</a:t>
            </a:r>
            <a:r>
              <a:rPr lang="en-US" dirty="0"/>
              <a:t> then intersects Ay </a:t>
            </a:r>
            <a:r>
              <a:rPr lang="en-US" dirty="0" err="1"/>
              <a:t>Ay</a:t>
            </a:r>
            <a:r>
              <a:rPr lang="en-US" dirty="0"/>
              <a:t> super 2 at point 2, (Y super 2, E super 1), which is above and to the right of point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74438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Above y = 0, the plot for, R asterisk + left parenthesis E super 0 minus E right parenthesis over E, falls with decreasing steepness through point 1 prime, at (R asterisk, E super 0). The plot is shifted up and to the right for parallel plot, R asterisk + left parenthesis E super 1 minus E right parenthesis over E, which falls through point 2 prime, where x = R asterisk + left parenthesis E super 1 minus E super 0, right parenthesis, over E super 0, and y = E super 0. Below y = 0, the plot for L left parenthesis R, Y right parenthesis, rises with decreasing steepness through point 1, at (R asterisk, M super 1 over P), where y = real money supply. The plot then rises through point 2, where y = R asterisk + left parenthesis E super 1 minus E super 0, right parenthesis, over E super 0, and y = M super 2 over P.</a:t>
            </a:r>
          </a:p>
        </p:txBody>
      </p:sp>
      <p:sp>
        <p:nvSpPr>
          <p:cNvPr id="4" name="Slide Number Placeholder 3"/>
          <p:cNvSpPr>
            <a:spLocks noGrp="1"/>
          </p:cNvSpPr>
          <p:nvPr>
            <p:ph type="sldNum" sz="quarter" idx="10"/>
          </p:nvPr>
        </p:nvSpPr>
        <p:spPr/>
        <p:txBody>
          <a:bodyPr/>
          <a:lstStyle/>
          <a:p>
            <a:fld id="{A73D6722-9B4D-4E29-B226-C325925A8118}" type="slidenum">
              <a:rPr lang="en-US" smtClean="0"/>
              <a:t>30</a:t>
            </a:fld>
            <a:endParaRPr lang="en-US" dirty="0"/>
          </a:p>
        </p:txBody>
      </p:sp>
    </p:spTree>
    <p:extLst>
      <p:ext uri="{BB962C8B-B14F-4D97-AF65-F5344CB8AC3E}">
        <p14:creationId xmlns:p14="http://schemas.microsoft.com/office/powerpoint/2010/main" val="3387089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plot for foreign reserves generally rises from (January 2006, 90 billion) through (January 2012, 1500 billion) to (January 2016, 650 billion). The plot for Swiss franc to euro exchange generally rises from (January 2006, 1.55) to (September 2007, 1.66) and then generally falls through (January 2010, 1.4) to a dip in (July 2011, 1.12). The exchange rate floor is a horizontal line plotted from July 2011 to July 2014, at y = 1.2. The plot for Swiss franc to euro exchange rises to above the exchange rate floor during that period, peaking at (January 2014, 1.24), and then dips to (January 2015, 1.05) before rising generally to (January 2016, 1.11). The plots for Swiss franc to euro exchange and foreign reserves intersect in January 2011 at 1.26 and 260 billion Swiss francs, respectively. All values estimated.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16529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Above y = 0, a plot for, R asterisk + left parenthesis upper E super lower e minus E right parenthesis, over quantity E + rho left parenthesis B minus Ay super 1, right parenthesis, falls through point 1 prime, at (R super 1, E super 1). The plot is shifted up and to the right due to the sterilized purchase of foreign assets to a risk-adjusted domestic currency return on foreign currency deposits, R asterisk + left parenthesis upper E super lower e minus E right parenthesis, over quantity E + rho left parenthesis B minus Ay super 2, right parenthesis. The plot falls through point prime 2, at (R super 1, E super 2). Below y = 0, the plot for L left parenthesis R, Y right parenthesis, rises with decreasing steepness through point 1, at (R super 1, M super s over P), where y = real money supply.</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651060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Developing countries, industrial countries, and all countries. The plot for developing countries falls from (19 63 to 19 72, 17) to (19 83 to 19 92, 12) and then rises to a peak at (20 03 to 20 07, 28), after which it falls to (20 12 to 20 15, 1), and passes through to (20 16 to 20 19, 1). The plot for industrial countries generally falls (19 63 to 19 72, 11) to (19 93 to 20 02, 9), then rises to a peak at (20 03 to 20 07, 22), after which if falls through (20 08 to 20 09, 13) to (20 12 to 20 15, 3), and then rises through (20 16 to 20 19, 3). The plot for industrial countries falls from (19 63 to 19 72, 9) to (19 73 to 19 82, 6), then rises to (19 83 to 19 92, 12) before falling again to (19 93 to 20 02, 5), it then rises to (20 10 to 20 11, 13), before falling to (20 12 to 20 15, 3), and then rises through (20 16 to 20 19, 6).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009467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dirty="0">
                <a:solidFill>
                  <a:srgbClr val="000000"/>
                </a:solidFill>
                <a:effectLst/>
                <a:latin typeface="Calibri" panose="020F0502020204030204" pitchFamily="34" charset="0"/>
              </a:rPr>
              <a:t>The fraction of world reserves shown versus year, 19 99 to 20 19. The plot for the dollar generally falls from (20 00, 71) through (20 07, 66) to (20 14, 67), then rises to (20 16, 67) and falls to (20 19, 60). The plot for the euro generally rises from (20 00, 18) to (20 09, 28), then generally falls to (20 16, 18) and then rises to (20 19, 20). The plot for the yen generally falls from (20 00, 7) through (20 07, 3) to (20 19, 5). The plot for the pound sterling generally rises from (20 00, 2) to (20 07, 4), then generally falls to (20 19, 4). All values are estimated.</a:t>
            </a:r>
            <a:r>
              <a:rPr lang="en-US" dirty="0"/>
              <a:t> </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88454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premium on domestic bonds =, rho left bracket = R minus R asterisk minus left parenthesis upper E super lower e minus E, right parenthesis, over E, right bracket. The plot for demand for domestic bonds, B super d, is a rising line that crosses supply of domestic bonds, a vertical line at x = B minus Ay super 1. Their intersection is at point 1, (B minus Ay super 1, rho super 1). When the bond supply is increased, the new intersection is point 2, (B minus Ay super 2, rho super 2), where Ay super 2 is greater than Ay super 1. Point 2 is above and to the right of point 1.</a:t>
            </a:r>
            <a:endParaRPr lang="en-IN"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30726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Above y = 0, the plot for shadow floating exchange rate, E sub t super S, rises as a straight line through 3 points. The first point is at (T double prime, E sub T super S double prime). The second point is at (T, E sub T super S = E super 0). The third point is at (T prime, E sub T super S prime). Below y = 0, the plot for remaining reserve stock, F sub t asterisk, rises with decreasing steepness to y = F sub T asterisk. The plot at this point is aligned on the x-axis with time, T, the second point on the shadow floating exchange rate plot. The vertical distance between y = 0 and y = F sub T asterisk accounts for the drop in reserves caused by speculative attack.</a:t>
            </a:r>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50</a:t>
            </a:fld>
            <a:endParaRPr lang="en-US" dirty="0"/>
          </a:p>
        </p:txBody>
      </p:sp>
    </p:spTree>
    <p:extLst>
      <p:ext uri="{BB962C8B-B14F-4D97-AF65-F5344CB8AC3E}">
        <p14:creationId xmlns:p14="http://schemas.microsoft.com/office/powerpoint/2010/main" val="1609697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51</a:t>
            </a:fld>
            <a:endParaRPr lang="en-US" dirty="0"/>
          </a:p>
        </p:txBody>
      </p:sp>
    </p:spTree>
    <p:extLst>
      <p:ext uri="{BB962C8B-B14F-4D97-AF65-F5344CB8AC3E}">
        <p14:creationId xmlns:p14="http://schemas.microsoft.com/office/powerpoint/2010/main" val="124403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on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458689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6487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7 1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58743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a:extLst>
              <a:ext uri="{FF2B5EF4-FFF2-40B4-BE49-F238E27FC236}">
                <a16:creationId xmlns:a16="http://schemas.microsoft.com/office/drawing/2014/main" id="{2A94052B-68BD-42DA-A516-7847987B6750}"/>
              </a:ext>
            </a:extLst>
          </p:cNvPr>
          <p:cNvSpPr>
            <a:spLocks noGrp="1"/>
          </p:cNvSpPr>
          <p:nvPr>
            <p:ph sz="quarter" idx="14"/>
          </p:nvPr>
        </p:nvSpPr>
        <p:spPr>
          <a:xfrm>
            <a:off x="457200" y="2259013"/>
            <a:ext cx="8229600" cy="555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Content Placeholder 5">
            <a:extLst>
              <a:ext uri="{FF2B5EF4-FFF2-40B4-BE49-F238E27FC236}">
                <a16:creationId xmlns:a16="http://schemas.microsoft.com/office/drawing/2014/main" id="{5E2EE820-79ED-4735-9A9C-094DD796AED1}"/>
              </a:ext>
            </a:extLst>
          </p:cNvPr>
          <p:cNvSpPr>
            <a:spLocks noGrp="1"/>
          </p:cNvSpPr>
          <p:nvPr>
            <p:ph sz="quarter" idx="15"/>
          </p:nvPr>
        </p:nvSpPr>
        <p:spPr>
          <a:xfrm>
            <a:off x="457200" y="2930525"/>
            <a:ext cx="8229600" cy="498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Content Placeholder 8">
            <a:extLst>
              <a:ext uri="{FF2B5EF4-FFF2-40B4-BE49-F238E27FC236}">
                <a16:creationId xmlns:a16="http://schemas.microsoft.com/office/drawing/2014/main" id="{D332C817-1767-4748-A8CD-320C8DB42A6D}"/>
              </a:ext>
            </a:extLst>
          </p:cNvPr>
          <p:cNvSpPr>
            <a:spLocks noGrp="1"/>
          </p:cNvSpPr>
          <p:nvPr>
            <p:ph sz="quarter" idx="16"/>
          </p:nvPr>
        </p:nvSpPr>
        <p:spPr>
          <a:xfrm>
            <a:off x="457200" y="3582988"/>
            <a:ext cx="8229600" cy="5730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 name="Content Placeholder 10">
            <a:extLst>
              <a:ext uri="{FF2B5EF4-FFF2-40B4-BE49-F238E27FC236}">
                <a16:creationId xmlns:a16="http://schemas.microsoft.com/office/drawing/2014/main" id="{3654C94B-CF71-4BC3-BC05-48D34F6B7C99}"/>
              </a:ext>
            </a:extLst>
          </p:cNvPr>
          <p:cNvSpPr>
            <a:spLocks noGrp="1"/>
          </p:cNvSpPr>
          <p:nvPr>
            <p:ph sz="quarter" idx="17"/>
          </p:nvPr>
        </p:nvSpPr>
        <p:spPr>
          <a:xfrm>
            <a:off x="457200" y="4310063"/>
            <a:ext cx="8229600" cy="485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3" name="Text Placeholder 12">
            <a:extLst>
              <a:ext uri="{FF2B5EF4-FFF2-40B4-BE49-F238E27FC236}">
                <a16:creationId xmlns:a16="http://schemas.microsoft.com/office/drawing/2014/main" id="{8F3641DC-5E74-47A1-8EBA-8679D69518D0}"/>
              </a:ext>
            </a:extLst>
          </p:cNvPr>
          <p:cNvSpPr>
            <a:spLocks noGrp="1"/>
          </p:cNvSpPr>
          <p:nvPr>
            <p:ph type="body" sz="quarter" idx="18"/>
          </p:nvPr>
        </p:nvSpPr>
        <p:spPr>
          <a:xfrm>
            <a:off x="457200" y="4949825"/>
            <a:ext cx="8229600" cy="608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Content Placeholder 14">
            <a:extLst>
              <a:ext uri="{FF2B5EF4-FFF2-40B4-BE49-F238E27FC236}">
                <a16:creationId xmlns:a16="http://schemas.microsoft.com/office/drawing/2014/main" id="{8167F9DB-FEE8-4CBF-839F-B00C606C10D8}"/>
              </a:ext>
            </a:extLst>
          </p:cNvPr>
          <p:cNvSpPr>
            <a:spLocks noGrp="1"/>
          </p:cNvSpPr>
          <p:nvPr>
            <p:ph sz="quarter" idx="19"/>
          </p:nvPr>
        </p:nvSpPr>
        <p:spPr>
          <a:xfrm>
            <a:off x="457200" y="5711825"/>
            <a:ext cx="4114800" cy="608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Content Placeholder 16">
            <a:extLst>
              <a:ext uri="{FF2B5EF4-FFF2-40B4-BE49-F238E27FC236}">
                <a16:creationId xmlns:a16="http://schemas.microsoft.com/office/drawing/2014/main" id="{3C4D1B44-70E0-4777-8CA7-5CCC62ED20A8}"/>
              </a:ext>
            </a:extLst>
          </p:cNvPr>
          <p:cNvSpPr>
            <a:spLocks noGrp="1"/>
          </p:cNvSpPr>
          <p:nvPr>
            <p:ph sz="quarter" idx="20"/>
          </p:nvPr>
        </p:nvSpPr>
        <p:spPr>
          <a:xfrm>
            <a:off x="4805363" y="5711825"/>
            <a:ext cx="3881437" cy="6080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759181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61030" y="1556326"/>
            <a:ext cx="363154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1563574"/>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243595" y="3977558"/>
            <a:ext cx="4443205" cy="211227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66603"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3290555"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and 20_Content_4_Tex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93309"/>
            <a:ext cx="8229600" cy="38794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063853"/>
            <a:ext cx="8229600" cy="34286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495832"/>
            <a:ext cx="8229600" cy="35883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946415"/>
            <a:ext cx="8229600" cy="394716"/>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3423855"/>
            <a:ext cx="8229600" cy="32528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18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857050"/>
            <a:ext cx="8229600" cy="42508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4338157"/>
            <a:ext cx="8229600" cy="395774"/>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57201" y="4837386"/>
            <a:ext cx="8229600" cy="238689"/>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57200" y="5211857"/>
            <a:ext cx="8229600" cy="28349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57200" y="5606853"/>
            <a:ext cx="8229600" cy="26964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57200" y="5983525"/>
            <a:ext cx="8229600" cy="268831"/>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57201" y="6331844"/>
            <a:ext cx="8229600" cy="244392"/>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57201" y="6654233"/>
            <a:ext cx="8046362" cy="263943"/>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57201" y="7063805"/>
            <a:ext cx="8046362" cy="290825"/>
          </a:xfrm>
        </p:spPr>
        <p:txBody>
          <a:bodyPr/>
          <a:lstStyle>
            <a:lvl1pPr marR="0" indent="-2556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18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18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18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27"/>
          </p:nvPr>
        </p:nvSpPr>
        <p:spPr>
          <a:xfrm>
            <a:off x="457200" y="7483231"/>
            <a:ext cx="8012113" cy="2190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28"/>
          </p:nvPr>
        </p:nvSpPr>
        <p:spPr>
          <a:xfrm>
            <a:off x="457200" y="7832725"/>
            <a:ext cx="8012113" cy="293688"/>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Content Placeholder 12"/>
          <p:cNvSpPr>
            <a:spLocks noGrp="1"/>
          </p:cNvSpPr>
          <p:nvPr>
            <p:ph sz="quarter" idx="29"/>
          </p:nvPr>
        </p:nvSpPr>
        <p:spPr>
          <a:xfrm>
            <a:off x="457200" y="8258175"/>
            <a:ext cx="8047038" cy="3270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Content Placeholder 19"/>
          <p:cNvSpPr>
            <a:spLocks noGrp="1"/>
          </p:cNvSpPr>
          <p:nvPr>
            <p:ph sz="quarter" idx="30"/>
          </p:nvPr>
        </p:nvSpPr>
        <p:spPr>
          <a:xfrm>
            <a:off x="457200" y="8609013"/>
            <a:ext cx="8012113" cy="323850"/>
          </a:xfrm>
        </p:spPr>
        <p:txBody>
          <a:bodyPr/>
          <a:lstStyle>
            <a:lvl1pPr indent="-255600">
              <a:defRPr>
                <a:latin typeface="+mn-lt"/>
              </a:defRPr>
            </a:lvl1pPr>
            <a:lvl2pPr>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Content Placeholder 23"/>
          <p:cNvSpPr>
            <a:spLocks noGrp="1"/>
          </p:cNvSpPr>
          <p:nvPr>
            <p:ph sz="quarter" idx="31"/>
          </p:nvPr>
        </p:nvSpPr>
        <p:spPr>
          <a:xfrm>
            <a:off x="457200" y="9036050"/>
            <a:ext cx="8047038" cy="239713"/>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Content Placeholder 26"/>
          <p:cNvSpPr>
            <a:spLocks noGrp="1"/>
          </p:cNvSpPr>
          <p:nvPr>
            <p:ph sz="quarter" idx="32"/>
          </p:nvPr>
        </p:nvSpPr>
        <p:spPr>
          <a:xfrm>
            <a:off x="457200" y="9466263"/>
            <a:ext cx="8047038" cy="15081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9" name="Text Placeholder 28"/>
          <p:cNvSpPr>
            <a:spLocks noGrp="1"/>
          </p:cNvSpPr>
          <p:nvPr>
            <p:ph type="body" sz="quarter" idx="33"/>
          </p:nvPr>
        </p:nvSpPr>
        <p:spPr>
          <a:xfrm>
            <a:off x="457200" y="9807575"/>
            <a:ext cx="8047038" cy="26352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2" name="Text Placeholder 31"/>
          <p:cNvSpPr>
            <a:spLocks noGrp="1"/>
          </p:cNvSpPr>
          <p:nvPr>
            <p:ph type="body" sz="quarter" idx="34"/>
          </p:nvPr>
        </p:nvSpPr>
        <p:spPr>
          <a:xfrm>
            <a:off x="457200" y="10174288"/>
            <a:ext cx="8012113" cy="322262"/>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4" name="Text Placeholder 33"/>
          <p:cNvSpPr>
            <a:spLocks noGrp="1"/>
          </p:cNvSpPr>
          <p:nvPr>
            <p:ph type="body" sz="quarter" idx="35"/>
          </p:nvPr>
        </p:nvSpPr>
        <p:spPr>
          <a:xfrm>
            <a:off x="457200" y="10663977"/>
            <a:ext cx="8047038" cy="2571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38" name="Text Placeholder 37"/>
          <p:cNvSpPr>
            <a:spLocks noGrp="1"/>
          </p:cNvSpPr>
          <p:nvPr>
            <p:ph type="body" sz="quarter" idx="36"/>
          </p:nvPr>
        </p:nvSpPr>
        <p:spPr>
          <a:xfrm>
            <a:off x="457200" y="11063288"/>
            <a:ext cx="8047038" cy="295275"/>
          </a:xfrm>
        </p:spPr>
        <p:txBody>
          <a:bodyPr/>
          <a:lstStyle>
            <a:lvl1pPr indent="-255600">
              <a:defRPr>
                <a:latin typeface="+mn-lt"/>
              </a:defRPr>
            </a:lvl1pPr>
            <a:lvl2pPr indent="-284400">
              <a:defRPr>
                <a:latin typeface="+mn-lt"/>
              </a:defRPr>
            </a:lvl2pPr>
            <a:lvl3pPr marL="1143000" indent="-127000">
              <a:buFont typeface="Arial" panose="020B0604020202020204" pitchFamily="34" charset="0"/>
              <a:buChar cha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484240011"/>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L="1143000" marR="0" indent="-230400" algn="l" rtl="0">
              <a:lnSpc>
                <a:spcPct val="100000"/>
              </a:lnSpc>
              <a:spcAft>
                <a:spcPts val="0"/>
              </a:spcAft>
              <a:buClr>
                <a:srgbClr val="007FA3"/>
              </a:buClr>
              <a:buSzPct val="100000"/>
              <a:buFont typeface="Arial" panose="020B0604020202020204" pitchFamily="34" charset="0"/>
              <a:buChar char="▪"/>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10/22/2021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1154031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57647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87364"/>
            <a:ext cx="8229600" cy="4708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10/22/2021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126134"/>
            <a:ext cx="8229600" cy="4708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08885"/>
            <a:ext cx="8229600" cy="4708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528112"/>
            <a:ext cx="8229600" cy="4708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457200" y="5197981"/>
            <a:ext cx="8229600" cy="470897"/>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345502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and 12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283841"/>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1981201"/>
            <a:ext cx="8229600" cy="20717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10/22/2021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2362200"/>
            <a:ext cx="8229600" cy="26580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2819400"/>
            <a:ext cx="8229600" cy="29239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3276600"/>
            <a:ext cx="8229600" cy="29239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457200" y="3733800"/>
            <a:ext cx="8229600" cy="26580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4191000"/>
            <a:ext cx="8229600" cy="30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5" name="Content Placeholder 14"/>
          <p:cNvSpPr>
            <a:spLocks noGrp="1"/>
          </p:cNvSpPr>
          <p:nvPr>
            <p:ph sz="quarter" idx="19"/>
          </p:nvPr>
        </p:nvSpPr>
        <p:spPr>
          <a:xfrm>
            <a:off x="457200" y="4584700"/>
            <a:ext cx="8229600" cy="444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7" name="Content Placeholder 16"/>
          <p:cNvSpPr>
            <a:spLocks noGrp="1"/>
          </p:cNvSpPr>
          <p:nvPr>
            <p:ph sz="quarter" idx="20"/>
          </p:nvPr>
        </p:nvSpPr>
        <p:spPr>
          <a:xfrm>
            <a:off x="457200" y="5156200"/>
            <a:ext cx="8229600" cy="2714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9" name="Content Placeholder 18"/>
          <p:cNvSpPr>
            <a:spLocks noGrp="1"/>
          </p:cNvSpPr>
          <p:nvPr>
            <p:ph sz="quarter" idx="21"/>
          </p:nvPr>
        </p:nvSpPr>
        <p:spPr>
          <a:xfrm>
            <a:off x="457200" y="5486400"/>
            <a:ext cx="8229600" cy="2551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1" name="Content Placeholder 20"/>
          <p:cNvSpPr>
            <a:spLocks noGrp="1"/>
          </p:cNvSpPr>
          <p:nvPr>
            <p:ph sz="quarter" idx="22"/>
          </p:nvPr>
        </p:nvSpPr>
        <p:spPr>
          <a:xfrm>
            <a:off x="457200" y="5867400"/>
            <a:ext cx="8229600" cy="228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3" name="Content Placeholder 22"/>
          <p:cNvSpPr>
            <a:spLocks noGrp="1"/>
          </p:cNvSpPr>
          <p:nvPr>
            <p:ph sz="quarter" idx="23"/>
          </p:nvPr>
        </p:nvSpPr>
        <p:spPr>
          <a:xfrm>
            <a:off x="8915400" y="6019800"/>
            <a:ext cx="106363" cy="228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25" name="Content Placeholder 24"/>
          <p:cNvSpPr>
            <a:spLocks noGrp="1"/>
          </p:cNvSpPr>
          <p:nvPr>
            <p:ph sz="quarter" idx="24"/>
          </p:nvPr>
        </p:nvSpPr>
        <p:spPr>
          <a:xfrm>
            <a:off x="8915400" y="6407150"/>
            <a:ext cx="228600" cy="374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30940528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IN" sz="1200" b="0" i="0" u="none" strike="noStrike" cap="none" dirty="0">
                <a:solidFill>
                  <a:srgbClr val="000000"/>
                </a:solidFill>
                <a:effectLst/>
                <a:latin typeface="Verdana" panose="020B0604030504040204" pitchFamily="34" charset="0"/>
                <a:ea typeface="Verdana" panose="020B0604030504040204" pitchFamily="34" charset="0"/>
                <a:cs typeface="Arial"/>
                <a:sym typeface="Arial"/>
              </a:rPr>
              <a:t>2022, 2018, 2015</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20"/>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82" r:id="rId2"/>
    <p:sldLayoutId id="2147483686" r:id="rId3"/>
    <p:sldLayoutId id="2147483650" r:id="rId4"/>
    <p:sldLayoutId id="2147483676" r:id="rId5"/>
    <p:sldLayoutId id="2147483677" r:id="rId6"/>
    <p:sldLayoutId id="2147483678" r:id="rId7"/>
    <p:sldLayoutId id="2147483679" r:id="rId8"/>
    <p:sldLayoutId id="2147483680" r:id="rId9"/>
    <p:sldLayoutId id="2147483681" r:id="rId10"/>
    <p:sldLayoutId id="2147483671" r:id="rId11"/>
    <p:sldLayoutId id="2147483673" r:id="rId12"/>
    <p:sldLayoutId id="2147483670" r:id="rId13"/>
    <p:sldLayoutId id="2147483669" r:id="rId14"/>
    <p:sldLayoutId id="2147483655" r:id="rId15"/>
    <p:sldLayoutId id="2147483683" r:id="rId16"/>
    <p:sldLayoutId id="2147483684" r:id="rId17"/>
    <p:sldLayoutId id="2147483685"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10" Type="http://schemas.openxmlformats.org/officeDocument/2006/relationships/image" Target="../media/image6.emf"/><Relationship Id="rId4" Type="http://schemas.openxmlformats.org/officeDocument/2006/relationships/image" Target="../media/image3.emf"/><Relationship Id="rId9"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9.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7.xml"/><Relationship Id="rId1" Type="http://schemas.openxmlformats.org/officeDocument/2006/relationships/vmlDrawing" Target="../drawings/vmlDrawing3.vml"/><Relationship Id="rId6" Type="http://schemas.openxmlformats.org/officeDocument/2006/relationships/image" Target="../media/image11.wmf"/><Relationship Id="rId5" Type="http://schemas.openxmlformats.org/officeDocument/2006/relationships/oleObject" Target="../embeddings/oleObject9.bin"/><Relationship Id="rId4" Type="http://schemas.openxmlformats.org/officeDocument/2006/relationships/image" Target="../media/image10.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8.xml"/><Relationship Id="rId1" Type="http://schemas.openxmlformats.org/officeDocument/2006/relationships/vmlDrawing" Target="../drawings/vmlDrawing4.vml"/><Relationship Id="rId4" Type="http://schemas.openxmlformats.org/officeDocument/2006/relationships/image" Target="../media/image12.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notesSlide" Target="../notesSlides/notesSlide2.xml"/><Relationship Id="rId7" Type="http://schemas.openxmlformats.org/officeDocument/2006/relationships/oleObject" Target="../embeddings/oleObject12.bin"/><Relationship Id="rId12" Type="http://schemas.openxmlformats.org/officeDocument/2006/relationships/image" Target="../media/image16.wmf"/><Relationship Id="rId2" Type="http://schemas.openxmlformats.org/officeDocument/2006/relationships/slideLayout" Target="../slideLayouts/slideLayout10.xml"/><Relationship Id="rId1" Type="http://schemas.openxmlformats.org/officeDocument/2006/relationships/vmlDrawing" Target="../drawings/vmlDrawing5.vml"/><Relationship Id="rId6" Type="http://schemas.openxmlformats.org/officeDocument/2006/relationships/image" Target="../media/image17.jpg"/><Relationship Id="rId11" Type="http://schemas.openxmlformats.org/officeDocument/2006/relationships/oleObject" Target="../embeddings/oleObject14.bin"/><Relationship Id="rId5" Type="http://schemas.openxmlformats.org/officeDocument/2006/relationships/image" Target="../media/image13.wmf"/><Relationship Id="rId10" Type="http://schemas.openxmlformats.org/officeDocument/2006/relationships/image" Target="../media/image15.wmf"/><Relationship Id="rId4" Type="http://schemas.openxmlformats.org/officeDocument/2006/relationships/oleObject" Target="../embeddings/oleObject11.bin"/><Relationship Id="rId9" Type="http://schemas.openxmlformats.org/officeDocument/2006/relationships/oleObject" Target="../embeddings/oleObject13.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18.wmf"/><Relationship Id="rId13" Type="http://schemas.openxmlformats.org/officeDocument/2006/relationships/oleObject" Target="../embeddings/oleObject19.bin"/><Relationship Id="rId18" Type="http://schemas.openxmlformats.org/officeDocument/2006/relationships/image" Target="../media/image23.wmf"/><Relationship Id="rId3" Type="http://schemas.openxmlformats.org/officeDocument/2006/relationships/notesSlide" Target="../notesSlides/notesSlide3.xml"/><Relationship Id="rId7" Type="http://schemas.openxmlformats.org/officeDocument/2006/relationships/oleObject" Target="../embeddings/oleObject16.bin"/><Relationship Id="rId12" Type="http://schemas.openxmlformats.org/officeDocument/2006/relationships/image" Target="../media/image20.wmf"/><Relationship Id="rId17" Type="http://schemas.openxmlformats.org/officeDocument/2006/relationships/oleObject" Target="../embeddings/oleObject21.bin"/><Relationship Id="rId2" Type="http://schemas.openxmlformats.org/officeDocument/2006/relationships/slideLayout" Target="../slideLayouts/slideLayout19.xml"/><Relationship Id="rId16" Type="http://schemas.openxmlformats.org/officeDocument/2006/relationships/image" Target="../media/image22.wmf"/><Relationship Id="rId1" Type="http://schemas.openxmlformats.org/officeDocument/2006/relationships/vmlDrawing" Target="../drawings/vmlDrawing6.vml"/><Relationship Id="rId6" Type="http://schemas.openxmlformats.org/officeDocument/2006/relationships/image" Target="../media/image14.e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19.wmf"/><Relationship Id="rId4" Type="http://schemas.openxmlformats.org/officeDocument/2006/relationships/image" Target="../media/image24.jpg"/><Relationship Id="rId9" Type="http://schemas.openxmlformats.org/officeDocument/2006/relationships/oleObject" Target="../embeddings/oleObject17.bin"/><Relationship Id="rId14" Type="http://schemas.openxmlformats.org/officeDocument/2006/relationships/image" Target="../media/image21.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notesSlide" Target="../notesSlides/notesSlide4.xml"/><Relationship Id="rId7" Type="http://schemas.openxmlformats.org/officeDocument/2006/relationships/oleObject" Target="../embeddings/oleObject23.bin"/><Relationship Id="rId2" Type="http://schemas.openxmlformats.org/officeDocument/2006/relationships/slideLayout" Target="../slideLayouts/slideLayout18.xml"/><Relationship Id="rId1" Type="http://schemas.openxmlformats.org/officeDocument/2006/relationships/vmlDrawing" Target="../drawings/vmlDrawing7.vml"/><Relationship Id="rId6" Type="http://schemas.openxmlformats.org/officeDocument/2006/relationships/image" Target="../media/image25.wmf"/><Relationship Id="rId5" Type="http://schemas.openxmlformats.org/officeDocument/2006/relationships/oleObject" Target="../embeddings/oleObject22.bin"/><Relationship Id="rId4" Type="http://schemas.openxmlformats.org/officeDocument/2006/relationships/image" Target="../media/image27.jpg"/></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9.xml"/><Relationship Id="rId1" Type="http://schemas.openxmlformats.org/officeDocument/2006/relationships/vmlDrawing" Target="../drawings/vmlDrawing8.vml"/><Relationship Id="rId4" Type="http://schemas.openxmlformats.org/officeDocument/2006/relationships/image" Target="../media/image28.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9.xml"/><Relationship Id="rId1" Type="http://schemas.openxmlformats.org/officeDocument/2006/relationships/vmlDrawing" Target="../drawings/vmlDrawing9.vml"/><Relationship Id="rId6" Type="http://schemas.openxmlformats.org/officeDocument/2006/relationships/image" Target="../media/image29.wmf"/><Relationship Id="rId5" Type="http://schemas.openxmlformats.org/officeDocument/2006/relationships/oleObject" Target="../embeddings/oleObject25.bin"/><Relationship Id="rId4" Type="http://schemas.openxmlformats.org/officeDocument/2006/relationships/image" Target="../media/image3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notesSlide" Target="../notesSlides/notesSlide6.xml"/><Relationship Id="rId7" Type="http://schemas.openxmlformats.org/officeDocument/2006/relationships/oleObject" Target="../embeddings/oleObject27.bin"/><Relationship Id="rId2" Type="http://schemas.openxmlformats.org/officeDocument/2006/relationships/slideLayout" Target="../slideLayouts/slideLayout18.xml"/><Relationship Id="rId1" Type="http://schemas.openxmlformats.org/officeDocument/2006/relationships/vmlDrawing" Target="../drawings/vmlDrawing10.vml"/><Relationship Id="rId6" Type="http://schemas.openxmlformats.org/officeDocument/2006/relationships/image" Target="../media/image31.wmf"/><Relationship Id="rId5" Type="http://schemas.openxmlformats.org/officeDocument/2006/relationships/oleObject" Target="../embeddings/oleObject26.bin"/><Relationship Id="rId4" Type="http://schemas.openxmlformats.org/officeDocument/2006/relationships/image" Target="../media/image3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8.xml"/><Relationship Id="rId1" Type="http://schemas.openxmlformats.org/officeDocument/2006/relationships/vmlDrawing" Target="../drawings/vmlDrawing11.vml"/><Relationship Id="rId4" Type="http://schemas.openxmlformats.org/officeDocument/2006/relationships/image" Target="../media/image35.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8.xml"/><Relationship Id="rId1" Type="http://schemas.openxmlformats.org/officeDocument/2006/relationships/vmlDrawing" Target="../drawings/vmlDrawing12.vml"/><Relationship Id="rId6" Type="http://schemas.openxmlformats.org/officeDocument/2006/relationships/image" Target="../media/image37.wmf"/><Relationship Id="rId5" Type="http://schemas.openxmlformats.org/officeDocument/2006/relationships/oleObject" Target="../embeddings/oleObject30.bin"/><Relationship Id="rId4" Type="http://schemas.openxmlformats.org/officeDocument/2006/relationships/image" Target="../media/image36.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3.xml"/><Relationship Id="rId1" Type="http://schemas.openxmlformats.org/officeDocument/2006/relationships/vmlDrawing" Target="../drawings/vmlDrawing13.vml"/><Relationship Id="rId4" Type="http://schemas.openxmlformats.org/officeDocument/2006/relationships/image" Target="../media/image38.wmf"/></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vmlDrawing" Target="../drawings/vmlDrawing14.vml"/><Relationship Id="rId6" Type="http://schemas.openxmlformats.org/officeDocument/2006/relationships/image" Target="../media/image39.emf"/><Relationship Id="rId5" Type="http://schemas.openxmlformats.org/officeDocument/2006/relationships/oleObject" Target="../embeddings/oleObject32.bin"/><Relationship Id="rId4" Type="http://schemas.openxmlformats.org/officeDocument/2006/relationships/image" Target="../media/image4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slideLayout" Target="../slideLayouts/slideLayout10.xml"/><Relationship Id="rId1" Type="http://schemas.openxmlformats.org/officeDocument/2006/relationships/vmlDrawing" Target="../drawings/vmlDrawing15.vml"/><Relationship Id="rId6" Type="http://schemas.openxmlformats.org/officeDocument/2006/relationships/image" Target="../media/image42.wmf"/><Relationship Id="rId5" Type="http://schemas.openxmlformats.org/officeDocument/2006/relationships/oleObject" Target="../embeddings/oleObject34.bin"/><Relationship Id="rId4" Type="http://schemas.openxmlformats.org/officeDocument/2006/relationships/image" Target="../media/image41.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hyperlink" Target="http://www.micheloud.com/FXm/MH/index.htm" TargetMode="External"/><Relationship Id="rId4" Type="http://schemas.openxmlformats.org/officeDocument/2006/relationships/image" Target="../media/image44.emf"/></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hyperlink" Target="http://www.imf.org/external/np/sta/cofer/eng/index.ht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notesSlide" Target="../notesSlides/notesSlide12.xml"/><Relationship Id="rId7" Type="http://schemas.openxmlformats.org/officeDocument/2006/relationships/oleObject" Target="../embeddings/oleObject38.bin"/><Relationship Id="rId2" Type="http://schemas.openxmlformats.org/officeDocument/2006/relationships/slideLayout" Target="../slideLayouts/slideLayout18.xml"/><Relationship Id="rId1" Type="http://schemas.openxmlformats.org/officeDocument/2006/relationships/vmlDrawing" Target="../drawings/vmlDrawing17.vml"/><Relationship Id="rId6" Type="http://schemas.openxmlformats.org/officeDocument/2006/relationships/image" Target="../media/image48.wmf"/><Relationship Id="rId5" Type="http://schemas.openxmlformats.org/officeDocument/2006/relationships/oleObject" Target="../embeddings/oleObject37.bin"/><Relationship Id="rId10" Type="http://schemas.openxmlformats.org/officeDocument/2006/relationships/image" Target="../media/image50.wmf"/><Relationship Id="rId4" Type="http://schemas.openxmlformats.org/officeDocument/2006/relationships/image" Target="../media/image51.jpg"/><Relationship Id="rId9" Type="http://schemas.openxmlformats.org/officeDocument/2006/relationships/oleObject" Target="../embeddings/oleObject39.bin"/></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5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1"/>
              </a:ext>
            </a:extLst>
          </p:cNvPr>
          <p:cNvSpPr>
            <a:spLocks noGrp="1"/>
          </p:cNvSpPr>
          <p:nvPr>
            <p:ph type="title"/>
          </p:nvPr>
        </p:nvSpPr>
        <p:spPr>
          <a:xfrm>
            <a:off x="457199" y="143692"/>
            <a:ext cx="8229601" cy="987333"/>
          </a:xfrm>
        </p:spPr>
        <p:txBody>
          <a:bodyPr anchor="ctr"/>
          <a:lstStyle/>
          <a:p>
            <a:r>
              <a:rPr lang="en-US" sz="3200" dirty="0"/>
              <a:t>International Economics: Theory and Policy</a:t>
            </a: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1"/>
              </a:ext>
            </a:extLst>
          </p:cNvPr>
          <p:cNvSpPr>
            <a:spLocks noGrp="1"/>
          </p:cNvSpPr>
          <p:nvPr>
            <p:ph type="body" idx="1"/>
          </p:nvPr>
        </p:nvSpPr>
        <p:spPr>
          <a:xfrm>
            <a:off x="457200" y="1212419"/>
            <a:ext cx="8229600" cy="413524"/>
          </a:xfrm>
        </p:spPr>
        <p:txBody>
          <a:bodyPr anchor="ctr"/>
          <a:lstStyle/>
          <a:p>
            <a:r>
              <a:rPr lang="en-US" dirty="0">
                <a:solidFill>
                  <a:schemeClr val="tx2"/>
                </a:solidFill>
              </a:rPr>
              <a:t>Twelfth Edition</a:t>
            </a:r>
          </a:p>
        </p:txBody>
      </p:sp>
      <p:pic>
        <p:nvPicPr>
          <p:cNvPr id="9" name="Picture 8" descr="Front Cover: International Economics: Theory and Policy, Twelfth Edition by Krugman, Obstfeld and Melitz.">
            <a:extLst>
              <a:ext uri="{FF2B5EF4-FFF2-40B4-BE49-F238E27FC236}">
                <a16:creationId xmlns:a16="http://schemas.microsoft.com/office/drawing/2014/main" id="{D7D46880-8461-406A-8001-EA9E0EE58E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578" y="1704436"/>
            <a:ext cx="3544562" cy="4430702"/>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1"/>
              </a:ext>
            </a:extLst>
          </p:cNvPr>
          <p:cNvSpPr>
            <a:spLocks noGrp="1"/>
          </p:cNvSpPr>
          <p:nvPr>
            <p:ph sz="quarter" idx="14"/>
          </p:nvPr>
        </p:nvSpPr>
        <p:spPr>
          <a:xfrm>
            <a:off x="5029200" y="1906104"/>
            <a:ext cx="3657600" cy="1186345"/>
          </a:xfrm>
        </p:spPr>
        <p:txBody>
          <a:bodyPr/>
          <a:lstStyle/>
          <a:p>
            <a:pPr marL="0" algn="ctr"/>
            <a:r>
              <a:rPr lang="en-US" b="1" dirty="0">
                <a:solidFill>
                  <a:schemeClr val="tx1"/>
                </a:solidFill>
              </a:rPr>
              <a:t>Chapter 18</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1"/>
              </a:ext>
            </a:extLst>
          </p:cNvPr>
          <p:cNvSpPr>
            <a:spLocks noGrp="1"/>
          </p:cNvSpPr>
          <p:nvPr>
            <p:ph sz="quarter" idx="15"/>
          </p:nvPr>
        </p:nvSpPr>
        <p:spPr>
          <a:xfrm>
            <a:off x="5029200" y="3252789"/>
            <a:ext cx="3657600" cy="1408421"/>
          </a:xfrm>
        </p:spPr>
        <p:txBody>
          <a:bodyPr/>
          <a:lstStyle/>
          <a:p>
            <a:pPr algn="ctr"/>
            <a:r>
              <a:rPr lang="en-US" altLang="en-US" dirty="0">
                <a:solidFill>
                  <a:schemeClr val="tx1"/>
                </a:solidFill>
                <a:latin typeface="Arial (Body)"/>
                <a:ea typeface="ヒラギノ角ゴ Pro W3" pitchFamily="-84" charset="-128"/>
              </a:rPr>
              <a:t>Fixed Exchange Rates and Foreign Exchange Intervention</a:t>
            </a:r>
          </a:p>
        </p:txBody>
      </p:sp>
      <p:pic>
        <p:nvPicPr>
          <p:cNvPr id="22" name="Picture Placeholder 21" descr="Pearson Logo">
            <a:extLst>
              <a:ext uri="{FF2B5EF4-FFF2-40B4-BE49-F238E27FC236}">
                <a16:creationId xmlns:a16="http://schemas.microsoft.com/office/drawing/2014/main" id="{463657D3-0029-4FB6-A24C-CAB832988B4E}"/>
              </a:ext>
            </a:extLst>
          </p:cNvPr>
          <p:cNvPicPr>
            <a:picLocks noGrp="1" noChangeAspect="1"/>
          </p:cNvPicPr>
          <p:nvPr>
            <p:ph type="pic" sz="quarter" idx="16"/>
          </p:nvPr>
        </p:nvPicPr>
        <p:blipFill>
          <a:blip r:embed="rId4"/>
          <a:srcRect t="22152" b="22152"/>
          <a:stretch>
            <a:fillRect/>
          </a:stretch>
        </p:blipFill>
        <p:spPr>
          <a:xfrm>
            <a:off x="315677" y="6420639"/>
            <a:ext cx="1176574" cy="296443"/>
          </a:xfrm>
        </p:spPr>
      </p:pic>
      <p:sp>
        <p:nvSpPr>
          <p:cNvPr id="8" name="Content Placeholder 7">
            <a:extLst>
              <a:ext uri="{FF2B5EF4-FFF2-40B4-BE49-F238E27FC236}">
                <a16:creationId xmlns:a16="http://schemas.microsoft.com/office/drawing/2014/main" id="{C8E88D28-1A9F-4FC4-946F-10B4629D1438}"/>
              </a:ext>
              <a:ext uri="{C183D7F6-B498-43B3-948B-1728B52AA6E4}">
                <adec:decorative xmlns:adec="http://schemas.microsoft.com/office/drawing/2017/decorative" val="1"/>
              </a:ext>
            </a:extLst>
          </p:cNvPr>
          <p:cNvSpPr>
            <a:spLocks noGrp="1"/>
          </p:cNvSpPr>
          <p:nvPr>
            <p:ph sz="quarter" idx="17"/>
          </p:nvPr>
        </p:nvSpPr>
        <p:spPr>
          <a:xfrm>
            <a:off x="2173000" y="6415232"/>
            <a:ext cx="6589712" cy="228600"/>
          </a:xfrm>
        </p:spPr>
        <p:txBody>
          <a:bodyPr/>
          <a:lstStyle/>
          <a:p>
            <a:pPr marL="0" indent="0"/>
            <a:r>
              <a:rPr lang="en-US" altLang="en-US" sz="1200" b="0" dirty="0">
                <a:latin typeface="Verdana"/>
                <a:ea typeface="Verdana" panose="020B0604030504040204" pitchFamily="34" charset="0"/>
                <a:cs typeface="Verdana" panose="020B0604030504040204" pitchFamily="34" charset="0"/>
              </a:rPr>
              <a:t>Copyright © </a:t>
            </a:r>
            <a:r>
              <a:rPr lang="en-US" dirty="0"/>
              <a:t>2022, 2018, 2015 </a:t>
            </a:r>
            <a:r>
              <a:rPr lang="en-US" altLang="en-US" sz="1200" b="0" dirty="0">
                <a:latin typeface="Verdana"/>
                <a:ea typeface="Verdana" panose="020B0604030504040204" pitchFamily="34" charset="0"/>
                <a:cs typeface="Verdana" panose="020B0604030504040204" pitchFamily="34" charset="0"/>
              </a:rPr>
              <a:t>Pearson Education, Inc.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Verdana" panose="020B0604030504040204" pitchFamily="34" charset="0"/>
              </a:rPr>
              <a:t>Learning Objectives</a:t>
            </a:r>
            <a:endParaRPr lang="en-IN" sz="2000" dirty="0"/>
          </a:p>
        </p:txBody>
      </p:sp>
      <p:sp>
        <p:nvSpPr>
          <p:cNvPr id="4" name="Content Placeholder 3"/>
          <p:cNvSpPr>
            <a:spLocks noGrp="1"/>
          </p:cNvSpPr>
          <p:nvPr>
            <p:ph sz="quarter" idx="13"/>
          </p:nvPr>
        </p:nvSpPr>
        <p:spPr>
          <a:xfrm>
            <a:off x="457200" y="1556327"/>
            <a:ext cx="8105775" cy="4752398"/>
          </a:xfrm>
        </p:spPr>
        <p:txBody>
          <a:bodyPr/>
          <a:lstStyle/>
          <a:p>
            <a:pPr marL="0" indent="0">
              <a:buNone/>
            </a:pPr>
            <a:r>
              <a:rPr lang="en-US" sz="2200" b="1" dirty="0">
                <a:solidFill>
                  <a:srgbClr val="007FA3"/>
                </a:solidFill>
                <a:latin typeface="Arial (Body)"/>
                <a:ea typeface="Verdana" panose="020B0604030504040204" pitchFamily="34" charset="0"/>
                <a:cs typeface="Verdana" panose="020B0604030504040204" pitchFamily="34" charset="0"/>
              </a:rPr>
              <a:t>18.1</a:t>
            </a:r>
            <a:r>
              <a:rPr lang="en-US" sz="2200" b="1" dirty="0">
                <a:solidFill>
                  <a:schemeClr val="accent1"/>
                </a:solidFill>
                <a:latin typeface="Arial (Body)"/>
                <a:ea typeface="Verdana" panose="020B0604030504040204" pitchFamily="34" charset="0"/>
                <a:cs typeface="Verdana" panose="020B0604030504040204" pitchFamily="34" charset="0"/>
              </a:rPr>
              <a:t> </a:t>
            </a:r>
            <a:r>
              <a:rPr lang="en-US" sz="2200" dirty="0">
                <a:latin typeface="Arial (Body)"/>
              </a:rPr>
              <a:t>Understand how a central bank must manage monetary policy so as to fix its currency’s value in the foreign exchange market.</a:t>
            </a:r>
          </a:p>
          <a:p>
            <a:pPr marL="0" indent="0">
              <a:buNone/>
            </a:pPr>
            <a:r>
              <a:rPr lang="en-US" sz="2200" b="1" dirty="0">
                <a:solidFill>
                  <a:srgbClr val="007FA3"/>
                </a:solidFill>
                <a:latin typeface="Arial (Body)"/>
                <a:ea typeface="Verdana" panose="020B0604030504040204" pitchFamily="34" charset="0"/>
                <a:cs typeface="Verdana" panose="020B0604030504040204" pitchFamily="34" charset="0"/>
              </a:rPr>
              <a:t>18.2</a:t>
            </a:r>
            <a:r>
              <a:rPr lang="en-US" sz="2200" dirty="0">
                <a:latin typeface="Arial (Body)"/>
              </a:rPr>
              <a:t> Describe and analyze the relationship among the central bank’s foreign exchange reserves, its purchases and sales in the foreign exchange market, and the money supply.</a:t>
            </a:r>
          </a:p>
          <a:p>
            <a:pPr marL="0" indent="0">
              <a:buNone/>
            </a:pPr>
            <a:r>
              <a:rPr lang="en-US" sz="2200" b="1" dirty="0">
                <a:solidFill>
                  <a:srgbClr val="007FA3"/>
                </a:solidFill>
                <a:latin typeface="Arial (Body)"/>
                <a:ea typeface="Verdana" panose="020B0604030504040204" pitchFamily="34" charset="0"/>
                <a:cs typeface="Verdana" panose="020B0604030504040204" pitchFamily="34" charset="0"/>
              </a:rPr>
              <a:t>18.3</a:t>
            </a:r>
            <a:r>
              <a:rPr lang="en-US" sz="2200" dirty="0">
                <a:latin typeface="Arial (Body)"/>
              </a:rPr>
              <a:t> Explain how monetary, fiscal, and sterilized intervention policies affect the economy under a fixed exchange rate.</a:t>
            </a:r>
          </a:p>
          <a:p>
            <a:pPr marL="0" indent="0">
              <a:buNone/>
            </a:pPr>
            <a:r>
              <a:rPr lang="en-US" sz="2200" b="1" dirty="0">
                <a:solidFill>
                  <a:srgbClr val="007FA3"/>
                </a:solidFill>
                <a:latin typeface="Arial (Body)"/>
                <a:ea typeface="Verdana" panose="020B0604030504040204" pitchFamily="34" charset="0"/>
                <a:cs typeface="Verdana" panose="020B0604030504040204" pitchFamily="34" charset="0"/>
              </a:rPr>
              <a:t>18.4</a:t>
            </a:r>
            <a:r>
              <a:rPr lang="en-US" sz="2200" dirty="0">
                <a:latin typeface="Arial (Body)"/>
              </a:rPr>
              <a:t> Discuss causes and effects of balance of payments crises.</a:t>
            </a:r>
          </a:p>
          <a:p>
            <a:pPr marL="0" indent="0">
              <a:buNone/>
            </a:pPr>
            <a:r>
              <a:rPr lang="en-US" sz="2200" b="1" dirty="0">
                <a:solidFill>
                  <a:srgbClr val="007FA3"/>
                </a:solidFill>
                <a:latin typeface="Arial (Body)"/>
                <a:ea typeface="Verdana" panose="020B0604030504040204" pitchFamily="34" charset="0"/>
                <a:cs typeface="Verdana" panose="020B0604030504040204" pitchFamily="34" charset="0"/>
              </a:rPr>
              <a:t>18.5</a:t>
            </a:r>
            <a:r>
              <a:rPr lang="en-US" sz="2200" b="1" dirty="0">
                <a:solidFill>
                  <a:schemeClr val="accent1"/>
                </a:solidFill>
                <a:latin typeface="Arial (Body)"/>
                <a:ea typeface="Verdana" panose="020B0604030504040204" pitchFamily="34" charset="0"/>
                <a:cs typeface="Verdana" panose="020B0604030504040204" pitchFamily="34" charset="0"/>
              </a:rPr>
              <a:t> </a:t>
            </a:r>
            <a:r>
              <a:rPr lang="en-US" sz="2200" dirty="0">
                <a:latin typeface="Arial (Body)"/>
              </a:rPr>
              <a:t>Describe how alternative multilateral systems for pegging exchange rates work</a:t>
            </a:r>
          </a:p>
        </p:txBody>
      </p:sp>
    </p:spTree>
    <p:extLst>
      <p:ext uri="{BB962C8B-B14F-4D97-AF65-F5344CB8AC3E}">
        <p14:creationId xmlns:p14="http://schemas.microsoft.com/office/powerpoint/2010/main" val="1703878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Preview</a:t>
            </a:r>
            <a:endParaRPr lang="en-IN" sz="2000" dirty="0">
              <a:cs typeface="Times New Roman" panose="02020603050405020304" pitchFamily="18" charset="0"/>
            </a:endParaRPr>
          </a:p>
        </p:txBody>
      </p:sp>
      <p:sp>
        <p:nvSpPr>
          <p:cNvPr id="4" name="Content Placeholder 3"/>
          <p:cNvSpPr>
            <a:spLocks noGrp="1"/>
          </p:cNvSpPr>
          <p:nvPr>
            <p:ph sz="quarter" idx="13"/>
          </p:nvPr>
        </p:nvSpPr>
        <p:spPr>
          <a:xfrm>
            <a:off x="457200" y="1556327"/>
            <a:ext cx="8020050" cy="4586896"/>
          </a:xfrm>
        </p:spPr>
        <p:txBody>
          <a:bodyPr/>
          <a:lstStyle/>
          <a:p>
            <a:pPr eaLnBrk="1" hangingPunct="1"/>
            <a:r>
              <a:rPr lang="en-US" altLang="en-US" dirty="0">
                <a:latin typeface="Arial (Body)"/>
                <a:ea typeface="ヒラギノ角ゴ Pro W3" pitchFamily="-84" charset="-128"/>
              </a:rPr>
              <a:t>Balance sheets of central banks</a:t>
            </a:r>
          </a:p>
          <a:p>
            <a:pPr eaLnBrk="1" hangingPunct="1"/>
            <a:r>
              <a:rPr lang="en-US" altLang="en-US" dirty="0">
                <a:latin typeface="Arial (Body)"/>
                <a:ea typeface="ヒラギノ角ゴ Pro W3" pitchFamily="-84" charset="-128"/>
              </a:rPr>
              <a:t>Intervention in the foreign exchange markets and the money supply</a:t>
            </a:r>
          </a:p>
          <a:p>
            <a:pPr eaLnBrk="1" hangingPunct="1"/>
            <a:r>
              <a:rPr lang="en-US" altLang="en-US" dirty="0">
                <a:latin typeface="Arial (Body)"/>
                <a:ea typeface="ヒラギノ角ゴ Pro W3" pitchFamily="-84" charset="-128"/>
              </a:rPr>
              <a:t>How the central bank fixes the exchange rate</a:t>
            </a:r>
          </a:p>
          <a:p>
            <a:pPr eaLnBrk="1" hangingPunct="1"/>
            <a:r>
              <a:rPr lang="en-US" altLang="en-US" dirty="0">
                <a:latin typeface="Arial (Body)"/>
                <a:ea typeface="ヒラギノ角ゴ Pro W3" pitchFamily="-84" charset="-128"/>
              </a:rPr>
              <a:t>Monetary and fiscal policies under fixed exchange rates</a:t>
            </a:r>
          </a:p>
          <a:p>
            <a:pPr eaLnBrk="1" hangingPunct="1"/>
            <a:r>
              <a:rPr lang="en-US" altLang="en-US" dirty="0">
                <a:latin typeface="Arial (Body)"/>
                <a:ea typeface="ヒラギノ角ゴ Pro W3" pitchFamily="-84" charset="-128"/>
              </a:rPr>
              <a:t>Financial market crises and capital flight</a:t>
            </a:r>
          </a:p>
          <a:p>
            <a:pPr eaLnBrk="1" hangingPunct="1"/>
            <a:r>
              <a:rPr lang="en-US" altLang="en-US" dirty="0">
                <a:latin typeface="Arial (Body)"/>
                <a:ea typeface="ヒラギノ角ゴ Pro W3" pitchFamily="-84" charset="-128"/>
              </a:rPr>
              <a:t>Types of fixed exchange rates: reserve currency and gold standard systems</a:t>
            </a:r>
          </a:p>
        </p:txBody>
      </p:sp>
    </p:spTree>
    <p:extLst>
      <p:ext uri="{BB962C8B-B14F-4D97-AF65-F5344CB8AC3E}">
        <p14:creationId xmlns:p14="http://schemas.microsoft.com/office/powerpoint/2010/main" val="14801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CDDBE-EBFC-4DEC-BE51-44E39BE0E2F3}"/>
              </a:ext>
            </a:extLst>
          </p:cNvPr>
          <p:cNvSpPr>
            <a:spLocks noGrp="1"/>
          </p:cNvSpPr>
          <p:nvPr>
            <p:ph type="title"/>
          </p:nvPr>
        </p:nvSpPr>
        <p:spPr/>
        <p:txBody>
          <a:bodyPr/>
          <a:lstStyle/>
          <a:p>
            <a:r>
              <a:rPr lang="en-US" altLang="en-US" sz="3600">
                <a:ea typeface="ヒラギノ角ゴ Pro W3" pitchFamily="-84" charset="-128"/>
              </a:rPr>
              <a:t>Introduction</a:t>
            </a:r>
            <a:endParaRPr lang="en-US"/>
          </a:p>
        </p:txBody>
      </p:sp>
      <p:sp>
        <p:nvSpPr>
          <p:cNvPr id="3" name="Content Placeholder 2">
            <a:extLst>
              <a:ext uri="{FF2B5EF4-FFF2-40B4-BE49-F238E27FC236}">
                <a16:creationId xmlns:a16="http://schemas.microsoft.com/office/drawing/2014/main" id="{1D91AA58-A81D-4E3C-8395-7EC01F47455F}"/>
              </a:ext>
            </a:extLst>
          </p:cNvPr>
          <p:cNvSpPr>
            <a:spLocks noGrp="1"/>
          </p:cNvSpPr>
          <p:nvPr>
            <p:ph sz="quarter" idx="13"/>
          </p:nvPr>
        </p:nvSpPr>
        <p:spPr>
          <a:xfrm>
            <a:off x="457200" y="1556327"/>
            <a:ext cx="8229600" cy="4752398"/>
          </a:xfrm>
        </p:spPr>
        <p:txBody>
          <a:bodyPr/>
          <a:lstStyle/>
          <a:p>
            <a:pPr eaLnBrk="1" hangingPunct="1"/>
            <a:r>
              <a:rPr lang="en-US" altLang="en-US" dirty="0">
                <a:ea typeface="ヒラギノ角ゴ Pro W3" pitchFamily="-84" charset="-128"/>
              </a:rPr>
              <a:t>Many countries try to fix or </a:t>
            </a:r>
            <a:r>
              <a:rPr lang="en-US" altLang="ja-JP" dirty="0">
                <a:ea typeface="ヒラギノ角ゴ Pro W3" pitchFamily="-84" charset="-128"/>
              </a:rPr>
              <a:t>“peg” their exchange rate to a currency or group of currencies by intervening in the foreign exchange markets.</a:t>
            </a:r>
          </a:p>
          <a:p>
            <a:pPr eaLnBrk="1" hangingPunct="1"/>
            <a:r>
              <a:rPr lang="en-US" altLang="en-US" dirty="0">
                <a:ea typeface="ヒラギノ角ゴ Pro W3" pitchFamily="-84" charset="-128"/>
              </a:rPr>
              <a:t>Many with a flexible or </a:t>
            </a:r>
            <a:r>
              <a:rPr lang="en-US" altLang="ja-JP" dirty="0">
                <a:ea typeface="ヒラギノ角ゴ Pro W3" pitchFamily="-84" charset="-128"/>
              </a:rPr>
              <a:t>“floating” exchange rate in fact practice a </a:t>
            </a:r>
            <a:r>
              <a:rPr lang="en-US" altLang="ja-JP" b="1" dirty="0">
                <a:ea typeface="ヒラギノ角ゴ Pro W3" pitchFamily="-84" charset="-128"/>
              </a:rPr>
              <a:t>managed floating exchange rate</a:t>
            </a:r>
            <a:r>
              <a:rPr lang="en-US" altLang="ja-JP" dirty="0">
                <a:ea typeface="ヒラギノ角ゴ Pro W3" pitchFamily="-84" charset="-128"/>
              </a:rPr>
              <a:t>.</a:t>
            </a:r>
          </a:p>
          <a:p>
            <a:pPr lvl="1" eaLnBrk="1" hangingPunct="1"/>
            <a:r>
              <a:rPr lang="en-US" altLang="en-US" dirty="0">
                <a:ea typeface="ヒラギノ角ゴ Pro W3" pitchFamily="-84" charset="-128"/>
              </a:rPr>
              <a:t>The central bank </a:t>
            </a:r>
            <a:r>
              <a:rPr lang="en-US" altLang="ja-JP" dirty="0">
                <a:ea typeface="ヒラギノ角ゴ Pro W3" pitchFamily="-84" charset="-128"/>
              </a:rPr>
              <a:t>“manages” the exchange rate from time to time by buying and selling currency and assets, especially in periods of exchange rate volatility.</a:t>
            </a:r>
          </a:p>
          <a:p>
            <a:pPr eaLnBrk="1" hangingPunct="1"/>
            <a:r>
              <a:rPr lang="en-US" altLang="en-US" dirty="0">
                <a:ea typeface="ヒラギノ角ゴ Pro W3" pitchFamily="-84" charset="-128"/>
              </a:rPr>
              <a:t>How do central banks intervene in the foreign exchange markets?</a:t>
            </a:r>
          </a:p>
        </p:txBody>
      </p:sp>
    </p:spTree>
    <p:extLst>
      <p:ext uri="{BB962C8B-B14F-4D97-AF65-F5344CB8AC3E}">
        <p14:creationId xmlns:p14="http://schemas.microsoft.com/office/powerpoint/2010/main" val="145972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506A7-2A47-48B5-8F58-BE20C8BF1C5F}"/>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Central Bank Intervention and the Money Supply</a:t>
            </a:r>
            <a:endParaRPr lang="en-IN" sz="32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C4139FFD-7989-4C0D-85C6-F021B10BFA34}"/>
              </a:ext>
            </a:extLst>
          </p:cNvPr>
          <p:cNvSpPr>
            <a:spLocks noGrp="1"/>
          </p:cNvSpPr>
          <p:nvPr>
            <p:ph sz="quarter" idx="13"/>
          </p:nvPr>
        </p:nvSpPr>
        <p:spPr/>
        <p:txBody>
          <a:bodyPr/>
          <a:lstStyle/>
          <a:p>
            <a:pPr eaLnBrk="1" hangingPunct="1"/>
            <a:r>
              <a:rPr lang="en-US" altLang="en-US" dirty="0">
                <a:latin typeface="Arial (Body)"/>
                <a:ea typeface="ヒラギノ角ゴ Pro W3" pitchFamily="-84" charset="-128"/>
              </a:rPr>
              <a:t>To study the effects of central bank intervention in the foreign exchange markets, first construct a simplified balance sheet for the central bank.</a:t>
            </a:r>
          </a:p>
          <a:p>
            <a:pPr lvl="1" eaLnBrk="1" hangingPunct="1"/>
            <a:r>
              <a:rPr lang="en-US" altLang="en-US" dirty="0">
                <a:latin typeface="Arial (Body)"/>
                <a:ea typeface="ヒラギノ角ゴ Pro W3" pitchFamily="-84" charset="-128"/>
              </a:rPr>
              <a:t>This records the assets and liabilities of a central bank.</a:t>
            </a:r>
          </a:p>
          <a:p>
            <a:pPr lvl="1" eaLnBrk="1" hangingPunct="1"/>
            <a:r>
              <a:rPr lang="en-US" altLang="en-US" dirty="0">
                <a:latin typeface="Arial (Body)"/>
                <a:ea typeface="ヒラギノ角ゴ Pro W3" pitchFamily="-84" charset="-128"/>
              </a:rPr>
              <a:t>Balance sheets use double-entry bookkeeping: each transaction enters the balance sheet twice.</a:t>
            </a:r>
          </a:p>
        </p:txBody>
      </p:sp>
    </p:spTree>
    <p:extLst>
      <p:ext uri="{BB962C8B-B14F-4D97-AF65-F5344CB8AC3E}">
        <p14:creationId xmlns:p14="http://schemas.microsoft.com/office/powerpoint/2010/main" val="1291852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1AFC2-5CBF-43AD-BCC8-0509D58FB630}"/>
              </a:ext>
            </a:extLst>
          </p:cNvPr>
          <p:cNvSpPr>
            <a:spLocks noGrp="1"/>
          </p:cNvSpPr>
          <p:nvPr>
            <p:ph type="title"/>
          </p:nvPr>
        </p:nvSpPr>
        <p:spPr/>
        <p:txBody>
          <a:bodyPr/>
          <a:lstStyle/>
          <a:p>
            <a:r>
              <a:rPr lang="en-US" altLang="en-US" dirty="0">
                <a:ea typeface="ヒラギノ角ゴ Pro W3" pitchFamily="-84" charset="-128"/>
              </a:rPr>
              <a:t>Central Bank’</a:t>
            </a:r>
            <a:r>
              <a:rPr lang="en-US" altLang="ja-JP" dirty="0">
                <a:ea typeface="ヒラギノ角ゴ Pro W3" pitchFamily="-84" charset="-128"/>
              </a:rPr>
              <a:t>s Balance Sheet </a:t>
            </a:r>
            <a:r>
              <a:rPr lang="en-US" altLang="ja-JP" sz="2000" b="0" dirty="0">
                <a:ea typeface="ヒラギノ角ゴ Pro W3" pitchFamily="-84" charset="-128"/>
              </a:rPr>
              <a:t>(1 of 2)</a:t>
            </a:r>
            <a:endParaRPr lang="en-IN" sz="2000" dirty="0"/>
          </a:p>
        </p:txBody>
      </p:sp>
      <p:sp>
        <p:nvSpPr>
          <p:cNvPr id="3" name="Content Placeholder 2">
            <a:extLst>
              <a:ext uri="{FF2B5EF4-FFF2-40B4-BE49-F238E27FC236}">
                <a16:creationId xmlns:a16="http://schemas.microsoft.com/office/drawing/2014/main" id="{EAB87E0E-6336-4732-AD12-1FD46E6D3E6E}"/>
              </a:ext>
            </a:extLst>
          </p:cNvPr>
          <p:cNvSpPr>
            <a:spLocks noGrp="1"/>
          </p:cNvSpPr>
          <p:nvPr>
            <p:ph sz="quarter" idx="13"/>
          </p:nvPr>
        </p:nvSpPr>
        <p:spPr>
          <a:xfrm>
            <a:off x="457200" y="1556327"/>
            <a:ext cx="8229600" cy="4434898"/>
          </a:xfrm>
        </p:spPr>
        <p:txBody>
          <a:bodyPr/>
          <a:lstStyle/>
          <a:p>
            <a:pPr eaLnBrk="1" hangingPunct="1"/>
            <a:r>
              <a:rPr lang="en-US" altLang="en-US" sz="2200" dirty="0">
                <a:latin typeface="Arial (Body)"/>
                <a:ea typeface="ヒラギノ角ゴ Pro W3" pitchFamily="-84" charset="-128"/>
              </a:rPr>
              <a:t>Assets</a:t>
            </a:r>
          </a:p>
          <a:p>
            <a:pPr lvl="1" eaLnBrk="1" hangingPunct="1"/>
            <a:r>
              <a:rPr lang="en-US" altLang="en-US" sz="2200" dirty="0">
                <a:latin typeface="Arial (Body)"/>
                <a:ea typeface="ヒラギノ角ゴ Pro W3" pitchFamily="-84" charset="-128"/>
              </a:rPr>
              <a:t>Foreign government bonds (official international reserves)</a:t>
            </a:r>
          </a:p>
          <a:p>
            <a:pPr lvl="1" eaLnBrk="1" hangingPunct="1"/>
            <a:r>
              <a:rPr lang="en-US" altLang="en-US" sz="2200" dirty="0">
                <a:latin typeface="Arial (Body)"/>
                <a:ea typeface="ヒラギノ角ゴ Pro W3" pitchFamily="-84" charset="-128"/>
              </a:rPr>
              <a:t>Gold (official international reserves)</a:t>
            </a:r>
          </a:p>
          <a:p>
            <a:pPr lvl="1" eaLnBrk="1" hangingPunct="1"/>
            <a:r>
              <a:rPr lang="en-US" altLang="en-US" sz="2200" dirty="0">
                <a:latin typeface="Arial (Body)"/>
                <a:ea typeface="ヒラギノ角ゴ Pro W3" pitchFamily="-84" charset="-128"/>
              </a:rPr>
              <a:t>Domestic government bonds </a:t>
            </a:r>
          </a:p>
          <a:p>
            <a:pPr lvl="1" eaLnBrk="1" hangingPunct="1"/>
            <a:r>
              <a:rPr lang="en-US" altLang="en-US" sz="2200" dirty="0">
                <a:latin typeface="Arial (Body)"/>
                <a:ea typeface="ヒラギノ角ゴ Pro W3" pitchFamily="-84" charset="-128"/>
              </a:rPr>
              <a:t>Loans to domestic banks (called discount loans in United States)</a:t>
            </a:r>
          </a:p>
          <a:p>
            <a:pPr eaLnBrk="1" hangingPunct="1"/>
            <a:r>
              <a:rPr lang="en-US" altLang="en-US" sz="2200" dirty="0">
                <a:latin typeface="Arial (Body)"/>
                <a:ea typeface="ヒラギノ角ゴ Pro W3" pitchFamily="-84" charset="-128"/>
              </a:rPr>
              <a:t>Liabilities</a:t>
            </a:r>
          </a:p>
          <a:p>
            <a:pPr lvl="1" eaLnBrk="1" hangingPunct="1"/>
            <a:r>
              <a:rPr lang="en-US" altLang="en-US" sz="2200" dirty="0">
                <a:latin typeface="Arial (Body)"/>
                <a:ea typeface="ヒラギノ角ゴ Pro W3" pitchFamily="-84" charset="-128"/>
              </a:rPr>
              <a:t>Deposits of domestic banks</a:t>
            </a:r>
          </a:p>
          <a:p>
            <a:pPr lvl="1" eaLnBrk="1" hangingPunct="1"/>
            <a:r>
              <a:rPr lang="en-US" altLang="en-US" sz="2200" dirty="0">
                <a:latin typeface="Arial (Body)"/>
                <a:ea typeface="ヒラギノ角ゴ Pro W3" pitchFamily="-84" charset="-128"/>
              </a:rPr>
              <a:t>Currency in circulation (previously central banks had to give up gold when citizens brought currency to exchange)</a:t>
            </a:r>
          </a:p>
        </p:txBody>
      </p:sp>
    </p:spTree>
    <p:extLst>
      <p:ext uri="{BB962C8B-B14F-4D97-AF65-F5344CB8AC3E}">
        <p14:creationId xmlns:p14="http://schemas.microsoft.com/office/powerpoint/2010/main" val="2613588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1AFC2-5CBF-43AD-BCC8-0509D58FB630}"/>
              </a:ext>
            </a:extLst>
          </p:cNvPr>
          <p:cNvSpPr>
            <a:spLocks noGrp="1"/>
          </p:cNvSpPr>
          <p:nvPr>
            <p:ph type="title"/>
          </p:nvPr>
        </p:nvSpPr>
        <p:spPr/>
        <p:txBody>
          <a:bodyPr/>
          <a:lstStyle/>
          <a:p>
            <a:r>
              <a:rPr lang="en-US" altLang="en-US" dirty="0">
                <a:ea typeface="ヒラギノ角ゴ Pro W3" pitchFamily="-84" charset="-128"/>
              </a:rPr>
              <a:t>Central Bank’</a:t>
            </a:r>
            <a:r>
              <a:rPr lang="en-US" altLang="ja-JP" dirty="0">
                <a:ea typeface="ヒラギノ角ゴ Pro W3" pitchFamily="-84" charset="-128"/>
              </a:rPr>
              <a:t>s Balance Sheet </a:t>
            </a:r>
            <a:r>
              <a:rPr lang="en-US" altLang="ja-JP" sz="2000" b="0" dirty="0">
                <a:ea typeface="ヒラギノ角ゴ Pro W3" pitchFamily="-84" charset="-128"/>
              </a:rPr>
              <a:t>(2 of 2)</a:t>
            </a:r>
            <a:endParaRPr lang="en-IN" sz="2000" dirty="0"/>
          </a:p>
        </p:txBody>
      </p:sp>
      <p:sp>
        <p:nvSpPr>
          <p:cNvPr id="3" name="Content Placeholder 2">
            <a:extLst>
              <a:ext uri="{FF2B5EF4-FFF2-40B4-BE49-F238E27FC236}">
                <a16:creationId xmlns:a16="http://schemas.microsoft.com/office/drawing/2014/main" id="{EAB87E0E-6336-4732-AD12-1FD46E6D3E6E}"/>
              </a:ext>
            </a:extLst>
          </p:cNvPr>
          <p:cNvSpPr>
            <a:spLocks noGrp="1"/>
          </p:cNvSpPr>
          <p:nvPr>
            <p:ph sz="quarter" idx="13"/>
          </p:nvPr>
        </p:nvSpPr>
        <p:spPr>
          <a:xfrm>
            <a:off x="457200" y="1556327"/>
            <a:ext cx="8229600" cy="4752398"/>
          </a:xfrm>
        </p:spPr>
        <p:txBody>
          <a:bodyPr/>
          <a:lstStyle/>
          <a:p>
            <a:pPr eaLnBrk="1" hangingPunct="1">
              <a:spcBef>
                <a:spcPts val="1000"/>
              </a:spcBef>
            </a:pPr>
            <a:r>
              <a:rPr lang="en-US" altLang="en-US" sz="2200" dirty="0">
                <a:latin typeface="Arial (Body)"/>
                <a:ea typeface="ヒラギノ角ゴ Pro W3" pitchFamily="-84" charset="-128"/>
              </a:rPr>
              <a:t>Assets = Liabilities + Net Worth</a:t>
            </a:r>
          </a:p>
          <a:p>
            <a:pPr lvl="1" eaLnBrk="1" hangingPunct="1"/>
            <a:r>
              <a:rPr lang="en-US" altLang="en-US" sz="2200" dirty="0">
                <a:latin typeface="Arial (Body)"/>
                <a:ea typeface="ヒラギノ角ゴ Pro W3" pitchFamily="-84" charset="-128"/>
              </a:rPr>
              <a:t>If assume that net worth is constant, then</a:t>
            </a:r>
          </a:p>
          <a:p>
            <a:pPr lvl="2" eaLnBrk="1" hangingPunct="1"/>
            <a:r>
              <a:rPr lang="en-US" altLang="en-US" sz="2200" dirty="0">
                <a:latin typeface="Arial (Body)"/>
                <a:ea typeface="ヒラギノ角ゴ Pro W3" pitchFamily="-84" charset="-128"/>
              </a:rPr>
              <a:t>An increase in assets leads to an equal increase in liabilities.</a:t>
            </a:r>
          </a:p>
          <a:p>
            <a:pPr lvl="2" eaLnBrk="1" hangingPunct="1"/>
            <a:r>
              <a:rPr lang="en-US" altLang="en-US" sz="2200" dirty="0">
                <a:latin typeface="Arial (Body)"/>
                <a:ea typeface="ヒラギノ角ゴ Pro W3" pitchFamily="-84" charset="-128"/>
              </a:rPr>
              <a:t>A decrease in assets leads to an equal decrease in liabilities.</a:t>
            </a:r>
          </a:p>
          <a:p>
            <a:pPr eaLnBrk="1" hangingPunct="1"/>
            <a:r>
              <a:rPr lang="en-US" altLang="en-US" sz="2200" dirty="0">
                <a:latin typeface="Arial (Body)"/>
                <a:ea typeface="ヒラギノ角ゴ Pro W3" pitchFamily="-84" charset="-128"/>
              </a:rPr>
              <a:t>Changes in the central bank</a:t>
            </a:r>
            <a:r>
              <a:rPr lang="en-US" altLang="ja-JP" sz="2200" dirty="0">
                <a:latin typeface="Arial (Body)"/>
                <a:ea typeface="ヒラギノ角ゴ Pro W3" pitchFamily="-84" charset="-128"/>
              </a:rPr>
              <a:t>’s balance sheet lead to changes in currency in circulation or changes in deposits of banks, which lead to changes in the money supply.</a:t>
            </a:r>
          </a:p>
          <a:p>
            <a:pPr lvl="1" eaLnBrk="1" hangingPunct="1"/>
            <a:r>
              <a:rPr lang="en-US" altLang="en-US" sz="2200" dirty="0">
                <a:latin typeface="Arial (Body)"/>
                <a:ea typeface="ヒラギノ角ゴ Pro W3" pitchFamily="-84" charset="-128"/>
              </a:rPr>
              <a:t>If their deposits at the central bank increase, banks are usually able to use these additional funds to lend to customers, so amount of money in circulation increases.</a:t>
            </a:r>
          </a:p>
        </p:txBody>
      </p:sp>
    </p:spTree>
    <p:extLst>
      <p:ext uri="{BB962C8B-B14F-4D97-AF65-F5344CB8AC3E}">
        <p14:creationId xmlns:p14="http://schemas.microsoft.com/office/powerpoint/2010/main" val="386116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1378-E169-47BB-813B-E05EF4B59013}"/>
              </a:ext>
            </a:extLst>
          </p:cNvPr>
          <p:cNvSpPr>
            <a:spLocks noGrp="1"/>
          </p:cNvSpPr>
          <p:nvPr>
            <p:ph type="title"/>
          </p:nvPr>
        </p:nvSpPr>
        <p:spPr>
          <a:xfrm>
            <a:off x="457200" y="215371"/>
            <a:ext cx="7515922" cy="1097279"/>
          </a:xfrm>
        </p:spPr>
        <p:txBody>
          <a:bodyPr/>
          <a:lstStyle/>
          <a:p>
            <a:r>
              <a:rPr lang="en-US" altLang="en-US" sz="3000" dirty="0">
                <a:ea typeface="ヒラギノ角ゴ Pro W3" pitchFamily="-84" charset="-128"/>
              </a:rPr>
              <a:t>Assets, Liabilities, and the Money Supply </a:t>
            </a:r>
            <a:r>
              <a:rPr lang="en-US" altLang="en-US" sz="2000" b="0" dirty="0">
                <a:ea typeface="ヒラギノ角ゴ Pro W3" pitchFamily="-84" charset="-128"/>
              </a:rPr>
              <a:t>(1 of 2)</a:t>
            </a:r>
            <a:endParaRPr lang="en-IN" sz="2000" dirty="0"/>
          </a:p>
        </p:txBody>
      </p:sp>
      <p:sp>
        <p:nvSpPr>
          <p:cNvPr id="3" name="Content Placeholder 2">
            <a:extLst>
              <a:ext uri="{FF2B5EF4-FFF2-40B4-BE49-F238E27FC236}">
                <a16:creationId xmlns:a16="http://schemas.microsoft.com/office/drawing/2014/main" id="{4DB17438-75F1-4264-81A5-F21BDFF34B7C}"/>
              </a:ext>
            </a:extLst>
          </p:cNvPr>
          <p:cNvSpPr>
            <a:spLocks noGrp="1"/>
          </p:cNvSpPr>
          <p:nvPr>
            <p:ph sz="quarter" idx="13"/>
          </p:nvPr>
        </p:nvSpPr>
        <p:spPr>
          <a:xfrm>
            <a:off x="457200" y="1556327"/>
            <a:ext cx="8362950" cy="4586896"/>
          </a:xfrm>
        </p:spPr>
        <p:txBody>
          <a:bodyPr/>
          <a:lstStyle/>
          <a:p>
            <a:pPr eaLnBrk="1" hangingPunct="1"/>
            <a:r>
              <a:rPr lang="en-US" altLang="en-US" dirty="0">
                <a:latin typeface="Arial (Body)"/>
                <a:ea typeface="ヒラギノ角ゴ Pro W3" pitchFamily="-84" charset="-128"/>
              </a:rPr>
              <a:t>A </a:t>
            </a:r>
            <a:r>
              <a:rPr lang="en-US" altLang="en-US" b="1" dirty="0">
                <a:latin typeface="Arial (Body)"/>
                <a:ea typeface="ヒラギノ角ゴ Pro W3" pitchFamily="-84" charset="-128"/>
              </a:rPr>
              <a:t>purchase</a:t>
            </a:r>
            <a:r>
              <a:rPr lang="en-US" altLang="en-US" dirty="0">
                <a:latin typeface="Arial (Body)"/>
                <a:ea typeface="ヒラギノ角ゴ Pro W3" pitchFamily="-84" charset="-128"/>
              </a:rPr>
              <a:t> of any asset by the central bank will be paid for with currency or a check written from the central bank,</a:t>
            </a:r>
          </a:p>
          <a:p>
            <a:pPr lvl="1" eaLnBrk="1" hangingPunct="1"/>
            <a:r>
              <a:rPr lang="en-US" altLang="en-US" dirty="0">
                <a:latin typeface="Arial (Body)"/>
                <a:ea typeface="ヒラギノ角ゴ Pro W3" pitchFamily="-84" charset="-128"/>
              </a:rPr>
              <a:t>both of which are denominated in domestic currency, and</a:t>
            </a:r>
          </a:p>
          <a:p>
            <a:pPr lvl="1" eaLnBrk="1" hangingPunct="1"/>
            <a:r>
              <a:rPr lang="en-US" altLang="en-US" dirty="0">
                <a:latin typeface="Arial (Body)"/>
                <a:ea typeface="ヒラギノ角ゴ Pro W3" pitchFamily="-84" charset="-128"/>
              </a:rPr>
              <a:t>both of which increase the supply of money in circulation.</a:t>
            </a:r>
          </a:p>
          <a:p>
            <a:pPr lvl="1" eaLnBrk="1" hangingPunct="1"/>
            <a:r>
              <a:rPr lang="en-US" altLang="en-US" dirty="0">
                <a:latin typeface="Arial (Body)"/>
                <a:ea typeface="ヒラギノ角ゴ Pro W3" pitchFamily="-84" charset="-128"/>
              </a:rPr>
              <a:t>The transaction leads to equal increases of assets and liabilities.</a:t>
            </a:r>
          </a:p>
          <a:p>
            <a:pPr eaLnBrk="1" hangingPunct="1"/>
            <a:r>
              <a:rPr lang="en-US" altLang="en-US" dirty="0">
                <a:latin typeface="Arial (Body)"/>
                <a:ea typeface="ヒラギノ角ゴ Pro W3" pitchFamily="-84" charset="-128"/>
              </a:rPr>
              <a:t>When the central bank buys </a:t>
            </a:r>
            <a:r>
              <a:rPr lang="en-US" altLang="en-US" b="1" dirty="0">
                <a:latin typeface="Arial (Body)"/>
                <a:ea typeface="ヒラギノ角ゴ Pro W3" pitchFamily="-84" charset="-128"/>
              </a:rPr>
              <a:t>domestic bonds or foreign bonds</a:t>
            </a:r>
            <a:r>
              <a:rPr lang="en-US" altLang="en-US" dirty="0">
                <a:latin typeface="Arial (Body)"/>
                <a:ea typeface="ヒラギノ角ゴ Pro W3" pitchFamily="-84" charset="-128"/>
              </a:rPr>
              <a:t>, the domestic money supply increases.</a:t>
            </a:r>
          </a:p>
        </p:txBody>
      </p:sp>
    </p:spTree>
    <p:extLst>
      <p:ext uri="{BB962C8B-B14F-4D97-AF65-F5344CB8AC3E}">
        <p14:creationId xmlns:p14="http://schemas.microsoft.com/office/powerpoint/2010/main" val="2995917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F1378-E169-47BB-813B-E05EF4B59013}"/>
              </a:ext>
            </a:extLst>
          </p:cNvPr>
          <p:cNvSpPr>
            <a:spLocks noGrp="1"/>
          </p:cNvSpPr>
          <p:nvPr>
            <p:ph type="title"/>
          </p:nvPr>
        </p:nvSpPr>
        <p:spPr>
          <a:xfrm>
            <a:off x="457200" y="215371"/>
            <a:ext cx="7515922" cy="1097279"/>
          </a:xfrm>
        </p:spPr>
        <p:txBody>
          <a:bodyPr/>
          <a:lstStyle/>
          <a:p>
            <a:r>
              <a:rPr lang="en-US" altLang="en-US" sz="3000" dirty="0">
                <a:ea typeface="ヒラギノ角ゴ Pro W3" pitchFamily="-84" charset="-128"/>
              </a:rPr>
              <a:t>Assets, Liabilities, and the Money Supply </a:t>
            </a:r>
            <a:r>
              <a:rPr lang="en-US" altLang="en-US" sz="2000" b="0" dirty="0">
                <a:ea typeface="ヒラギノ角ゴ Pro W3" pitchFamily="-84" charset="-128"/>
              </a:rPr>
              <a:t>(2 of 2)</a:t>
            </a:r>
            <a:endParaRPr lang="en-IN" sz="2000" dirty="0"/>
          </a:p>
        </p:txBody>
      </p:sp>
      <p:sp>
        <p:nvSpPr>
          <p:cNvPr id="3" name="Content Placeholder 2">
            <a:extLst>
              <a:ext uri="{FF2B5EF4-FFF2-40B4-BE49-F238E27FC236}">
                <a16:creationId xmlns:a16="http://schemas.microsoft.com/office/drawing/2014/main" id="{4DB17438-75F1-4264-81A5-F21BDFF34B7C}"/>
              </a:ext>
            </a:extLst>
          </p:cNvPr>
          <p:cNvSpPr>
            <a:spLocks noGrp="1"/>
          </p:cNvSpPr>
          <p:nvPr>
            <p:ph sz="quarter" idx="13"/>
          </p:nvPr>
        </p:nvSpPr>
        <p:spPr/>
        <p:txBody>
          <a:bodyPr/>
          <a:lstStyle/>
          <a:p>
            <a:pPr eaLnBrk="1" hangingPunct="1">
              <a:spcBef>
                <a:spcPct val="50000"/>
              </a:spcBef>
            </a:pPr>
            <a:r>
              <a:rPr lang="en-US" altLang="en-US" dirty="0">
                <a:latin typeface="Arial (Body)"/>
                <a:ea typeface="ヒラギノ角ゴ Pro W3" pitchFamily="-84" charset="-128"/>
              </a:rPr>
              <a:t>A </a:t>
            </a:r>
            <a:r>
              <a:rPr lang="en-US" altLang="en-US" b="1" dirty="0">
                <a:latin typeface="Arial (Body)"/>
                <a:ea typeface="ヒラギノ角ゴ Pro W3" pitchFamily="-84" charset="-128"/>
              </a:rPr>
              <a:t>sale</a:t>
            </a:r>
            <a:r>
              <a:rPr lang="en-US" altLang="en-US" dirty="0">
                <a:latin typeface="Arial (Body)"/>
                <a:ea typeface="ヒラギノ角ゴ Pro W3" pitchFamily="-84" charset="-128"/>
              </a:rPr>
              <a:t> of any asset by the central bank will be paid for with currency or a check written to the central bank,</a:t>
            </a:r>
          </a:p>
          <a:p>
            <a:pPr lvl="1" eaLnBrk="1" hangingPunct="1"/>
            <a:r>
              <a:rPr lang="en-US" altLang="en-US" dirty="0">
                <a:latin typeface="Arial (Body)"/>
                <a:ea typeface="ヒラギノ角ゴ Pro W3" pitchFamily="-84" charset="-128"/>
              </a:rPr>
              <a:t>both of which are denominated in domestic currency.</a:t>
            </a:r>
          </a:p>
          <a:p>
            <a:pPr lvl="1" eaLnBrk="1" hangingPunct="1"/>
            <a:r>
              <a:rPr lang="en-US" altLang="en-US" dirty="0">
                <a:latin typeface="Arial (Body)"/>
                <a:ea typeface="ヒラギノ角ゴ Pro W3" pitchFamily="-84" charset="-128"/>
              </a:rPr>
              <a:t>The central bank puts the currency into its vault or reduces the amount of deposits of banks,</a:t>
            </a:r>
          </a:p>
          <a:p>
            <a:pPr lvl="1" eaLnBrk="1" hangingPunct="1"/>
            <a:r>
              <a:rPr lang="en-US" altLang="en-US" dirty="0">
                <a:latin typeface="Arial (Body)"/>
                <a:ea typeface="ヒラギノ角ゴ Pro W3" pitchFamily="-84" charset="-128"/>
              </a:rPr>
              <a:t>causing the supply of money in circulation to shrink.</a:t>
            </a:r>
          </a:p>
          <a:p>
            <a:pPr lvl="1" eaLnBrk="1" hangingPunct="1"/>
            <a:r>
              <a:rPr lang="en-US" altLang="en-US" dirty="0">
                <a:latin typeface="Arial (Body)"/>
                <a:ea typeface="ヒラギノ角ゴ Pro W3" pitchFamily="-84" charset="-128"/>
              </a:rPr>
              <a:t>The transaction leads to equal decreases of assets and liabilities.</a:t>
            </a:r>
          </a:p>
          <a:p>
            <a:pPr eaLnBrk="1" hangingPunct="1">
              <a:spcBef>
                <a:spcPct val="50000"/>
              </a:spcBef>
            </a:pPr>
            <a:r>
              <a:rPr lang="en-US" altLang="en-US" dirty="0">
                <a:latin typeface="Arial (Body)"/>
                <a:ea typeface="ヒラギノ角ゴ Pro W3" pitchFamily="-84" charset="-128"/>
              </a:rPr>
              <a:t>When the central bank sells </a:t>
            </a:r>
            <a:r>
              <a:rPr lang="en-US" altLang="en-US" b="1" dirty="0">
                <a:latin typeface="Arial (Body)"/>
                <a:ea typeface="ヒラギノ角ゴ Pro W3" pitchFamily="-84" charset="-128"/>
              </a:rPr>
              <a:t>domestic bonds or foreign bonds</a:t>
            </a:r>
            <a:r>
              <a:rPr lang="en-US" altLang="en-US" dirty="0">
                <a:latin typeface="Arial (Body)"/>
                <a:ea typeface="ヒラギノ角ゴ Pro W3" pitchFamily="-84" charset="-128"/>
              </a:rPr>
              <a:t>, the domestic money supply decreases.</a:t>
            </a:r>
          </a:p>
        </p:txBody>
      </p:sp>
    </p:spTree>
    <p:extLst>
      <p:ext uri="{BB962C8B-B14F-4D97-AF65-F5344CB8AC3E}">
        <p14:creationId xmlns:p14="http://schemas.microsoft.com/office/powerpoint/2010/main" val="1852729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A6D10-BD9F-41DA-9D1A-96618DD79FC4}"/>
              </a:ext>
            </a:extLst>
          </p:cNvPr>
          <p:cNvSpPr>
            <a:spLocks noGrp="1"/>
          </p:cNvSpPr>
          <p:nvPr>
            <p:ph type="title"/>
          </p:nvPr>
        </p:nvSpPr>
        <p:spPr/>
        <p:txBody>
          <a:bodyPr/>
          <a:lstStyle/>
          <a:p>
            <a:r>
              <a:rPr lang="en-US" altLang="en-US" sz="3200" dirty="0">
                <a:ea typeface="ヒラギノ角ゴ Pro W3" pitchFamily="-84" charset="-128"/>
              </a:rPr>
              <a:t>Table 18.1 Effects of a $100 Foreign Exchange Intervention: Summary</a:t>
            </a:r>
            <a:endParaRPr lang="en-IN" sz="3200" dirty="0"/>
          </a:p>
        </p:txBody>
      </p:sp>
      <p:graphicFrame>
        <p:nvGraphicFramePr>
          <p:cNvPr id="4" name="Table 4">
            <a:extLst>
              <a:ext uri="{FF2B5EF4-FFF2-40B4-BE49-F238E27FC236}">
                <a16:creationId xmlns:a16="http://schemas.microsoft.com/office/drawing/2014/main" id="{F659894D-A7EA-4B36-B075-D0A933187A5F}"/>
              </a:ext>
            </a:extLst>
          </p:cNvPr>
          <p:cNvGraphicFramePr>
            <a:graphicFrameLocks noGrp="1"/>
          </p:cNvGraphicFramePr>
          <p:nvPr>
            <p:ph sz="quarter" idx="13"/>
            <p:extLst>
              <p:ext uri="{D42A27DB-BD31-4B8C-83A1-F6EECF244321}">
                <p14:modId xmlns:p14="http://schemas.microsoft.com/office/powerpoint/2010/main" val="3841913897"/>
              </p:ext>
            </p:extLst>
          </p:nvPr>
        </p:nvGraphicFramePr>
        <p:xfrm>
          <a:off x="457200" y="1555750"/>
          <a:ext cx="8229600" cy="3378200"/>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2434958041"/>
                    </a:ext>
                  </a:extLst>
                </a:gridCol>
                <a:gridCol w="2057400">
                  <a:extLst>
                    <a:ext uri="{9D8B030D-6E8A-4147-A177-3AD203B41FA5}">
                      <a16:colId xmlns:a16="http://schemas.microsoft.com/office/drawing/2014/main" val="2154693551"/>
                    </a:ext>
                  </a:extLst>
                </a:gridCol>
                <a:gridCol w="2057400">
                  <a:extLst>
                    <a:ext uri="{9D8B030D-6E8A-4147-A177-3AD203B41FA5}">
                      <a16:colId xmlns:a16="http://schemas.microsoft.com/office/drawing/2014/main" val="768329735"/>
                    </a:ext>
                  </a:extLst>
                </a:gridCol>
                <a:gridCol w="2057400">
                  <a:extLst>
                    <a:ext uri="{9D8B030D-6E8A-4147-A177-3AD203B41FA5}">
                      <a16:colId xmlns:a16="http://schemas.microsoft.com/office/drawing/2014/main" val="3240475362"/>
                    </a:ext>
                  </a:extLst>
                </a:gridCol>
              </a:tblGrid>
              <a:tr h="88554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1"/>
                          </a:solidFill>
                          <a:latin typeface="+mn-lt"/>
                        </a:rPr>
                        <a:t>Domestic Central</a:t>
                      </a:r>
                      <a:r>
                        <a:rPr lang="en-US" sz="1600" b="1" baseline="0" noProof="0" dirty="0">
                          <a:solidFill>
                            <a:schemeClr val="tx1"/>
                          </a:solidFill>
                          <a:latin typeface="+mn-lt"/>
                        </a:rPr>
                        <a:t> Bank’s Action</a:t>
                      </a:r>
                      <a:endParaRPr lang="en-US" sz="1600" b="1" noProof="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noProof="0" dirty="0">
                          <a:solidFill>
                            <a:schemeClr val="tx1"/>
                          </a:solidFill>
                          <a:latin typeface="+mn-lt"/>
                        </a:rPr>
                        <a:t>Effect on Domestic Money Supply</a:t>
                      </a:r>
                      <a:endParaRPr lang="en-US" sz="1600" b="1"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noProof="0" dirty="0">
                          <a:solidFill>
                            <a:schemeClr val="tx1"/>
                          </a:solidFill>
                          <a:latin typeface="+mn-lt"/>
                        </a:rPr>
                        <a:t>Effect on Central Bank’s Domestic Assets</a:t>
                      </a:r>
                      <a:endParaRPr lang="en-US" sz="1600" b="1"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noProof="0" dirty="0">
                          <a:solidFill>
                            <a:schemeClr val="tx1"/>
                          </a:solidFill>
                          <a:latin typeface="+mn-lt"/>
                        </a:rPr>
                        <a:t>Effect on Central</a:t>
                      </a:r>
                      <a:r>
                        <a:rPr lang="en-US" sz="1600" b="1" baseline="0" noProof="0" dirty="0">
                          <a:solidFill>
                            <a:schemeClr val="tx1"/>
                          </a:solidFill>
                          <a:latin typeface="+mn-lt"/>
                        </a:rPr>
                        <a:t> Bank’s Foreign Assets</a:t>
                      </a:r>
                      <a:endParaRPr lang="en-US" sz="1600" b="1"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0238671"/>
                  </a:ext>
                </a:extLst>
              </a:tr>
              <a:tr h="623163">
                <a:tc>
                  <a:txBody>
                    <a:bodyPr/>
                    <a:lstStyle/>
                    <a:p>
                      <a:r>
                        <a:rPr lang="en-US" sz="1600" noProof="0" dirty="0" err="1">
                          <a:solidFill>
                            <a:schemeClr val="tx1"/>
                          </a:solidFill>
                          <a:latin typeface="+mn-lt"/>
                        </a:rPr>
                        <a:t>Nonsterilized</a:t>
                      </a:r>
                      <a:r>
                        <a:rPr lang="en-US" sz="1600" baseline="0" noProof="0" dirty="0">
                          <a:solidFill>
                            <a:schemeClr val="tx1"/>
                          </a:solidFill>
                          <a:latin typeface="+mn-lt"/>
                        </a:rPr>
                        <a:t> foreign exchange purchase</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noProof="0" dirty="0">
                          <a:solidFill>
                            <a:schemeClr val="tx1"/>
                          </a:solidFill>
                          <a:latin typeface="+mn-lt"/>
                        </a:rPr>
                        <a:t>+$100</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noProof="0" dirty="0">
                          <a:solidFill>
                            <a:schemeClr val="tx1"/>
                          </a:solidFill>
                          <a:latin typeface="+mn-lt"/>
                        </a:rPr>
                        <a:t>0</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noProof="0" dirty="0">
                          <a:solidFill>
                            <a:schemeClr val="tx1"/>
                          </a:solidFill>
                          <a:latin typeface="+mn-lt"/>
                        </a:rPr>
                        <a:t>+$100</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5328203"/>
                  </a:ext>
                </a:extLst>
              </a:tr>
              <a:tr h="623163">
                <a:tc>
                  <a:txBody>
                    <a:bodyPr/>
                    <a:lstStyle/>
                    <a:p>
                      <a:r>
                        <a:rPr lang="en-US" sz="1600" noProof="0" dirty="0">
                          <a:solidFill>
                            <a:schemeClr val="tx1"/>
                          </a:solidFill>
                          <a:latin typeface="+mn-lt"/>
                        </a:rPr>
                        <a:t>Sterilized foreign exchange purchase</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noProof="0" dirty="0">
                          <a:solidFill>
                            <a:schemeClr val="tx1"/>
                          </a:solidFill>
                          <a:latin typeface="+mn-lt"/>
                        </a:rPr>
                        <a:t>0</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b="0" i="0" u="none" strike="noStrike" cap="none" dirty="0">
                          <a:solidFill>
                            <a:schemeClr val="tx1"/>
                          </a:solidFill>
                          <a:effectLst/>
                          <a:latin typeface="+mn-lt"/>
                          <a:ea typeface="+mn-ea"/>
                          <a:cs typeface="+mn-cs"/>
                          <a:sym typeface="Arial"/>
                        </a:rPr>
                        <a:t>Negative $100</a:t>
                      </a:r>
                      <a:endParaRPr lang="en-US" sz="1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noProof="0" dirty="0">
                          <a:solidFill>
                            <a:schemeClr val="tx1"/>
                          </a:solidFill>
                          <a:latin typeface="+mn-lt"/>
                        </a:rPr>
                        <a:t>+$100</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0516791"/>
                  </a:ext>
                </a:extLst>
              </a:tr>
              <a:tr h="623163">
                <a:tc>
                  <a:txBody>
                    <a:bodyPr/>
                    <a:lstStyle/>
                    <a:p>
                      <a:r>
                        <a:rPr lang="en-US" sz="1600" noProof="0" dirty="0" err="1">
                          <a:solidFill>
                            <a:schemeClr val="tx1"/>
                          </a:solidFill>
                          <a:latin typeface="+mn-lt"/>
                        </a:rPr>
                        <a:t>Nonsterilized</a:t>
                      </a:r>
                      <a:r>
                        <a:rPr lang="en-US" sz="1600" baseline="0" noProof="0" dirty="0">
                          <a:solidFill>
                            <a:schemeClr val="tx1"/>
                          </a:solidFill>
                          <a:latin typeface="+mn-lt"/>
                        </a:rPr>
                        <a:t> foreign exchange sale</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b="0" i="0" u="none" strike="noStrike" cap="none" dirty="0">
                          <a:solidFill>
                            <a:schemeClr val="tx1"/>
                          </a:solidFill>
                          <a:effectLst/>
                          <a:latin typeface="+mn-lt"/>
                          <a:ea typeface="+mn-ea"/>
                          <a:cs typeface="+mn-cs"/>
                          <a:sym typeface="Arial"/>
                        </a:rPr>
                        <a:t>Negative $100</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noProof="0" dirty="0">
                          <a:latin typeface="+mn-lt"/>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b="0" i="0" u="none" strike="noStrike" cap="none" dirty="0">
                          <a:solidFill>
                            <a:schemeClr val="tx1"/>
                          </a:solidFill>
                          <a:effectLst/>
                          <a:latin typeface="+mn-lt"/>
                          <a:ea typeface="+mn-ea"/>
                          <a:cs typeface="+mn-cs"/>
                          <a:sym typeface="Arial"/>
                        </a:rPr>
                        <a:t>Negative $100</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6586706"/>
                  </a:ext>
                </a:extLst>
              </a:tr>
              <a:tr h="623163">
                <a:tc>
                  <a:txBody>
                    <a:bodyPr/>
                    <a:lstStyle/>
                    <a:p>
                      <a:r>
                        <a:rPr lang="en-US" sz="1600" noProof="0" dirty="0">
                          <a:solidFill>
                            <a:schemeClr val="tx1"/>
                          </a:solidFill>
                          <a:latin typeface="+mn-lt"/>
                        </a:rPr>
                        <a:t>Sterilized</a:t>
                      </a:r>
                      <a:r>
                        <a:rPr lang="en-US" sz="1600" baseline="0" noProof="0" dirty="0">
                          <a:solidFill>
                            <a:schemeClr val="tx1"/>
                          </a:solidFill>
                          <a:latin typeface="+mn-lt"/>
                        </a:rPr>
                        <a:t> foreign exchange sale</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noProof="0" dirty="0">
                          <a:solidFill>
                            <a:schemeClr val="tx1"/>
                          </a:solidFill>
                          <a:latin typeface="+mn-lt"/>
                        </a:rPr>
                        <a:t>0</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noProof="0" dirty="0">
                          <a:solidFill>
                            <a:schemeClr val="tx1"/>
                          </a:solidFill>
                          <a:latin typeface="+mn-lt"/>
                        </a:rPr>
                        <a:t>+$100</a:t>
                      </a:r>
                      <a:endParaRPr lang="en-US" sz="1600" noProof="0" dirty="0">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00" b="0" i="0" u="none" strike="noStrike" cap="none" dirty="0">
                          <a:solidFill>
                            <a:schemeClr val="tx1"/>
                          </a:solidFill>
                          <a:effectLst/>
                          <a:latin typeface="+mn-lt"/>
                          <a:ea typeface="+mn-ea"/>
                          <a:cs typeface="+mn-cs"/>
                          <a:sym typeface="Arial"/>
                        </a:rPr>
                        <a:t>Negative $100</a:t>
                      </a:r>
                      <a:endParaRPr lang="en-US" sz="100" noProof="0" dirty="0">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1132333"/>
                  </a:ext>
                </a:extLst>
              </a:tr>
            </a:tbl>
          </a:graphicData>
        </a:graphic>
      </p:graphicFrame>
      <p:graphicFrame>
        <p:nvGraphicFramePr>
          <p:cNvPr id="8" name="Object 7">
            <a:extLst>
              <a:ext uri="{FF2B5EF4-FFF2-40B4-BE49-F238E27FC236}">
                <a16:creationId xmlns:a16="http://schemas.microsoft.com/office/drawing/2014/main" id="{BA3971D1-0D68-4FE8-A831-7362B6769B4A}"/>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805056107"/>
              </p:ext>
            </p:extLst>
          </p:nvPr>
        </p:nvGraphicFramePr>
        <p:xfrm>
          <a:off x="5232981" y="3107163"/>
          <a:ext cx="688975" cy="279400"/>
        </p:xfrm>
        <a:graphic>
          <a:graphicData uri="http://schemas.openxmlformats.org/presentationml/2006/ole">
            <mc:AlternateContent xmlns:mc="http://schemas.openxmlformats.org/markup-compatibility/2006">
              <mc:Choice xmlns:v="urn:schemas-microsoft-com:vml" Requires="v">
                <p:oleObj spid="_x0000_s1290" name="Equation" r:id="rId3" imgW="689081" imgH="279039" progId="Equation.DSMT4">
                  <p:embed/>
                </p:oleObj>
              </mc:Choice>
              <mc:Fallback>
                <p:oleObj name="Equation" r:id="rId3" imgW="689081" imgH="279039" progId="Equation.DSMT4">
                  <p:embed/>
                  <p:pic>
                    <p:nvPicPr>
                      <p:cNvPr id="0" name=""/>
                      <p:cNvPicPr/>
                      <p:nvPr/>
                    </p:nvPicPr>
                    <p:blipFill>
                      <a:blip r:embed="rId4"/>
                      <a:stretch>
                        <a:fillRect/>
                      </a:stretch>
                    </p:blipFill>
                    <p:spPr>
                      <a:xfrm>
                        <a:off x="5232981" y="3107163"/>
                        <a:ext cx="688975" cy="2794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8ABC6B04-DA53-4085-A65B-23C9608D2D81}"/>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344433459"/>
              </p:ext>
            </p:extLst>
          </p:nvPr>
        </p:nvGraphicFramePr>
        <p:xfrm>
          <a:off x="3133951" y="3745582"/>
          <a:ext cx="687981" cy="278912"/>
        </p:xfrm>
        <a:graphic>
          <a:graphicData uri="http://schemas.openxmlformats.org/presentationml/2006/ole">
            <mc:AlternateContent xmlns:mc="http://schemas.openxmlformats.org/markup-compatibility/2006">
              <mc:Choice xmlns:v="urn:schemas-microsoft-com:vml" Requires="v">
                <p:oleObj spid="_x0000_s1291" name="Equation" r:id="rId5" imgW="469800" imgH="190440" progId="Equation.DSMT4">
                  <p:embed/>
                </p:oleObj>
              </mc:Choice>
              <mc:Fallback>
                <p:oleObj name="Equation" r:id="rId5" imgW="469800" imgH="190440" progId="Equation.DSMT4">
                  <p:embed/>
                  <p:pic>
                    <p:nvPicPr>
                      <p:cNvPr id="0" name=""/>
                      <p:cNvPicPr/>
                      <p:nvPr/>
                    </p:nvPicPr>
                    <p:blipFill>
                      <a:blip r:embed="rId6"/>
                      <a:stretch>
                        <a:fillRect/>
                      </a:stretch>
                    </p:blipFill>
                    <p:spPr>
                      <a:xfrm>
                        <a:off x="3133951" y="3745582"/>
                        <a:ext cx="687981" cy="278912"/>
                      </a:xfrm>
                      <a:prstGeom prst="rect">
                        <a:avLst/>
                      </a:prstGeom>
                      <a:solidFill>
                        <a:schemeClr val="bg1"/>
                      </a:solidFill>
                    </p:spPr>
                  </p:pic>
                </p:oleObj>
              </mc:Fallback>
            </mc:AlternateContent>
          </a:graphicData>
        </a:graphic>
      </p:graphicFrame>
      <p:graphicFrame>
        <p:nvGraphicFramePr>
          <p:cNvPr id="9" name="Object 8">
            <a:extLst>
              <a:ext uri="{FF2B5EF4-FFF2-40B4-BE49-F238E27FC236}">
                <a16:creationId xmlns:a16="http://schemas.microsoft.com/office/drawing/2014/main" id="{CDFBD5C7-CA2D-4BE6-91AC-60E6A43E4A8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89379055"/>
              </p:ext>
            </p:extLst>
          </p:nvPr>
        </p:nvGraphicFramePr>
        <p:xfrm>
          <a:off x="7316401" y="3747709"/>
          <a:ext cx="688975" cy="279400"/>
        </p:xfrm>
        <a:graphic>
          <a:graphicData uri="http://schemas.openxmlformats.org/presentationml/2006/ole">
            <mc:AlternateContent xmlns:mc="http://schemas.openxmlformats.org/markup-compatibility/2006">
              <mc:Choice xmlns:v="urn:schemas-microsoft-com:vml" Requires="v">
                <p:oleObj spid="_x0000_s1292" name="Equation" r:id="rId7" imgW="689081" imgH="279039" progId="Equation.DSMT4">
                  <p:embed/>
                </p:oleObj>
              </mc:Choice>
              <mc:Fallback>
                <p:oleObj name="Equation" r:id="rId7" imgW="689081" imgH="279039" progId="Equation.DSMT4">
                  <p:embed/>
                  <p:pic>
                    <p:nvPicPr>
                      <p:cNvPr id="0" name=""/>
                      <p:cNvPicPr/>
                      <p:nvPr/>
                    </p:nvPicPr>
                    <p:blipFill>
                      <a:blip r:embed="rId8"/>
                      <a:stretch>
                        <a:fillRect/>
                      </a:stretch>
                    </p:blipFill>
                    <p:spPr>
                      <a:xfrm>
                        <a:off x="7316401" y="3747709"/>
                        <a:ext cx="688975" cy="2794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96579C86-5B46-4D56-8058-FCFA110396FB}"/>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3569617989"/>
              </p:ext>
            </p:extLst>
          </p:nvPr>
        </p:nvGraphicFramePr>
        <p:xfrm>
          <a:off x="7316401" y="4366322"/>
          <a:ext cx="688975" cy="279400"/>
        </p:xfrm>
        <a:graphic>
          <a:graphicData uri="http://schemas.openxmlformats.org/presentationml/2006/ole">
            <mc:AlternateContent xmlns:mc="http://schemas.openxmlformats.org/markup-compatibility/2006">
              <mc:Choice xmlns:v="urn:schemas-microsoft-com:vml" Requires="v">
                <p:oleObj spid="_x0000_s1293" name="Equation" r:id="rId9" imgW="689081" imgH="279039" progId="Equation.DSMT4">
                  <p:embed/>
                </p:oleObj>
              </mc:Choice>
              <mc:Fallback>
                <p:oleObj name="Equation" r:id="rId9" imgW="689081" imgH="279039" progId="Equation.DSMT4">
                  <p:embed/>
                  <p:pic>
                    <p:nvPicPr>
                      <p:cNvPr id="0" name=""/>
                      <p:cNvPicPr/>
                      <p:nvPr/>
                    </p:nvPicPr>
                    <p:blipFill>
                      <a:blip r:embed="rId10"/>
                      <a:stretch>
                        <a:fillRect/>
                      </a:stretch>
                    </p:blipFill>
                    <p:spPr>
                      <a:xfrm>
                        <a:off x="7316401" y="4366322"/>
                        <a:ext cx="688975" cy="279400"/>
                      </a:xfrm>
                      <a:prstGeom prst="rect">
                        <a:avLst/>
                      </a:prstGeom>
                    </p:spPr>
                  </p:pic>
                </p:oleObj>
              </mc:Fallback>
            </mc:AlternateContent>
          </a:graphicData>
        </a:graphic>
      </p:graphicFrame>
    </p:spTree>
    <p:extLst>
      <p:ext uri="{BB962C8B-B14F-4D97-AF65-F5344CB8AC3E}">
        <p14:creationId xmlns:p14="http://schemas.microsoft.com/office/powerpoint/2010/main" val="1076429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Foreign Exchange Markets</a:t>
            </a:r>
            <a:endParaRPr lang="en-IN" dirty="0">
              <a:cs typeface="Times New Roman" panose="02020603050405020304" pitchFamily="18" charset="0"/>
            </a:endParaRPr>
          </a:p>
        </p:txBody>
      </p:sp>
      <p:sp>
        <p:nvSpPr>
          <p:cNvPr id="7" name="Content Placeholder 6"/>
          <p:cNvSpPr>
            <a:spLocks noGrp="1"/>
          </p:cNvSpPr>
          <p:nvPr>
            <p:ph sz="quarter" idx="13"/>
          </p:nvPr>
        </p:nvSpPr>
        <p:spPr>
          <a:xfrm>
            <a:off x="457200" y="1556327"/>
            <a:ext cx="8229600" cy="3316756"/>
          </a:xfrm>
        </p:spPr>
        <p:txBody>
          <a:bodyPr/>
          <a:lstStyle/>
          <a:p>
            <a:pPr eaLnBrk="1" hangingPunct="1"/>
            <a:r>
              <a:rPr lang="en-US" altLang="en-US" dirty="0">
                <a:latin typeface="Arial (Body)"/>
                <a:ea typeface="ヒラギノ角ゴ Pro W3" pitchFamily="-84" charset="-128"/>
              </a:rPr>
              <a:t>Central banks trade foreign government bonds in the foreign exchange markets.</a:t>
            </a:r>
          </a:p>
          <a:p>
            <a:pPr lvl="1" eaLnBrk="1" hangingPunct="1"/>
            <a:r>
              <a:rPr lang="en-US" altLang="en-US" dirty="0">
                <a:latin typeface="Arial (Body)"/>
                <a:ea typeface="ヒラギノ角ゴ Pro W3" pitchFamily="-84" charset="-128"/>
              </a:rPr>
              <a:t>Foreign currency deposits and foreign government bonds are often substitutes: both are fairly liquid assets denominated in foreign currency.</a:t>
            </a:r>
          </a:p>
          <a:p>
            <a:pPr lvl="1" eaLnBrk="1" hangingPunct="1"/>
            <a:r>
              <a:rPr lang="en-US" altLang="en-US" dirty="0">
                <a:latin typeface="Arial (Body)"/>
                <a:ea typeface="ヒラギノ角ゴ Pro W3" pitchFamily="-84" charset="-128"/>
              </a:rPr>
              <a:t>Quantities of both foreign currency deposits and foreign government bonds that are bought and sold influence the exchange rate.</a:t>
            </a:r>
          </a:p>
        </p:txBody>
      </p:sp>
    </p:spTree>
    <p:extLst>
      <p:ext uri="{BB962C8B-B14F-4D97-AF65-F5344CB8AC3E}">
        <p14:creationId xmlns:p14="http://schemas.microsoft.com/office/powerpoint/2010/main" val="1348958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8A891-96CD-4B43-AAA7-38DAFCCBA022}"/>
              </a:ext>
            </a:extLst>
          </p:cNvPr>
          <p:cNvSpPr>
            <a:spLocks noGrp="1"/>
          </p:cNvSpPr>
          <p:nvPr>
            <p:ph type="title"/>
          </p:nvPr>
        </p:nvSpPr>
        <p:spPr/>
        <p:txBody>
          <a:bodyPr/>
          <a:lstStyle/>
          <a:p>
            <a:r>
              <a:rPr lang="en-US" altLang="en-US" sz="3600" dirty="0">
                <a:ea typeface="ヒラギノ角ゴ Pro W3" pitchFamily="-84" charset="-128"/>
              </a:rPr>
              <a:t>Sterilization</a:t>
            </a:r>
            <a:endParaRPr lang="en-IN" dirty="0"/>
          </a:p>
        </p:txBody>
      </p:sp>
      <p:sp>
        <p:nvSpPr>
          <p:cNvPr id="3" name="Content Placeholder 2">
            <a:extLst>
              <a:ext uri="{FF2B5EF4-FFF2-40B4-BE49-F238E27FC236}">
                <a16:creationId xmlns:a16="http://schemas.microsoft.com/office/drawing/2014/main" id="{2A4B05F5-4582-4617-98E2-B3677CB657E1}"/>
              </a:ext>
            </a:extLst>
          </p:cNvPr>
          <p:cNvSpPr>
            <a:spLocks noGrp="1"/>
          </p:cNvSpPr>
          <p:nvPr>
            <p:ph sz="quarter" idx="13"/>
          </p:nvPr>
        </p:nvSpPr>
        <p:spPr>
          <a:xfrm>
            <a:off x="457200" y="1556327"/>
            <a:ext cx="8229600" cy="3749098"/>
          </a:xfrm>
        </p:spPr>
        <p:txBody>
          <a:bodyPr/>
          <a:lstStyle/>
          <a:p>
            <a:pPr eaLnBrk="1" hangingPunct="1"/>
            <a:r>
              <a:rPr lang="en-US" altLang="en-US" dirty="0">
                <a:latin typeface="Arial (Body)"/>
                <a:ea typeface="ヒラギノ角ゴ Pro W3" pitchFamily="-84" charset="-128"/>
              </a:rPr>
              <a:t>Because buying and selling of foreign bonds in the foreign exchange markets affects the domestic money supply, a central bank may want to offset this effect.</a:t>
            </a:r>
          </a:p>
          <a:p>
            <a:pPr eaLnBrk="1" hangingPunct="1"/>
            <a:r>
              <a:rPr lang="en-US" altLang="en-US" dirty="0">
                <a:latin typeface="Arial (Body)"/>
                <a:ea typeface="ヒラギノ角ゴ Pro W3" pitchFamily="-84" charset="-128"/>
              </a:rPr>
              <a:t>This offsetting effect is called </a:t>
            </a:r>
            <a:r>
              <a:rPr lang="en-US" altLang="en-US" b="1" dirty="0">
                <a:latin typeface="Arial (Body)"/>
                <a:ea typeface="ヒラギノ角ゴ Pro W3" pitchFamily="-84" charset="-128"/>
              </a:rPr>
              <a:t>sterilization</a:t>
            </a:r>
            <a:r>
              <a:rPr lang="en-US" altLang="en-US" dirty="0">
                <a:latin typeface="Arial (Body)"/>
                <a:ea typeface="ヒラギノ角ゴ Pro W3" pitchFamily="-84" charset="-128"/>
              </a:rPr>
              <a:t>.</a:t>
            </a:r>
          </a:p>
          <a:p>
            <a:pPr eaLnBrk="1" hangingPunct="1"/>
            <a:r>
              <a:rPr lang="en-US" altLang="en-US" dirty="0">
                <a:latin typeface="Arial (Body)"/>
                <a:ea typeface="ヒラギノ角ゴ Pro W3" pitchFamily="-84" charset="-128"/>
              </a:rPr>
              <a:t>If the central bank sells foreign bonds in the foreign exchange markets, it can buy domestic government bonds in bond markets—hoping to leave the amount of money in circulation unchanged.</a:t>
            </a:r>
          </a:p>
        </p:txBody>
      </p:sp>
    </p:spTree>
    <p:extLst>
      <p:ext uri="{BB962C8B-B14F-4D97-AF65-F5344CB8AC3E}">
        <p14:creationId xmlns:p14="http://schemas.microsoft.com/office/powerpoint/2010/main" val="1994909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2082-BCA3-4B8E-888F-F766656255E7}"/>
              </a:ext>
            </a:extLst>
          </p:cNvPr>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Fixed Exchange Rates </a:t>
            </a:r>
            <a:r>
              <a:rPr lang="en-US" altLang="en-US" sz="2000" b="0" dirty="0">
                <a:ea typeface="ヒラギノ角ゴ Pro W3" pitchFamily="-84" charset="-128"/>
                <a:cs typeface="Times New Roman" panose="02020603050405020304" pitchFamily="18" charset="0"/>
              </a:rPr>
              <a:t>(1 of 4)</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62EF349C-61FD-47AA-A0C1-9877EC44FFCE}"/>
              </a:ext>
            </a:extLst>
          </p:cNvPr>
          <p:cNvSpPr>
            <a:spLocks noGrp="1"/>
          </p:cNvSpPr>
          <p:nvPr>
            <p:ph sz="quarter" idx="13"/>
          </p:nvPr>
        </p:nvSpPr>
        <p:spPr>
          <a:xfrm>
            <a:off x="457199" y="1552575"/>
            <a:ext cx="8448675" cy="2095500"/>
          </a:xfrm>
        </p:spPr>
        <p:txBody>
          <a:bodyPr/>
          <a:lstStyle/>
          <a:p>
            <a:pPr eaLnBrk="1" hangingPunct="1"/>
            <a:r>
              <a:rPr lang="en-US" altLang="en-US" sz="2200" dirty="0">
                <a:ea typeface="ヒラギノ角ゴ Pro W3" pitchFamily="-84" charset="-128"/>
              </a:rPr>
              <a:t>To fix the exchange rate, a central bank influences the quantities supplied and demanded of currency by trading domestic and foreign assets, so that the exchange rate (the price of foreign currency in terms of domestic currency) stays constant.</a:t>
            </a:r>
          </a:p>
          <a:p>
            <a:pPr eaLnBrk="1" hangingPunct="1"/>
            <a:r>
              <a:rPr lang="en-US" altLang="en-US" sz="2200" dirty="0">
                <a:ea typeface="ヒラギノ角ゴ Pro W3" pitchFamily="-84" charset="-128"/>
              </a:rPr>
              <a:t>Foreign exchange markets are in equilibrium when</a:t>
            </a:r>
            <a:endParaRPr lang="en-US" altLang="en-US" sz="2200" i="1" dirty="0">
              <a:ea typeface="ヒラギノ角ゴ Pro W3" pitchFamily="-84" charset="-128"/>
            </a:endParaRPr>
          </a:p>
        </p:txBody>
      </p:sp>
      <p:graphicFrame>
        <p:nvGraphicFramePr>
          <p:cNvPr id="11" name="Object 10" descr="R = R asterisk + start fraction left parenthesis E to the power of lower e minus E right parenthesis over E end fraction">
            <a:extLst>
              <a:ext uri="{FF2B5EF4-FFF2-40B4-BE49-F238E27FC236}">
                <a16:creationId xmlns:a16="http://schemas.microsoft.com/office/drawing/2014/main" id="{12724094-CF93-4A0E-89B6-8429C683D751}"/>
              </a:ext>
            </a:extLst>
          </p:cNvPr>
          <p:cNvGraphicFramePr>
            <a:graphicFrameLocks noChangeAspect="1"/>
          </p:cNvGraphicFramePr>
          <p:nvPr>
            <p:extLst>
              <p:ext uri="{D42A27DB-BD31-4B8C-83A1-F6EECF244321}">
                <p14:modId xmlns:p14="http://schemas.microsoft.com/office/powerpoint/2010/main" val="370957383"/>
              </p:ext>
            </p:extLst>
          </p:nvPr>
        </p:nvGraphicFramePr>
        <p:xfrm>
          <a:off x="3474709" y="3774209"/>
          <a:ext cx="1902173" cy="736325"/>
        </p:xfrm>
        <a:graphic>
          <a:graphicData uri="http://schemas.openxmlformats.org/presentationml/2006/ole">
            <mc:AlternateContent xmlns:mc="http://schemas.openxmlformats.org/markup-compatibility/2006">
              <mc:Choice xmlns:v="urn:schemas-microsoft-com:vml" Requires="v">
                <p:oleObj spid="_x0000_s2245" name="Equation" r:id="rId3" imgW="1180800" imgH="457200" progId="Equation.DSMT4">
                  <p:embed/>
                </p:oleObj>
              </mc:Choice>
              <mc:Fallback>
                <p:oleObj name="Equation" r:id="rId3" imgW="1180800" imgH="457200" progId="Equation.DSMT4">
                  <p:embed/>
                  <p:pic>
                    <p:nvPicPr>
                      <p:cNvPr id="0" name=""/>
                      <p:cNvPicPr/>
                      <p:nvPr/>
                    </p:nvPicPr>
                    <p:blipFill>
                      <a:blip r:embed="rId4"/>
                      <a:stretch>
                        <a:fillRect/>
                      </a:stretch>
                    </p:blipFill>
                    <p:spPr>
                      <a:xfrm>
                        <a:off x="3474709" y="3774209"/>
                        <a:ext cx="1902173" cy="736325"/>
                      </a:xfrm>
                      <a:prstGeom prst="rect">
                        <a:avLst/>
                      </a:prstGeom>
                    </p:spPr>
                  </p:pic>
                </p:oleObj>
              </mc:Fallback>
            </mc:AlternateContent>
          </a:graphicData>
        </a:graphic>
      </p:graphicFrame>
      <p:sp>
        <p:nvSpPr>
          <p:cNvPr id="4" name="Content Placeholder 3">
            <a:extLst>
              <a:ext uri="{FF2B5EF4-FFF2-40B4-BE49-F238E27FC236}">
                <a16:creationId xmlns:a16="http://schemas.microsoft.com/office/drawing/2014/main" id="{C9A50A9B-1E41-491D-99B1-B0992FFD26F5}"/>
              </a:ext>
            </a:extLst>
          </p:cNvPr>
          <p:cNvSpPr>
            <a:spLocks noGrp="1"/>
          </p:cNvSpPr>
          <p:nvPr>
            <p:ph sz="quarter" idx="14"/>
          </p:nvPr>
        </p:nvSpPr>
        <p:spPr>
          <a:xfrm>
            <a:off x="468314" y="4688854"/>
            <a:ext cx="6218236" cy="471841"/>
          </a:xfrm>
        </p:spPr>
        <p:txBody>
          <a:bodyPr/>
          <a:lstStyle/>
          <a:p>
            <a:r>
              <a:rPr lang="en-US" altLang="en-US" sz="2200" dirty="0">
                <a:ea typeface="ヒラギノ角ゴ Pro W3" pitchFamily="-84" charset="-128"/>
              </a:rPr>
              <a:t>When the exchange rate is fixed at some level</a:t>
            </a:r>
            <a:endParaRPr lang="en-IN" sz="2200" dirty="0"/>
          </a:p>
        </p:txBody>
      </p:sp>
      <p:graphicFrame>
        <p:nvGraphicFramePr>
          <p:cNvPr id="12" name="Object 11" descr="E sub 0">
            <a:extLst>
              <a:ext uri="{FF2B5EF4-FFF2-40B4-BE49-F238E27FC236}">
                <a16:creationId xmlns:a16="http://schemas.microsoft.com/office/drawing/2014/main" id="{E1F9BAE2-824C-4749-8BB4-D0976DF2F9E0}"/>
              </a:ext>
            </a:extLst>
          </p:cNvPr>
          <p:cNvGraphicFramePr>
            <a:graphicFrameLocks noChangeAspect="1"/>
          </p:cNvGraphicFramePr>
          <p:nvPr>
            <p:extLst>
              <p:ext uri="{D42A27DB-BD31-4B8C-83A1-F6EECF244321}">
                <p14:modId xmlns:p14="http://schemas.microsoft.com/office/powerpoint/2010/main" val="3221516198"/>
              </p:ext>
            </p:extLst>
          </p:nvPr>
        </p:nvGraphicFramePr>
        <p:xfrm>
          <a:off x="6745888" y="4799440"/>
          <a:ext cx="367556" cy="324315"/>
        </p:xfrm>
        <a:graphic>
          <a:graphicData uri="http://schemas.openxmlformats.org/presentationml/2006/ole">
            <mc:AlternateContent xmlns:mc="http://schemas.openxmlformats.org/markup-compatibility/2006">
              <mc:Choice xmlns:v="urn:schemas-microsoft-com:vml" Requires="v">
                <p:oleObj spid="_x0000_s2246" name="Equation" r:id="rId5" imgW="215640" imgH="190440" progId="Equation.DSMT4">
                  <p:embed/>
                </p:oleObj>
              </mc:Choice>
              <mc:Fallback>
                <p:oleObj name="Equation" r:id="rId5" imgW="215640" imgH="190440" progId="Equation.DSMT4">
                  <p:embed/>
                  <p:pic>
                    <p:nvPicPr>
                      <p:cNvPr id="0" name=""/>
                      <p:cNvPicPr/>
                      <p:nvPr/>
                    </p:nvPicPr>
                    <p:blipFill>
                      <a:blip r:embed="rId6"/>
                      <a:stretch>
                        <a:fillRect/>
                      </a:stretch>
                    </p:blipFill>
                    <p:spPr>
                      <a:xfrm>
                        <a:off x="6745888" y="4799440"/>
                        <a:ext cx="367556" cy="324315"/>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77B3DCC3-B8BC-4108-9D2B-09D4005FEB54}"/>
              </a:ext>
            </a:extLst>
          </p:cNvPr>
          <p:cNvSpPr>
            <a:spLocks noGrp="1"/>
          </p:cNvSpPr>
          <p:nvPr>
            <p:ph sz="quarter" idx="15"/>
          </p:nvPr>
        </p:nvSpPr>
        <p:spPr>
          <a:xfrm>
            <a:off x="7204766" y="4806932"/>
            <a:ext cx="1094107" cy="360813"/>
          </a:xfrm>
        </p:spPr>
        <p:txBody>
          <a:bodyPr lIns="0" tIns="0" rIns="0" bIns="0"/>
          <a:lstStyle/>
          <a:p>
            <a:pPr marL="432" indent="0">
              <a:buNone/>
            </a:pPr>
            <a:r>
              <a:rPr lang="en-US" altLang="en-US" sz="2200" dirty="0">
                <a:ea typeface="ヒラギノ角ゴ Pro W3" pitchFamily="-84" charset="-128"/>
              </a:rPr>
              <a:t>and the</a:t>
            </a:r>
            <a:endParaRPr lang="en-IN" sz="2200" dirty="0"/>
          </a:p>
        </p:txBody>
      </p:sp>
      <p:sp>
        <p:nvSpPr>
          <p:cNvPr id="6" name="Content Placeholder 5">
            <a:extLst>
              <a:ext uri="{FF2B5EF4-FFF2-40B4-BE49-F238E27FC236}">
                <a16:creationId xmlns:a16="http://schemas.microsoft.com/office/drawing/2014/main" id="{7E6E7B61-FF77-4B3F-8F52-725D5F01902D}"/>
              </a:ext>
            </a:extLst>
          </p:cNvPr>
          <p:cNvSpPr>
            <a:spLocks noGrp="1"/>
          </p:cNvSpPr>
          <p:nvPr>
            <p:ph sz="quarter" idx="16"/>
          </p:nvPr>
        </p:nvSpPr>
        <p:spPr>
          <a:xfrm>
            <a:off x="468312" y="5209397"/>
            <a:ext cx="7262523" cy="393034"/>
          </a:xfrm>
        </p:spPr>
        <p:txBody>
          <a:bodyPr tIns="0" rIns="0" bIns="0"/>
          <a:lstStyle/>
          <a:p>
            <a:pPr marL="255600" indent="0">
              <a:buNone/>
            </a:pPr>
            <a:r>
              <a:rPr lang="en-US" altLang="en-US" sz="2200" dirty="0">
                <a:ea typeface="ヒラギノ角ゴ Pro W3" pitchFamily="-84" charset="-128"/>
              </a:rPr>
              <a:t>market expects it to stay fixed at that level, then</a:t>
            </a:r>
            <a:endParaRPr lang="en-IN" sz="2200" dirty="0"/>
          </a:p>
        </p:txBody>
      </p:sp>
      <p:graphicFrame>
        <p:nvGraphicFramePr>
          <p:cNvPr id="13" name="Object 12" descr="R = R asterisk">
            <a:extLst>
              <a:ext uri="{FF2B5EF4-FFF2-40B4-BE49-F238E27FC236}">
                <a16:creationId xmlns:a16="http://schemas.microsoft.com/office/drawing/2014/main" id="{CC088121-B843-4927-865F-0D1631FD0D5B}"/>
              </a:ext>
            </a:extLst>
          </p:cNvPr>
          <p:cNvGraphicFramePr>
            <a:graphicFrameLocks noChangeAspect="1"/>
          </p:cNvGraphicFramePr>
          <p:nvPr>
            <p:extLst>
              <p:ext uri="{D42A27DB-BD31-4B8C-83A1-F6EECF244321}">
                <p14:modId xmlns:p14="http://schemas.microsoft.com/office/powerpoint/2010/main" val="1873201385"/>
              </p:ext>
            </p:extLst>
          </p:nvPr>
        </p:nvGraphicFramePr>
        <p:xfrm>
          <a:off x="4153637" y="5812126"/>
          <a:ext cx="922452" cy="292485"/>
        </p:xfrm>
        <a:graphic>
          <a:graphicData uri="http://schemas.openxmlformats.org/presentationml/2006/ole">
            <mc:AlternateContent xmlns:mc="http://schemas.openxmlformats.org/markup-compatibility/2006">
              <mc:Choice xmlns:v="urn:schemas-microsoft-com:vml" Requires="v">
                <p:oleObj spid="_x0000_s2247" name="Equation" r:id="rId7" imgW="520560" imgH="164880" progId="Equation.DSMT4">
                  <p:embed/>
                </p:oleObj>
              </mc:Choice>
              <mc:Fallback>
                <p:oleObj name="Equation" r:id="rId7" imgW="520560" imgH="164880" progId="Equation.DSMT4">
                  <p:embed/>
                  <p:pic>
                    <p:nvPicPr>
                      <p:cNvPr id="0" name=""/>
                      <p:cNvPicPr/>
                      <p:nvPr/>
                    </p:nvPicPr>
                    <p:blipFill>
                      <a:blip r:embed="rId8"/>
                      <a:stretch>
                        <a:fillRect/>
                      </a:stretch>
                    </p:blipFill>
                    <p:spPr>
                      <a:xfrm>
                        <a:off x="4153637" y="5812126"/>
                        <a:ext cx="922452" cy="292485"/>
                      </a:xfrm>
                      <a:prstGeom prst="rect">
                        <a:avLst/>
                      </a:prstGeom>
                    </p:spPr>
                  </p:pic>
                </p:oleObj>
              </mc:Fallback>
            </mc:AlternateContent>
          </a:graphicData>
        </a:graphic>
      </p:graphicFrame>
    </p:spTree>
    <p:extLst>
      <p:ext uri="{BB962C8B-B14F-4D97-AF65-F5344CB8AC3E}">
        <p14:creationId xmlns:p14="http://schemas.microsoft.com/office/powerpoint/2010/main" val="3052227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noChangeArrowheads="1"/>
          </p:cNvSpPr>
          <p:nvPr>
            <p:ph type="title"/>
          </p:nvPr>
        </p:nvSpPr>
        <p:spPr/>
        <p:txBody>
          <a:bodyPr/>
          <a:lstStyle/>
          <a:p>
            <a:pPr eaLnBrk="1" hangingPunct="1"/>
            <a:r>
              <a:rPr lang="en-US" altLang="en-US" sz="3600" dirty="0">
                <a:latin typeface="+mj-lt"/>
                <a:ea typeface="ヒラギノ角ゴ Pro W3" pitchFamily="-84" charset="-128"/>
                <a:cs typeface="Times New Roman" panose="02020603050405020304" pitchFamily="18" charset="0"/>
              </a:rPr>
              <a:t>Fixed Exchange Rates </a:t>
            </a:r>
            <a:r>
              <a:rPr lang="en-US" altLang="en-US" sz="2000" b="0" dirty="0">
                <a:latin typeface="+mj-lt"/>
                <a:ea typeface="ヒラギノ角ゴ Pro W3" pitchFamily="-84" charset="-128"/>
                <a:cs typeface="Times New Roman" panose="02020603050405020304" pitchFamily="18" charset="0"/>
              </a:rPr>
              <a:t>(2 of 4)</a:t>
            </a:r>
          </a:p>
        </p:txBody>
      </p:sp>
      <p:sp>
        <p:nvSpPr>
          <p:cNvPr id="16387" name="Content Placeholder 1"/>
          <p:cNvSpPr>
            <a:spLocks noGrp="1" noChangeArrowheads="1"/>
          </p:cNvSpPr>
          <p:nvPr>
            <p:ph idx="1"/>
          </p:nvPr>
        </p:nvSpPr>
        <p:spPr>
          <a:xfrm>
            <a:off x="457200" y="1560009"/>
            <a:ext cx="8229600" cy="800099"/>
          </a:xfrm>
        </p:spPr>
        <p:txBody>
          <a:bodyPr/>
          <a:lstStyle/>
          <a:p>
            <a:pPr indent="-255600" eaLnBrk="1" hangingPunct="1"/>
            <a:r>
              <a:rPr lang="en-US" altLang="en-US" sz="2200" dirty="0">
                <a:latin typeface="Arial (Body)"/>
                <a:ea typeface="ヒラギノ角ゴ Pro W3" pitchFamily="-84" charset="-128"/>
              </a:rPr>
              <a:t>To fix the exchange rate, the central bank must trade foreign and domestic assets in the foreign exchange market until</a:t>
            </a:r>
            <a:endParaRPr lang="en-US" altLang="en-US" sz="2200" i="1" dirty="0">
              <a:latin typeface="Arial (Body)"/>
              <a:ea typeface="ヒラギノ角ゴ Pro W3" pitchFamily="-84" charset="-128"/>
            </a:endParaRPr>
          </a:p>
        </p:txBody>
      </p:sp>
      <p:graphicFrame>
        <p:nvGraphicFramePr>
          <p:cNvPr id="5" name="Object 4" descr="R = R asterisk."/>
          <p:cNvGraphicFramePr>
            <a:graphicFrameLocks noChangeAspect="1"/>
          </p:cNvGraphicFramePr>
          <p:nvPr>
            <p:extLst>
              <p:ext uri="{D42A27DB-BD31-4B8C-83A1-F6EECF244321}">
                <p14:modId xmlns:p14="http://schemas.microsoft.com/office/powerpoint/2010/main" val="1950656761"/>
              </p:ext>
            </p:extLst>
          </p:nvPr>
        </p:nvGraphicFramePr>
        <p:xfrm>
          <a:off x="792419" y="2420662"/>
          <a:ext cx="930464" cy="389585"/>
        </p:xfrm>
        <a:graphic>
          <a:graphicData uri="http://schemas.openxmlformats.org/presentationml/2006/ole">
            <mc:AlternateContent xmlns:mc="http://schemas.openxmlformats.org/markup-compatibility/2006">
              <mc:Choice xmlns:v="urn:schemas-microsoft-com:vml" Requires="v">
                <p:oleObj spid="_x0000_s4226" name="Equation" r:id="rId3" imgW="545760" imgH="228600" progId="Equation.DSMT4">
                  <p:embed/>
                </p:oleObj>
              </mc:Choice>
              <mc:Fallback>
                <p:oleObj name="Equation" r:id="rId3" imgW="545760" imgH="228600" progId="Equation.DSMT4">
                  <p:embed/>
                  <p:pic>
                    <p:nvPicPr>
                      <p:cNvPr id="5" name="Object 4"/>
                      <p:cNvPicPr/>
                      <p:nvPr/>
                    </p:nvPicPr>
                    <p:blipFill>
                      <a:blip r:embed="rId4"/>
                      <a:stretch>
                        <a:fillRect/>
                      </a:stretch>
                    </p:blipFill>
                    <p:spPr>
                      <a:xfrm>
                        <a:off x="792419" y="2420662"/>
                        <a:ext cx="930464" cy="389585"/>
                      </a:xfrm>
                      <a:prstGeom prst="rect">
                        <a:avLst/>
                      </a:prstGeom>
                    </p:spPr>
                  </p:pic>
                </p:oleObj>
              </mc:Fallback>
            </mc:AlternateContent>
          </a:graphicData>
        </a:graphic>
      </p:graphicFrame>
      <p:sp>
        <p:nvSpPr>
          <p:cNvPr id="2" name="Content Placeholder 1"/>
          <p:cNvSpPr>
            <a:spLocks noGrp="1"/>
          </p:cNvSpPr>
          <p:nvPr>
            <p:ph idx="13"/>
          </p:nvPr>
        </p:nvSpPr>
        <p:spPr>
          <a:xfrm>
            <a:off x="457200" y="3071435"/>
            <a:ext cx="7810500" cy="1524001"/>
          </a:xfrm>
        </p:spPr>
        <p:txBody>
          <a:bodyPr/>
          <a:lstStyle/>
          <a:p>
            <a:pPr indent="-255600"/>
            <a:r>
              <a:rPr lang="en-US" altLang="en-US" sz="2200" dirty="0">
                <a:latin typeface="Arial (Body)"/>
                <a:ea typeface="ヒラギノ角ゴ Pro W3" pitchFamily="-84" charset="-128"/>
              </a:rPr>
              <a:t>Alternatively, we can say that it adjusts the quantity of monetary assets in the money market until the domestic interest rate equals the foreign interest rate, given the level of average prices and real output:</a:t>
            </a:r>
          </a:p>
        </p:txBody>
      </p:sp>
      <p:graphicFrame>
        <p:nvGraphicFramePr>
          <p:cNvPr id="3" name="Object 2" descr="Start fraction M super S over P end fraction = L left parenthesis R asterisk, Y right parenthesis "/>
          <p:cNvGraphicFramePr>
            <a:graphicFrameLocks noChangeAspect="1"/>
          </p:cNvGraphicFramePr>
          <p:nvPr>
            <p:extLst>
              <p:ext uri="{D42A27DB-BD31-4B8C-83A1-F6EECF244321}">
                <p14:modId xmlns:p14="http://schemas.microsoft.com/office/powerpoint/2010/main" val="765046049"/>
              </p:ext>
            </p:extLst>
          </p:nvPr>
        </p:nvGraphicFramePr>
        <p:xfrm>
          <a:off x="3694113" y="4897438"/>
          <a:ext cx="1755775" cy="741362"/>
        </p:xfrm>
        <a:graphic>
          <a:graphicData uri="http://schemas.openxmlformats.org/presentationml/2006/ole">
            <mc:AlternateContent xmlns:mc="http://schemas.openxmlformats.org/markup-compatibility/2006">
              <mc:Choice xmlns:v="urn:schemas-microsoft-com:vml" Requires="v">
                <p:oleObj spid="_x0000_s4227" name="Equation" r:id="rId5" imgW="990360" imgH="419040" progId="Equation.DSMT4">
                  <p:embed/>
                </p:oleObj>
              </mc:Choice>
              <mc:Fallback>
                <p:oleObj name="Equation" r:id="rId5" imgW="990360" imgH="419040" progId="Equation.DSMT4">
                  <p:embed/>
                  <p:pic>
                    <p:nvPicPr>
                      <p:cNvPr id="3" name="Object 2"/>
                      <p:cNvPicPr/>
                      <p:nvPr/>
                    </p:nvPicPr>
                    <p:blipFill>
                      <a:blip r:embed="rId6"/>
                      <a:stretch>
                        <a:fillRect/>
                      </a:stretch>
                    </p:blipFill>
                    <p:spPr>
                      <a:xfrm>
                        <a:off x="3694113" y="4897438"/>
                        <a:ext cx="1755775" cy="741362"/>
                      </a:xfrm>
                      <a:prstGeom prst="rect">
                        <a:avLst/>
                      </a:prstGeom>
                    </p:spPr>
                  </p:pic>
                </p:oleObj>
              </mc:Fallback>
            </mc:AlternateContent>
          </a:graphicData>
        </a:graphic>
      </p:graphicFrame>
    </p:spTree>
    <p:extLst>
      <p:ext uri="{BB962C8B-B14F-4D97-AF65-F5344CB8AC3E}">
        <p14:creationId xmlns:p14="http://schemas.microsoft.com/office/powerpoint/2010/main" val="2656033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noChangeArrowheads="1"/>
          </p:cNvSpPr>
          <p:nvPr>
            <p:ph type="title"/>
          </p:nvPr>
        </p:nvSpPr>
        <p:spPr/>
        <p:txBody>
          <a:bodyPr/>
          <a:lstStyle/>
          <a:p>
            <a:pPr eaLnBrk="1" hangingPunct="1"/>
            <a:r>
              <a:rPr lang="en-US" altLang="en-US" sz="3600" dirty="0">
                <a:latin typeface="+mj-lt"/>
                <a:ea typeface="ヒラギノ角ゴ Pro W3" pitchFamily="-84" charset="-128"/>
              </a:rPr>
              <a:t>Fixed Exchange Rates </a:t>
            </a:r>
            <a:r>
              <a:rPr lang="en-US" altLang="en-US" sz="2000" b="0" dirty="0">
                <a:latin typeface="+mj-lt"/>
                <a:ea typeface="ヒラギノ角ゴ Pro W3" pitchFamily="-84" charset="-128"/>
              </a:rPr>
              <a:t>(3 of 4)</a:t>
            </a:r>
          </a:p>
        </p:txBody>
      </p:sp>
      <p:sp>
        <p:nvSpPr>
          <p:cNvPr id="3" name="Content Placeholder 2"/>
          <p:cNvSpPr>
            <a:spLocks noGrp="1"/>
          </p:cNvSpPr>
          <p:nvPr>
            <p:ph idx="1"/>
          </p:nvPr>
        </p:nvSpPr>
        <p:spPr>
          <a:xfrm>
            <a:off x="457200" y="1600202"/>
            <a:ext cx="8229600" cy="491834"/>
          </a:xfrm>
        </p:spPr>
        <p:txBody>
          <a:bodyPr/>
          <a:lstStyle/>
          <a:p>
            <a:pPr indent="-255600"/>
            <a:r>
              <a:rPr lang="en-US" altLang="en-US" sz="2400" dirty="0">
                <a:latin typeface="Arial (Body)"/>
                <a:ea typeface="ヒラギノ角ゴ Pro W3" pitchFamily="-84" charset="-128"/>
              </a:rPr>
              <a:t>Suppose that the central bank has fixed the exchange</a:t>
            </a:r>
            <a:endParaRPr lang="en-IN" sz="2400" dirty="0"/>
          </a:p>
        </p:txBody>
      </p:sp>
      <p:sp>
        <p:nvSpPr>
          <p:cNvPr id="4" name="Content Placeholder 3"/>
          <p:cNvSpPr>
            <a:spLocks noGrp="1"/>
          </p:cNvSpPr>
          <p:nvPr>
            <p:ph idx="13"/>
          </p:nvPr>
        </p:nvSpPr>
        <p:spPr>
          <a:xfrm>
            <a:off x="468314" y="2138124"/>
            <a:ext cx="1236662" cy="383404"/>
          </a:xfrm>
        </p:spPr>
        <p:txBody>
          <a:bodyPr lIns="0" tIns="0" rIns="0" bIns="0"/>
          <a:lstStyle/>
          <a:p>
            <a:pPr marL="255600" indent="0">
              <a:buNone/>
            </a:pPr>
            <a:r>
              <a:rPr lang="en-US" altLang="en-US" sz="2400" dirty="0">
                <a:latin typeface="Arial (Body)"/>
                <a:ea typeface="ヒラギノ角ゴ Pro W3" pitchFamily="-84" charset="-128"/>
              </a:rPr>
              <a:t>rate at</a:t>
            </a:r>
            <a:endParaRPr lang="en-IN" sz="2400" dirty="0"/>
          </a:p>
        </p:txBody>
      </p:sp>
      <p:graphicFrame>
        <p:nvGraphicFramePr>
          <p:cNvPr id="9" name="Object 8" descr="E sub 0"/>
          <p:cNvGraphicFramePr>
            <a:graphicFrameLocks noChangeAspect="1"/>
          </p:cNvGraphicFramePr>
          <p:nvPr>
            <p:extLst>
              <p:ext uri="{D42A27DB-BD31-4B8C-83A1-F6EECF244321}">
                <p14:modId xmlns:p14="http://schemas.microsoft.com/office/powerpoint/2010/main" val="2312303213"/>
              </p:ext>
            </p:extLst>
          </p:nvPr>
        </p:nvGraphicFramePr>
        <p:xfrm>
          <a:off x="1814444" y="2131156"/>
          <a:ext cx="376518" cy="332225"/>
        </p:xfrm>
        <a:graphic>
          <a:graphicData uri="http://schemas.openxmlformats.org/presentationml/2006/ole">
            <mc:AlternateContent xmlns:mc="http://schemas.openxmlformats.org/markup-compatibility/2006">
              <mc:Choice xmlns:v="urn:schemas-microsoft-com:vml" Requires="v">
                <p:oleObj spid="_x0000_s5186" name="Equation" r:id="rId3" imgW="215640" imgH="190440" progId="Equation.DSMT4">
                  <p:embed/>
                </p:oleObj>
              </mc:Choice>
              <mc:Fallback>
                <p:oleObj name="Equation" r:id="rId3" imgW="215640" imgH="190440" progId="Equation.DSMT4">
                  <p:embed/>
                  <p:pic>
                    <p:nvPicPr>
                      <p:cNvPr id="9" name="Object 8"/>
                      <p:cNvPicPr/>
                      <p:nvPr/>
                    </p:nvPicPr>
                    <p:blipFill>
                      <a:blip r:embed="rId4"/>
                      <a:stretch>
                        <a:fillRect/>
                      </a:stretch>
                    </p:blipFill>
                    <p:spPr>
                      <a:xfrm>
                        <a:off x="1814444" y="2131156"/>
                        <a:ext cx="376518" cy="332225"/>
                      </a:xfrm>
                      <a:prstGeom prst="rect">
                        <a:avLst/>
                      </a:prstGeom>
                    </p:spPr>
                  </p:pic>
                </p:oleObj>
              </mc:Fallback>
            </mc:AlternateContent>
          </a:graphicData>
        </a:graphic>
      </p:graphicFrame>
      <p:sp>
        <p:nvSpPr>
          <p:cNvPr id="5" name="Content Placeholder 4"/>
          <p:cNvSpPr>
            <a:spLocks noGrp="1"/>
          </p:cNvSpPr>
          <p:nvPr>
            <p:ph idx="14"/>
          </p:nvPr>
        </p:nvSpPr>
        <p:spPr>
          <a:xfrm>
            <a:off x="2299479" y="2133080"/>
            <a:ext cx="5419236" cy="388448"/>
          </a:xfrm>
        </p:spPr>
        <p:txBody>
          <a:bodyPr lIns="0" tIns="0" rIns="0" bIns="0"/>
          <a:lstStyle/>
          <a:p>
            <a:pPr marL="0" indent="0">
              <a:buNone/>
            </a:pPr>
            <a:r>
              <a:rPr lang="en-US" altLang="en-US" sz="2400" dirty="0">
                <a:latin typeface="Arial (Body)"/>
                <a:ea typeface="ヒラギノ角ゴ Pro W3" pitchFamily="-84" charset="-128"/>
              </a:rPr>
              <a:t>but the level of output rises, raising the</a:t>
            </a:r>
            <a:endParaRPr lang="en-IN" sz="2400" dirty="0"/>
          </a:p>
        </p:txBody>
      </p:sp>
      <p:sp>
        <p:nvSpPr>
          <p:cNvPr id="6" name="Content Placeholder 5"/>
          <p:cNvSpPr>
            <a:spLocks noGrp="1"/>
          </p:cNvSpPr>
          <p:nvPr>
            <p:ph idx="15"/>
          </p:nvPr>
        </p:nvSpPr>
        <p:spPr>
          <a:xfrm>
            <a:off x="468313" y="2574082"/>
            <a:ext cx="4827587" cy="411941"/>
          </a:xfrm>
        </p:spPr>
        <p:txBody>
          <a:bodyPr lIns="0" tIns="0" rIns="0" bIns="0"/>
          <a:lstStyle/>
          <a:p>
            <a:pPr marL="255600" indent="0">
              <a:buNone/>
            </a:pPr>
            <a:r>
              <a:rPr lang="en-US" altLang="en-US" sz="2400" dirty="0">
                <a:latin typeface="Arial (Body)"/>
                <a:ea typeface="ヒラギノ角ゴ Pro W3" pitchFamily="-84" charset="-128"/>
              </a:rPr>
              <a:t>demand of real monetary assets.</a:t>
            </a:r>
          </a:p>
        </p:txBody>
      </p:sp>
      <p:sp>
        <p:nvSpPr>
          <p:cNvPr id="7" name="Content Placeholder 6"/>
          <p:cNvSpPr>
            <a:spLocks noGrp="1"/>
          </p:cNvSpPr>
          <p:nvPr>
            <p:ph idx="16"/>
          </p:nvPr>
        </p:nvSpPr>
        <p:spPr>
          <a:xfrm>
            <a:off x="457200" y="3148642"/>
            <a:ext cx="8229600" cy="1895856"/>
          </a:xfrm>
        </p:spPr>
        <p:txBody>
          <a:bodyPr/>
          <a:lstStyle/>
          <a:p>
            <a:pPr indent="-255600"/>
            <a:r>
              <a:rPr lang="en-US" altLang="en-US" sz="2400" dirty="0">
                <a:latin typeface="Arial (Body)"/>
                <a:ea typeface="ヒラギノ角ゴ Pro W3" pitchFamily="-84" charset="-128"/>
              </a:rPr>
              <a:t>This is predicted to put upward pressure on interest rates and the value of the domestic currency.</a:t>
            </a:r>
          </a:p>
          <a:p>
            <a:pPr indent="-255600"/>
            <a:r>
              <a:rPr lang="en-US" altLang="en-US" sz="2400" dirty="0">
                <a:latin typeface="Arial (Body)"/>
                <a:ea typeface="ヒラギノ角ゴ Pro W3" pitchFamily="-84" charset="-128"/>
              </a:rPr>
              <a:t>How should the central bank respond if it wants to fix exchange rates?</a:t>
            </a:r>
          </a:p>
        </p:txBody>
      </p:sp>
    </p:spTree>
    <p:extLst>
      <p:ext uri="{BB962C8B-B14F-4D97-AF65-F5344CB8AC3E}">
        <p14:creationId xmlns:p14="http://schemas.microsoft.com/office/powerpoint/2010/main" val="234968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6E952-E04C-4006-B6F4-2252B04FA27E}"/>
              </a:ext>
            </a:extLst>
          </p:cNvPr>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Fixed Exchange Rates </a:t>
            </a:r>
            <a:r>
              <a:rPr lang="en-US" altLang="en-US" sz="2000" b="0" dirty="0">
                <a:ea typeface="ヒラギノ角ゴ Pro W3" pitchFamily="-84" charset="-128"/>
                <a:cs typeface="Times New Roman" panose="02020603050405020304" pitchFamily="18" charset="0"/>
              </a:rPr>
              <a:t>(4 of 4)</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159C6701-03F6-4429-B13D-B0A753DF091D}"/>
              </a:ext>
            </a:extLst>
          </p:cNvPr>
          <p:cNvSpPr>
            <a:spLocks noGrp="1"/>
          </p:cNvSpPr>
          <p:nvPr>
            <p:ph sz="quarter" idx="13"/>
          </p:nvPr>
        </p:nvSpPr>
        <p:spPr>
          <a:xfrm>
            <a:off x="457200" y="1556327"/>
            <a:ext cx="8229600" cy="3796258"/>
          </a:xfrm>
        </p:spPr>
        <p:txBody>
          <a:bodyPr/>
          <a:lstStyle/>
          <a:p>
            <a:pPr eaLnBrk="1" hangingPunct="1"/>
            <a:r>
              <a:rPr lang="en-US" altLang="en-US" dirty="0">
                <a:latin typeface="Arial (Body)"/>
                <a:ea typeface="ヒラギノ角ゴ Pro W3" pitchFamily="-84" charset="-128"/>
              </a:rPr>
              <a:t>The central bank should buy foreign assets in the foreign exchange markets,</a:t>
            </a:r>
          </a:p>
          <a:p>
            <a:pPr lvl="1" eaLnBrk="1" hangingPunct="1"/>
            <a:r>
              <a:rPr lang="en-US" altLang="en-US" dirty="0">
                <a:latin typeface="Arial (Body)"/>
                <a:ea typeface="MS PGothic" pitchFamily="34" charset="-128"/>
              </a:rPr>
              <a:t>thereby increasing the domestic money supply,</a:t>
            </a:r>
          </a:p>
          <a:p>
            <a:pPr lvl="1" eaLnBrk="1" hangingPunct="1"/>
            <a:r>
              <a:rPr lang="en-US" altLang="en-US" dirty="0">
                <a:latin typeface="Arial (Body)"/>
                <a:ea typeface="MS PGothic" pitchFamily="34" charset="-128"/>
              </a:rPr>
              <a:t>thereby reducing interest rates in the short run.</a:t>
            </a:r>
          </a:p>
          <a:p>
            <a:pPr lvl="1" eaLnBrk="1" hangingPunct="1"/>
            <a:r>
              <a:rPr lang="en-US" altLang="en-US" dirty="0">
                <a:latin typeface="Arial (Body)"/>
                <a:ea typeface="MS PGothic" pitchFamily="34" charset="-128"/>
              </a:rPr>
              <a:t>Alternatively, by demanding (buying) assets denominated in foreign currency and by supplying (selling) domestic currency, the price/value of foreign currency is increased and the price/value of domestic currency is decreased.</a:t>
            </a:r>
          </a:p>
        </p:txBody>
      </p:sp>
    </p:spTree>
    <p:extLst>
      <p:ext uri="{BB962C8B-B14F-4D97-AF65-F5344CB8AC3E}">
        <p14:creationId xmlns:p14="http://schemas.microsoft.com/office/powerpoint/2010/main" val="1195616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334CC-33E6-4555-BE10-48593E7F139B}"/>
              </a:ext>
            </a:extLst>
          </p:cNvPr>
          <p:cNvSpPr>
            <a:spLocks noGrp="1"/>
          </p:cNvSpPr>
          <p:nvPr>
            <p:ph type="title"/>
          </p:nvPr>
        </p:nvSpPr>
        <p:spPr/>
        <p:txBody>
          <a:bodyPr/>
          <a:lstStyle/>
          <a:p>
            <a:r>
              <a:rPr lang="en-US" altLang="en-US" sz="3200" dirty="0">
                <a:ea typeface="ヒラギノ角ゴ Pro W3" pitchFamily="-84" charset="-128"/>
              </a:rPr>
              <a:t>Figure 18.1 Asset Market Equilibrium With a Fixed Exchange Rate, </a:t>
            </a:r>
            <a:r>
              <a:rPr lang="en-US" sz="100" dirty="0">
                <a:effectLst/>
                <a:ea typeface="Calibri" panose="020F0502020204030204" pitchFamily="34" charset="0"/>
                <a:cs typeface="Times New Roman" panose="02020603050405020304" pitchFamily="18" charset="0"/>
              </a:rPr>
              <a:t>E sub 0</a:t>
            </a:r>
            <a:endParaRPr lang="en-IN" sz="100" dirty="0"/>
          </a:p>
        </p:txBody>
      </p:sp>
      <p:graphicFrame>
        <p:nvGraphicFramePr>
          <p:cNvPr id="17" name="Object 16">
            <a:extLst>
              <a:ext uri="{FF2B5EF4-FFF2-40B4-BE49-F238E27FC236}">
                <a16:creationId xmlns:a16="http://schemas.microsoft.com/office/drawing/2014/main" id="{A07B703C-C008-479E-B0C9-F4314C43A8E2}"/>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2627284296"/>
              </p:ext>
            </p:extLst>
          </p:nvPr>
        </p:nvGraphicFramePr>
        <p:xfrm>
          <a:off x="6149599" y="686613"/>
          <a:ext cx="589714" cy="520663"/>
        </p:xfrm>
        <a:graphic>
          <a:graphicData uri="http://schemas.openxmlformats.org/presentationml/2006/ole">
            <mc:AlternateContent xmlns:mc="http://schemas.openxmlformats.org/markup-compatibility/2006">
              <mc:Choice xmlns:v="urn:schemas-microsoft-com:vml" Requires="v">
                <p:oleObj spid="_x0000_s6398" name="Equation" r:id="rId4" imgW="215640" imgH="190440" progId="Equation.DSMT4">
                  <p:embed/>
                </p:oleObj>
              </mc:Choice>
              <mc:Fallback>
                <p:oleObj name="Equation" r:id="rId4" imgW="215640" imgH="190440" progId="Equation.DSMT4">
                  <p:embed/>
                  <p:pic>
                    <p:nvPicPr>
                      <p:cNvPr id="9" name="Object 8"/>
                      <p:cNvPicPr/>
                      <p:nvPr/>
                    </p:nvPicPr>
                    <p:blipFill>
                      <a:blip r:embed="rId5"/>
                      <a:stretch>
                        <a:fillRect/>
                      </a:stretch>
                    </p:blipFill>
                    <p:spPr>
                      <a:xfrm>
                        <a:off x="6149599" y="686613"/>
                        <a:ext cx="589714" cy="520663"/>
                      </a:xfrm>
                      <a:prstGeom prst="rect">
                        <a:avLst/>
                      </a:prstGeom>
                      <a:solidFill>
                        <a:schemeClr val="lt1"/>
                      </a:solidFill>
                    </p:spPr>
                  </p:pic>
                </p:oleObj>
              </mc:Fallback>
            </mc:AlternateContent>
          </a:graphicData>
        </a:graphic>
      </p:graphicFrame>
      <p:pic>
        <p:nvPicPr>
          <p:cNvPr id="23" name="Content Placeholder 22" descr="The graph plots exchange rate, E, above y = 0 and real domestic money holdings below y = 0, versus domestic interest rate, R. For long description in Notes pane, press F6.">
            <a:extLst>
              <a:ext uri="{FF2B5EF4-FFF2-40B4-BE49-F238E27FC236}">
                <a16:creationId xmlns:a16="http://schemas.microsoft.com/office/drawing/2014/main" id="{3A837F16-7BDF-478D-8349-1D7DBE4773C0}"/>
              </a:ext>
            </a:extLst>
          </p:cNvPr>
          <p:cNvPicPr>
            <a:picLocks noGrp="1" noChangeAspect="1"/>
          </p:cNvPicPr>
          <p:nvPr>
            <p:ph sz="quarter" idx="13"/>
          </p:nvPr>
        </p:nvPicPr>
        <p:blipFill>
          <a:blip r:embed="rId6"/>
          <a:stretch>
            <a:fillRect/>
          </a:stretch>
        </p:blipFill>
        <p:spPr>
          <a:xfrm>
            <a:off x="3292327" y="1557338"/>
            <a:ext cx="2825432" cy="3683792"/>
          </a:xfrm>
        </p:spPr>
      </p:pic>
      <p:sp>
        <p:nvSpPr>
          <p:cNvPr id="4" name="Content Placeholder 3">
            <a:extLst>
              <a:ext uri="{FF2B5EF4-FFF2-40B4-BE49-F238E27FC236}">
                <a16:creationId xmlns:a16="http://schemas.microsoft.com/office/drawing/2014/main" id="{665E66B8-7FF6-4B65-BED0-276271A52AD6}"/>
              </a:ext>
            </a:extLst>
          </p:cNvPr>
          <p:cNvSpPr>
            <a:spLocks noGrp="1"/>
          </p:cNvSpPr>
          <p:nvPr>
            <p:ph sz="quarter" idx="14"/>
          </p:nvPr>
        </p:nvSpPr>
        <p:spPr>
          <a:xfrm>
            <a:off x="494946" y="5487217"/>
            <a:ext cx="3185513" cy="296363"/>
          </a:xfrm>
        </p:spPr>
        <p:txBody>
          <a:bodyPr lIns="0" tIns="0" rIns="0" bIns="0"/>
          <a:lstStyle/>
          <a:p>
            <a:pPr marL="432" indent="0">
              <a:buNone/>
            </a:pPr>
            <a:r>
              <a:rPr lang="en-US" sz="1600" dirty="0">
                <a:latin typeface="Arial (Body)"/>
              </a:rPr>
              <a:t>To hold the exchange rate fixed at</a:t>
            </a:r>
            <a:endParaRPr lang="en-IN" sz="1600" dirty="0"/>
          </a:p>
        </p:txBody>
      </p:sp>
      <p:graphicFrame>
        <p:nvGraphicFramePr>
          <p:cNvPr id="18" name="Object 17" descr="E sub 0">
            <a:extLst>
              <a:ext uri="{FF2B5EF4-FFF2-40B4-BE49-F238E27FC236}">
                <a16:creationId xmlns:a16="http://schemas.microsoft.com/office/drawing/2014/main" id="{E83BF3B5-74A4-48EB-9F50-8507E83527CC}"/>
              </a:ext>
            </a:extLst>
          </p:cNvPr>
          <p:cNvGraphicFramePr>
            <a:graphicFrameLocks noChangeAspect="1"/>
          </p:cNvGraphicFramePr>
          <p:nvPr>
            <p:extLst>
              <p:ext uri="{D42A27DB-BD31-4B8C-83A1-F6EECF244321}">
                <p14:modId xmlns:p14="http://schemas.microsoft.com/office/powerpoint/2010/main" val="1165183229"/>
              </p:ext>
            </p:extLst>
          </p:nvPr>
        </p:nvGraphicFramePr>
        <p:xfrm>
          <a:off x="3763389" y="5482338"/>
          <a:ext cx="297096" cy="271631"/>
        </p:xfrm>
        <a:graphic>
          <a:graphicData uri="http://schemas.openxmlformats.org/presentationml/2006/ole">
            <mc:AlternateContent xmlns:mc="http://schemas.openxmlformats.org/markup-compatibility/2006">
              <mc:Choice xmlns:v="urn:schemas-microsoft-com:vml" Requires="v">
                <p:oleObj spid="_x0000_s6399" name="Equation" r:id="rId7" imgW="333555" imgH="304772" progId="Equation.DSMT4">
                  <p:embed/>
                </p:oleObj>
              </mc:Choice>
              <mc:Fallback>
                <p:oleObj name="Equation" r:id="rId7" imgW="333555" imgH="304772" progId="Equation.DSMT4">
                  <p:embed/>
                  <p:pic>
                    <p:nvPicPr>
                      <p:cNvPr id="10" name="Object 9"/>
                      <p:cNvPicPr/>
                      <p:nvPr/>
                    </p:nvPicPr>
                    <p:blipFill>
                      <a:blip r:embed="rId8"/>
                      <a:stretch>
                        <a:fillRect/>
                      </a:stretch>
                    </p:blipFill>
                    <p:spPr>
                      <a:xfrm>
                        <a:off x="3763389" y="5482338"/>
                        <a:ext cx="297096" cy="271631"/>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8499254A-CD67-40FD-9F1E-9A34542D98DA}"/>
              </a:ext>
            </a:extLst>
          </p:cNvPr>
          <p:cNvSpPr>
            <a:spLocks noGrp="1"/>
          </p:cNvSpPr>
          <p:nvPr>
            <p:ph sz="quarter" idx="15"/>
          </p:nvPr>
        </p:nvSpPr>
        <p:spPr>
          <a:xfrm>
            <a:off x="4165426" y="5510515"/>
            <a:ext cx="2151553" cy="282590"/>
          </a:xfrm>
        </p:spPr>
        <p:txBody>
          <a:bodyPr lIns="0" tIns="0" rIns="0" bIns="0"/>
          <a:lstStyle/>
          <a:p>
            <a:pPr marL="432" indent="0">
              <a:buNone/>
            </a:pPr>
            <a:r>
              <a:rPr lang="en-US" sz="1600" dirty="0">
                <a:latin typeface="Arial (Body)"/>
              </a:rPr>
              <a:t>when output rises from</a:t>
            </a:r>
            <a:endParaRPr lang="en-IN" sz="1600" dirty="0"/>
          </a:p>
        </p:txBody>
      </p:sp>
      <p:graphicFrame>
        <p:nvGraphicFramePr>
          <p:cNvPr id="19" name="Object 18" descr="Y super 1 to Y super 2,">
            <a:extLst>
              <a:ext uri="{FF2B5EF4-FFF2-40B4-BE49-F238E27FC236}">
                <a16:creationId xmlns:a16="http://schemas.microsoft.com/office/drawing/2014/main" id="{88F1C587-0DC6-4EA2-B917-A5757F570D4F}"/>
              </a:ext>
            </a:extLst>
          </p:cNvPr>
          <p:cNvGraphicFramePr>
            <a:graphicFrameLocks noChangeAspect="1"/>
          </p:cNvGraphicFramePr>
          <p:nvPr>
            <p:extLst>
              <p:ext uri="{D42A27DB-BD31-4B8C-83A1-F6EECF244321}">
                <p14:modId xmlns:p14="http://schemas.microsoft.com/office/powerpoint/2010/main" val="3289826039"/>
              </p:ext>
            </p:extLst>
          </p:nvPr>
        </p:nvGraphicFramePr>
        <p:xfrm>
          <a:off x="6414713" y="5518273"/>
          <a:ext cx="751575" cy="271846"/>
        </p:xfrm>
        <a:graphic>
          <a:graphicData uri="http://schemas.openxmlformats.org/presentationml/2006/ole">
            <mc:AlternateContent xmlns:mc="http://schemas.openxmlformats.org/markup-compatibility/2006">
              <mc:Choice xmlns:v="urn:schemas-microsoft-com:vml" Requires="v">
                <p:oleObj spid="_x0000_s6400" name="Equation" r:id="rId9" imgW="596880" imgH="215640" progId="Equation.DSMT4">
                  <p:embed/>
                </p:oleObj>
              </mc:Choice>
              <mc:Fallback>
                <p:oleObj name="Equation" r:id="rId9" imgW="596880" imgH="215640" progId="Equation.DSMT4">
                  <p:embed/>
                  <p:pic>
                    <p:nvPicPr>
                      <p:cNvPr id="11" name="Object 10"/>
                      <p:cNvPicPr/>
                      <p:nvPr/>
                    </p:nvPicPr>
                    <p:blipFill>
                      <a:blip r:embed="rId10"/>
                      <a:stretch>
                        <a:fillRect/>
                      </a:stretch>
                    </p:blipFill>
                    <p:spPr>
                      <a:xfrm>
                        <a:off x="6414713" y="5518273"/>
                        <a:ext cx="751575" cy="271846"/>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F222E884-7DDF-4E25-A008-2EC054FF10EA}"/>
              </a:ext>
            </a:extLst>
          </p:cNvPr>
          <p:cNvSpPr>
            <a:spLocks noGrp="1"/>
          </p:cNvSpPr>
          <p:nvPr>
            <p:ph sz="quarter" idx="16"/>
          </p:nvPr>
        </p:nvSpPr>
        <p:spPr>
          <a:xfrm>
            <a:off x="7327049" y="5514022"/>
            <a:ext cx="1054952" cy="283238"/>
          </a:xfrm>
        </p:spPr>
        <p:txBody>
          <a:bodyPr lIns="0" tIns="0" rIns="0" bIns="0"/>
          <a:lstStyle/>
          <a:p>
            <a:pPr marL="432" indent="0">
              <a:buNone/>
            </a:pPr>
            <a:r>
              <a:rPr lang="en-US" sz="1600" dirty="0">
                <a:latin typeface="Arial (Body)"/>
              </a:rPr>
              <a:t>the central</a:t>
            </a:r>
            <a:endParaRPr lang="en-IN" sz="1600" dirty="0"/>
          </a:p>
        </p:txBody>
      </p:sp>
      <p:sp>
        <p:nvSpPr>
          <p:cNvPr id="7" name="Content Placeholder 6">
            <a:extLst>
              <a:ext uri="{FF2B5EF4-FFF2-40B4-BE49-F238E27FC236}">
                <a16:creationId xmlns:a16="http://schemas.microsoft.com/office/drawing/2014/main" id="{0EA3B78E-C128-4512-A7DC-7BE294EC00B3}"/>
              </a:ext>
            </a:extLst>
          </p:cNvPr>
          <p:cNvSpPr>
            <a:spLocks noGrp="1"/>
          </p:cNvSpPr>
          <p:nvPr>
            <p:ph sz="quarter" idx="17"/>
          </p:nvPr>
        </p:nvSpPr>
        <p:spPr>
          <a:xfrm>
            <a:off x="475209" y="5868523"/>
            <a:ext cx="7025268" cy="297962"/>
          </a:xfrm>
        </p:spPr>
        <p:txBody>
          <a:bodyPr lIns="0" tIns="0" rIns="0" bIns="0"/>
          <a:lstStyle/>
          <a:p>
            <a:pPr marL="432" indent="0">
              <a:buNone/>
            </a:pPr>
            <a:r>
              <a:rPr lang="en-US" sz="1600" dirty="0">
                <a:latin typeface="Arial (Body)"/>
              </a:rPr>
              <a:t>bank must purchase foreign assets and thereby raise the money supply from</a:t>
            </a:r>
            <a:endParaRPr lang="en-IN" sz="1600" dirty="0"/>
          </a:p>
        </p:txBody>
      </p:sp>
      <p:graphicFrame>
        <p:nvGraphicFramePr>
          <p:cNvPr id="20" name="Object 19" descr="M super 1 to M super 2,">
            <a:extLst>
              <a:ext uri="{FF2B5EF4-FFF2-40B4-BE49-F238E27FC236}">
                <a16:creationId xmlns:a16="http://schemas.microsoft.com/office/drawing/2014/main" id="{3CACB85B-0EC9-476C-BFEF-59B24BD06B4D}"/>
              </a:ext>
            </a:extLst>
          </p:cNvPr>
          <p:cNvGraphicFramePr>
            <a:graphicFrameLocks noChangeAspect="1"/>
          </p:cNvGraphicFramePr>
          <p:nvPr>
            <p:extLst>
              <p:ext uri="{D42A27DB-BD31-4B8C-83A1-F6EECF244321}">
                <p14:modId xmlns:p14="http://schemas.microsoft.com/office/powerpoint/2010/main" val="3729889701"/>
              </p:ext>
            </p:extLst>
          </p:nvPr>
        </p:nvGraphicFramePr>
        <p:xfrm>
          <a:off x="7581757" y="5873230"/>
          <a:ext cx="879475" cy="269875"/>
        </p:xfrm>
        <a:graphic>
          <a:graphicData uri="http://schemas.openxmlformats.org/presentationml/2006/ole">
            <mc:AlternateContent xmlns:mc="http://schemas.openxmlformats.org/markup-compatibility/2006">
              <mc:Choice xmlns:v="urn:schemas-microsoft-com:vml" Requires="v">
                <p:oleObj spid="_x0000_s6401" name="Equation" r:id="rId11" imgW="660240" imgH="203040" progId="Equation.DSMT4">
                  <p:embed/>
                </p:oleObj>
              </mc:Choice>
              <mc:Fallback>
                <p:oleObj name="Equation" r:id="rId11" imgW="660240" imgH="203040" progId="Equation.DSMT4">
                  <p:embed/>
                  <p:pic>
                    <p:nvPicPr>
                      <p:cNvPr id="13" name="Object 12"/>
                      <p:cNvPicPr/>
                      <p:nvPr/>
                    </p:nvPicPr>
                    <p:blipFill>
                      <a:blip r:embed="rId12"/>
                      <a:stretch>
                        <a:fillRect/>
                      </a:stretch>
                    </p:blipFill>
                    <p:spPr>
                      <a:xfrm>
                        <a:off x="7581757" y="5873230"/>
                        <a:ext cx="879475" cy="269875"/>
                      </a:xfrm>
                      <a:prstGeom prst="rect">
                        <a:avLst/>
                      </a:prstGeom>
                    </p:spPr>
                  </p:pic>
                </p:oleObj>
              </mc:Fallback>
            </mc:AlternateContent>
          </a:graphicData>
        </a:graphic>
      </p:graphicFrame>
    </p:spTree>
    <p:extLst>
      <p:ext uri="{BB962C8B-B14F-4D97-AF65-F5344CB8AC3E}">
        <p14:creationId xmlns:p14="http://schemas.microsoft.com/office/powerpoint/2010/main" val="891614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Monetary Policy and Fixed Exchange Rates</a:t>
            </a:r>
            <a:endParaRPr lang="en-IN" sz="3200" dirty="0">
              <a:cs typeface="Times New Roman" panose="02020603050405020304" pitchFamily="18" charset="0"/>
            </a:endParaRPr>
          </a:p>
        </p:txBody>
      </p:sp>
      <p:sp>
        <p:nvSpPr>
          <p:cNvPr id="2" name="Content Placeholder 1">
            <a:extLst>
              <a:ext uri="{FF2B5EF4-FFF2-40B4-BE49-F238E27FC236}">
                <a16:creationId xmlns:a16="http://schemas.microsoft.com/office/drawing/2014/main" id="{1DD1DF66-57B1-4793-9E87-6BDC81306113}"/>
              </a:ext>
            </a:extLst>
          </p:cNvPr>
          <p:cNvSpPr>
            <a:spLocks noGrp="1"/>
          </p:cNvSpPr>
          <p:nvPr>
            <p:ph sz="quarter" idx="13"/>
          </p:nvPr>
        </p:nvSpPr>
        <p:spPr>
          <a:xfrm>
            <a:off x="457200" y="1556327"/>
            <a:ext cx="8229600" cy="3206173"/>
          </a:xfrm>
        </p:spPr>
        <p:txBody>
          <a:bodyPr/>
          <a:lstStyle/>
          <a:p>
            <a:pPr eaLnBrk="1" hangingPunct="1"/>
            <a:r>
              <a:rPr lang="en-US" altLang="en-US" dirty="0">
                <a:latin typeface="Arial (Body)"/>
                <a:ea typeface="ヒラギノ角ゴ Pro W3" pitchFamily="-84" charset="-128"/>
              </a:rPr>
              <a:t>When the central bank buys and sells foreign assets to keep the exchange rate fixed and to maintain domestic interest rates equal to foreign interest rates, it is not able to adjust domestic interest rates to attain other goals.</a:t>
            </a:r>
          </a:p>
          <a:p>
            <a:pPr lvl="1" eaLnBrk="1" hangingPunct="1"/>
            <a:r>
              <a:rPr lang="en-US" altLang="en-US" dirty="0">
                <a:latin typeface="Arial (Body)"/>
                <a:ea typeface="ヒラギノ角ゴ Pro W3" pitchFamily="-84" charset="-128"/>
              </a:rPr>
              <a:t>In particular, monetary policy is ineffective in influencing output and employment.</a:t>
            </a:r>
            <a:endParaRPr lang="en-US" altLang="en-US" i="1" dirty="0">
              <a:latin typeface="Arial (Body)"/>
              <a:ea typeface="ヒラギノ角ゴ Pro W3" pitchFamily="-84" charset="-128"/>
            </a:endParaRPr>
          </a:p>
        </p:txBody>
      </p:sp>
    </p:spTree>
    <p:extLst>
      <p:ext uri="{BB962C8B-B14F-4D97-AF65-F5344CB8AC3E}">
        <p14:creationId xmlns:p14="http://schemas.microsoft.com/office/powerpoint/2010/main" val="40929377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noChangeArrowheads="1"/>
          </p:cNvSpPr>
          <p:nvPr>
            <p:ph type="title"/>
          </p:nvPr>
        </p:nvSpPr>
        <p:spPr/>
        <p:txBody>
          <a:bodyPr/>
          <a:lstStyle/>
          <a:p>
            <a:pPr eaLnBrk="1" hangingPunct="1"/>
            <a:r>
              <a:rPr lang="en-US" altLang="en-US" sz="3200" dirty="0">
                <a:latin typeface="+mj-lt"/>
                <a:ea typeface="ヒラギノ角ゴ Pro W3" pitchFamily="-84" charset="-128"/>
                <a:cs typeface="Times New Roman" panose="02020603050405020304" pitchFamily="18" charset="0"/>
              </a:rPr>
              <a:t>Figure 18.2 Monetary Expansion Is Ineffective Under a Fixed Exchange Rate</a:t>
            </a:r>
          </a:p>
        </p:txBody>
      </p:sp>
      <p:pic>
        <p:nvPicPr>
          <p:cNvPr id="37" name="Content Placeholder 36" descr="The graph plots exchange rate, E versus output, Y. For long description in Notes pane, press F6.">
            <a:extLst>
              <a:ext uri="{FF2B5EF4-FFF2-40B4-BE49-F238E27FC236}">
                <a16:creationId xmlns:a16="http://schemas.microsoft.com/office/drawing/2014/main" id="{5CAFAA55-6B1C-42E1-B14B-FAFFC0B7DD3C}"/>
              </a:ext>
            </a:extLst>
          </p:cNvPr>
          <p:cNvPicPr>
            <a:picLocks noGrp="1" noChangeAspect="1"/>
          </p:cNvPicPr>
          <p:nvPr>
            <p:ph sz="quarter" idx="24"/>
          </p:nvPr>
        </p:nvPicPr>
        <p:blipFill>
          <a:blip r:embed="rId4"/>
          <a:stretch>
            <a:fillRect/>
          </a:stretch>
        </p:blipFill>
        <p:spPr>
          <a:xfrm>
            <a:off x="3334787" y="1457764"/>
            <a:ext cx="2441080" cy="2513180"/>
          </a:xfrm>
        </p:spPr>
      </p:pic>
      <p:sp>
        <p:nvSpPr>
          <p:cNvPr id="4" name="Content Placeholder 3"/>
          <p:cNvSpPr>
            <a:spLocks noGrp="1"/>
          </p:cNvSpPr>
          <p:nvPr>
            <p:ph idx="1"/>
          </p:nvPr>
        </p:nvSpPr>
        <p:spPr>
          <a:xfrm>
            <a:off x="457200" y="4181312"/>
            <a:ext cx="8148321" cy="263923"/>
          </a:xfrm>
        </p:spPr>
        <p:txBody>
          <a:bodyPr lIns="0" tIns="0" rIns="0" bIns="0"/>
          <a:lstStyle/>
          <a:p>
            <a:pPr marL="0" indent="0">
              <a:buNone/>
            </a:pPr>
            <a:r>
              <a:rPr lang="en-US" dirty="0">
                <a:latin typeface="Arial (Body)"/>
              </a:rPr>
              <a:t>Initial equilibrium is shown at point 1, where the output and asset markets simultaneously</a:t>
            </a:r>
          </a:p>
        </p:txBody>
      </p:sp>
      <p:sp>
        <p:nvSpPr>
          <p:cNvPr id="5" name="Content Placeholder 4"/>
          <p:cNvSpPr>
            <a:spLocks noGrp="1"/>
          </p:cNvSpPr>
          <p:nvPr>
            <p:ph idx="13"/>
          </p:nvPr>
        </p:nvSpPr>
        <p:spPr>
          <a:xfrm>
            <a:off x="450395" y="4503780"/>
            <a:ext cx="2993845" cy="275350"/>
          </a:xfrm>
        </p:spPr>
        <p:txBody>
          <a:bodyPr lIns="0" tIns="0" rIns="0" bIns="0"/>
          <a:lstStyle/>
          <a:p>
            <a:pPr marL="0" indent="0">
              <a:buNone/>
            </a:pPr>
            <a:r>
              <a:rPr lang="en-US" dirty="0">
                <a:latin typeface="Arial (Body)"/>
              </a:rPr>
              <a:t>clear at a fixed exchange rate of</a:t>
            </a:r>
            <a:endParaRPr lang="en-IN" dirty="0"/>
          </a:p>
        </p:txBody>
      </p:sp>
      <p:graphicFrame>
        <p:nvGraphicFramePr>
          <p:cNvPr id="16" name="Object 15" descr="E sub 0"/>
          <p:cNvGraphicFramePr>
            <a:graphicFrameLocks noChangeAspect="1"/>
          </p:cNvGraphicFramePr>
          <p:nvPr>
            <p:extLst>
              <p:ext uri="{D42A27DB-BD31-4B8C-83A1-F6EECF244321}">
                <p14:modId xmlns:p14="http://schemas.microsoft.com/office/powerpoint/2010/main" val="983281871"/>
              </p:ext>
            </p:extLst>
          </p:nvPr>
        </p:nvGraphicFramePr>
        <p:xfrm>
          <a:off x="3525859" y="4502775"/>
          <a:ext cx="275516" cy="251901"/>
        </p:xfrm>
        <a:graphic>
          <a:graphicData uri="http://schemas.openxmlformats.org/presentationml/2006/ole">
            <mc:AlternateContent xmlns:mc="http://schemas.openxmlformats.org/markup-compatibility/2006">
              <mc:Choice xmlns:v="urn:schemas-microsoft-com:vml" Requires="v">
                <p:oleObj spid="_x0000_s7611" name="Equation" r:id="rId5" imgW="333555" imgH="304772" progId="Equation.DSMT4">
                  <p:embed/>
                </p:oleObj>
              </mc:Choice>
              <mc:Fallback>
                <p:oleObj name="Equation" r:id="rId5" imgW="333555" imgH="304772" progId="Equation.DSMT4">
                  <p:embed/>
                  <p:pic>
                    <p:nvPicPr>
                      <p:cNvPr id="16" name="Object 15"/>
                      <p:cNvPicPr/>
                      <p:nvPr/>
                    </p:nvPicPr>
                    <p:blipFill>
                      <a:blip r:embed="rId6"/>
                      <a:stretch>
                        <a:fillRect/>
                      </a:stretch>
                    </p:blipFill>
                    <p:spPr>
                      <a:xfrm>
                        <a:off x="3525859" y="4502775"/>
                        <a:ext cx="275516" cy="251901"/>
                      </a:xfrm>
                      <a:prstGeom prst="rect">
                        <a:avLst/>
                      </a:prstGeom>
                    </p:spPr>
                  </p:pic>
                </p:oleObj>
              </mc:Fallback>
            </mc:AlternateContent>
          </a:graphicData>
        </a:graphic>
      </p:graphicFrame>
      <p:sp>
        <p:nvSpPr>
          <p:cNvPr id="6" name="Content Placeholder 5"/>
          <p:cNvSpPr>
            <a:spLocks noGrp="1"/>
          </p:cNvSpPr>
          <p:nvPr>
            <p:ph idx="14"/>
          </p:nvPr>
        </p:nvSpPr>
        <p:spPr>
          <a:xfrm>
            <a:off x="3882655" y="4490995"/>
            <a:ext cx="2045705" cy="272896"/>
          </a:xfrm>
        </p:spPr>
        <p:txBody>
          <a:bodyPr lIns="0" tIns="0" rIns="0" bIns="0"/>
          <a:lstStyle/>
          <a:p>
            <a:pPr marL="0" indent="0">
              <a:buNone/>
            </a:pPr>
            <a:r>
              <a:rPr lang="en-US" dirty="0">
                <a:latin typeface="Arial (Body)"/>
              </a:rPr>
              <a:t>and an output level of</a:t>
            </a:r>
            <a:endParaRPr lang="en-IN" dirty="0"/>
          </a:p>
        </p:txBody>
      </p:sp>
      <p:graphicFrame>
        <p:nvGraphicFramePr>
          <p:cNvPr id="17" name="Object 16" descr="Y super 1."/>
          <p:cNvGraphicFramePr>
            <a:graphicFrameLocks noChangeAspect="1"/>
          </p:cNvGraphicFramePr>
          <p:nvPr>
            <p:extLst>
              <p:ext uri="{D42A27DB-BD31-4B8C-83A1-F6EECF244321}">
                <p14:modId xmlns:p14="http://schemas.microsoft.com/office/powerpoint/2010/main" val="2073281007"/>
              </p:ext>
            </p:extLst>
          </p:nvPr>
        </p:nvGraphicFramePr>
        <p:xfrm>
          <a:off x="5959902" y="4509221"/>
          <a:ext cx="261085" cy="220414"/>
        </p:xfrm>
        <a:graphic>
          <a:graphicData uri="http://schemas.openxmlformats.org/presentationml/2006/ole">
            <mc:AlternateContent xmlns:mc="http://schemas.openxmlformats.org/markup-compatibility/2006">
              <mc:Choice xmlns:v="urn:schemas-microsoft-com:vml" Requires="v">
                <p:oleObj spid="_x0000_s7612" name="Equation" r:id="rId7" imgW="228600" imgH="190440" progId="Equation.DSMT4">
                  <p:embed/>
                </p:oleObj>
              </mc:Choice>
              <mc:Fallback>
                <p:oleObj name="Equation" r:id="rId7" imgW="228600" imgH="190440" progId="Equation.DSMT4">
                  <p:embed/>
                  <p:pic>
                    <p:nvPicPr>
                      <p:cNvPr id="17" name="Object 16"/>
                      <p:cNvPicPr/>
                      <p:nvPr/>
                    </p:nvPicPr>
                    <p:blipFill>
                      <a:blip r:embed="rId8"/>
                      <a:stretch>
                        <a:fillRect/>
                      </a:stretch>
                    </p:blipFill>
                    <p:spPr>
                      <a:xfrm>
                        <a:off x="5959902" y="4509221"/>
                        <a:ext cx="261085" cy="220414"/>
                      </a:xfrm>
                      <a:prstGeom prst="rect">
                        <a:avLst/>
                      </a:prstGeom>
                    </p:spPr>
                  </p:pic>
                </p:oleObj>
              </mc:Fallback>
            </mc:AlternateContent>
          </a:graphicData>
        </a:graphic>
      </p:graphicFrame>
      <p:sp>
        <p:nvSpPr>
          <p:cNvPr id="7" name="Content Placeholder 6"/>
          <p:cNvSpPr>
            <a:spLocks noGrp="1"/>
          </p:cNvSpPr>
          <p:nvPr>
            <p:ph idx="15"/>
          </p:nvPr>
        </p:nvSpPr>
        <p:spPr>
          <a:xfrm>
            <a:off x="6307837" y="4505793"/>
            <a:ext cx="2655188" cy="265717"/>
          </a:xfrm>
        </p:spPr>
        <p:txBody>
          <a:bodyPr lIns="0" tIns="0" rIns="0" bIns="0"/>
          <a:lstStyle/>
          <a:p>
            <a:pPr marL="0" indent="0">
              <a:buNone/>
            </a:pPr>
            <a:r>
              <a:rPr lang="en-US" dirty="0">
                <a:latin typeface="Arial (Body)"/>
              </a:rPr>
              <a:t>Hoping to increase output to</a:t>
            </a:r>
            <a:endParaRPr lang="en-IN" dirty="0"/>
          </a:p>
        </p:txBody>
      </p:sp>
      <p:graphicFrame>
        <p:nvGraphicFramePr>
          <p:cNvPr id="18" name="Object 17" descr="Y super 2,"/>
          <p:cNvGraphicFramePr>
            <a:graphicFrameLocks noChangeAspect="1"/>
          </p:cNvGraphicFramePr>
          <p:nvPr>
            <p:extLst>
              <p:ext uri="{D42A27DB-BD31-4B8C-83A1-F6EECF244321}">
                <p14:modId xmlns:p14="http://schemas.microsoft.com/office/powerpoint/2010/main" val="2488918937"/>
              </p:ext>
            </p:extLst>
          </p:nvPr>
        </p:nvGraphicFramePr>
        <p:xfrm>
          <a:off x="481451" y="4810769"/>
          <a:ext cx="295776" cy="252950"/>
        </p:xfrm>
        <a:graphic>
          <a:graphicData uri="http://schemas.openxmlformats.org/presentationml/2006/ole">
            <mc:AlternateContent xmlns:mc="http://schemas.openxmlformats.org/markup-compatibility/2006">
              <mc:Choice xmlns:v="urn:schemas-microsoft-com:vml" Requires="v">
                <p:oleObj spid="_x0000_s7613" name="Equation" r:id="rId9" imgW="253800" imgH="215640" progId="Equation.DSMT4">
                  <p:embed/>
                </p:oleObj>
              </mc:Choice>
              <mc:Fallback>
                <p:oleObj name="Equation" r:id="rId9" imgW="253800" imgH="215640" progId="Equation.DSMT4">
                  <p:embed/>
                  <p:pic>
                    <p:nvPicPr>
                      <p:cNvPr id="18" name="Object 17"/>
                      <p:cNvPicPr/>
                      <p:nvPr/>
                    </p:nvPicPr>
                    <p:blipFill>
                      <a:blip r:embed="rId10"/>
                      <a:stretch>
                        <a:fillRect/>
                      </a:stretch>
                    </p:blipFill>
                    <p:spPr>
                      <a:xfrm>
                        <a:off x="481451" y="4810769"/>
                        <a:ext cx="295776" cy="252950"/>
                      </a:xfrm>
                      <a:prstGeom prst="rect">
                        <a:avLst/>
                      </a:prstGeom>
                    </p:spPr>
                  </p:pic>
                </p:oleObj>
              </mc:Fallback>
            </mc:AlternateContent>
          </a:graphicData>
        </a:graphic>
      </p:graphicFrame>
      <p:sp>
        <p:nvSpPr>
          <p:cNvPr id="8" name="Content Placeholder 7"/>
          <p:cNvSpPr>
            <a:spLocks noGrp="1"/>
          </p:cNvSpPr>
          <p:nvPr>
            <p:ph idx="16"/>
          </p:nvPr>
        </p:nvSpPr>
        <p:spPr>
          <a:xfrm>
            <a:off x="887098" y="4817473"/>
            <a:ext cx="7830182" cy="283754"/>
          </a:xfrm>
        </p:spPr>
        <p:txBody>
          <a:bodyPr lIns="0" tIns="0" rIns="0" bIns="0"/>
          <a:lstStyle/>
          <a:p>
            <a:pPr marL="0" indent="0">
              <a:buNone/>
            </a:pPr>
            <a:r>
              <a:rPr lang="en-US" dirty="0">
                <a:latin typeface="Arial (Body)"/>
              </a:rPr>
              <a:t>the central bank decides to increase the money supply by buying domestic assets and</a:t>
            </a:r>
            <a:endParaRPr lang="en-IN" dirty="0"/>
          </a:p>
        </p:txBody>
      </p:sp>
      <p:sp>
        <p:nvSpPr>
          <p:cNvPr id="9" name="Content Placeholder 8"/>
          <p:cNvSpPr>
            <a:spLocks noGrp="1"/>
          </p:cNvSpPr>
          <p:nvPr>
            <p:ph idx="17"/>
          </p:nvPr>
        </p:nvSpPr>
        <p:spPr>
          <a:xfrm>
            <a:off x="457200" y="5128835"/>
            <a:ext cx="731520" cy="282755"/>
          </a:xfrm>
        </p:spPr>
        <p:txBody>
          <a:bodyPr lIns="0" tIns="0" rIns="0" bIns="0"/>
          <a:lstStyle/>
          <a:p>
            <a:pPr marL="0" indent="0">
              <a:buNone/>
            </a:pPr>
            <a:r>
              <a:rPr lang="en-US" sz="1600" dirty="0">
                <a:latin typeface="Arial (Body)"/>
              </a:rPr>
              <a:t>shifting</a:t>
            </a:r>
            <a:endParaRPr lang="en-IN" sz="1600" dirty="0"/>
          </a:p>
        </p:txBody>
      </p:sp>
      <p:graphicFrame>
        <p:nvGraphicFramePr>
          <p:cNvPr id="15" name="Object 14" descr="A A super 1 to A A super 2."/>
          <p:cNvGraphicFramePr>
            <a:graphicFrameLocks noChangeAspect="1"/>
          </p:cNvGraphicFramePr>
          <p:nvPr>
            <p:extLst>
              <p:ext uri="{D42A27DB-BD31-4B8C-83A1-F6EECF244321}">
                <p14:modId xmlns:p14="http://schemas.microsoft.com/office/powerpoint/2010/main" val="1901467818"/>
              </p:ext>
            </p:extLst>
          </p:nvPr>
        </p:nvGraphicFramePr>
        <p:xfrm>
          <a:off x="1217475" y="5138253"/>
          <a:ext cx="968121" cy="245872"/>
        </p:xfrm>
        <a:graphic>
          <a:graphicData uri="http://schemas.openxmlformats.org/presentationml/2006/ole">
            <mc:AlternateContent xmlns:mc="http://schemas.openxmlformats.org/markup-compatibility/2006">
              <mc:Choice xmlns:v="urn:schemas-microsoft-com:vml" Requires="v">
                <p:oleObj spid="_x0000_s7614" name="Equation" r:id="rId11" imgW="799920" imgH="203040" progId="Equation.DSMT4">
                  <p:embed/>
                </p:oleObj>
              </mc:Choice>
              <mc:Fallback>
                <p:oleObj name="Equation" r:id="rId11" imgW="799920" imgH="203040" progId="Equation.DSMT4">
                  <p:embed/>
                  <p:pic>
                    <p:nvPicPr>
                      <p:cNvPr id="15" name="Object 14"/>
                      <p:cNvPicPr/>
                      <p:nvPr/>
                    </p:nvPicPr>
                    <p:blipFill>
                      <a:blip r:embed="rId12"/>
                      <a:stretch>
                        <a:fillRect/>
                      </a:stretch>
                    </p:blipFill>
                    <p:spPr>
                      <a:xfrm>
                        <a:off x="1217475" y="5138253"/>
                        <a:ext cx="968121" cy="245872"/>
                      </a:xfrm>
                      <a:prstGeom prst="rect">
                        <a:avLst/>
                      </a:prstGeom>
                    </p:spPr>
                  </p:pic>
                </p:oleObj>
              </mc:Fallback>
            </mc:AlternateContent>
          </a:graphicData>
        </a:graphic>
      </p:graphicFrame>
      <p:sp>
        <p:nvSpPr>
          <p:cNvPr id="10" name="Content Placeholder 9"/>
          <p:cNvSpPr>
            <a:spLocks noGrp="1"/>
          </p:cNvSpPr>
          <p:nvPr>
            <p:ph sz="quarter" idx="18"/>
          </p:nvPr>
        </p:nvSpPr>
        <p:spPr>
          <a:xfrm>
            <a:off x="2266011" y="5141350"/>
            <a:ext cx="3696957" cy="262620"/>
          </a:xfrm>
        </p:spPr>
        <p:txBody>
          <a:bodyPr lIns="0" tIns="0" rIns="0" bIns="0"/>
          <a:lstStyle/>
          <a:p>
            <a:pPr marL="0" indent="0">
              <a:buNone/>
            </a:pPr>
            <a:r>
              <a:rPr lang="en-US" sz="1600" dirty="0">
                <a:latin typeface="Arial (Body)"/>
              </a:rPr>
              <a:t>Because the central bank must maintain</a:t>
            </a:r>
            <a:endParaRPr lang="en-IN" sz="1600" dirty="0"/>
          </a:p>
        </p:txBody>
      </p:sp>
      <p:graphicFrame>
        <p:nvGraphicFramePr>
          <p:cNvPr id="20" name="Object 19" descr="E sub 0,"/>
          <p:cNvGraphicFramePr>
            <a:graphicFrameLocks noChangeAspect="1"/>
          </p:cNvGraphicFramePr>
          <p:nvPr>
            <p:extLst>
              <p:ext uri="{D42A27DB-BD31-4B8C-83A1-F6EECF244321}">
                <p14:modId xmlns:p14="http://schemas.microsoft.com/office/powerpoint/2010/main" val="173342275"/>
              </p:ext>
            </p:extLst>
          </p:nvPr>
        </p:nvGraphicFramePr>
        <p:xfrm>
          <a:off x="6010576" y="5144285"/>
          <a:ext cx="312969" cy="265549"/>
        </p:xfrm>
        <a:graphic>
          <a:graphicData uri="http://schemas.openxmlformats.org/presentationml/2006/ole">
            <mc:AlternateContent xmlns:mc="http://schemas.openxmlformats.org/markup-compatibility/2006">
              <mc:Choice xmlns:v="urn:schemas-microsoft-com:vml" Requires="v">
                <p:oleObj spid="_x0000_s7615" name="Equation" r:id="rId13" imgW="253800" imgH="215640" progId="Equation.DSMT4">
                  <p:embed/>
                </p:oleObj>
              </mc:Choice>
              <mc:Fallback>
                <p:oleObj name="Equation" r:id="rId13" imgW="253800" imgH="215640" progId="Equation.DSMT4">
                  <p:embed/>
                  <p:pic>
                    <p:nvPicPr>
                      <p:cNvPr id="20" name="Object 19"/>
                      <p:cNvPicPr/>
                      <p:nvPr/>
                    </p:nvPicPr>
                    <p:blipFill>
                      <a:blip r:embed="rId14"/>
                      <a:stretch>
                        <a:fillRect/>
                      </a:stretch>
                    </p:blipFill>
                    <p:spPr>
                      <a:xfrm>
                        <a:off x="6010576" y="5144285"/>
                        <a:ext cx="312969" cy="265549"/>
                      </a:xfrm>
                      <a:prstGeom prst="rect">
                        <a:avLst/>
                      </a:prstGeom>
                    </p:spPr>
                  </p:pic>
                </p:oleObj>
              </mc:Fallback>
            </mc:AlternateContent>
          </a:graphicData>
        </a:graphic>
      </p:graphicFrame>
      <p:sp>
        <p:nvSpPr>
          <p:cNvPr id="11" name="Content Placeholder 10"/>
          <p:cNvSpPr>
            <a:spLocks noGrp="1"/>
          </p:cNvSpPr>
          <p:nvPr>
            <p:ph sz="quarter" idx="19"/>
          </p:nvPr>
        </p:nvSpPr>
        <p:spPr>
          <a:xfrm>
            <a:off x="6427138" y="5142735"/>
            <a:ext cx="2084402" cy="263775"/>
          </a:xfrm>
        </p:spPr>
        <p:txBody>
          <a:bodyPr lIns="0" tIns="0" rIns="0" bIns="0"/>
          <a:lstStyle/>
          <a:p>
            <a:pPr marL="0" indent="0">
              <a:buNone/>
            </a:pPr>
            <a:r>
              <a:rPr lang="en-US" sz="1600" dirty="0">
                <a:latin typeface="Arial (Body)"/>
              </a:rPr>
              <a:t>however, it has to sell</a:t>
            </a:r>
            <a:endParaRPr lang="en-IN" sz="1600" dirty="0"/>
          </a:p>
        </p:txBody>
      </p:sp>
      <p:sp>
        <p:nvSpPr>
          <p:cNvPr id="12" name="Content Placeholder 11"/>
          <p:cNvSpPr>
            <a:spLocks noGrp="1"/>
          </p:cNvSpPr>
          <p:nvPr>
            <p:ph sz="quarter" idx="20"/>
          </p:nvPr>
        </p:nvSpPr>
        <p:spPr>
          <a:xfrm>
            <a:off x="457200" y="5449203"/>
            <a:ext cx="7360920" cy="269727"/>
          </a:xfrm>
        </p:spPr>
        <p:txBody>
          <a:bodyPr lIns="0" tIns="0" rIns="0" bIns="0"/>
          <a:lstStyle/>
          <a:p>
            <a:pPr marL="0" indent="0">
              <a:buNone/>
            </a:pPr>
            <a:r>
              <a:rPr lang="en-US" sz="1600" dirty="0">
                <a:latin typeface="Arial (Body)"/>
              </a:rPr>
              <a:t>foreign assets for domestic currency, an action that decreases the money supply</a:t>
            </a:r>
            <a:endParaRPr lang="en-IN" sz="1600" dirty="0"/>
          </a:p>
        </p:txBody>
      </p:sp>
      <p:sp>
        <p:nvSpPr>
          <p:cNvPr id="13" name="Content Placeholder 12"/>
          <p:cNvSpPr>
            <a:spLocks noGrp="1"/>
          </p:cNvSpPr>
          <p:nvPr>
            <p:ph sz="quarter" idx="21"/>
          </p:nvPr>
        </p:nvSpPr>
        <p:spPr>
          <a:xfrm>
            <a:off x="457199" y="5759165"/>
            <a:ext cx="2270761" cy="277265"/>
          </a:xfrm>
        </p:spPr>
        <p:txBody>
          <a:bodyPr lIns="0" tIns="0" rIns="0" bIns="0"/>
          <a:lstStyle/>
          <a:p>
            <a:pPr marL="0" indent="0">
              <a:buNone/>
            </a:pPr>
            <a:r>
              <a:rPr lang="en-US" sz="1600" dirty="0">
                <a:latin typeface="Arial (Body)"/>
              </a:rPr>
              <a:t>immediately and returns</a:t>
            </a:r>
            <a:endParaRPr lang="en-IN" sz="1600" dirty="0"/>
          </a:p>
        </p:txBody>
      </p:sp>
      <p:graphicFrame>
        <p:nvGraphicFramePr>
          <p:cNvPr id="23" name="Object 22" descr="A A super 2 to A A super 1."/>
          <p:cNvGraphicFramePr>
            <a:graphicFrameLocks noChangeAspect="1"/>
          </p:cNvGraphicFramePr>
          <p:nvPr>
            <p:extLst>
              <p:ext uri="{D42A27DB-BD31-4B8C-83A1-F6EECF244321}">
                <p14:modId xmlns:p14="http://schemas.microsoft.com/office/powerpoint/2010/main" val="2326050191"/>
              </p:ext>
            </p:extLst>
          </p:nvPr>
        </p:nvGraphicFramePr>
        <p:xfrm>
          <a:off x="2769811" y="5759003"/>
          <a:ext cx="1414463" cy="246062"/>
        </p:xfrm>
        <a:graphic>
          <a:graphicData uri="http://schemas.openxmlformats.org/presentationml/2006/ole">
            <mc:AlternateContent xmlns:mc="http://schemas.openxmlformats.org/markup-compatibility/2006">
              <mc:Choice xmlns:v="urn:schemas-microsoft-com:vml" Requires="v">
                <p:oleObj spid="_x0000_s7616" name="Equation" r:id="rId15" imgW="1168200" imgH="203040" progId="Equation.DSMT4">
                  <p:embed/>
                </p:oleObj>
              </mc:Choice>
              <mc:Fallback>
                <p:oleObj name="Equation" r:id="rId15" imgW="1168200" imgH="203040" progId="Equation.DSMT4">
                  <p:embed/>
                  <p:pic>
                    <p:nvPicPr>
                      <p:cNvPr id="23" name="Object 22"/>
                      <p:cNvPicPr/>
                      <p:nvPr/>
                    </p:nvPicPr>
                    <p:blipFill>
                      <a:blip r:embed="rId16"/>
                      <a:stretch>
                        <a:fillRect/>
                      </a:stretch>
                    </p:blipFill>
                    <p:spPr>
                      <a:xfrm>
                        <a:off x="2769811" y="5759003"/>
                        <a:ext cx="1414463" cy="246062"/>
                      </a:xfrm>
                      <a:prstGeom prst="rect">
                        <a:avLst/>
                      </a:prstGeom>
                    </p:spPr>
                  </p:pic>
                </p:oleObj>
              </mc:Fallback>
            </mc:AlternateContent>
          </a:graphicData>
        </a:graphic>
      </p:graphicFrame>
      <p:sp>
        <p:nvSpPr>
          <p:cNvPr id="14" name="Content Placeholder 13"/>
          <p:cNvSpPr>
            <a:spLocks noGrp="1"/>
          </p:cNvSpPr>
          <p:nvPr>
            <p:ph sz="quarter" idx="22"/>
          </p:nvPr>
        </p:nvSpPr>
        <p:spPr>
          <a:xfrm>
            <a:off x="4236858" y="5755473"/>
            <a:ext cx="4449941" cy="277148"/>
          </a:xfrm>
        </p:spPr>
        <p:txBody>
          <a:bodyPr lIns="0" tIns="0" rIns="0" bIns="0"/>
          <a:lstStyle/>
          <a:p>
            <a:pPr marL="0" indent="0">
              <a:buNone/>
            </a:pPr>
            <a:r>
              <a:rPr lang="en-US" sz="1600" dirty="0">
                <a:latin typeface="Arial (Body)"/>
              </a:rPr>
              <a:t>The economy’s equilibrium therefore remains at</a:t>
            </a:r>
            <a:endParaRPr lang="en-IN" sz="1600" dirty="0"/>
          </a:p>
        </p:txBody>
      </p:sp>
      <p:sp>
        <p:nvSpPr>
          <p:cNvPr id="19" name="Content Placeholder 18"/>
          <p:cNvSpPr>
            <a:spLocks noGrp="1"/>
          </p:cNvSpPr>
          <p:nvPr>
            <p:ph sz="quarter" idx="23"/>
          </p:nvPr>
        </p:nvSpPr>
        <p:spPr>
          <a:xfrm>
            <a:off x="457201" y="6093487"/>
            <a:ext cx="3082924" cy="283303"/>
          </a:xfrm>
        </p:spPr>
        <p:txBody>
          <a:bodyPr lIns="0" tIns="0" rIns="0" bIns="0"/>
          <a:lstStyle/>
          <a:p>
            <a:pPr marL="0" indent="0">
              <a:buNone/>
            </a:pPr>
            <a:r>
              <a:rPr lang="en-US" sz="1600" dirty="0">
                <a:latin typeface="Arial (Body)"/>
              </a:rPr>
              <a:t>point 1, with output unchanged at</a:t>
            </a:r>
            <a:endParaRPr lang="en-IN" sz="1600" dirty="0"/>
          </a:p>
        </p:txBody>
      </p:sp>
      <p:graphicFrame>
        <p:nvGraphicFramePr>
          <p:cNvPr id="24" name="Object 23" descr="Y super 1."/>
          <p:cNvGraphicFramePr>
            <a:graphicFrameLocks noChangeAspect="1"/>
          </p:cNvGraphicFramePr>
          <p:nvPr>
            <p:extLst>
              <p:ext uri="{D42A27DB-BD31-4B8C-83A1-F6EECF244321}">
                <p14:modId xmlns:p14="http://schemas.microsoft.com/office/powerpoint/2010/main" val="621784822"/>
              </p:ext>
            </p:extLst>
          </p:nvPr>
        </p:nvGraphicFramePr>
        <p:xfrm>
          <a:off x="3618247" y="6104434"/>
          <a:ext cx="262396" cy="219101"/>
        </p:xfrm>
        <a:graphic>
          <a:graphicData uri="http://schemas.openxmlformats.org/presentationml/2006/ole">
            <mc:AlternateContent xmlns:mc="http://schemas.openxmlformats.org/markup-compatibility/2006">
              <mc:Choice xmlns:v="urn:schemas-microsoft-com:vml" Requires="v">
                <p:oleObj spid="_x0000_s7617" name="Equation" r:id="rId17" imgW="228600" imgH="190440" progId="Equation.DSMT4">
                  <p:embed/>
                </p:oleObj>
              </mc:Choice>
              <mc:Fallback>
                <p:oleObj name="Equation" r:id="rId17" imgW="228600" imgH="190440" progId="Equation.DSMT4">
                  <p:embed/>
                  <p:pic>
                    <p:nvPicPr>
                      <p:cNvPr id="24" name="Object 23"/>
                      <p:cNvPicPr/>
                      <p:nvPr/>
                    </p:nvPicPr>
                    <p:blipFill>
                      <a:blip r:embed="rId18"/>
                      <a:stretch>
                        <a:fillRect/>
                      </a:stretch>
                    </p:blipFill>
                    <p:spPr>
                      <a:xfrm>
                        <a:off x="3618247" y="6104434"/>
                        <a:ext cx="262396" cy="219101"/>
                      </a:xfrm>
                      <a:prstGeom prst="rect">
                        <a:avLst/>
                      </a:prstGeom>
                    </p:spPr>
                  </p:pic>
                </p:oleObj>
              </mc:Fallback>
            </mc:AlternateContent>
          </a:graphicData>
        </a:graphic>
      </p:graphicFrame>
    </p:spTree>
    <p:extLst>
      <p:ext uri="{BB962C8B-B14F-4D97-AF65-F5344CB8AC3E}">
        <p14:creationId xmlns:p14="http://schemas.microsoft.com/office/powerpoint/2010/main" val="2519049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Fiscal Policy and Fixed Exchange Rates in the Short Run</a:t>
            </a:r>
            <a:endParaRPr lang="en-IN" sz="3200" dirty="0">
              <a:cs typeface="Times New Roman" panose="02020603050405020304" pitchFamily="18" charset="0"/>
            </a:endParaRPr>
          </a:p>
        </p:txBody>
      </p:sp>
      <p:sp>
        <p:nvSpPr>
          <p:cNvPr id="2" name="Content Placeholder 1">
            <a:extLst>
              <a:ext uri="{FF2B5EF4-FFF2-40B4-BE49-F238E27FC236}">
                <a16:creationId xmlns:a16="http://schemas.microsoft.com/office/drawing/2014/main" id="{88282E18-C91B-42E1-8719-52493477FAF0}"/>
              </a:ext>
            </a:extLst>
          </p:cNvPr>
          <p:cNvSpPr>
            <a:spLocks noGrp="1"/>
          </p:cNvSpPr>
          <p:nvPr>
            <p:ph sz="quarter" idx="13"/>
          </p:nvPr>
        </p:nvSpPr>
        <p:spPr>
          <a:xfrm>
            <a:off x="457200" y="1556327"/>
            <a:ext cx="8229600" cy="4063888"/>
          </a:xfrm>
        </p:spPr>
        <p:txBody>
          <a:bodyPr/>
          <a:lstStyle/>
          <a:p>
            <a:pPr eaLnBrk="1" hangingPunct="1"/>
            <a:r>
              <a:rPr lang="en-US" altLang="en-US" dirty="0">
                <a:latin typeface="Arial (Body)"/>
                <a:ea typeface="ヒラギノ角ゴ Pro W3" pitchFamily="-84" charset="-128"/>
              </a:rPr>
              <a:t>Temporary changes in fiscal policy are more effective in influencing output and employment in the short run:</a:t>
            </a:r>
          </a:p>
          <a:p>
            <a:pPr lvl="1" eaLnBrk="1" hangingPunct="1"/>
            <a:r>
              <a:rPr lang="en-US" altLang="en-US" dirty="0">
                <a:latin typeface="Arial (Body)"/>
                <a:ea typeface="ヒラギノ角ゴ Pro W3" pitchFamily="-84" charset="-128"/>
              </a:rPr>
              <a:t>The rise in aggregate demand and output due to expansionary fiscal policy raises demand for real monetary assets, putting upward pressure on interest rates and on the value of the domestic currency.</a:t>
            </a:r>
          </a:p>
          <a:p>
            <a:pPr lvl="1" eaLnBrk="1" hangingPunct="1"/>
            <a:r>
              <a:rPr lang="en-US" altLang="en-US" dirty="0">
                <a:latin typeface="Arial (Body)"/>
                <a:ea typeface="ヒラギノ角ゴ Pro W3" pitchFamily="-84" charset="-128"/>
              </a:rPr>
              <a:t>To prevent an appreciation of the domestic currency, the central bank must buy foreign assets, thereby increasing the money supply and decreasing interest rates.</a:t>
            </a:r>
          </a:p>
        </p:txBody>
      </p:sp>
    </p:spTree>
    <p:extLst>
      <p:ext uri="{BB962C8B-B14F-4D97-AF65-F5344CB8AC3E}">
        <p14:creationId xmlns:p14="http://schemas.microsoft.com/office/powerpoint/2010/main" val="1747194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noChangeArrowheads="1"/>
          </p:cNvSpPr>
          <p:nvPr>
            <p:ph type="title"/>
          </p:nvPr>
        </p:nvSpPr>
        <p:spPr/>
        <p:txBody>
          <a:bodyPr/>
          <a:lstStyle/>
          <a:p>
            <a:pPr eaLnBrk="1" hangingPunct="1"/>
            <a:r>
              <a:rPr lang="en-US" altLang="en-US" sz="3200" dirty="0">
                <a:latin typeface="+mj-lt"/>
                <a:ea typeface="ヒラギノ角ゴ Pro W3" pitchFamily="-84" charset="-128"/>
              </a:rPr>
              <a:t>Figure 18.3 Fiscal Expansion Under a Fixed Exchange Rate</a:t>
            </a:r>
          </a:p>
        </p:txBody>
      </p:sp>
      <p:pic>
        <p:nvPicPr>
          <p:cNvPr id="5" name="Content Placeholder 4" descr="A graph plots exchange rate, E versus output, Y. For long description in Notes pane, press F6.">
            <a:extLst>
              <a:ext uri="{FF2B5EF4-FFF2-40B4-BE49-F238E27FC236}">
                <a16:creationId xmlns:a16="http://schemas.microsoft.com/office/drawing/2014/main" id="{0A4F7A8F-C3C3-4F7B-A45E-21B031251460}"/>
              </a:ext>
            </a:extLst>
          </p:cNvPr>
          <p:cNvPicPr>
            <a:picLocks noGrp="1" noChangeAspect="1"/>
          </p:cNvPicPr>
          <p:nvPr>
            <p:ph idx="1"/>
          </p:nvPr>
        </p:nvPicPr>
        <p:blipFill>
          <a:blip r:embed="rId4"/>
          <a:stretch>
            <a:fillRect/>
          </a:stretch>
        </p:blipFill>
        <p:spPr>
          <a:xfrm>
            <a:off x="2595312" y="1558581"/>
            <a:ext cx="4019284" cy="3471733"/>
          </a:xfrm>
        </p:spPr>
      </p:pic>
      <p:sp>
        <p:nvSpPr>
          <p:cNvPr id="6" name="Content Placeholder 5"/>
          <p:cNvSpPr>
            <a:spLocks noGrp="1"/>
          </p:cNvSpPr>
          <p:nvPr>
            <p:ph idx="13"/>
          </p:nvPr>
        </p:nvSpPr>
        <p:spPr>
          <a:xfrm>
            <a:off x="457199" y="5200762"/>
            <a:ext cx="4781551" cy="338314"/>
          </a:xfrm>
        </p:spPr>
        <p:txBody>
          <a:bodyPr lIns="0" tIns="0" rIns="0" bIns="0"/>
          <a:lstStyle/>
          <a:p>
            <a:pPr marL="0" indent="0">
              <a:buNone/>
            </a:pPr>
            <a:r>
              <a:rPr lang="en-US" sz="2000" dirty="0">
                <a:latin typeface="Arial (Body)"/>
              </a:rPr>
              <a:t>Fiscal expansion (shown by the shift from</a:t>
            </a:r>
            <a:endParaRPr lang="en-IN" sz="2000" dirty="0"/>
          </a:p>
        </p:txBody>
      </p:sp>
      <p:graphicFrame>
        <p:nvGraphicFramePr>
          <p:cNvPr id="11" name="Object 10" descr="D D super 1 to D D super 2"/>
          <p:cNvGraphicFramePr>
            <a:graphicFrameLocks noChangeAspect="1"/>
          </p:cNvGraphicFramePr>
          <p:nvPr>
            <p:extLst>
              <p:ext uri="{D42A27DB-BD31-4B8C-83A1-F6EECF244321}">
                <p14:modId xmlns:p14="http://schemas.microsoft.com/office/powerpoint/2010/main" val="1392503938"/>
              </p:ext>
            </p:extLst>
          </p:nvPr>
        </p:nvGraphicFramePr>
        <p:xfrm>
          <a:off x="5296730" y="5203643"/>
          <a:ext cx="1238650" cy="332773"/>
        </p:xfrm>
        <a:graphic>
          <a:graphicData uri="http://schemas.openxmlformats.org/presentationml/2006/ole">
            <mc:AlternateContent xmlns:mc="http://schemas.openxmlformats.org/markup-compatibility/2006">
              <mc:Choice xmlns:v="urn:schemas-microsoft-com:vml" Requires="v">
                <p:oleObj spid="_x0000_s8318" name="Equation" r:id="rId5" imgW="850680" imgH="228600" progId="Equation.DSMT4">
                  <p:embed/>
                </p:oleObj>
              </mc:Choice>
              <mc:Fallback>
                <p:oleObj name="Equation" r:id="rId5" imgW="850680" imgH="228600" progId="Equation.DSMT4">
                  <p:embed/>
                  <p:pic>
                    <p:nvPicPr>
                      <p:cNvPr id="11" name="Object 10"/>
                      <p:cNvPicPr/>
                      <p:nvPr/>
                    </p:nvPicPr>
                    <p:blipFill>
                      <a:blip r:embed="rId6"/>
                      <a:stretch>
                        <a:fillRect/>
                      </a:stretch>
                    </p:blipFill>
                    <p:spPr>
                      <a:xfrm>
                        <a:off x="5296730" y="5203643"/>
                        <a:ext cx="1238650" cy="332773"/>
                      </a:xfrm>
                      <a:prstGeom prst="rect">
                        <a:avLst/>
                      </a:prstGeom>
                    </p:spPr>
                  </p:pic>
                </p:oleObj>
              </mc:Fallback>
            </mc:AlternateContent>
          </a:graphicData>
        </a:graphic>
      </p:graphicFrame>
      <p:sp>
        <p:nvSpPr>
          <p:cNvPr id="7" name="Content Placeholder 6"/>
          <p:cNvSpPr>
            <a:spLocks noGrp="1"/>
          </p:cNvSpPr>
          <p:nvPr>
            <p:ph idx="14"/>
          </p:nvPr>
        </p:nvSpPr>
        <p:spPr>
          <a:xfrm>
            <a:off x="6630798" y="5194953"/>
            <a:ext cx="1066547" cy="321629"/>
          </a:xfrm>
        </p:spPr>
        <p:txBody>
          <a:bodyPr lIns="0" tIns="0" rIns="0" bIns="0"/>
          <a:lstStyle/>
          <a:p>
            <a:pPr marL="0" indent="0">
              <a:buNone/>
            </a:pPr>
            <a:r>
              <a:rPr lang="en-US" sz="2000" dirty="0">
                <a:latin typeface="Arial (Body)"/>
              </a:rPr>
              <a:t>and the</a:t>
            </a:r>
            <a:endParaRPr lang="en-IN" sz="2000" dirty="0"/>
          </a:p>
        </p:txBody>
      </p:sp>
      <p:sp>
        <p:nvSpPr>
          <p:cNvPr id="8" name="Content Placeholder 7"/>
          <p:cNvSpPr>
            <a:spLocks noGrp="1"/>
          </p:cNvSpPr>
          <p:nvPr>
            <p:ph idx="15"/>
          </p:nvPr>
        </p:nvSpPr>
        <p:spPr>
          <a:xfrm>
            <a:off x="457199" y="5594495"/>
            <a:ext cx="5305425" cy="349105"/>
          </a:xfrm>
        </p:spPr>
        <p:txBody>
          <a:bodyPr lIns="0" tIns="0" rIns="0" bIns="0"/>
          <a:lstStyle/>
          <a:p>
            <a:pPr marL="0" indent="0">
              <a:buNone/>
            </a:pPr>
            <a:r>
              <a:rPr lang="en-US" sz="2000" dirty="0">
                <a:latin typeface="Arial (Body)"/>
              </a:rPr>
              <a:t>intervention that accompanies it (the shift from</a:t>
            </a:r>
            <a:endParaRPr lang="en-IN" sz="2000" dirty="0"/>
          </a:p>
        </p:txBody>
      </p:sp>
      <p:graphicFrame>
        <p:nvGraphicFramePr>
          <p:cNvPr id="13" name="Object 12" descr="A A super 1 to A A super 2 right parenthesis "/>
          <p:cNvGraphicFramePr>
            <a:graphicFrameLocks noChangeAspect="1"/>
          </p:cNvGraphicFramePr>
          <p:nvPr>
            <p:extLst>
              <p:ext uri="{D42A27DB-BD31-4B8C-83A1-F6EECF244321}">
                <p14:modId xmlns:p14="http://schemas.microsoft.com/office/powerpoint/2010/main" val="2407094971"/>
              </p:ext>
            </p:extLst>
          </p:nvPr>
        </p:nvGraphicFramePr>
        <p:xfrm>
          <a:off x="5834366" y="5600557"/>
          <a:ext cx="1194900" cy="332199"/>
        </p:xfrm>
        <a:graphic>
          <a:graphicData uri="http://schemas.openxmlformats.org/presentationml/2006/ole">
            <mc:AlternateContent xmlns:mc="http://schemas.openxmlformats.org/markup-compatibility/2006">
              <mc:Choice xmlns:v="urn:schemas-microsoft-com:vml" Requires="v">
                <p:oleObj spid="_x0000_s8319" name="Equation" r:id="rId7" imgW="825480" imgH="228600" progId="Equation.DSMT4">
                  <p:embed/>
                </p:oleObj>
              </mc:Choice>
              <mc:Fallback>
                <p:oleObj name="Equation" r:id="rId7" imgW="825480" imgH="228600" progId="Equation.DSMT4">
                  <p:embed/>
                  <p:pic>
                    <p:nvPicPr>
                      <p:cNvPr id="13" name="Object 12"/>
                      <p:cNvPicPr/>
                      <p:nvPr/>
                    </p:nvPicPr>
                    <p:blipFill>
                      <a:blip r:embed="rId8"/>
                      <a:stretch>
                        <a:fillRect/>
                      </a:stretch>
                    </p:blipFill>
                    <p:spPr>
                      <a:xfrm>
                        <a:off x="5834366" y="5600557"/>
                        <a:ext cx="1194900" cy="332199"/>
                      </a:xfrm>
                      <a:prstGeom prst="rect">
                        <a:avLst/>
                      </a:prstGeom>
                    </p:spPr>
                  </p:pic>
                </p:oleObj>
              </mc:Fallback>
            </mc:AlternateContent>
          </a:graphicData>
        </a:graphic>
      </p:graphicFrame>
      <p:sp>
        <p:nvSpPr>
          <p:cNvPr id="9" name="Content Placeholder 8"/>
          <p:cNvSpPr>
            <a:spLocks noGrp="1"/>
          </p:cNvSpPr>
          <p:nvPr>
            <p:ph idx="16"/>
          </p:nvPr>
        </p:nvSpPr>
        <p:spPr>
          <a:xfrm>
            <a:off x="7118511" y="5594495"/>
            <a:ext cx="1174824" cy="339580"/>
          </a:xfrm>
        </p:spPr>
        <p:txBody>
          <a:bodyPr lIns="0" tIns="0" rIns="0" bIns="0"/>
          <a:lstStyle/>
          <a:p>
            <a:pPr marL="0" indent="0">
              <a:buNone/>
            </a:pPr>
            <a:r>
              <a:rPr lang="en-US" sz="2000" dirty="0">
                <a:latin typeface="Arial (Body)"/>
              </a:rPr>
              <a:t>move the</a:t>
            </a:r>
            <a:endParaRPr lang="en-IN" sz="2000" dirty="0"/>
          </a:p>
        </p:txBody>
      </p:sp>
      <p:sp>
        <p:nvSpPr>
          <p:cNvPr id="10" name="Content Placeholder 9"/>
          <p:cNvSpPr>
            <a:spLocks noGrp="1"/>
          </p:cNvSpPr>
          <p:nvPr>
            <p:ph idx="17"/>
          </p:nvPr>
        </p:nvSpPr>
        <p:spPr>
          <a:xfrm>
            <a:off x="457199" y="5998518"/>
            <a:ext cx="3740727" cy="374574"/>
          </a:xfrm>
        </p:spPr>
        <p:txBody>
          <a:bodyPr lIns="0" tIns="0" rIns="0" bIns="0"/>
          <a:lstStyle/>
          <a:p>
            <a:pPr marL="0" indent="0">
              <a:buNone/>
            </a:pPr>
            <a:r>
              <a:rPr lang="en-US" sz="2000" dirty="0">
                <a:latin typeface="Arial (Body)"/>
              </a:rPr>
              <a:t>economy from point 1 to point 3.</a:t>
            </a:r>
          </a:p>
        </p:txBody>
      </p:sp>
    </p:spTree>
    <p:extLst>
      <p:ext uri="{BB962C8B-B14F-4D97-AF65-F5344CB8AC3E}">
        <p14:creationId xmlns:p14="http://schemas.microsoft.com/office/powerpoint/2010/main" val="1962517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78292-02A8-43AE-AAA9-7FEDD27808DA}"/>
              </a:ext>
            </a:extLst>
          </p:cNvPr>
          <p:cNvSpPr>
            <a:spLocks noGrp="1"/>
          </p:cNvSpPr>
          <p:nvPr>
            <p:ph type="title"/>
          </p:nvPr>
        </p:nvSpPr>
        <p:spPr/>
        <p:txBody>
          <a:bodyPr/>
          <a:lstStyle/>
          <a:p>
            <a:r>
              <a:rPr lang="en-US" altLang="en-US" sz="3200" dirty="0">
                <a:ea typeface="ヒラギノ角ゴ Pro W3" pitchFamily="-84" charset="-128"/>
              </a:rPr>
              <a:t>Fiscal Policy and Fixed Exchange Rates in the Long Run </a:t>
            </a:r>
            <a:r>
              <a:rPr lang="en-US" altLang="en-US" sz="2000" b="0" dirty="0">
                <a:ea typeface="ヒラギノ角ゴ Pro W3" pitchFamily="-84" charset="-128"/>
              </a:rPr>
              <a:t>(1 of 2)</a:t>
            </a:r>
            <a:endParaRPr lang="en-IN" sz="2000" dirty="0"/>
          </a:p>
        </p:txBody>
      </p:sp>
      <p:sp>
        <p:nvSpPr>
          <p:cNvPr id="3" name="Content Placeholder 2">
            <a:extLst>
              <a:ext uri="{FF2B5EF4-FFF2-40B4-BE49-F238E27FC236}">
                <a16:creationId xmlns:a16="http://schemas.microsoft.com/office/drawing/2014/main" id="{87A0AE2F-7C68-4D96-A4F7-BC34C6978072}"/>
              </a:ext>
            </a:extLst>
          </p:cNvPr>
          <p:cNvSpPr>
            <a:spLocks noGrp="1"/>
          </p:cNvSpPr>
          <p:nvPr>
            <p:ph sz="quarter" idx="13"/>
          </p:nvPr>
        </p:nvSpPr>
        <p:spPr>
          <a:xfrm>
            <a:off x="457199" y="1552574"/>
            <a:ext cx="8096491" cy="2035753"/>
          </a:xfrm>
        </p:spPr>
        <p:txBody>
          <a:bodyPr/>
          <a:lstStyle/>
          <a:p>
            <a:pPr eaLnBrk="1" hangingPunct="1"/>
            <a:r>
              <a:rPr lang="en-US" altLang="en-US" sz="2000" dirty="0">
                <a:latin typeface="Arial (Body)"/>
                <a:ea typeface="ヒラギノ角ゴ Pro W3" pitchFamily="-84" charset="-128"/>
              </a:rPr>
              <a:t>When the exchange rate is fixed, there is no real appreciation of the value of domestic products in the short run.</a:t>
            </a:r>
          </a:p>
          <a:p>
            <a:pPr eaLnBrk="1" hangingPunct="1"/>
            <a:r>
              <a:rPr lang="en-US" altLang="en-US" sz="2000" dirty="0">
                <a:latin typeface="Arial (Body)"/>
                <a:ea typeface="ヒラギノ角ゴ Pro W3" pitchFamily="-84" charset="-128"/>
              </a:rPr>
              <a:t>But when output is above its potential level, wages and prices tend to rise in the long run.</a:t>
            </a:r>
          </a:p>
          <a:p>
            <a:pPr eaLnBrk="1" hangingPunct="1"/>
            <a:r>
              <a:rPr lang="en-US" altLang="en-US" sz="2000" dirty="0">
                <a:latin typeface="Arial (Body)"/>
                <a:ea typeface="ヒラギノ角ゴ Pro W3" pitchFamily="-84" charset="-128"/>
              </a:rPr>
              <a:t>A rising price level makes domestic products more expensive:</a:t>
            </a:r>
          </a:p>
        </p:txBody>
      </p:sp>
      <p:sp>
        <p:nvSpPr>
          <p:cNvPr id="4" name="Content Placeholder 3">
            <a:extLst>
              <a:ext uri="{FF2B5EF4-FFF2-40B4-BE49-F238E27FC236}">
                <a16:creationId xmlns:a16="http://schemas.microsoft.com/office/drawing/2014/main" id="{68501D65-A10B-4B2D-A89A-7FE2A915E6E0}"/>
              </a:ext>
            </a:extLst>
          </p:cNvPr>
          <p:cNvSpPr>
            <a:spLocks noGrp="1"/>
          </p:cNvSpPr>
          <p:nvPr>
            <p:ph sz="quarter" idx="14"/>
          </p:nvPr>
        </p:nvSpPr>
        <p:spPr>
          <a:xfrm>
            <a:off x="503499" y="3754928"/>
            <a:ext cx="2582602" cy="499282"/>
          </a:xfrm>
        </p:spPr>
        <p:txBody>
          <a:bodyPr/>
          <a:lstStyle/>
          <a:p>
            <a:pPr marL="255600" indent="0">
              <a:buNone/>
            </a:pPr>
            <a:r>
              <a:rPr lang="en-US" altLang="en-US" sz="2000" dirty="0">
                <a:latin typeface="Arial (Body)"/>
                <a:ea typeface="ヒラギノ角ゴ Pro W3" pitchFamily="-84" charset="-128"/>
              </a:rPr>
              <a:t>a </a:t>
            </a:r>
            <a:r>
              <a:rPr lang="en-US" altLang="en-US" sz="2000" b="1" dirty="0">
                <a:latin typeface="Arial (Body)"/>
                <a:ea typeface="ヒラギノ角ゴ Pro W3" pitchFamily="-84" charset="-128"/>
              </a:rPr>
              <a:t>real </a:t>
            </a:r>
            <a:r>
              <a:rPr lang="en-US" altLang="en-US" sz="2000" dirty="0">
                <a:latin typeface="Arial (Body)"/>
                <a:ea typeface="ヒラギノ角ゴ Pro W3" pitchFamily="-84" charset="-128"/>
              </a:rPr>
              <a:t>appreciation</a:t>
            </a:r>
            <a:endParaRPr lang="en-US" sz="2000" dirty="0">
              <a:latin typeface="Arial (Body)"/>
            </a:endParaRPr>
          </a:p>
        </p:txBody>
      </p:sp>
      <p:graphicFrame>
        <p:nvGraphicFramePr>
          <p:cNvPr id="7" name="Object 6" descr="left parenthesis Start fraction E P asterisk over p end fraction falls right parenthesis.">
            <a:extLst>
              <a:ext uri="{FF2B5EF4-FFF2-40B4-BE49-F238E27FC236}">
                <a16:creationId xmlns:a16="http://schemas.microsoft.com/office/drawing/2014/main" id="{62B55ECE-144C-481E-A4C2-EB71749E4633}"/>
              </a:ext>
            </a:extLst>
          </p:cNvPr>
          <p:cNvGraphicFramePr>
            <a:graphicFrameLocks noChangeAspect="1"/>
          </p:cNvGraphicFramePr>
          <p:nvPr>
            <p:extLst>
              <p:ext uri="{D42A27DB-BD31-4B8C-83A1-F6EECF244321}">
                <p14:modId xmlns:p14="http://schemas.microsoft.com/office/powerpoint/2010/main" val="1815528525"/>
              </p:ext>
            </p:extLst>
          </p:nvPr>
        </p:nvGraphicFramePr>
        <p:xfrm>
          <a:off x="3135854" y="3639015"/>
          <a:ext cx="1309352" cy="742618"/>
        </p:xfrm>
        <a:graphic>
          <a:graphicData uri="http://schemas.openxmlformats.org/presentationml/2006/ole">
            <mc:AlternateContent xmlns:mc="http://schemas.openxmlformats.org/markup-compatibility/2006">
              <mc:Choice xmlns:v="urn:schemas-microsoft-com:vml" Requires="v">
                <p:oleObj spid="_x0000_s9280" name="Equation" r:id="rId3" imgW="850680" imgH="482400" progId="Equation.DSMT4">
                  <p:embed/>
                </p:oleObj>
              </mc:Choice>
              <mc:Fallback>
                <p:oleObj name="Equation" r:id="rId3" imgW="850680" imgH="482400" progId="Equation.DSMT4">
                  <p:embed/>
                  <p:pic>
                    <p:nvPicPr>
                      <p:cNvPr id="0" name=""/>
                      <p:cNvPicPr/>
                      <p:nvPr/>
                    </p:nvPicPr>
                    <p:blipFill>
                      <a:blip r:embed="rId4"/>
                      <a:stretch>
                        <a:fillRect/>
                      </a:stretch>
                    </p:blipFill>
                    <p:spPr>
                      <a:xfrm>
                        <a:off x="3135854" y="3639015"/>
                        <a:ext cx="1309352" cy="742618"/>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BF05D554-B156-4510-B3E3-F58B7EF59ACD}"/>
              </a:ext>
            </a:extLst>
          </p:cNvPr>
          <p:cNvSpPr>
            <a:spLocks noGrp="1"/>
          </p:cNvSpPr>
          <p:nvPr>
            <p:ph sz="quarter" idx="15"/>
          </p:nvPr>
        </p:nvSpPr>
        <p:spPr>
          <a:xfrm>
            <a:off x="451897" y="4432223"/>
            <a:ext cx="8229600" cy="1569415"/>
          </a:xfrm>
        </p:spPr>
        <p:txBody>
          <a:bodyPr tIns="0"/>
          <a:lstStyle/>
          <a:p>
            <a:pPr lvl="1" indent="-284400"/>
            <a:r>
              <a:rPr lang="en-US" altLang="en-US" sz="2000" dirty="0">
                <a:ea typeface="ヒラギノ角ゴ Pro W3" pitchFamily="-84" charset="-128"/>
              </a:rPr>
              <a:t>Aggregate demand and output decrease as prices rise: </a:t>
            </a:r>
            <a:r>
              <a:rPr lang="en-US" altLang="en-US" sz="2000" i="1" dirty="0">
                <a:ea typeface="ヒラギノ角ゴ Pro W3" pitchFamily="-84" charset="-128"/>
              </a:rPr>
              <a:t>D</a:t>
            </a:r>
            <a:r>
              <a:rPr lang="en-US" altLang="en-US" sz="100" i="1" dirty="0">
                <a:ea typeface="ヒラギノ角ゴ Pro W3" pitchFamily="-84" charset="-128"/>
              </a:rPr>
              <a:t> </a:t>
            </a:r>
            <a:r>
              <a:rPr lang="en-US" altLang="en-US" sz="2000" i="1" dirty="0" err="1">
                <a:ea typeface="ヒラギノ角ゴ Pro W3" pitchFamily="-84" charset="-128"/>
              </a:rPr>
              <a:t>D</a:t>
            </a:r>
            <a:r>
              <a:rPr lang="en-US" altLang="en-US" sz="2000" dirty="0">
                <a:ea typeface="ヒラギノ角ゴ Pro W3" pitchFamily="-84" charset="-128"/>
              </a:rPr>
              <a:t> curve shifts left.</a:t>
            </a:r>
          </a:p>
          <a:p>
            <a:pPr lvl="1" indent="-284400"/>
            <a:r>
              <a:rPr lang="en-US" altLang="en-US" sz="2000" dirty="0">
                <a:ea typeface="ヒラギノ角ゴ Pro W3" pitchFamily="-84" charset="-128"/>
              </a:rPr>
              <a:t>Prices tend to rise until employment, aggregate demand, and output fall to their normal (potential or natural) levels.</a:t>
            </a:r>
            <a:endParaRPr lang="en-US" sz="2000" dirty="0"/>
          </a:p>
        </p:txBody>
      </p:sp>
    </p:spTree>
    <p:extLst>
      <p:ext uri="{BB962C8B-B14F-4D97-AF65-F5344CB8AC3E}">
        <p14:creationId xmlns:p14="http://schemas.microsoft.com/office/powerpoint/2010/main" val="1332084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3ACB5-2B7E-475D-88AC-A256552A5A76}"/>
              </a:ext>
            </a:extLst>
          </p:cNvPr>
          <p:cNvSpPr>
            <a:spLocks noGrp="1"/>
          </p:cNvSpPr>
          <p:nvPr>
            <p:ph type="title"/>
          </p:nvPr>
        </p:nvSpPr>
        <p:spPr/>
        <p:txBody>
          <a:bodyPr/>
          <a:lstStyle/>
          <a:p>
            <a:r>
              <a:rPr lang="en-US" altLang="en-US" sz="3200" dirty="0">
                <a:ea typeface="ヒラギノ角ゴ Pro W3" pitchFamily="-84" charset="-128"/>
              </a:rPr>
              <a:t>Fiscal Policy and Fixed Exchange Rates in the Long Run </a:t>
            </a:r>
            <a:r>
              <a:rPr lang="en-US" altLang="en-US" sz="2000" b="0" dirty="0">
                <a:ea typeface="ヒラギノ角ゴ Pro W3" pitchFamily="-84" charset="-128"/>
              </a:rPr>
              <a:t>(2 of 2)</a:t>
            </a:r>
            <a:endParaRPr lang="en-IN" sz="2000" dirty="0"/>
          </a:p>
        </p:txBody>
      </p:sp>
      <p:sp>
        <p:nvSpPr>
          <p:cNvPr id="3" name="Content Placeholder 2">
            <a:extLst>
              <a:ext uri="{FF2B5EF4-FFF2-40B4-BE49-F238E27FC236}">
                <a16:creationId xmlns:a16="http://schemas.microsoft.com/office/drawing/2014/main" id="{6A90C757-6057-4E84-9EEE-5CACE963EA95}"/>
              </a:ext>
            </a:extLst>
          </p:cNvPr>
          <p:cNvSpPr>
            <a:spLocks noGrp="1"/>
          </p:cNvSpPr>
          <p:nvPr>
            <p:ph sz="quarter" idx="13"/>
          </p:nvPr>
        </p:nvSpPr>
        <p:spPr>
          <a:xfrm>
            <a:off x="457200" y="1556327"/>
            <a:ext cx="8229600" cy="3044248"/>
          </a:xfrm>
        </p:spPr>
        <p:txBody>
          <a:bodyPr/>
          <a:lstStyle/>
          <a:p>
            <a:pPr eaLnBrk="1" hangingPunct="1"/>
            <a:r>
              <a:rPr lang="en-US" altLang="en-US" dirty="0">
                <a:latin typeface="Arial (Body)"/>
                <a:ea typeface="ヒラギノ角ゴ Pro W3" pitchFamily="-84" charset="-128"/>
              </a:rPr>
              <a:t>Prices are predicted to change proportionally to the change in the money supply when the central bank intervenes in the foreign exchange markets.</a:t>
            </a:r>
          </a:p>
          <a:p>
            <a:pPr lvl="1" eaLnBrk="1" hangingPunct="1"/>
            <a:r>
              <a:rPr lang="en-US" altLang="en-US" i="1" dirty="0">
                <a:latin typeface="Arial (Body)"/>
                <a:ea typeface="ヒラギノ角ゴ Pro W3" pitchFamily="-84" charset="-128"/>
              </a:rPr>
              <a:t>A</a:t>
            </a:r>
            <a:r>
              <a:rPr lang="en-US" altLang="en-US" sz="100" i="1" dirty="0">
                <a:latin typeface="Arial (Body)"/>
                <a:ea typeface="ヒラギノ角ゴ Pro W3" pitchFamily="-84" charset="-128"/>
              </a:rPr>
              <a:t> </a:t>
            </a:r>
            <a:r>
              <a:rPr lang="en-US" altLang="en-US" i="1" dirty="0" err="1">
                <a:latin typeface="Arial (Body)"/>
                <a:ea typeface="ヒラギノ角ゴ Pro W3" pitchFamily="-84" charset="-128"/>
              </a:rPr>
              <a:t>A</a:t>
            </a:r>
            <a:r>
              <a:rPr lang="en-US" altLang="en-US" dirty="0">
                <a:latin typeface="Arial (Body)"/>
                <a:ea typeface="ヒラギノ角ゴ Pro W3" pitchFamily="-84" charset="-128"/>
              </a:rPr>
              <a:t> curve shifts down (left) as prices rise.</a:t>
            </a:r>
          </a:p>
          <a:p>
            <a:pPr lvl="1" eaLnBrk="1" hangingPunct="1"/>
            <a:r>
              <a:rPr lang="en-US" altLang="en-US" dirty="0">
                <a:latin typeface="Arial (Body)"/>
                <a:ea typeface="ヒラギノ角ゴ Pro W3" pitchFamily="-84" charset="-128"/>
              </a:rPr>
              <a:t>Nominal exchange rates will be constant (as long as the fixed exchange rate is maintained), but the real exchange rate will be lower (a real appreciation).</a:t>
            </a:r>
          </a:p>
        </p:txBody>
      </p:sp>
    </p:spTree>
    <p:extLst>
      <p:ext uri="{BB962C8B-B14F-4D97-AF65-F5344CB8AC3E}">
        <p14:creationId xmlns:p14="http://schemas.microsoft.com/office/powerpoint/2010/main" val="4085739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80173-BAC9-4B67-AE03-B2172E115969}"/>
              </a:ext>
            </a:extLst>
          </p:cNvPr>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Devaluation and Revaluation</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68847F82-EDD3-45E1-9560-7EA71AA0C70D}"/>
              </a:ext>
            </a:extLst>
          </p:cNvPr>
          <p:cNvSpPr>
            <a:spLocks noGrp="1"/>
          </p:cNvSpPr>
          <p:nvPr>
            <p:ph sz="quarter" idx="13"/>
          </p:nvPr>
        </p:nvSpPr>
        <p:spPr/>
        <p:txBody>
          <a:bodyPr/>
          <a:lstStyle/>
          <a:p>
            <a:pPr eaLnBrk="1" hangingPunct="1"/>
            <a:r>
              <a:rPr lang="en-US" altLang="en-US" b="1" dirty="0">
                <a:latin typeface="Arial (Body)"/>
                <a:ea typeface="ヒラギノ角ゴ Pro W3" pitchFamily="-84" charset="-128"/>
              </a:rPr>
              <a:t>Depreciation</a:t>
            </a:r>
            <a:r>
              <a:rPr lang="en-US" altLang="en-US" dirty="0">
                <a:latin typeface="Arial (Body)"/>
                <a:ea typeface="ヒラギノ角ゴ Pro W3" pitchFamily="-84" charset="-128"/>
              </a:rPr>
              <a:t> and </a:t>
            </a:r>
            <a:r>
              <a:rPr lang="en-US" altLang="en-US" b="1" dirty="0">
                <a:latin typeface="Arial (Body)"/>
                <a:ea typeface="ヒラギノ角ゴ Pro W3" pitchFamily="-84" charset="-128"/>
              </a:rPr>
              <a:t>appreciation</a:t>
            </a:r>
            <a:r>
              <a:rPr lang="en-US" altLang="en-US" dirty="0">
                <a:latin typeface="Arial (Body)"/>
                <a:ea typeface="ヒラギノ角ゴ Pro W3" pitchFamily="-84" charset="-128"/>
              </a:rPr>
              <a:t> refer to changes in the value of a currency due to market changes.</a:t>
            </a:r>
          </a:p>
          <a:p>
            <a:pPr eaLnBrk="1" hangingPunct="1"/>
            <a:r>
              <a:rPr lang="en-US" altLang="en-US" b="1" dirty="0">
                <a:latin typeface="Arial (Body)"/>
                <a:ea typeface="ヒラギノ角ゴ Pro W3" pitchFamily="-84" charset="-128"/>
              </a:rPr>
              <a:t>Devaluation </a:t>
            </a:r>
            <a:r>
              <a:rPr lang="en-US" altLang="en-US" dirty="0">
                <a:latin typeface="Arial (Body)"/>
                <a:ea typeface="ヒラギノ角ゴ Pro W3" pitchFamily="-84" charset="-128"/>
              </a:rPr>
              <a:t>and</a:t>
            </a:r>
            <a:r>
              <a:rPr lang="en-US" altLang="en-US" b="1" dirty="0">
                <a:latin typeface="Arial (Body)"/>
                <a:ea typeface="ヒラギノ角ゴ Pro W3" pitchFamily="-84" charset="-128"/>
              </a:rPr>
              <a:t> revaluation </a:t>
            </a:r>
            <a:r>
              <a:rPr lang="en-US" altLang="en-US" dirty="0">
                <a:latin typeface="Arial (Body)"/>
                <a:ea typeface="ヒラギノ角ゴ Pro W3" pitchFamily="-84" charset="-128"/>
              </a:rPr>
              <a:t>refer to changes in a fixed exchange rate caused by the central bank.</a:t>
            </a:r>
          </a:p>
          <a:p>
            <a:pPr lvl="1" eaLnBrk="1" hangingPunct="1"/>
            <a:r>
              <a:rPr lang="en-US" altLang="en-US" dirty="0">
                <a:latin typeface="Arial (Body)"/>
                <a:ea typeface="ヒラギノ角ゴ Pro W3" pitchFamily="-84" charset="-128"/>
              </a:rPr>
              <a:t>With devaluation, a unit of domestic currency is made less valuable, so that more units must be exchanged for 1 unit of foreign currency.</a:t>
            </a:r>
          </a:p>
          <a:p>
            <a:pPr lvl="1" eaLnBrk="1" hangingPunct="1"/>
            <a:r>
              <a:rPr lang="en-US" altLang="en-US" dirty="0">
                <a:latin typeface="Arial (Body)"/>
                <a:ea typeface="ヒラギノ角ゴ Pro W3" pitchFamily="-84" charset="-128"/>
              </a:rPr>
              <a:t>With revaluation, a unit of domestic currency is made more valuable, so that fewer units need to be exchanged for 1 unit of foreign currency.</a:t>
            </a:r>
          </a:p>
        </p:txBody>
      </p:sp>
    </p:spTree>
    <p:extLst>
      <p:ext uri="{BB962C8B-B14F-4D97-AF65-F5344CB8AC3E}">
        <p14:creationId xmlns:p14="http://schemas.microsoft.com/office/powerpoint/2010/main" val="2181938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9D847-BDF8-43AA-9610-A36745934C7D}"/>
              </a:ext>
            </a:extLst>
          </p:cNvPr>
          <p:cNvSpPr>
            <a:spLocks noGrp="1"/>
          </p:cNvSpPr>
          <p:nvPr>
            <p:ph type="title"/>
          </p:nvPr>
        </p:nvSpPr>
        <p:spPr/>
        <p:txBody>
          <a:bodyPr/>
          <a:lstStyle/>
          <a:p>
            <a:r>
              <a:rPr lang="en-US" altLang="en-US" sz="3600" dirty="0">
                <a:ea typeface="ヒラギノ角ゴ Pro W3" pitchFamily="-84" charset="-128"/>
                <a:cs typeface="Times New Roman" panose="02020603050405020304" pitchFamily="18" charset="0"/>
              </a:rPr>
              <a:t>Devaluation </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572912A3-452F-4878-AA99-C26496163471}"/>
              </a:ext>
            </a:extLst>
          </p:cNvPr>
          <p:cNvSpPr>
            <a:spLocks noGrp="1"/>
          </p:cNvSpPr>
          <p:nvPr>
            <p:ph sz="quarter" idx="13"/>
          </p:nvPr>
        </p:nvSpPr>
        <p:spPr>
          <a:xfrm>
            <a:off x="457200" y="1556327"/>
            <a:ext cx="8229600" cy="3710154"/>
          </a:xfrm>
        </p:spPr>
        <p:txBody>
          <a:bodyPr/>
          <a:lstStyle/>
          <a:p>
            <a:pPr eaLnBrk="1" hangingPunct="1"/>
            <a:r>
              <a:rPr lang="en-US" altLang="en-US" dirty="0">
                <a:latin typeface="Arial (Body)"/>
                <a:ea typeface="ヒラギノ角ゴ Pro W3" pitchFamily="-84" charset="-128"/>
              </a:rPr>
              <a:t>For devaluation to occur, the central bank buys foreign assets, so that domestic monetary assets increase and domestic interest rates fall, causing a fall in the rate return on domestic currency deposits.</a:t>
            </a:r>
          </a:p>
          <a:p>
            <a:pPr lvl="1" eaLnBrk="1" hangingPunct="1"/>
            <a:r>
              <a:rPr lang="en-US" altLang="en-US" dirty="0">
                <a:latin typeface="Arial (Body)"/>
                <a:ea typeface="ヒラギノ角ゴ Pro W3" pitchFamily="-84" charset="-128"/>
              </a:rPr>
              <a:t>Domestic products become less expensive relative to foreign products, so aggregate demand and output increase.</a:t>
            </a:r>
          </a:p>
          <a:p>
            <a:pPr lvl="1" eaLnBrk="1" hangingPunct="1"/>
            <a:r>
              <a:rPr lang="en-US" altLang="en-US" dirty="0">
                <a:latin typeface="Arial (Body)"/>
                <a:ea typeface="ヒラギノ角ゴ Pro W3" pitchFamily="-84" charset="-128"/>
              </a:rPr>
              <a:t>Official international reserve assets (foreign bonds) increase.</a:t>
            </a:r>
          </a:p>
        </p:txBody>
      </p:sp>
    </p:spTree>
    <p:extLst>
      <p:ext uri="{BB962C8B-B14F-4D97-AF65-F5344CB8AC3E}">
        <p14:creationId xmlns:p14="http://schemas.microsoft.com/office/powerpoint/2010/main" val="2359002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83715-9236-4CC7-A984-A138522F7993}"/>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18.4 Effect of a Currency Devaluation</a:t>
            </a:r>
            <a:endParaRPr lang="en-IN" sz="3200" dirty="0">
              <a:cs typeface="Times New Roman" panose="02020603050405020304" pitchFamily="18" charset="0"/>
            </a:endParaRPr>
          </a:p>
        </p:txBody>
      </p:sp>
      <p:pic>
        <p:nvPicPr>
          <p:cNvPr id="9" name="Content Placeholder 8" descr="The graph plots exchange rate, E versus output, Y. For long description in Notes pane, press F6.">
            <a:extLst>
              <a:ext uri="{FF2B5EF4-FFF2-40B4-BE49-F238E27FC236}">
                <a16:creationId xmlns:a16="http://schemas.microsoft.com/office/drawing/2014/main" id="{C008CCE0-DA54-4582-AF4E-756FDEFF6D13}"/>
              </a:ext>
            </a:extLst>
          </p:cNvPr>
          <p:cNvPicPr>
            <a:picLocks noGrp="1" noChangeAspect="1"/>
          </p:cNvPicPr>
          <p:nvPr>
            <p:ph sz="quarter" idx="13"/>
          </p:nvPr>
        </p:nvPicPr>
        <p:blipFill>
          <a:blip r:embed="rId4"/>
          <a:stretch>
            <a:fillRect/>
          </a:stretch>
        </p:blipFill>
        <p:spPr>
          <a:xfrm>
            <a:off x="2856080" y="1557338"/>
            <a:ext cx="3515970" cy="3301042"/>
          </a:xfrm>
        </p:spPr>
      </p:pic>
      <p:sp>
        <p:nvSpPr>
          <p:cNvPr id="4" name="Content Placeholder 3">
            <a:extLst>
              <a:ext uri="{FF2B5EF4-FFF2-40B4-BE49-F238E27FC236}">
                <a16:creationId xmlns:a16="http://schemas.microsoft.com/office/drawing/2014/main" id="{C7A5D8DA-C664-4A8E-AAC0-4E6598E3FC31}"/>
              </a:ext>
            </a:extLst>
          </p:cNvPr>
          <p:cNvSpPr>
            <a:spLocks noGrp="1"/>
          </p:cNvSpPr>
          <p:nvPr>
            <p:ph sz="quarter" idx="14"/>
          </p:nvPr>
        </p:nvSpPr>
        <p:spPr>
          <a:xfrm>
            <a:off x="468313" y="5130090"/>
            <a:ext cx="3981767" cy="375359"/>
          </a:xfrm>
        </p:spPr>
        <p:txBody>
          <a:bodyPr lIns="0" tIns="0" rIns="0" bIns="0"/>
          <a:lstStyle/>
          <a:p>
            <a:pPr marL="432" indent="0">
              <a:buNone/>
            </a:pPr>
            <a:r>
              <a:rPr lang="en-US" sz="2000" dirty="0">
                <a:latin typeface="Arial (Body)"/>
              </a:rPr>
              <a:t>When a currency is devalued from</a:t>
            </a:r>
            <a:endParaRPr lang="en-IN" sz="2000" dirty="0"/>
          </a:p>
        </p:txBody>
      </p:sp>
      <p:graphicFrame>
        <p:nvGraphicFramePr>
          <p:cNvPr id="7" name="Object 6" descr="E E super 0 to E E super 1,">
            <a:extLst>
              <a:ext uri="{FF2B5EF4-FFF2-40B4-BE49-F238E27FC236}">
                <a16:creationId xmlns:a16="http://schemas.microsoft.com/office/drawing/2014/main" id="{6F0CFB0D-600F-401A-9B84-1A2267532E0D}"/>
              </a:ext>
            </a:extLst>
          </p:cNvPr>
          <p:cNvGraphicFramePr>
            <a:graphicFrameLocks noChangeAspect="1"/>
          </p:cNvGraphicFramePr>
          <p:nvPr>
            <p:extLst>
              <p:ext uri="{D42A27DB-BD31-4B8C-83A1-F6EECF244321}">
                <p14:modId xmlns:p14="http://schemas.microsoft.com/office/powerpoint/2010/main" val="3794648348"/>
              </p:ext>
            </p:extLst>
          </p:nvPr>
        </p:nvGraphicFramePr>
        <p:xfrm>
          <a:off x="4527669" y="5132669"/>
          <a:ext cx="914656" cy="330833"/>
        </p:xfrm>
        <a:graphic>
          <a:graphicData uri="http://schemas.openxmlformats.org/presentationml/2006/ole">
            <mc:AlternateContent xmlns:mc="http://schemas.openxmlformats.org/markup-compatibility/2006">
              <mc:Choice xmlns:v="urn:schemas-microsoft-com:vml" Requires="v">
                <p:oleObj spid="_x0000_s10303" name="Equation" r:id="rId5" imgW="596880" imgH="215640" progId="Equation.DSMT4">
                  <p:embed/>
                </p:oleObj>
              </mc:Choice>
              <mc:Fallback>
                <p:oleObj name="Equation" r:id="rId5" imgW="596880" imgH="215640" progId="Equation.DSMT4">
                  <p:embed/>
                  <p:pic>
                    <p:nvPicPr>
                      <p:cNvPr id="0" name=""/>
                      <p:cNvPicPr/>
                      <p:nvPr/>
                    </p:nvPicPr>
                    <p:blipFill>
                      <a:blip r:embed="rId6"/>
                      <a:stretch>
                        <a:fillRect/>
                      </a:stretch>
                    </p:blipFill>
                    <p:spPr>
                      <a:xfrm>
                        <a:off x="4527669" y="5132669"/>
                        <a:ext cx="914656" cy="330833"/>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E520180B-1336-4D85-8BB4-52C364EF3509}"/>
              </a:ext>
            </a:extLst>
          </p:cNvPr>
          <p:cNvSpPr>
            <a:spLocks noGrp="1"/>
          </p:cNvSpPr>
          <p:nvPr>
            <p:ph sz="quarter" idx="15"/>
          </p:nvPr>
        </p:nvSpPr>
        <p:spPr>
          <a:xfrm>
            <a:off x="5561190" y="5111001"/>
            <a:ext cx="1784315" cy="371069"/>
          </a:xfrm>
        </p:spPr>
        <p:txBody>
          <a:bodyPr lIns="0" tIns="0" rIns="0" bIns="0"/>
          <a:lstStyle/>
          <a:p>
            <a:pPr marL="432" indent="0">
              <a:buNone/>
            </a:pPr>
            <a:r>
              <a:rPr lang="en-US" sz="2000" dirty="0">
                <a:latin typeface="Arial (Body)"/>
              </a:rPr>
              <a:t>the economy’s</a:t>
            </a:r>
            <a:endParaRPr lang="en-IN" sz="2000" dirty="0"/>
          </a:p>
        </p:txBody>
      </p:sp>
      <p:sp>
        <p:nvSpPr>
          <p:cNvPr id="6" name="Content Placeholder 5">
            <a:extLst>
              <a:ext uri="{FF2B5EF4-FFF2-40B4-BE49-F238E27FC236}">
                <a16:creationId xmlns:a16="http://schemas.microsoft.com/office/drawing/2014/main" id="{013C8D09-A363-4F5E-9CAF-D89E07E2B0E6}"/>
              </a:ext>
            </a:extLst>
          </p:cNvPr>
          <p:cNvSpPr>
            <a:spLocks noGrp="1"/>
          </p:cNvSpPr>
          <p:nvPr>
            <p:ph sz="quarter" idx="16"/>
          </p:nvPr>
        </p:nvSpPr>
        <p:spPr>
          <a:xfrm>
            <a:off x="468313" y="5553966"/>
            <a:ext cx="8207374" cy="665859"/>
          </a:xfrm>
        </p:spPr>
        <p:txBody>
          <a:bodyPr lIns="0" tIns="0" rIns="0" bIns="0"/>
          <a:lstStyle/>
          <a:p>
            <a:pPr marL="432" indent="0">
              <a:buNone/>
            </a:pPr>
            <a:r>
              <a:rPr lang="en-US" sz="2000" dirty="0">
                <a:latin typeface="Arial (Body)"/>
              </a:rPr>
              <a:t>equilibrium moves from point 1 to point 2 as both output and the money supply expand.</a:t>
            </a:r>
            <a:endParaRPr lang="en-IN" sz="2000" dirty="0"/>
          </a:p>
        </p:txBody>
      </p:sp>
    </p:spTree>
    <p:extLst>
      <p:ext uri="{BB962C8B-B14F-4D97-AF65-F5344CB8AC3E}">
        <p14:creationId xmlns:p14="http://schemas.microsoft.com/office/powerpoint/2010/main" val="1538460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22EBA-E7E3-4C6C-9D8A-3A788FE4477F}"/>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Financial Crises and Capital Flight </a:t>
            </a:r>
            <a:r>
              <a:rPr lang="en-US" altLang="en-US" sz="2000" b="0" dirty="0">
                <a:ea typeface="ヒラギノ角ゴ Pro W3" pitchFamily="-84" charset="-128"/>
                <a:cs typeface="Times New Roman" panose="02020603050405020304" pitchFamily="18" charset="0"/>
              </a:rPr>
              <a:t>(1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B80024F7-E40F-4818-81A4-2AFB1CD9E394}"/>
              </a:ext>
            </a:extLst>
          </p:cNvPr>
          <p:cNvSpPr>
            <a:spLocks noGrp="1"/>
          </p:cNvSpPr>
          <p:nvPr>
            <p:ph sz="quarter" idx="13"/>
          </p:nvPr>
        </p:nvSpPr>
        <p:spPr>
          <a:xfrm>
            <a:off x="457200" y="1556327"/>
            <a:ext cx="8229600" cy="2883593"/>
          </a:xfrm>
        </p:spPr>
        <p:txBody>
          <a:bodyPr/>
          <a:lstStyle/>
          <a:p>
            <a:pPr eaLnBrk="1" hangingPunct="1"/>
            <a:r>
              <a:rPr lang="en-US" altLang="en-US" dirty="0">
                <a:latin typeface="Arial (Body)"/>
                <a:ea typeface="ヒラギノ角ゴ Pro W3" pitchFamily="-84" charset="-128"/>
              </a:rPr>
              <a:t>When a central bank does not have enough official international reserve assets to maintain a fixed exchange rate, a </a:t>
            </a:r>
            <a:r>
              <a:rPr lang="en-US" altLang="en-US" b="1" dirty="0">
                <a:latin typeface="Arial (Body)"/>
                <a:ea typeface="ヒラギノ角ゴ Pro W3" pitchFamily="-84" charset="-128"/>
              </a:rPr>
              <a:t>balance of payments crisis</a:t>
            </a:r>
            <a:r>
              <a:rPr lang="en-US" altLang="en-US" dirty="0">
                <a:latin typeface="Arial (Body)"/>
                <a:ea typeface="ヒラギノ角ゴ Pro W3" pitchFamily="-84" charset="-128"/>
              </a:rPr>
              <a:t> results.</a:t>
            </a:r>
          </a:p>
          <a:p>
            <a:pPr lvl="1" eaLnBrk="1" hangingPunct="1"/>
            <a:r>
              <a:rPr lang="en-US" altLang="en-US" dirty="0">
                <a:latin typeface="Arial (Body)"/>
                <a:ea typeface="ヒラギノ角ゴ Pro W3" pitchFamily="-84" charset="-128"/>
              </a:rPr>
              <a:t>To sustain a fixed exchange rate, the central bank must have enough foreign assets to sell in order to satisfy the demand of them at the fixed exchange rate.</a:t>
            </a:r>
          </a:p>
        </p:txBody>
      </p:sp>
    </p:spTree>
    <p:extLst>
      <p:ext uri="{BB962C8B-B14F-4D97-AF65-F5344CB8AC3E}">
        <p14:creationId xmlns:p14="http://schemas.microsoft.com/office/powerpoint/2010/main" val="41364725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22EBA-E7E3-4C6C-9D8A-3A788FE4477F}"/>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Financial Crises and Capital Flight </a:t>
            </a:r>
            <a:r>
              <a:rPr lang="en-US" altLang="en-US" sz="2000" b="0" dirty="0">
                <a:ea typeface="ヒラギノ角ゴ Pro W3" pitchFamily="-84" charset="-128"/>
                <a:cs typeface="Times New Roman" panose="02020603050405020304" pitchFamily="18" charset="0"/>
              </a:rPr>
              <a:t>(2 of 6)</a:t>
            </a:r>
            <a:endParaRPr lang="en-IN" sz="2000" dirty="0">
              <a:cs typeface="Times New Roman" panose="02020603050405020304" pitchFamily="18" charset="0"/>
            </a:endParaRPr>
          </a:p>
        </p:txBody>
      </p:sp>
      <p:sp>
        <p:nvSpPr>
          <p:cNvPr id="4" name="Content Placeholder 3">
            <a:extLst>
              <a:ext uri="{FF2B5EF4-FFF2-40B4-BE49-F238E27FC236}">
                <a16:creationId xmlns:a16="http://schemas.microsoft.com/office/drawing/2014/main" id="{0DCF6FD8-09F5-478D-8CB6-681D045F5D19}"/>
              </a:ext>
            </a:extLst>
          </p:cNvPr>
          <p:cNvSpPr>
            <a:spLocks noGrp="1"/>
          </p:cNvSpPr>
          <p:nvPr>
            <p:ph sz="quarter" idx="13"/>
          </p:nvPr>
        </p:nvSpPr>
        <p:spPr>
          <a:xfrm>
            <a:off x="466602" y="1552575"/>
            <a:ext cx="8220197" cy="1266825"/>
          </a:xfrm>
        </p:spPr>
        <p:txBody>
          <a:bodyPr/>
          <a:lstStyle/>
          <a:p>
            <a:r>
              <a:rPr lang="en-US" altLang="en-US" dirty="0">
                <a:latin typeface="Arial (Body)"/>
                <a:ea typeface="ヒラギノ角ゴ Pro W3" pitchFamily="-84" charset="-128"/>
              </a:rPr>
              <a:t>Investors may expect that the domestic currency will be devalued, causing them to want foreign assets instead of domestic assets, whose value is expected to fall soon.</a:t>
            </a:r>
            <a:endParaRPr lang="en-IN" dirty="0"/>
          </a:p>
        </p:txBody>
      </p:sp>
      <p:sp>
        <p:nvSpPr>
          <p:cNvPr id="5" name="Content Placeholder 4">
            <a:extLst>
              <a:ext uri="{FF2B5EF4-FFF2-40B4-BE49-F238E27FC236}">
                <a16:creationId xmlns:a16="http://schemas.microsoft.com/office/drawing/2014/main" id="{F37F8E6C-A928-4096-B878-42082B6A8EA0}"/>
              </a:ext>
            </a:extLst>
          </p:cNvPr>
          <p:cNvSpPr>
            <a:spLocks noGrp="1"/>
          </p:cNvSpPr>
          <p:nvPr>
            <p:ph sz="quarter" idx="14"/>
          </p:nvPr>
        </p:nvSpPr>
        <p:spPr>
          <a:xfrm>
            <a:off x="457200" y="2886434"/>
            <a:ext cx="8220197" cy="854294"/>
          </a:xfrm>
        </p:spPr>
        <p:txBody>
          <a:bodyPr/>
          <a:lstStyle/>
          <a:p>
            <a:pPr marL="432000" indent="-432000">
              <a:buFont typeface="+mj-lt"/>
              <a:buAutoNum type="arabicPeriod"/>
            </a:pPr>
            <a:r>
              <a:rPr lang="en-US" altLang="en-US" dirty="0">
                <a:latin typeface="Arial (Body)"/>
                <a:ea typeface="ヒラギノ角ゴ Pro W3" pitchFamily="-84" charset="-128"/>
              </a:rPr>
              <a:t>This expectation or fear only makes the balance of payments crisis worse:</a:t>
            </a:r>
            <a:endParaRPr lang="en-IN" dirty="0"/>
          </a:p>
        </p:txBody>
      </p:sp>
      <p:sp>
        <p:nvSpPr>
          <p:cNvPr id="6" name="Content Placeholder 5">
            <a:extLst>
              <a:ext uri="{FF2B5EF4-FFF2-40B4-BE49-F238E27FC236}">
                <a16:creationId xmlns:a16="http://schemas.microsoft.com/office/drawing/2014/main" id="{64F3AA81-6288-4972-BEC4-07DBCA046AA2}"/>
              </a:ext>
            </a:extLst>
          </p:cNvPr>
          <p:cNvSpPr>
            <a:spLocks noGrp="1"/>
          </p:cNvSpPr>
          <p:nvPr>
            <p:ph sz="quarter" idx="15"/>
          </p:nvPr>
        </p:nvSpPr>
        <p:spPr>
          <a:xfrm>
            <a:off x="457199" y="3793185"/>
            <a:ext cx="8220197" cy="1392741"/>
          </a:xfrm>
        </p:spPr>
        <p:txBody>
          <a:bodyPr/>
          <a:lstStyle/>
          <a:p>
            <a:pPr lvl="1"/>
            <a:r>
              <a:rPr lang="en-US" altLang="en-US" dirty="0">
                <a:latin typeface="Arial (Body)"/>
                <a:ea typeface="ヒラギノ角ゴ Pro W3" pitchFamily="-84" charset="-128"/>
              </a:rPr>
              <a:t>Investors rush to change their domestic assets into foreign assets, depleting the stock of official international reserve assets more quickly.</a:t>
            </a:r>
          </a:p>
        </p:txBody>
      </p:sp>
    </p:spTree>
    <p:extLst>
      <p:ext uri="{BB962C8B-B14F-4D97-AF65-F5344CB8AC3E}">
        <p14:creationId xmlns:p14="http://schemas.microsoft.com/office/powerpoint/2010/main" val="33769003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22EBA-E7E3-4C6C-9D8A-3A788FE4477F}"/>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Financial Crises and Capital Flight </a:t>
            </a:r>
            <a:r>
              <a:rPr lang="en-US" altLang="en-US" sz="2000" b="0" dirty="0">
                <a:ea typeface="ヒラギノ角ゴ Pro W3" pitchFamily="-84" charset="-128"/>
                <a:cs typeface="Times New Roman" panose="02020603050405020304" pitchFamily="18" charset="0"/>
              </a:rPr>
              <a:t>(3 of 6)</a:t>
            </a:r>
            <a:endParaRPr lang="en-IN" sz="2000" dirty="0">
              <a:cs typeface="Times New Roman" panose="02020603050405020304" pitchFamily="18" charset="0"/>
            </a:endParaRPr>
          </a:p>
        </p:txBody>
      </p:sp>
      <p:sp>
        <p:nvSpPr>
          <p:cNvPr id="12" name="Content Placeholder 11">
            <a:extLst>
              <a:ext uri="{FF2B5EF4-FFF2-40B4-BE49-F238E27FC236}">
                <a16:creationId xmlns:a16="http://schemas.microsoft.com/office/drawing/2014/main" id="{B6B90062-E21C-4770-B8B3-A4100284805D}"/>
              </a:ext>
            </a:extLst>
          </p:cNvPr>
          <p:cNvSpPr>
            <a:spLocks noGrp="1"/>
          </p:cNvSpPr>
          <p:nvPr>
            <p:ph sz="quarter" idx="13"/>
          </p:nvPr>
        </p:nvSpPr>
        <p:spPr>
          <a:xfrm>
            <a:off x="457200" y="1552574"/>
            <a:ext cx="8229600" cy="763905"/>
          </a:xfrm>
        </p:spPr>
        <p:txBody>
          <a:bodyPr/>
          <a:lstStyle/>
          <a:p>
            <a:pPr marL="432000" indent="-432000">
              <a:buFont typeface="+mj-lt"/>
              <a:buAutoNum type="arabicPeriod" startAt="2"/>
            </a:pPr>
            <a:r>
              <a:rPr lang="en-US" altLang="en-US" sz="2000" dirty="0">
                <a:latin typeface="Arial (Body)"/>
                <a:ea typeface="ヒラギノ角ゴ Pro W3" pitchFamily="-84" charset="-128"/>
              </a:rPr>
              <a:t>As a result, financial capital is quickly moved from domestic assets to foreign assets: </a:t>
            </a:r>
            <a:r>
              <a:rPr lang="en-US" altLang="en-US" sz="2000" b="1" dirty="0">
                <a:latin typeface="Arial (Body)"/>
                <a:ea typeface="ヒラギノ角ゴ Pro W3" pitchFamily="-84" charset="-128"/>
              </a:rPr>
              <a:t>capital flight</a:t>
            </a:r>
            <a:r>
              <a:rPr lang="en-US" altLang="en-US" sz="2000" dirty="0">
                <a:latin typeface="Arial (Body)"/>
                <a:ea typeface="ヒラギノ角ゴ Pro W3" pitchFamily="-84" charset="-128"/>
              </a:rPr>
              <a:t>.</a:t>
            </a:r>
          </a:p>
        </p:txBody>
      </p:sp>
      <p:sp>
        <p:nvSpPr>
          <p:cNvPr id="13" name="Content Placeholder 12">
            <a:extLst>
              <a:ext uri="{FF2B5EF4-FFF2-40B4-BE49-F238E27FC236}">
                <a16:creationId xmlns:a16="http://schemas.microsoft.com/office/drawing/2014/main" id="{E59BAE96-60B0-44F5-9FA6-9DB6B23CBCAC}"/>
              </a:ext>
            </a:extLst>
          </p:cNvPr>
          <p:cNvSpPr>
            <a:spLocks noGrp="1"/>
          </p:cNvSpPr>
          <p:nvPr>
            <p:ph sz="quarter" idx="14"/>
          </p:nvPr>
        </p:nvSpPr>
        <p:spPr>
          <a:xfrm>
            <a:off x="457200" y="2380602"/>
            <a:ext cx="8229600" cy="695107"/>
          </a:xfrm>
        </p:spPr>
        <p:txBody>
          <a:bodyPr tIns="0"/>
          <a:lstStyle/>
          <a:p>
            <a:pPr lvl="1"/>
            <a:r>
              <a:rPr lang="en-US" altLang="en-US" sz="2000" dirty="0">
                <a:latin typeface="Arial (Body)"/>
                <a:ea typeface="ヒラギノ角ゴ Pro W3" pitchFamily="-84" charset="-128"/>
              </a:rPr>
              <a:t>The domestic economy has a shortage of financial capital for investment and has low aggregate demand.</a:t>
            </a:r>
          </a:p>
        </p:txBody>
      </p:sp>
      <p:sp>
        <p:nvSpPr>
          <p:cNvPr id="14" name="Content Placeholder 13">
            <a:extLst>
              <a:ext uri="{FF2B5EF4-FFF2-40B4-BE49-F238E27FC236}">
                <a16:creationId xmlns:a16="http://schemas.microsoft.com/office/drawing/2014/main" id="{1C9163E3-6C5F-4732-9A1C-79269BDED113}"/>
              </a:ext>
            </a:extLst>
          </p:cNvPr>
          <p:cNvSpPr>
            <a:spLocks noGrp="1"/>
          </p:cNvSpPr>
          <p:nvPr>
            <p:ph sz="quarter" idx="15"/>
          </p:nvPr>
        </p:nvSpPr>
        <p:spPr>
          <a:xfrm>
            <a:off x="457200" y="3164756"/>
            <a:ext cx="8229600" cy="785403"/>
          </a:xfrm>
        </p:spPr>
        <p:txBody>
          <a:bodyPr/>
          <a:lstStyle/>
          <a:p>
            <a:pPr marL="432000" indent="-432000">
              <a:buFont typeface="+mj-lt"/>
              <a:buAutoNum type="arabicPeriod" startAt="3"/>
            </a:pPr>
            <a:r>
              <a:rPr lang="en-US" altLang="en-US" sz="2000" dirty="0">
                <a:latin typeface="Arial (Body)"/>
                <a:ea typeface="ヒラギノ角ゴ Pro W3" pitchFamily="-84" charset="-128"/>
              </a:rPr>
              <a:t>To avoid this outcome, domestic assets must offer high interest rates to entice investors to hold them.</a:t>
            </a:r>
          </a:p>
        </p:txBody>
      </p:sp>
      <p:sp>
        <p:nvSpPr>
          <p:cNvPr id="15" name="Content Placeholder 14">
            <a:extLst>
              <a:ext uri="{FF2B5EF4-FFF2-40B4-BE49-F238E27FC236}">
                <a16:creationId xmlns:a16="http://schemas.microsoft.com/office/drawing/2014/main" id="{5ADAA773-D3AD-4CF8-B5FE-E3FC85D1790C}"/>
              </a:ext>
            </a:extLst>
          </p:cNvPr>
          <p:cNvSpPr>
            <a:spLocks noGrp="1"/>
          </p:cNvSpPr>
          <p:nvPr>
            <p:ph sz="quarter" idx="16"/>
          </p:nvPr>
        </p:nvSpPr>
        <p:spPr>
          <a:xfrm>
            <a:off x="457200" y="4004104"/>
            <a:ext cx="8229600" cy="678730"/>
          </a:xfrm>
        </p:spPr>
        <p:txBody>
          <a:bodyPr tIns="0"/>
          <a:lstStyle/>
          <a:p>
            <a:pPr lvl="1"/>
            <a:r>
              <a:rPr lang="en-US" altLang="en-US" sz="2000" dirty="0">
                <a:latin typeface="Arial (Body)"/>
                <a:ea typeface="ヒラギノ角ゴ Pro W3" pitchFamily="-84" charset="-128"/>
              </a:rPr>
              <a:t>The central bank can push interest rates higher by reducing the money supply (by selling foreign and domestic assets).</a:t>
            </a:r>
          </a:p>
        </p:txBody>
      </p:sp>
      <p:sp>
        <p:nvSpPr>
          <p:cNvPr id="16" name="Content Placeholder 15">
            <a:extLst>
              <a:ext uri="{FF2B5EF4-FFF2-40B4-BE49-F238E27FC236}">
                <a16:creationId xmlns:a16="http://schemas.microsoft.com/office/drawing/2014/main" id="{89217306-79CE-4D31-9513-05EAED92E151}"/>
              </a:ext>
            </a:extLst>
          </p:cNvPr>
          <p:cNvSpPr>
            <a:spLocks noGrp="1"/>
          </p:cNvSpPr>
          <p:nvPr>
            <p:ph sz="quarter" idx="17"/>
          </p:nvPr>
        </p:nvSpPr>
        <p:spPr>
          <a:xfrm>
            <a:off x="457200" y="4827787"/>
            <a:ext cx="8229600" cy="1158241"/>
          </a:xfrm>
        </p:spPr>
        <p:txBody>
          <a:bodyPr/>
          <a:lstStyle/>
          <a:p>
            <a:pPr marL="432000" indent="-432000">
              <a:buFont typeface="+mj-lt"/>
              <a:buAutoNum type="arabicPeriod" startAt="4"/>
            </a:pPr>
            <a:r>
              <a:rPr lang="en-US" altLang="en-US" sz="2000" dirty="0">
                <a:latin typeface="Arial (Body)"/>
                <a:ea typeface="ヒラギノ角ゴ Pro W3" pitchFamily="-84" charset="-128"/>
              </a:rPr>
              <a:t>As a result, the domestic economy may face high interest rates, a reduced money supply, low aggregate demand, low output, and low employment.</a:t>
            </a:r>
          </a:p>
        </p:txBody>
      </p:sp>
    </p:spTree>
    <p:extLst>
      <p:ext uri="{BB962C8B-B14F-4D97-AF65-F5344CB8AC3E}">
        <p14:creationId xmlns:p14="http://schemas.microsoft.com/office/powerpoint/2010/main" val="4702195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noChangeArrowheads="1"/>
          </p:cNvSpPr>
          <p:nvPr>
            <p:ph type="title"/>
          </p:nvPr>
        </p:nvSpPr>
        <p:spPr/>
        <p:txBody>
          <a:bodyPr anchor="t"/>
          <a:lstStyle/>
          <a:p>
            <a:pPr eaLnBrk="1" hangingPunct="1"/>
            <a:r>
              <a:rPr lang="en-US" altLang="en-US" sz="3200" dirty="0">
                <a:latin typeface="+mj-lt"/>
                <a:ea typeface="ヒラギノ角ゴ Pro W3" pitchFamily="-84" charset="-128"/>
                <a:cs typeface="Times New Roman" panose="02020603050405020304" pitchFamily="18" charset="0"/>
              </a:rPr>
              <a:t>Figure 18.5 Capital Flight, the Money Supply, and the Interest Rate</a:t>
            </a:r>
          </a:p>
        </p:txBody>
      </p:sp>
      <p:pic>
        <p:nvPicPr>
          <p:cNvPr id="5" name="Content Placeholder 4" descr="The graph plots exchange rate, E, above y = 0 and real domestic money holdings below y = 0, versus domestic interest rate, R. For long description in Notes pane, press F6.">
            <a:extLst>
              <a:ext uri="{FF2B5EF4-FFF2-40B4-BE49-F238E27FC236}">
                <a16:creationId xmlns:a16="http://schemas.microsoft.com/office/drawing/2014/main" id="{4425EE87-EC1A-41B5-B877-7C924889802E}"/>
              </a:ext>
            </a:extLst>
          </p:cNvPr>
          <p:cNvPicPr>
            <a:picLocks noGrp="1" noChangeAspect="1"/>
          </p:cNvPicPr>
          <p:nvPr>
            <p:ph idx="1"/>
          </p:nvPr>
        </p:nvPicPr>
        <p:blipFill>
          <a:blip r:embed="rId4"/>
          <a:stretch>
            <a:fillRect/>
          </a:stretch>
        </p:blipFill>
        <p:spPr>
          <a:xfrm>
            <a:off x="3146784" y="1572698"/>
            <a:ext cx="2611007" cy="3450984"/>
          </a:xfrm>
        </p:spPr>
      </p:pic>
      <p:sp>
        <p:nvSpPr>
          <p:cNvPr id="6" name="Content Placeholder 5"/>
          <p:cNvSpPr>
            <a:spLocks noGrp="1"/>
          </p:cNvSpPr>
          <p:nvPr>
            <p:ph idx="13"/>
          </p:nvPr>
        </p:nvSpPr>
        <p:spPr>
          <a:xfrm>
            <a:off x="457200" y="5205198"/>
            <a:ext cx="3562350" cy="321629"/>
          </a:xfrm>
        </p:spPr>
        <p:txBody>
          <a:bodyPr lIns="0" tIns="0" rIns="0" bIns="0"/>
          <a:lstStyle/>
          <a:p>
            <a:pPr marL="0" indent="0">
              <a:buNone/>
            </a:pPr>
            <a:r>
              <a:rPr lang="en-US" sz="1800" dirty="0">
                <a:latin typeface="Arial (Body)"/>
              </a:rPr>
              <a:t>To hold the exchange rate fixed at</a:t>
            </a:r>
            <a:endParaRPr lang="en-IN" sz="1800" dirty="0"/>
          </a:p>
        </p:txBody>
      </p:sp>
      <p:graphicFrame>
        <p:nvGraphicFramePr>
          <p:cNvPr id="11" name="Object 10" descr="E super 0"/>
          <p:cNvGraphicFramePr>
            <a:graphicFrameLocks noChangeAspect="1"/>
          </p:cNvGraphicFramePr>
          <p:nvPr>
            <p:extLst>
              <p:ext uri="{D42A27DB-BD31-4B8C-83A1-F6EECF244321}">
                <p14:modId xmlns:p14="http://schemas.microsoft.com/office/powerpoint/2010/main" val="2997829513"/>
              </p:ext>
            </p:extLst>
          </p:nvPr>
        </p:nvGraphicFramePr>
        <p:xfrm>
          <a:off x="4046966" y="5192358"/>
          <a:ext cx="316099" cy="278912"/>
        </p:xfrm>
        <a:graphic>
          <a:graphicData uri="http://schemas.openxmlformats.org/presentationml/2006/ole">
            <mc:AlternateContent xmlns:mc="http://schemas.openxmlformats.org/markup-compatibility/2006">
              <mc:Choice xmlns:v="urn:schemas-microsoft-com:vml" Requires="v">
                <p:oleObj spid="_x0000_s11384" name="Equation" r:id="rId5" imgW="215640" imgH="190440" progId="Equation.DSMT4">
                  <p:embed/>
                </p:oleObj>
              </mc:Choice>
              <mc:Fallback>
                <p:oleObj name="Equation" r:id="rId5" imgW="215640" imgH="190440" progId="Equation.DSMT4">
                  <p:embed/>
                  <p:pic>
                    <p:nvPicPr>
                      <p:cNvPr id="11" name="Object 10"/>
                      <p:cNvPicPr/>
                      <p:nvPr/>
                    </p:nvPicPr>
                    <p:blipFill>
                      <a:blip r:embed="rId6"/>
                      <a:stretch>
                        <a:fillRect/>
                      </a:stretch>
                    </p:blipFill>
                    <p:spPr>
                      <a:xfrm>
                        <a:off x="4046966" y="5192358"/>
                        <a:ext cx="316099" cy="278912"/>
                      </a:xfrm>
                      <a:prstGeom prst="rect">
                        <a:avLst/>
                      </a:prstGeom>
                    </p:spPr>
                  </p:pic>
                </p:oleObj>
              </mc:Fallback>
            </mc:AlternateContent>
          </a:graphicData>
        </a:graphic>
      </p:graphicFrame>
      <p:sp>
        <p:nvSpPr>
          <p:cNvPr id="7" name="Content Placeholder 6"/>
          <p:cNvSpPr>
            <a:spLocks noGrp="1"/>
          </p:cNvSpPr>
          <p:nvPr>
            <p:ph idx="14"/>
          </p:nvPr>
        </p:nvSpPr>
        <p:spPr>
          <a:xfrm>
            <a:off x="4452288" y="5192357"/>
            <a:ext cx="4491688" cy="322617"/>
          </a:xfrm>
        </p:spPr>
        <p:txBody>
          <a:bodyPr lIns="0" tIns="0" rIns="0" bIns="0"/>
          <a:lstStyle/>
          <a:p>
            <a:pPr marL="0" indent="0">
              <a:buNone/>
            </a:pPr>
            <a:r>
              <a:rPr lang="en-US" sz="1800" dirty="0">
                <a:latin typeface="Arial (Body)"/>
              </a:rPr>
              <a:t>after the market decides it will be devalued</a:t>
            </a:r>
            <a:endParaRPr lang="en-IN" sz="1800" dirty="0"/>
          </a:p>
        </p:txBody>
      </p:sp>
      <p:sp>
        <p:nvSpPr>
          <p:cNvPr id="8" name="Content Placeholder 7"/>
          <p:cNvSpPr>
            <a:spLocks noGrp="1"/>
          </p:cNvSpPr>
          <p:nvPr>
            <p:ph idx="15"/>
          </p:nvPr>
        </p:nvSpPr>
        <p:spPr>
          <a:xfrm>
            <a:off x="457200" y="5584116"/>
            <a:ext cx="304800" cy="292390"/>
          </a:xfrm>
        </p:spPr>
        <p:txBody>
          <a:bodyPr lIns="0" tIns="0" rIns="0" bIns="0"/>
          <a:lstStyle/>
          <a:p>
            <a:pPr marL="0" indent="0">
              <a:buNone/>
            </a:pPr>
            <a:r>
              <a:rPr lang="en-US" sz="1800" dirty="0">
                <a:latin typeface="Arial (Body)"/>
              </a:rPr>
              <a:t>to</a:t>
            </a:r>
            <a:endParaRPr lang="en-IN" sz="1800" dirty="0"/>
          </a:p>
        </p:txBody>
      </p:sp>
      <p:graphicFrame>
        <p:nvGraphicFramePr>
          <p:cNvPr id="13" name="Object 12" descr="E super 1,"/>
          <p:cNvGraphicFramePr>
            <a:graphicFrameLocks noChangeAspect="1"/>
          </p:cNvGraphicFramePr>
          <p:nvPr>
            <p:extLst>
              <p:ext uri="{D42A27DB-BD31-4B8C-83A1-F6EECF244321}">
                <p14:modId xmlns:p14="http://schemas.microsoft.com/office/powerpoint/2010/main" val="1693055838"/>
              </p:ext>
            </p:extLst>
          </p:nvPr>
        </p:nvGraphicFramePr>
        <p:xfrm>
          <a:off x="834521" y="5562181"/>
          <a:ext cx="334963" cy="314325"/>
        </p:xfrm>
        <a:graphic>
          <a:graphicData uri="http://schemas.openxmlformats.org/presentationml/2006/ole">
            <mc:AlternateContent xmlns:mc="http://schemas.openxmlformats.org/markup-compatibility/2006">
              <mc:Choice xmlns:v="urn:schemas-microsoft-com:vml" Requires="v">
                <p:oleObj spid="_x0000_s11385" name="Equation" r:id="rId7" imgW="228600" imgH="215640" progId="Equation.DSMT4">
                  <p:embed/>
                </p:oleObj>
              </mc:Choice>
              <mc:Fallback>
                <p:oleObj name="Equation" r:id="rId7" imgW="228600" imgH="215640" progId="Equation.DSMT4">
                  <p:embed/>
                  <p:pic>
                    <p:nvPicPr>
                      <p:cNvPr id="13" name="Object 12"/>
                      <p:cNvPicPr/>
                      <p:nvPr/>
                    </p:nvPicPr>
                    <p:blipFill>
                      <a:blip r:embed="rId8"/>
                      <a:stretch>
                        <a:fillRect/>
                      </a:stretch>
                    </p:blipFill>
                    <p:spPr>
                      <a:xfrm>
                        <a:off x="834521" y="5562181"/>
                        <a:ext cx="334963" cy="314325"/>
                      </a:xfrm>
                      <a:prstGeom prst="rect">
                        <a:avLst/>
                      </a:prstGeom>
                    </p:spPr>
                  </p:pic>
                </p:oleObj>
              </mc:Fallback>
            </mc:AlternateContent>
          </a:graphicData>
        </a:graphic>
      </p:graphicFrame>
      <p:sp>
        <p:nvSpPr>
          <p:cNvPr id="9" name="Content Placeholder 8"/>
          <p:cNvSpPr>
            <a:spLocks noGrp="1"/>
          </p:cNvSpPr>
          <p:nvPr>
            <p:ph idx="16"/>
          </p:nvPr>
        </p:nvSpPr>
        <p:spPr>
          <a:xfrm>
            <a:off x="1251241" y="5580077"/>
            <a:ext cx="6858000" cy="334948"/>
          </a:xfrm>
        </p:spPr>
        <p:txBody>
          <a:bodyPr lIns="0" tIns="0" rIns="0" bIns="0"/>
          <a:lstStyle/>
          <a:p>
            <a:pPr marL="0" indent="0">
              <a:buNone/>
            </a:pPr>
            <a:r>
              <a:rPr lang="en-US" sz="1800" dirty="0">
                <a:latin typeface="Arial (Body)"/>
              </a:rPr>
              <a:t>the central bank must use its reserves to finance a private financial</a:t>
            </a:r>
            <a:endParaRPr lang="en-IN" sz="1800" dirty="0"/>
          </a:p>
        </p:txBody>
      </p:sp>
      <p:sp>
        <p:nvSpPr>
          <p:cNvPr id="10" name="Content Placeholder 9"/>
          <p:cNvSpPr>
            <a:spLocks noGrp="1"/>
          </p:cNvSpPr>
          <p:nvPr>
            <p:ph idx="17"/>
          </p:nvPr>
        </p:nvSpPr>
        <p:spPr>
          <a:xfrm>
            <a:off x="457200" y="5982591"/>
            <a:ext cx="7419975" cy="332484"/>
          </a:xfrm>
        </p:spPr>
        <p:txBody>
          <a:bodyPr lIns="0" tIns="0" rIns="0" bIns="0"/>
          <a:lstStyle/>
          <a:p>
            <a:pPr marL="0" indent="0">
              <a:buNone/>
            </a:pPr>
            <a:r>
              <a:rPr lang="en-US" sz="1800" dirty="0">
                <a:latin typeface="Arial (Body)"/>
              </a:rPr>
              <a:t>outflow that shrinks the money supply and raises the home interest rate.</a:t>
            </a:r>
            <a:endParaRPr lang="en-IN" sz="1800" dirty="0"/>
          </a:p>
        </p:txBody>
      </p:sp>
    </p:spTree>
    <p:extLst>
      <p:ext uri="{BB962C8B-B14F-4D97-AF65-F5344CB8AC3E}">
        <p14:creationId xmlns:p14="http://schemas.microsoft.com/office/powerpoint/2010/main" val="38281139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EF8E-AF16-4D1C-B160-6C6AB6AE4B44}"/>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Financial Crises and Capital Flight </a:t>
            </a:r>
            <a:r>
              <a:rPr lang="en-US" altLang="en-US" sz="2000" b="0" dirty="0">
                <a:ea typeface="ヒラギノ角ゴ Pro W3" pitchFamily="-84" charset="-128"/>
                <a:cs typeface="Times New Roman" panose="02020603050405020304" pitchFamily="18" charset="0"/>
              </a:rPr>
              <a:t>(4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D12267C6-7E67-43B8-B4BB-C4A6D5F43519}"/>
              </a:ext>
            </a:extLst>
          </p:cNvPr>
          <p:cNvSpPr>
            <a:spLocks noGrp="1"/>
          </p:cNvSpPr>
          <p:nvPr>
            <p:ph sz="quarter" idx="13"/>
          </p:nvPr>
        </p:nvSpPr>
        <p:spPr/>
        <p:txBody>
          <a:bodyPr/>
          <a:lstStyle/>
          <a:p>
            <a:pPr eaLnBrk="1" hangingPunct="1"/>
            <a:r>
              <a:rPr lang="en-US" altLang="en-US" dirty="0">
                <a:latin typeface="Arial (Body)"/>
                <a:ea typeface="ヒラギノ角ゴ Pro W3" pitchFamily="-84" charset="-128"/>
              </a:rPr>
              <a:t>Expectations of a balance of payments crisis only worsen the crisis and hasten devaluation.</a:t>
            </a:r>
          </a:p>
          <a:p>
            <a:pPr lvl="1" eaLnBrk="1" hangingPunct="1"/>
            <a:r>
              <a:rPr lang="en-US" altLang="en-US" dirty="0">
                <a:latin typeface="Arial (Body)"/>
                <a:ea typeface="ヒラギノ角ゴ Pro W3" pitchFamily="-84" charset="-128"/>
              </a:rPr>
              <a:t>What causes expectations to change?</a:t>
            </a:r>
          </a:p>
          <a:p>
            <a:pPr lvl="2" eaLnBrk="1" hangingPunct="1"/>
            <a:r>
              <a:rPr lang="en-US" altLang="en-US" dirty="0">
                <a:latin typeface="Arial (Body)"/>
                <a:ea typeface="ヒラギノ角ゴ Pro W3" pitchFamily="-84" charset="-128"/>
              </a:rPr>
              <a:t>Expectations about the central bank’</a:t>
            </a:r>
            <a:r>
              <a:rPr lang="en-US" altLang="ja-JP" dirty="0">
                <a:latin typeface="Arial (Body)"/>
                <a:ea typeface="ヒラギノ角ゴ Pro W3" pitchFamily="-84" charset="-128"/>
              </a:rPr>
              <a:t>s ability and willingness to maintain the fixed exchange rate.</a:t>
            </a:r>
          </a:p>
          <a:p>
            <a:pPr lvl="2" eaLnBrk="1" hangingPunct="1"/>
            <a:r>
              <a:rPr lang="en-US" altLang="en-US" dirty="0">
                <a:latin typeface="Arial (Body)"/>
                <a:ea typeface="ヒラギノ角ゴ Pro W3" pitchFamily="-84" charset="-128"/>
              </a:rPr>
              <a:t>Expectations about the economy: shrinking demand of domestic products relative to foreign products means that the domestic currency should become less valuable.</a:t>
            </a:r>
          </a:p>
          <a:p>
            <a:pPr eaLnBrk="1" hangingPunct="1"/>
            <a:r>
              <a:rPr lang="en-US" altLang="en-US" dirty="0">
                <a:latin typeface="Arial (Body)"/>
                <a:ea typeface="ヒラギノ角ゴ Pro W3" pitchFamily="-84" charset="-128"/>
              </a:rPr>
              <a:t>In fact, expectations of devaluation can cause a devaluation: a </a:t>
            </a:r>
            <a:r>
              <a:rPr lang="en-US" altLang="en-US" b="1" dirty="0">
                <a:latin typeface="Arial (Body)"/>
                <a:ea typeface="ヒラギノ角ゴ Pro W3" pitchFamily="-84" charset="-128"/>
              </a:rPr>
              <a:t>self-fulfilling crisis</a:t>
            </a:r>
            <a:r>
              <a:rPr lang="en-US" altLang="en-US" dirty="0">
                <a:latin typeface="Arial (Body)"/>
                <a:ea typeface="ヒラギノ角ゴ Pro W3" pitchFamily="-84" charset="-128"/>
              </a:rPr>
              <a:t>.</a:t>
            </a:r>
          </a:p>
        </p:txBody>
      </p:sp>
    </p:spTree>
    <p:extLst>
      <p:ext uri="{BB962C8B-B14F-4D97-AF65-F5344CB8AC3E}">
        <p14:creationId xmlns:p14="http://schemas.microsoft.com/office/powerpoint/2010/main" val="21132759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EF8E-AF16-4D1C-B160-6C6AB6AE4B44}"/>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Financial Crises and Capital Flight </a:t>
            </a:r>
            <a:r>
              <a:rPr lang="en-US" altLang="en-US" sz="2000" b="0" dirty="0">
                <a:ea typeface="ヒラギノ角ゴ Pro W3" pitchFamily="-84" charset="-128"/>
                <a:cs typeface="Times New Roman" panose="02020603050405020304" pitchFamily="18" charset="0"/>
              </a:rPr>
              <a:t>(5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D12267C6-7E67-43B8-B4BB-C4A6D5F43519}"/>
              </a:ext>
            </a:extLst>
          </p:cNvPr>
          <p:cNvSpPr>
            <a:spLocks noGrp="1"/>
          </p:cNvSpPr>
          <p:nvPr>
            <p:ph sz="quarter" idx="13"/>
          </p:nvPr>
        </p:nvSpPr>
        <p:spPr>
          <a:xfrm>
            <a:off x="457200" y="1556327"/>
            <a:ext cx="8229600" cy="4752398"/>
          </a:xfrm>
        </p:spPr>
        <p:txBody>
          <a:bodyPr/>
          <a:lstStyle/>
          <a:p>
            <a:pPr eaLnBrk="1" hangingPunct="1"/>
            <a:r>
              <a:rPr lang="en-US" altLang="en-US" sz="2200" dirty="0">
                <a:latin typeface="Arial (Body)"/>
                <a:ea typeface="ヒラギノ角ゴ Pro W3" pitchFamily="-84" charset="-128"/>
              </a:rPr>
              <a:t>What happens if the central bank runs out of official international reserve assets (foreign assets)?</a:t>
            </a:r>
          </a:p>
          <a:p>
            <a:pPr eaLnBrk="1" hangingPunct="1"/>
            <a:r>
              <a:rPr lang="en-US" altLang="en-US" sz="2200" dirty="0">
                <a:latin typeface="Arial (Body)"/>
                <a:ea typeface="ヒラギノ角ゴ Pro W3" pitchFamily="-84" charset="-128"/>
              </a:rPr>
              <a:t>It must devalue the domestic currency so that it takes more domestic currency (assets) to exchange for 1 unit of foreign currency (asset).</a:t>
            </a:r>
          </a:p>
          <a:p>
            <a:pPr lvl="1" eaLnBrk="1" hangingPunct="1"/>
            <a:r>
              <a:rPr lang="en-US" altLang="en-US" sz="2200" dirty="0">
                <a:latin typeface="Arial (Body)"/>
                <a:ea typeface="ヒラギノ角ゴ Pro W3" pitchFamily="-84" charset="-128"/>
              </a:rPr>
              <a:t>This will allow the central bank to replenish its foreign assets by buying them back at a devalued rate,</a:t>
            </a:r>
          </a:p>
          <a:p>
            <a:pPr lvl="1" eaLnBrk="1" hangingPunct="1"/>
            <a:r>
              <a:rPr lang="en-US" altLang="en-US" sz="2200" dirty="0">
                <a:latin typeface="Arial (Body)"/>
                <a:ea typeface="ヒラギノ角ゴ Pro W3" pitchFamily="-84" charset="-128"/>
              </a:rPr>
              <a:t>increasing the money supply,</a:t>
            </a:r>
          </a:p>
          <a:p>
            <a:pPr lvl="1" eaLnBrk="1" hangingPunct="1"/>
            <a:r>
              <a:rPr lang="en-US" altLang="en-US" sz="2200" dirty="0">
                <a:latin typeface="Arial (Body)"/>
                <a:ea typeface="ヒラギノ角ゴ Pro W3" pitchFamily="-84" charset="-128"/>
              </a:rPr>
              <a:t>reducing interest rates,</a:t>
            </a:r>
          </a:p>
          <a:p>
            <a:pPr lvl="1" eaLnBrk="1" hangingPunct="1"/>
            <a:r>
              <a:rPr lang="en-US" altLang="en-US" sz="2200" dirty="0">
                <a:latin typeface="Arial (Body)"/>
                <a:ea typeface="ヒラギノ角ゴ Pro W3" pitchFamily="-84" charset="-128"/>
              </a:rPr>
              <a:t>reducing the value of domestic products,</a:t>
            </a:r>
          </a:p>
          <a:p>
            <a:pPr lvl="1" eaLnBrk="1" hangingPunct="1"/>
            <a:r>
              <a:rPr lang="en-US" altLang="en-US" sz="2200" dirty="0">
                <a:latin typeface="Arial (Body)"/>
                <a:ea typeface="ヒラギノ角ゴ Pro W3" pitchFamily="-84" charset="-128"/>
              </a:rPr>
              <a:t>increasing aggregate demand, output, and employment over time.</a:t>
            </a:r>
          </a:p>
        </p:txBody>
      </p:sp>
    </p:spTree>
    <p:extLst>
      <p:ext uri="{BB962C8B-B14F-4D97-AF65-F5344CB8AC3E}">
        <p14:creationId xmlns:p14="http://schemas.microsoft.com/office/powerpoint/2010/main" val="12498321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5EF8E-AF16-4D1C-B160-6C6AB6AE4B44}"/>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Financial Crises and Capital Flight </a:t>
            </a:r>
            <a:r>
              <a:rPr lang="en-US" altLang="en-US" sz="2000" b="0" dirty="0">
                <a:ea typeface="ヒラギノ角ゴ Pro W3" pitchFamily="-84" charset="-128"/>
                <a:cs typeface="Times New Roman" panose="02020603050405020304" pitchFamily="18" charset="0"/>
              </a:rPr>
              <a:t>(6 of 6)</a:t>
            </a:r>
            <a:endParaRPr lang="en-IN" sz="20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D12267C6-7E67-43B8-B4BB-C4A6D5F43519}"/>
              </a:ext>
            </a:extLst>
          </p:cNvPr>
          <p:cNvSpPr>
            <a:spLocks noGrp="1"/>
          </p:cNvSpPr>
          <p:nvPr>
            <p:ph sz="quarter" idx="13"/>
          </p:nvPr>
        </p:nvSpPr>
        <p:spPr>
          <a:xfrm>
            <a:off x="457200" y="1556327"/>
            <a:ext cx="8229600" cy="3510973"/>
          </a:xfrm>
        </p:spPr>
        <p:txBody>
          <a:bodyPr/>
          <a:lstStyle/>
          <a:p>
            <a:pPr eaLnBrk="1" hangingPunct="1"/>
            <a:r>
              <a:rPr lang="en-US" altLang="en-US" dirty="0">
                <a:latin typeface="Arial (Body)"/>
                <a:ea typeface="ヒラギノ角ゴ Pro W3" pitchFamily="-84" charset="-128"/>
              </a:rPr>
              <a:t>In a balance of payments crisis,</a:t>
            </a:r>
          </a:p>
          <a:p>
            <a:pPr lvl="1" eaLnBrk="1" hangingPunct="1"/>
            <a:r>
              <a:rPr lang="en-US" altLang="en-US" dirty="0">
                <a:latin typeface="Arial (Body)"/>
                <a:ea typeface="ヒラギノ角ゴ Pro W3" pitchFamily="-84" charset="-128"/>
              </a:rPr>
              <a:t>the central bank may buy domestic bonds and sell domestic currency (to increase the money supply) to prevent high interest rates, but this only depreciates the domestic currency more.</a:t>
            </a:r>
          </a:p>
          <a:p>
            <a:pPr lvl="1" eaLnBrk="1" hangingPunct="1"/>
            <a:r>
              <a:rPr lang="en-US" altLang="en-US" dirty="0">
                <a:latin typeface="Arial (Body)"/>
                <a:ea typeface="ヒラギノ角ゴ Pro W3" pitchFamily="-84" charset="-128"/>
              </a:rPr>
              <a:t>the central bank generally cannot satisfy the goals of low domestic interest rates (relative to foreign interest rates) and fixed exchange rates simultaneously.</a:t>
            </a:r>
          </a:p>
        </p:txBody>
      </p:sp>
    </p:spTree>
    <p:extLst>
      <p:ext uri="{BB962C8B-B14F-4D97-AF65-F5344CB8AC3E}">
        <p14:creationId xmlns:p14="http://schemas.microsoft.com/office/powerpoint/2010/main" val="1080169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4AB44-5D17-4C29-B2E5-3EB6243AB535}"/>
              </a:ext>
            </a:extLst>
          </p:cNvPr>
          <p:cNvSpPr>
            <a:spLocks noGrp="1"/>
          </p:cNvSpPr>
          <p:nvPr>
            <p:ph type="title"/>
          </p:nvPr>
        </p:nvSpPr>
        <p:spPr>
          <a:xfrm>
            <a:off x="457200" y="101601"/>
            <a:ext cx="8118764" cy="1211050"/>
          </a:xfrm>
        </p:spPr>
        <p:txBody>
          <a:bodyPr anchor="ctr"/>
          <a:lstStyle/>
          <a:p>
            <a:r>
              <a:rPr lang="en-US" altLang="en-US" sz="2400">
                <a:ea typeface="ヒラギノ角ゴ Pro W3" pitchFamily="-84" charset="-128"/>
                <a:cs typeface="Times New Roman" panose="02020603050405020304" pitchFamily="18" charset="0"/>
              </a:rPr>
              <a:t>Figure 18.6 The Swiss Franc’</a:t>
            </a:r>
            <a:r>
              <a:rPr lang="en-US" altLang="ja-JP" sz="2400">
                <a:ea typeface="ヒラギノ角ゴ Pro W3" pitchFamily="-84" charset="-128"/>
                <a:cs typeface="Times New Roman" panose="02020603050405020304" pitchFamily="18" charset="0"/>
              </a:rPr>
              <a:t>s Exchange Rate against the Euro and Swiss Foreign Exchange Reserves, 2006–2016</a:t>
            </a:r>
            <a:endParaRPr lang="en-US" sz="2400">
              <a:cs typeface="Times New Roman" panose="02020603050405020304" pitchFamily="18" charset="0"/>
            </a:endParaRPr>
          </a:p>
        </p:txBody>
      </p:sp>
      <p:pic>
        <p:nvPicPr>
          <p:cNvPr id="8" name="Content Placeholder 7" descr="A double line graph shows Swiss francs to the euro and billions of Swiss francs versus quarter each year, with January and July marked, from 2006 to 2016. For long description in Notes pane, press F6.">
            <a:extLst>
              <a:ext uri="{FF2B5EF4-FFF2-40B4-BE49-F238E27FC236}">
                <a16:creationId xmlns:a16="http://schemas.microsoft.com/office/drawing/2014/main" id="{71F45682-387B-4586-BBDA-B55BC45C34E5}"/>
              </a:ext>
            </a:extLst>
          </p:cNvPr>
          <p:cNvPicPr>
            <a:picLocks noGrp="1" noChangeAspect="1"/>
          </p:cNvPicPr>
          <p:nvPr>
            <p:ph sz="quarter" idx="13"/>
          </p:nvPr>
        </p:nvPicPr>
        <p:blipFill>
          <a:blip r:embed="rId3"/>
          <a:stretch>
            <a:fillRect/>
          </a:stretch>
        </p:blipFill>
        <p:spPr>
          <a:xfrm>
            <a:off x="2462543" y="1555566"/>
            <a:ext cx="4180815" cy="3476183"/>
          </a:xfrm>
        </p:spPr>
      </p:pic>
      <p:sp>
        <p:nvSpPr>
          <p:cNvPr id="4" name="Content Placeholder 3">
            <a:extLst>
              <a:ext uri="{FF2B5EF4-FFF2-40B4-BE49-F238E27FC236}">
                <a16:creationId xmlns:a16="http://schemas.microsoft.com/office/drawing/2014/main" id="{BE80A884-5FCD-4AC4-945F-13F6E76CDC0E}"/>
              </a:ext>
            </a:extLst>
          </p:cNvPr>
          <p:cNvSpPr>
            <a:spLocks noGrp="1"/>
          </p:cNvSpPr>
          <p:nvPr>
            <p:ph sz="quarter" idx="14"/>
          </p:nvPr>
        </p:nvSpPr>
        <p:spPr>
          <a:xfrm>
            <a:off x="457200" y="5182194"/>
            <a:ext cx="8229600" cy="1190897"/>
          </a:xfrm>
        </p:spPr>
        <p:txBody>
          <a:bodyPr/>
          <a:lstStyle/>
          <a:p>
            <a:pPr marL="432" indent="0">
              <a:spcBef>
                <a:spcPts val="600"/>
              </a:spcBef>
              <a:buNone/>
            </a:pPr>
            <a:r>
              <a:rPr lang="en-US" sz="1600"/>
              <a:t>The Swiss National Bank intervened heavily to slow the Swiss franc’s appreciation against the euro, setting a floor under the price of the euro in September 2011 and abandoning that floor in January 2015.</a:t>
            </a:r>
          </a:p>
          <a:p>
            <a:pPr marL="432" indent="0">
              <a:spcBef>
                <a:spcPts val="600"/>
              </a:spcBef>
              <a:buNone/>
            </a:pPr>
            <a:r>
              <a:rPr lang="en-US" sz="1600" b="1" i="0" u="none" strike="noStrike" baseline="0"/>
              <a:t>Source: </a:t>
            </a:r>
            <a:r>
              <a:rPr lang="en-US" sz="1600" b="0" i="0" u="none" strike="noStrike" baseline="0"/>
              <a:t>Swiss National Bank.</a:t>
            </a:r>
            <a:endParaRPr lang="en-US" sz="1600"/>
          </a:p>
        </p:txBody>
      </p:sp>
    </p:spTree>
    <p:extLst>
      <p:ext uri="{BB962C8B-B14F-4D97-AF65-F5344CB8AC3E}">
        <p14:creationId xmlns:p14="http://schemas.microsoft.com/office/powerpoint/2010/main" val="30462761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Interest Rate Differentials </a:t>
            </a:r>
            <a:r>
              <a:rPr lang="en-US" altLang="en-US" sz="2000" b="0" dirty="0">
                <a:latin typeface="+mj-lt"/>
                <a:ea typeface="ヒラギノ角ゴ Pro W3" pitchFamily="-84" charset="-128"/>
                <a:cs typeface="Times New Roman" panose="02020603050405020304" pitchFamily="18" charset="0"/>
              </a:rPr>
              <a:t>(1 of 3)</a:t>
            </a:r>
            <a:endParaRPr lang="en-US" sz="2000" dirty="0">
              <a:latin typeface="+mj-lt"/>
              <a:cs typeface="Times New Roman" panose="02020603050405020304" pitchFamily="18" charset="0"/>
            </a:endParaRPr>
          </a:p>
        </p:txBody>
      </p:sp>
      <p:sp>
        <p:nvSpPr>
          <p:cNvPr id="7" name="Content Placeholder 6"/>
          <p:cNvSpPr>
            <a:spLocks noGrp="1"/>
          </p:cNvSpPr>
          <p:nvPr>
            <p:ph idx="1"/>
          </p:nvPr>
        </p:nvSpPr>
        <p:spPr>
          <a:xfrm>
            <a:off x="457200" y="1552577"/>
            <a:ext cx="8086725" cy="484041"/>
          </a:xfrm>
        </p:spPr>
        <p:txBody>
          <a:bodyPr/>
          <a:lstStyle/>
          <a:p>
            <a:pPr indent="-255600"/>
            <a:r>
              <a:rPr lang="en-US" altLang="en-US" sz="2200" dirty="0">
                <a:latin typeface="Arial (Body)"/>
                <a:ea typeface="ヒラギノ角ゴ Pro W3" pitchFamily="-84" charset="-128"/>
              </a:rPr>
              <a:t>For many countries, the expected rates of return are not</a:t>
            </a:r>
            <a:endParaRPr lang="en-US" sz="2200" dirty="0"/>
          </a:p>
        </p:txBody>
      </p:sp>
      <p:sp>
        <p:nvSpPr>
          <p:cNvPr id="8" name="Content Placeholder 7"/>
          <p:cNvSpPr>
            <a:spLocks noGrp="1"/>
          </p:cNvSpPr>
          <p:nvPr>
            <p:ph idx="13"/>
          </p:nvPr>
        </p:nvSpPr>
        <p:spPr>
          <a:xfrm>
            <a:off x="457200" y="2279214"/>
            <a:ext cx="1620982" cy="425885"/>
          </a:xfrm>
        </p:spPr>
        <p:txBody>
          <a:bodyPr lIns="0" tIns="0" rIns="0" bIns="0"/>
          <a:lstStyle/>
          <a:p>
            <a:pPr marL="255600" indent="0">
              <a:buNone/>
            </a:pPr>
            <a:r>
              <a:rPr lang="en-US" altLang="en-US" sz="2200" dirty="0">
                <a:latin typeface="Arial (Body)"/>
                <a:ea typeface="ヒラギノ角ゴ Pro W3" pitchFamily="-84" charset="-128"/>
              </a:rPr>
              <a:t>the same:</a:t>
            </a:r>
            <a:endParaRPr lang="en-US" sz="2200" dirty="0"/>
          </a:p>
        </p:txBody>
      </p:sp>
      <p:graphicFrame>
        <p:nvGraphicFramePr>
          <p:cNvPr id="13" name="Object 12" descr="R is greater than R asterisk + start fraction left parenthesis E to the lower e power minus E right parenthesis over E end fraction."/>
          <p:cNvGraphicFramePr>
            <a:graphicFrameLocks noChangeAspect="1"/>
          </p:cNvGraphicFramePr>
          <p:nvPr>
            <p:extLst>
              <p:ext uri="{D42A27DB-BD31-4B8C-83A1-F6EECF244321}">
                <p14:modId xmlns:p14="http://schemas.microsoft.com/office/powerpoint/2010/main" val="1689145116"/>
              </p:ext>
            </p:extLst>
          </p:nvPr>
        </p:nvGraphicFramePr>
        <p:xfrm>
          <a:off x="2139737" y="2065632"/>
          <a:ext cx="1906315" cy="727476"/>
        </p:xfrm>
        <a:graphic>
          <a:graphicData uri="http://schemas.openxmlformats.org/presentationml/2006/ole">
            <mc:AlternateContent xmlns:mc="http://schemas.openxmlformats.org/markup-compatibility/2006">
              <mc:Choice xmlns:v="urn:schemas-microsoft-com:vml" Requires="v">
                <p:oleObj spid="_x0000_s12348" name="Equation" r:id="rId3" imgW="1231560" imgH="469800" progId="Equation.DSMT4">
                  <p:embed/>
                </p:oleObj>
              </mc:Choice>
              <mc:Fallback>
                <p:oleObj name="Equation" r:id="rId3" imgW="1231560" imgH="469800" progId="Equation.DSMT4">
                  <p:embed/>
                  <p:pic>
                    <p:nvPicPr>
                      <p:cNvPr id="13" name="Object 12"/>
                      <p:cNvPicPr/>
                      <p:nvPr/>
                    </p:nvPicPr>
                    <p:blipFill>
                      <a:blip r:embed="rId4"/>
                      <a:stretch>
                        <a:fillRect/>
                      </a:stretch>
                    </p:blipFill>
                    <p:spPr>
                      <a:xfrm>
                        <a:off x="2139737" y="2065632"/>
                        <a:ext cx="1906315" cy="727476"/>
                      </a:xfrm>
                      <a:prstGeom prst="rect">
                        <a:avLst/>
                      </a:prstGeom>
                    </p:spPr>
                  </p:pic>
                </p:oleObj>
              </mc:Fallback>
            </mc:AlternateContent>
          </a:graphicData>
        </a:graphic>
      </p:graphicFrame>
      <p:sp>
        <p:nvSpPr>
          <p:cNvPr id="9" name="Content Placeholder 8"/>
          <p:cNvSpPr>
            <a:spLocks noGrp="1"/>
          </p:cNvSpPr>
          <p:nvPr>
            <p:ph idx="14"/>
          </p:nvPr>
        </p:nvSpPr>
        <p:spPr>
          <a:xfrm>
            <a:off x="4163376" y="2304792"/>
            <a:ext cx="835515" cy="389171"/>
          </a:xfrm>
        </p:spPr>
        <p:txBody>
          <a:bodyPr lIns="0" tIns="0" rIns="0" bIns="0"/>
          <a:lstStyle/>
          <a:p>
            <a:pPr marL="0" indent="0">
              <a:buNone/>
            </a:pPr>
            <a:r>
              <a:rPr lang="en-US" altLang="en-US" sz="2200" dirty="0">
                <a:latin typeface="Arial (Body)"/>
                <a:ea typeface="ヒラギノ角ゴ Pro W3" pitchFamily="-84" charset="-128"/>
              </a:rPr>
              <a:t>Why?</a:t>
            </a:r>
            <a:endParaRPr lang="en-US" sz="2200" dirty="0"/>
          </a:p>
        </p:txBody>
      </p:sp>
      <p:sp>
        <p:nvSpPr>
          <p:cNvPr id="10" name="Content Placeholder 9"/>
          <p:cNvSpPr>
            <a:spLocks noGrp="1"/>
          </p:cNvSpPr>
          <p:nvPr>
            <p:ph idx="15"/>
          </p:nvPr>
        </p:nvSpPr>
        <p:spPr>
          <a:xfrm>
            <a:off x="457200" y="3062811"/>
            <a:ext cx="8229600" cy="3074753"/>
          </a:xfrm>
        </p:spPr>
        <p:txBody>
          <a:bodyPr/>
          <a:lstStyle/>
          <a:p>
            <a:pPr indent="-255600"/>
            <a:r>
              <a:rPr lang="en-US" altLang="en-US" sz="2200" b="1" dirty="0">
                <a:latin typeface="Arial (Body)"/>
                <a:ea typeface="ヒラギノ角ゴ Pro W3" pitchFamily="-84" charset="-128"/>
              </a:rPr>
              <a:t>Default risk</a:t>
            </a:r>
            <a:r>
              <a:rPr lang="en-US" altLang="en-US" sz="2200" dirty="0">
                <a:latin typeface="Arial (Body)"/>
                <a:ea typeface="ヒラギノ角ゴ Pro W3" pitchFamily="-84" charset="-128"/>
              </a:rPr>
              <a:t>:</a:t>
            </a:r>
            <a:br>
              <a:rPr lang="en-US" altLang="en-US" sz="2200" dirty="0">
                <a:latin typeface="Arial (Body)"/>
                <a:ea typeface="ヒラギノ角ゴ Pro W3" pitchFamily="-84" charset="-128"/>
              </a:rPr>
            </a:br>
            <a:r>
              <a:rPr lang="en-US" altLang="en-US" sz="2200" dirty="0">
                <a:latin typeface="Arial (Body)"/>
                <a:ea typeface="ヒラギノ角ゴ Pro W3" pitchFamily="-84" charset="-128"/>
              </a:rPr>
              <a:t>The risk that the country</a:t>
            </a:r>
            <a:r>
              <a:rPr lang="en-US" altLang="ja-JP" sz="2200" dirty="0">
                <a:latin typeface="Arial (Body)"/>
                <a:ea typeface="ヒラギノ角ゴ Pro W3" pitchFamily="-84" charset="-128"/>
              </a:rPr>
              <a:t>’s borrowers will default on their loan repayments. Lenders therefore require a higher interest rate to compensate for this risk.</a:t>
            </a:r>
          </a:p>
          <a:p>
            <a:pPr indent="-255600"/>
            <a:r>
              <a:rPr lang="en-US" altLang="en-US" sz="2200" b="1" dirty="0">
                <a:latin typeface="Arial (Body)"/>
                <a:ea typeface="ヒラギノ角ゴ Pro W3" pitchFamily="-84" charset="-128"/>
              </a:rPr>
              <a:t>Exchange rate risk</a:t>
            </a:r>
            <a:r>
              <a:rPr lang="en-US" altLang="en-US" sz="2200" dirty="0">
                <a:latin typeface="Arial (Body)"/>
                <a:ea typeface="ヒラギノ角ゴ Pro W3" pitchFamily="-84" charset="-128"/>
              </a:rPr>
              <a:t>:</a:t>
            </a:r>
            <a:br>
              <a:rPr lang="en-US" altLang="en-US" sz="2200" dirty="0">
                <a:latin typeface="Arial (Body)"/>
                <a:ea typeface="ヒラギノ角ゴ Pro W3" pitchFamily="-84" charset="-128"/>
              </a:rPr>
            </a:br>
            <a:r>
              <a:rPr lang="en-US" altLang="en-US" sz="2200" dirty="0">
                <a:latin typeface="Arial (Body)"/>
                <a:ea typeface="ヒラギノ角ゴ Pro W3" pitchFamily="-84" charset="-128"/>
              </a:rPr>
              <a:t>If there is a risk that a country</a:t>
            </a:r>
            <a:r>
              <a:rPr lang="en-US" altLang="ja-JP" sz="2200" dirty="0">
                <a:latin typeface="Arial (Body)"/>
                <a:ea typeface="ヒラギノ角ゴ Pro W3" pitchFamily="-84" charset="-128"/>
              </a:rPr>
              <a:t>’s currency will depreciate or be devalued, then domestic borrowers must pay a higher interest rate to compensate foreign lenders.</a:t>
            </a:r>
            <a:endParaRPr lang="en-US" sz="2200" dirty="0"/>
          </a:p>
        </p:txBody>
      </p:sp>
    </p:spTree>
    <p:extLst>
      <p:ext uri="{BB962C8B-B14F-4D97-AF65-F5344CB8AC3E}">
        <p14:creationId xmlns:p14="http://schemas.microsoft.com/office/powerpoint/2010/main" val="8904968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D0CCF-19CA-4DEF-B899-B986BB9AB0B0}"/>
              </a:ext>
            </a:extLst>
          </p:cNvPr>
          <p:cNvSpPr>
            <a:spLocks noGrp="1"/>
          </p:cNvSpPr>
          <p:nvPr>
            <p:ph type="title"/>
          </p:nvPr>
        </p:nvSpPr>
        <p:spPr/>
        <p:txBody>
          <a:bodyPr/>
          <a:lstStyle/>
          <a:p>
            <a:r>
              <a:rPr lang="en-US" altLang="en-US" dirty="0">
                <a:ea typeface="ヒラギノ角ゴ Pro W3" pitchFamily="-84" charset="-128"/>
              </a:rPr>
              <a:t>Interest Rate Differentials </a:t>
            </a:r>
            <a:r>
              <a:rPr lang="en-US" altLang="en-US" sz="2000" b="0" dirty="0">
                <a:ea typeface="ヒラギノ角ゴ Pro W3" pitchFamily="-84" charset="-128"/>
              </a:rPr>
              <a:t>(2 of 3)</a:t>
            </a:r>
            <a:endParaRPr lang="en-IN" sz="2000" dirty="0"/>
          </a:p>
        </p:txBody>
      </p:sp>
      <p:sp>
        <p:nvSpPr>
          <p:cNvPr id="3" name="Content Placeholder 2">
            <a:extLst>
              <a:ext uri="{FF2B5EF4-FFF2-40B4-BE49-F238E27FC236}">
                <a16:creationId xmlns:a16="http://schemas.microsoft.com/office/drawing/2014/main" id="{5912C825-8329-47CF-BB19-50E0B95F9163}"/>
              </a:ext>
            </a:extLst>
          </p:cNvPr>
          <p:cNvSpPr>
            <a:spLocks noGrp="1"/>
          </p:cNvSpPr>
          <p:nvPr>
            <p:ph sz="quarter" idx="13"/>
          </p:nvPr>
        </p:nvSpPr>
        <p:spPr/>
        <p:txBody>
          <a:bodyPr/>
          <a:lstStyle/>
          <a:p>
            <a:pPr eaLnBrk="1" hangingPunct="1"/>
            <a:r>
              <a:rPr lang="en-US" altLang="en-US" sz="2200" dirty="0">
                <a:latin typeface="Arial (Body)"/>
                <a:ea typeface="ヒラギノ角ゴ Pro W3" pitchFamily="-84" charset="-128"/>
              </a:rPr>
              <a:t>Because of these risks, domestic assets and foreign assets are not treated the same.</a:t>
            </a:r>
          </a:p>
          <a:p>
            <a:pPr lvl="1" eaLnBrk="1" hangingPunct="1"/>
            <a:r>
              <a:rPr lang="en-US" altLang="en-US" sz="2200" dirty="0">
                <a:latin typeface="Arial (Body)"/>
                <a:ea typeface="ヒラギノ角ゴ Pro W3" pitchFamily="-84" charset="-128"/>
              </a:rPr>
              <a:t>Previously, we assumed that foreign and domestic currency deposits were </a:t>
            </a:r>
            <a:r>
              <a:rPr lang="en-US" altLang="en-US" sz="2200" b="1" dirty="0">
                <a:latin typeface="Arial (Body)"/>
                <a:ea typeface="ヒラギノ角ゴ Pro W3" pitchFamily="-84" charset="-128"/>
              </a:rPr>
              <a:t>perfect substitutes</a:t>
            </a:r>
            <a:r>
              <a:rPr lang="en-US" altLang="en-US" sz="2200" dirty="0">
                <a:latin typeface="Arial (Body)"/>
                <a:ea typeface="ヒラギノ角ゴ Pro W3" pitchFamily="-84" charset="-128"/>
              </a:rPr>
              <a:t>: deposits everywhere were </a:t>
            </a:r>
            <a:r>
              <a:rPr lang="en-US" altLang="en-US" sz="2200" b="1" dirty="0">
                <a:latin typeface="Arial (Body)"/>
                <a:ea typeface="ヒラギノ角ゴ Pro W3" pitchFamily="-84" charset="-128"/>
              </a:rPr>
              <a:t>treated as the same</a:t>
            </a:r>
            <a:r>
              <a:rPr lang="en-US" altLang="en-US" sz="2200" dirty="0">
                <a:latin typeface="Arial (Body)"/>
                <a:ea typeface="ヒラギノ角ゴ Pro W3" pitchFamily="-84" charset="-128"/>
              </a:rPr>
              <a:t> type of investment, because risk and liquidity of the assets were assumed to be the same.</a:t>
            </a:r>
          </a:p>
          <a:p>
            <a:pPr lvl="1" eaLnBrk="1" hangingPunct="1"/>
            <a:r>
              <a:rPr lang="en-US" altLang="en-US" sz="2200" dirty="0">
                <a:latin typeface="Arial (Body)"/>
                <a:ea typeface="ヒラギノ角ゴ Pro W3" pitchFamily="-84" charset="-128"/>
              </a:rPr>
              <a:t>In general, foreign and domestic assets may </a:t>
            </a:r>
            <a:r>
              <a:rPr lang="en-US" altLang="en-US" sz="2200" b="1" dirty="0">
                <a:latin typeface="Arial (Body)"/>
                <a:ea typeface="ヒラギノ角ゴ Pro W3" pitchFamily="-84" charset="-128"/>
              </a:rPr>
              <a:t>differ</a:t>
            </a:r>
            <a:r>
              <a:rPr lang="en-US" altLang="en-US" sz="2200" dirty="0">
                <a:latin typeface="Arial (Body)"/>
                <a:ea typeface="ヒラギノ角ゴ Pro W3" pitchFamily="-84" charset="-128"/>
              </a:rPr>
              <a:t> in the amount of risk that they carry: they may be </a:t>
            </a:r>
            <a:r>
              <a:rPr lang="en-US" altLang="en-US" sz="2200" b="1" dirty="0">
                <a:latin typeface="Arial (Body)"/>
                <a:ea typeface="ヒラギノ角ゴ Pro W3" pitchFamily="-84" charset="-128"/>
              </a:rPr>
              <a:t>imperfect substitutes</a:t>
            </a:r>
            <a:r>
              <a:rPr lang="en-US" altLang="en-US" sz="2200" dirty="0">
                <a:latin typeface="Arial (Body)"/>
                <a:ea typeface="ヒラギノ角ゴ Pro W3" pitchFamily="-84" charset="-128"/>
              </a:rPr>
              <a:t>.</a:t>
            </a:r>
          </a:p>
          <a:p>
            <a:pPr lvl="1" eaLnBrk="1" hangingPunct="1"/>
            <a:r>
              <a:rPr lang="en-US" altLang="en-US" sz="2200" dirty="0">
                <a:latin typeface="Arial (Body)"/>
                <a:ea typeface="ヒラギノ角ゴ Pro W3" pitchFamily="-84" charset="-128"/>
              </a:rPr>
              <a:t>Investors consider these risks, as well as rates of return on the assets, when deciding whether to invest.</a:t>
            </a:r>
          </a:p>
        </p:txBody>
      </p:sp>
    </p:spTree>
    <p:extLst>
      <p:ext uri="{BB962C8B-B14F-4D97-AF65-F5344CB8AC3E}">
        <p14:creationId xmlns:p14="http://schemas.microsoft.com/office/powerpoint/2010/main" val="3246093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sz="3600" dirty="0">
                <a:latin typeface="+mj-lt"/>
                <a:ea typeface="ヒラギノ角ゴ Pro W3" pitchFamily="-84" charset="-128"/>
                <a:cs typeface="Times New Roman" panose="02020603050405020304" pitchFamily="18" charset="0"/>
              </a:rPr>
              <a:t>Interest Rate Differentials </a:t>
            </a:r>
            <a:r>
              <a:rPr lang="en-US" altLang="en-US" sz="2000" b="0" dirty="0">
                <a:latin typeface="+mj-lt"/>
                <a:ea typeface="ヒラギノ角ゴ Pro W3" pitchFamily="-84" charset="-128"/>
                <a:cs typeface="Times New Roman" panose="02020603050405020304" pitchFamily="18" charset="0"/>
              </a:rPr>
              <a:t>(3 of 3)</a:t>
            </a:r>
            <a:endParaRPr lang="en-US" sz="2000" dirty="0">
              <a:latin typeface="+mj-lt"/>
              <a:cs typeface="Times New Roman" panose="02020603050405020304" pitchFamily="18" charset="0"/>
            </a:endParaRPr>
          </a:p>
        </p:txBody>
      </p:sp>
      <p:sp>
        <p:nvSpPr>
          <p:cNvPr id="5" name="Content Placeholder 4"/>
          <p:cNvSpPr>
            <a:spLocks noGrp="1"/>
          </p:cNvSpPr>
          <p:nvPr>
            <p:ph idx="1"/>
          </p:nvPr>
        </p:nvSpPr>
        <p:spPr>
          <a:xfrm>
            <a:off x="457200" y="1542327"/>
            <a:ext cx="8229600" cy="1241066"/>
          </a:xfrm>
        </p:spPr>
        <p:txBody>
          <a:bodyPr/>
          <a:lstStyle/>
          <a:p>
            <a:pPr indent="-255600">
              <a:spcBef>
                <a:spcPct val="50000"/>
              </a:spcBef>
            </a:pPr>
            <a:r>
              <a:rPr lang="en-US" altLang="en-US" sz="2400" dirty="0">
                <a:latin typeface="Arial (Body)"/>
                <a:ea typeface="ヒラギノ角ゴ Pro W3" pitchFamily="-84" charset="-128"/>
              </a:rPr>
              <a:t>A difference in the risk of domestic and foreign assets is one reason why expected rates of return are not equal across countries:</a:t>
            </a:r>
          </a:p>
        </p:txBody>
      </p:sp>
      <p:graphicFrame>
        <p:nvGraphicFramePr>
          <p:cNvPr id="11" name="Object 10" descr="R = R asterisk + start fraction left parenthesis E to the lower e power minus E right parenthesis over E end fraction + rho."/>
          <p:cNvGraphicFramePr>
            <a:graphicFrameLocks noChangeAspect="1"/>
          </p:cNvGraphicFramePr>
          <p:nvPr>
            <p:extLst>
              <p:ext uri="{D42A27DB-BD31-4B8C-83A1-F6EECF244321}">
                <p14:modId xmlns:p14="http://schemas.microsoft.com/office/powerpoint/2010/main" val="2340128025"/>
              </p:ext>
            </p:extLst>
          </p:nvPr>
        </p:nvGraphicFramePr>
        <p:xfrm>
          <a:off x="3332693" y="2976737"/>
          <a:ext cx="2250649" cy="758565"/>
        </p:xfrm>
        <a:graphic>
          <a:graphicData uri="http://schemas.openxmlformats.org/presentationml/2006/ole">
            <mc:AlternateContent xmlns:mc="http://schemas.openxmlformats.org/markup-compatibility/2006">
              <mc:Choice xmlns:v="urn:schemas-microsoft-com:vml" Requires="v">
                <p:oleObj spid="_x0000_s13426" name="Equation" r:id="rId3" imgW="1396800" imgH="469800" progId="Equation.DSMT4">
                  <p:embed/>
                </p:oleObj>
              </mc:Choice>
              <mc:Fallback>
                <p:oleObj name="Equation" r:id="rId3" imgW="1396800" imgH="469800" progId="Equation.DSMT4">
                  <p:embed/>
                  <p:pic>
                    <p:nvPicPr>
                      <p:cNvPr id="11" name="Object 10"/>
                      <p:cNvPicPr/>
                      <p:nvPr/>
                    </p:nvPicPr>
                    <p:blipFill>
                      <a:blip r:embed="rId4"/>
                      <a:stretch>
                        <a:fillRect/>
                      </a:stretch>
                    </p:blipFill>
                    <p:spPr>
                      <a:xfrm>
                        <a:off x="3332693" y="2976737"/>
                        <a:ext cx="2250649" cy="758565"/>
                      </a:xfrm>
                      <a:prstGeom prst="rect">
                        <a:avLst/>
                      </a:prstGeom>
                    </p:spPr>
                  </p:pic>
                </p:oleObj>
              </mc:Fallback>
            </mc:AlternateContent>
          </a:graphicData>
        </a:graphic>
      </p:graphicFrame>
      <p:sp>
        <p:nvSpPr>
          <p:cNvPr id="6" name="Content Placeholder 5"/>
          <p:cNvSpPr>
            <a:spLocks noGrp="1"/>
          </p:cNvSpPr>
          <p:nvPr>
            <p:ph idx="13"/>
          </p:nvPr>
        </p:nvSpPr>
        <p:spPr>
          <a:xfrm>
            <a:off x="458788" y="4065797"/>
            <a:ext cx="1209238" cy="395367"/>
          </a:xfrm>
        </p:spPr>
        <p:txBody>
          <a:bodyPr lIns="0" tIns="0" rIns="0" bIns="0"/>
          <a:lstStyle/>
          <a:p>
            <a:pPr marL="255600" indent="0">
              <a:buNone/>
            </a:pPr>
            <a:r>
              <a:rPr lang="en-US" altLang="en-US" sz="2400" dirty="0">
                <a:latin typeface="Arial (Body)"/>
                <a:ea typeface="ヒラギノ角ゴ Pro W3" pitchFamily="-84" charset="-128"/>
              </a:rPr>
              <a:t>where</a:t>
            </a:r>
            <a:endParaRPr lang="en-US" sz="2400" dirty="0">
              <a:latin typeface="Arial (Body)"/>
            </a:endParaRPr>
          </a:p>
        </p:txBody>
      </p:sp>
      <p:graphicFrame>
        <p:nvGraphicFramePr>
          <p:cNvPr id="12" name="Object 11" descr="rho"/>
          <p:cNvGraphicFramePr>
            <a:graphicFrameLocks noChangeAspect="1"/>
          </p:cNvGraphicFramePr>
          <p:nvPr>
            <p:extLst>
              <p:ext uri="{D42A27DB-BD31-4B8C-83A1-F6EECF244321}">
                <p14:modId xmlns:p14="http://schemas.microsoft.com/office/powerpoint/2010/main" val="1340962005"/>
              </p:ext>
            </p:extLst>
          </p:nvPr>
        </p:nvGraphicFramePr>
        <p:xfrm>
          <a:off x="1791686" y="4125240"/>
          <a:ext cx="280947" cy="304360"/>
        </p:xfrm>
        <a:graphic>
          <a:graphicData uri="http://schemas.openxmlformats.org/presentationml/2006/ole">
            <mc:AlternateContent xmlns:mc="http://schemas.openxmlformats.org/markup-compatibility/2006">
              <mc:Choice xmlns:v="urn:schemas-microsoft-com:vml" Requires="v">
                <p:oleObj spid="_x0000_s13427" name="Equation" r:id="rId5" imgW="152280" imgH="164880" progId="Equation.DSMT4">
                  <p:embed/>
                </p:oleObj>
              </mc:Choice>
              <mc:Fallback>
                <p:oleObj name="Equation" r:id="rId5" imgW="152280" imgH="164880" progId="Equation.DSMT4">
                  <p:embed/>
                  <p:pic>
                    <p:nvPicPr>
                      <p:cNvPr id="12" name="Object 11"/>
                      <p:cNvPicPr/>
                      <p:nvPr/>
                    </p:nvPicPr>
                    <p:blipFill>
                      <a:blip r:embed="rId6"/>
                      <a:stretch>
                        <a:fillRect/>
                      </a:stretch>
                    </p:blipFill>
                    <p:spPr>
                      <a:xfrm>
                        <a:off x="1791686" y="4125240"/>
                        <a:ext cx="280947" cy="304360"/>
                      </a:xfrm>
                      <a:prstGeom prst="rect">
                        <a:avLst/>
                      </a:prstGeom>
                    </p:spPr>
                  </p:pic>
                </p:oleObj>
              </mc:Fallback>
            </mc:AlternateContent>
          </a:graphicData>
        </a:graphic>
      </p:graphicFrame>
      <p:sp>
        <p:nvSpPr>
          <p:cNvPr id="7" name="Content Placeholder 6"/>
          <p:cNvSpPr>
            <a:spLocks noGrp="1"/>
          </p:cNvSpPr>
          <p:nvPr>
            <p:ph idx="14"/>
          </p:nvPr>
        </p:nvSpPr>
        <p:spPr>
          <a:xfrm>
            <a:off x="2181224" y="4074647"/>
            <a:ext cx="6505575" cy="400372"/>
          </a:xfrm>
        </p:spPr>
        <p:txBody>
          <a:bodyPr lIns="0" tIns="0" rIns="0" bIns="0"/>
          <a:lstStyle/>
          <a:p>
            <a:pPr marL="0" indent="0">
              <a:buNone/>
            </a:pPr>
            <a:r>
              <a:rPr lang="en-US" altLang="en-US" sz="2400" dirty="0">
                <a:latin typeface="Arial (Body)"/>
                <a:ea typeface="ヒラギノ角ゴ Pro W3" pitchFamily="-84" charset="-128"/>
              </a:rPr>
              <a:t>is called a </a:t>
            </a:r>
            <a:r>
              <a:rPr lang="en-US" altLang="en-US" sz="2400" b="1" dirty="0">
                <a:latin typeface="Arial (Body)"/>
                <a:ea typeface="ヒラギノ角ゴ Pro W3" pitchFamily="-84" charset="-128"/>
              </a:rPr>
              <a:t>risk premium</a:t>
            </a:r>
            <a:r>
              <a:rPr lang="en-US" altLang="en-US" sz="2400" dirty="0">
                <a:latin typeface="Arial (Body)"/>
                <a:ea typeface="ヒラギノ角ゴ Pro W3" pitchFamily="-84" charset="-128"/>
              </a:rPr>
              <a:t>, an additional amount</a:t>
            </a:r>
            <a:endParaRPr lang="en-US" sz="2400" dirty="0">
              <a:latin typeface="Arial (Body)"/>
            </a:endParaRPr>
          </a:p>
        </p:txBody>
      </p:sp>
      <p:sp>
        <p:nvSpPr>
          <p:cNvPr id="8" name="Content Placeholder 7"/>
          <p:cNvSpPr>
            <a:spLocks noGrp="1"/>
          </p:cNvSpPr>
          <p:nvPr>
            <p:ph idx="15"/>
          </p:nvPr>
        </p:nvSpPr>
        <p:spPr>
          <a:xfrm>
            <a:off x="457200" y="4526069"/>
            <a:ext cx="8077836" cy="761351"/>
          </a:xfrm>
        </p:spPr>
        <p:txBody>
          <a:bodyPr lIns="0" tIns="0" rIns="0" bIns="0"/>
          <a:lstStyle/>
          <a:p>
            <a:pPr marL="255600" indent="0">
              <a:buNone/>
            </a:pPr>
            <a:r>
              <a:rPr lang="en-US" altLang="en-US" sz="2400" dirty="0">
                <a:latin typeface="Arial (Body)"/>
                <a:ea typeface="ヒラギノ角ゴ Pro W3" pitchFamily="-84" charset="-128"/>
              </a:rPr>
              <a:t>needed to compensate investors for investing in risky domestic assets.</a:t>
            </a:r>
            <a:endParaRPr lang="en-US" sz="2400" dirty="0">
              <a:latin typeface="Arial (Body)"/>
            </a:endParaRPr>
          </a:p>
        </p:txBody>
      </p:sp>
      <p:sp>
        <p:nvSpPr>
          <p:cNvPr id="9" name="Content Placeholder 8"/>
          <p:cNvSpPr>
            <a:spLocks noGrp="1"/>
          </p:cNvSpPr>
          <p:nvPr>
            <p:ph idx="16"/>
          </p:nvPr>
        </p:nvSpPr>
        <p:spPr>
          <a:xfrm>
            <a:off x="457200" y="5347855"/>
            <a:ext cx="8229600" cy="905691"/>
          </a:xfrm>
        </p:spPr>
        <p:txBody>
          <a:bodyPr/>
          <a:lstStyle/>
          <a:p>
            <a:pPr indent="-255600"/>
            <a:r>
              <a:rPr lang="en-US" altLang="en-US" sz="2400" dirty="0">
                <a:latin typeface="Arial (Body)"/>
                <a:ea typeface="ヒラギノ角ゴ Pro W3" pitchFamily="-84" charset="-128"/>
              </a:rPr>
              <a:t>The risk could be caused by default risk or exchange rate risk.</a:t>
            </a:r>
            <a:endParaRPr lang="el-GR" altLang="en-US" sz="2400" dirty="0">
              <a:latin typeface="Arial (Body)"/>
              <a:ea typeface="ヒラギノ角ゴ Pro W3" pitchFamily="-84" charset="-128"/>
            </a:endParaRPr>
          </a:p>
        </p:txBody>
      </p:sp>
    </p:spTree>
    <p:extLst>
      <p:ext uri="{BB962C8B-B14F-4D97-AF65-F5344CB8AC3E}">
        <p14:creationId xmlns:p14="http://schemas.microsoft.com/office/powerpoint/2010/main" val="2999278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0445F-EA72-44B7-8254-66D337F5B35F}"/>
              </a:ext>
            </a:extLst>
          </p:cNvPr>
          <p:cNvSpPr>
            <a:spLocks noGrp="1"/>
          </p:cNvSpPr>
          <p:nvPr>
            <p:ph type="title"/>
          </p:nvPr>
        </p:nvSpPr>
        <p:spPr/>
        <p:txBody>
          <a:bodyPr/>
          <a:lstStyle/>
          <a:p>
            <a:r>
              <a:rPr lang="en-US" altLang="en-US" dirty="0">
                <a:ea typeface="ヒラギノ角ゴ Pro W3" pitchFamily="-84" charset="-128"/>
                <a:cs typeface="Times New Roman" panose="02020603050405020304" pitchFamily="18" charset="0"/>
              </a:rPr>
              <a:t>The Rescue Package: Reducing </a:t>
            </a:r>
            <a:r>
              <a:rPr lang="en-US" sz="1800" dirty="0">
                <a:effectLst/>
                <a:latin typeface="Calibri" panose="020F0502020204030204" pitchFamily="34" charset="0"/>
                <a:ea typeface="Calibri" panose="020F0502020204030204" pitchFamily="34" charset="0"/>
                <a:cs typeface="Times New Roman" panose="02020603050405020304" pitchFamily="18" charset="0"/>
              </a:rPr>
              <a:t>rho</a:t>
            </a:r>
            <a:endParaRPr lang="en-IN" dirty="0">
              <a:cs typeface="Times New Roman" panose="02020603050405020304" pitchFamily="18" charset="0"/>
            </a:endParaRPr>
          </a:p>
        </p:txBody>
      </p:sp>
      <p:graphicFrame>
        <p:nvGraphicFramePr>
          <p:cNvPr id="4" name="Object 3">
            <a:extLst>
              <a:ext uri="{FF2B5EF4-FFF2-40B4-BE49-F238E27FC236}">
                <a16:creationId xmlns:a16="http://schemas.microsoft.com/office/drawing/2014/main" id="{B2D82183-8CED-4C7D-B8EA-8A6AF502D686}"/>
              </a:ext>
              <a:ext uri="{C183D7F6-B498-43B3-948B-1728B52AA6E4}">
                <adec:decorative xmlns:adec="http://schemas.microsoft.com/office/drawing/2017/decorative" val="1"/>
              </a:ext>
            </a:extLst>
          </p:cNvPr>
          <p:cNvGraphicFramePr>
            <a:graphicFrameLocks noChangeAspect="1"/>
          </p:cNvGraphicFramePr>
          <p:nvPr>
            <p:extLst>
              <p:ext uri="{D42A27DB-BD31-4B8C-83A1-F6EECF244321}">
                <p14:modId xmlns:p14="http://schemas.microsoft.com/office/powerpoint/2010/main" val="1072310172"/>
              </p:ext>
            </p:extLst>
          </p:nvPr>
        </p:nvGraphicFramePr>
        <p:xfrm>
          <a:off x="7580856" y="738910"/>
          <a:ext cx="477837" cy="519113"/>
        </p:xfrm>
        <a:graphic>
          <a:graphicData uri="http://schemas.openxmlformats.org/presentationml/2006/ole">
            <mc:AlternateContent xmlns:mc="http://schemas.openxmlformats.org/markup-compatibility/2006">
              <mc:Choice xmlns:v="urn:schemas-microsoft-com:vml" Requires="v">
                <p:oleObj spid="_x0000_s14394" name="Equation" r:id="rId3" imgW="152280" imgH="164880" progId="Equation.DSMT4">
                  <p:embed/>
                </p:oleObj>
              </mc:Choice>
              <mc:Fallback>
                <p:oleObj name="Equation" r:id="rId3" imgW="152280" imgH="164880" progId="Equation.DSMT4">
                  <p:embed/>
                  <p:pic>
                    <p:nvPicPr>
                      <p:cNvPr id="17" name="Object 16">
                        <a:extLst>
                          <a:ext uri="{FF2B5EF4-FFF2-40B4-BE49-F238E27FC236}">
                            <a16:creationId xmlns:a16="http://schemas.microsoft.com/office/drawing/2014/main" id="{A07B703C-C008-479E-B0C9-F4314C43A8E2}"/>
                          </a:ext>
                        </a:extLst>
                      </p:cNvPr>
                      <p:cNvPicPr/>
                      <p:nvPr/>
                    </p:nvPicPr>
                    <p:blipFill>
                      <a:blip r:embed="rId4"/>
                      <a:stretch>
                        <a:fillRect/>
                      </a:stretch>
                    </p:blipFill>
                    <p:spPr>
                      <a:xfrm>
                        <a:off x="7580856" y="738910"/>
                        <a:ext cx="477837" cy="519113"/>
                      </a:xfrm>
                      <a:prstGeom prst="rect">
                        <a:avLst/>
                      </a:prstGeom>
                      <a:solidFill>
                        <a:schemeClr val="lt1"/>
                      </a:solidFill>
                    </p:spPr>
                  </p:pic>
                </p:oleObj>
              </mc:Fallback>
            </mc:AlternateContent>
          </a:graphicData>
        </a:graphic>
      </p:graphicFrame>
      <p:sp>
        <p:nvSpPr>
          <p:cNvPr id="3" name="Content Placeholder 2">
            <a:extLst>
              <a:ext uri="{FF2B5EF4-FFF2-40B4-BE49-F238E27FC236}">
                <a16:creationId xmlns:a16="http://schemas.microsoft.com/office/drawing/2014/main" id="{C871381D-9254-49E3-84E3-5E3AC3051A9F}"/>
              </a:ext>
            </a:extLst>
          </p:cNvPr>
          <p:cNvSpPr>
            <a:spLocks noGrp="1"/>
          </p:cNvSpPr>
          <p:nvPr>
            <p:ph sz="quarter" idx="13"/>
          </p:nvPr>
        </p:nvSpPr>
        <p:spPr>
          <a:xfrm>
            <a:off x="457200" y="1556327"/>
            <a:ext cx="8229600" cy="4763450"/>
          </a:xfrm>
        </p:spPr>
        <p:txBody>
          <a:bodyPr/>
          <a:lstStyle/>
          <a:p>
            <a:pPr eaLnBrk="1" hangingPunct="1"/>
            <a:r>
              <a:rPr lang="en-US" altLang="en-US" sz="2200" dirty="0">
                <a:latin typeface="Arial (Body)"/>
                <a:ea typeface="ヒラギノ角ゴ Pro W3" pitchFamily="-84" charset="-128"/>
              </a:rPr>
              <a:t>The United States and I</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M</a:t>
            </a:r>
            <a:r>
              <a:rPr lang="en-US" altLang="en-US" sz="100" dirty="0">
                <a:latin typeface="Arial (Body)"/>
                <a:ea typeface="ヒラギノ角ゴ Pro W3" pitchFamily="-84" charset="-128"/>
              </a:rPr>
              <a:t> </a:t>
            </a:r>
            <a:r>
              <a:rPr lang="en-US" altLang="en-US" sz="2200" dirty="0">
                <a:latin typeface="Arial (Body)"/>
                <a:ea typeface="ヒラギノ角ゴ Pro W3" pitchFamily="-84" charset="-128"/>
              </a:rPr>
              <a:t>F set up a $50 billion fund to guarantee the value of loans made to Mexico</a:t>
            </a:r>
            <a:r>
              <a:rPr lang="en-US" altLang="ja-JP" sz="2200" dirty="0">
                <a:latin typeface="Arial (Body)"/>
                <a:ea typeface="ヒラギノ角ゴ Pro W3" pitchFamily="-84" charset="-128"/>
              </a:rPr>
              <a:t>’s government,</a:t>
            </a:r>
          </a:p>
          <a:p>
            <a:pPr lvl="1" eaLnBrk="1" hangingPunct="1"/>
            <a:r>
              <a:rPr lang="en-US" altLang="en-US" sz="2200" dirty="0">
                <a:latin typeface="Arial (Body)"/>
                <a:ea typeface="ヒラギノ角ゴ Pro W3" pitchFamily="-84" charset="-128"/>
              </a:rPr>
              <a:t>reducing default risk,</a:t>
            </a:r>
          </a:p>
          <a:p>
            <a:pPr lvl="1" eaLnBrk="1" hangingPunct="1"/>
            <a:r>
              <a:rPr lang="en-US" altLang="en-US" sz="2200" dirty="0">
                <a:latin typeface="Arial (Body)"/>
                <a:ea typeface="ヒラギノ角ゴ Pro W3" pitchFamily="-84" charset="-128"/>
              </a:rPr>
              <a:t>and reducing exchange rate risk, since foreign loans could act as official international reserves to stabilize the exchange rate if necessary.</a:t>
            </a:r>
          </a:p>
          <a:p>
            <a:pPr eaLnBrk="1" hangingPunct="1"/>
            <a:r>
              <a:rPr lang="en-US" altLang="en-US" sz="2200" dirty="0">
                <a:latin typeface="Arial (Body)"/>
                <a:ea typeface="ヒラギノ角ゴ Pro W3" pitchFamily="-84" charset="-128"/>
              </a:rPr>
              <a:t>After a recession in 1995, the economy began to recover.</a:t>
            </a:r>
          </a:p>
          <a:p>
            <a:pPr lvl="1" eaLnBrk="1" hangingPunct="1"/>
            <a:r>
              <a:rPr lang="en-US" altLang="en-US" sz="2200" dirty="0">
                <a:latin typeface="Arial (Body)"/>
                <a:ea typeface="ヒラギノ角ゴ Pro W3" pitchFamily="-84" charset="-128"/>
              </a:rPr>
              <a:t>Mexican goods were relatively inexpensive, allowing production to increase.</a:t>
            </a:r>
          </a:p>
          <a:p>
            <a:pPr lvl="1" eaLnBrk="1" hangingPunct="1"/>
            <a:r>
              <a:rPr lang="en-US" altLang="en-US" sz="2200" dirty="0">
                <a:latin typeface="Arial (Body)"/>
                <a:ea typeface="ヒラギノ角ゴ Pro W3" pitchFamily="-84" charset="-128"/>
              </a:rPr>
              <a:t>Increased demand of Mexican products relative to demand of foreign products stabilized the value of the peso and reduced exchange rate risk.</a:t>
            </a:r>
          </a:p>
        </p:txBody>
      </p:sp>
    </p:spTree>
    <p:extLst>
      <p:ext uri="{BB962C8B-B14F-4D97-AF65-F5344CB8AC3E}">
        <p14:creationId xmlns:p14="http://schemas.microsoft.com/office/powerpoint/2010/main" val="8018827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9ED32-5F73-4B8D-A138-7D5F1950010B}"/>
              </a:ext>
            </a:extLst>
          </p:cNvPr>
          <p:cNvSpPr>
            <a:spLocks noGrp="1"/>
          </p:cNvSpPr>
          <p:nvPr>
            <p:ph type="title"/>
          </p:nvPr>
        </p:nvSpPr>
        <p:spPr>
          <a:xfrm>
            <a:off x="457199" y="188913"/>
            <a:ext cx="8467725" cy="936625"/>
          </a:xfrm>
        </p:spPr>
        <p:txBody>
          <a:bodyPr anchor="ctr"/>
          <a:lstStyle/>
          <a:p>
            <a:r>
              <a:rPr lang="en-US" altLang="en-US" sz="2400" dirty="0">
                <a:ea typeface="ヒラギノ角ゴ Pro W3" pitchFamily="-84" charset="-128"/>
                <a:cs typeface="Times New Roman" panose="02020603050405020304" pitchFamily="18" charset="0"/>
              </a:rPr>
              <a:t>Figure 18.7 Effect of a Sterilized Central Bank Purchase of Foreign Assets Under Imperfect Asset Substitutability</a:t>
            </a:r>
            <a:endParaRPr lang="en-IN" sz="2400" dirty="0">
              <a:cs typeface="Times New Roman" panose="02020603050405020304" pitchFamily="18" charset="0"/>
            </a:endParaRPr>
          </a:p>
        </p:txBody>
      </p:sp>
      <p:pic>
        <p:nvPicPr>
          <p:cNvPr id="8" name="Content Placeholder 7" descr="The graph plots exchange rate, E, above y = 0 and real domestic money holdings below y = 0, versus domestic interest rate, R.  For long description in Notes pane, press F6.">
            <a:extLst>
              <a:ext uri="{FF2B5EF4-FFF2-40B4-BE49-F238E27FC236}">
                <a16:creationId xmlns:a16="http://schemas.microsoft.com/office/drawing/2014/main" id="{420FD85D-8E62-4DCB-B396-71C540A2FF01}"/>
              </a:ext>
            </a:extLst>
          </p:cNvPr>
          <p:cNvPicPr>
            <a:picLocks noGrp="1" noChangeAspect="1"/>
          </p:cNvPicPr>
          <p:nvPr>
            <p:ph sz="quarter" idx="13"/>
          </p:nvPr>
        </p:nvPicPr>
        <p:blipFill>
          <a:blip r:embed="rId4"/>
          <a:stretch>
            <a:fillRect/>
          </a:stretch>
        </p:blipFill>
        <p:spPr>
          <a:xfrm>
            <a:off x="2963646" y="1300382"/>
            <a:ext cx="2833543" cy="3711458"/>
          </a:xfrm>
        </p:spPr>
      </p:pic>
      <p:sp>
        <p:nvSpPr>
          <p:cNvPr id="4" name="Content Placeholder 3">
            <a:extLst>
              <a:ext uri="{FF2B5EF4-FFF2-40B4-BE49-F238E27FC236}">
                <a16:creationId xmlns:a16="http://schemas.microsoft.com/office/drawing/2014/main" id="{7B8F5B2B-BCCA-4FF6-9123-3CD05E16BFFA}"/>
              </a:ext>
            </a:extLst>
          </p:cNvPr>
          <p:cNvSpPr>
            <a:spLocks noGrp="1"/>
          </p:cNvSpPr>
          <p:nvPr>
            <p:ph sz="quarter" idx="14"/>
          </p:nvPr>
        </p:nvSpPr>
        <p:spPr>
          <a:xfrm>
            <a:off x="457200" y="5113842"/>
            <a:ext cx="8274818" cy="782133"/>
          </a:xfrm>
        </p:spPr>
        <p:txBody>
          <a:bodyPr tIns="0" rIns="0" bIns="0"/>
          <a:lstStyle/>
          <a:p>
            <a:pPr marL="432" indent="0">
              <a:buNone/>
            </a:pPr>
            <a:r>
              <a:rPr lang="en-US" sz="1600" dirty="0">
                <a:latin typeface="Arial (Body)"/>
              </a:rPr>
              <a:t>A sterilized purchase of foreign assets leaves the money supply unchanged but raises the risk-adjusted return that domestic currency deposits must offer in equilibrium. As a result, the return curve in the upper panel shifts up and to the right. Other things equal,</a:t>
            </a:r>
            <a:endParaRPr lang="en-IN" sz="1600" dirty="0"/>
          </a:p>
        </p:txBody>
      </p:sp>
      <p:sp>
        <p:nvSpPr>
          <p:cNvPr id="5" name="Content Placeholder 4">
            <a:extLst>
              <a:ext uri="{FF2B5EF4-FFF2-40B4-BE49-F238E27FC236}">
                <a16:creationId xmlns:a16="http://schemas.microsoft.com/office/drawing/2014/main" id="{079CA714-F702-4D9D-869A-CEAF7202793A}"/>
              </a:ext>
            </a:extLst>
          </p:cNvPr>
          <p:cNvSpPr>
            <a:spLocks noGrp="1"/>
          </p:cNvSpPr>
          <p:nvPr>
            <p:ph sz="quarter" idx="15"/>
          </p:nvPr>
        </p:nvSpPr>
        <p:spPr>
          <a:xfrm>
            <a:off x="468313" y="5956916"/>
            <a:ext cx="4127044" cy="295814"/>
          </a:xfrm>
        </p:spPr>
        <p:txBody>
          <a:bodyPr tIns="0" rIns="0" bIns="0"/>
          <a:lstStyle/>
          <a:p>
            <a:pPr marL="432" indent="0">
              <a:buNone/>
            </a:pPr>
            <a:r>
              <a:rPr lang="en-US" sz="1600" dirty="0">
                <a:latin typeface="Arial (Body)"/>
              </a:rPr>
              <a:t>this depreciates the domestic currency from</a:t>
            </a:r>
            <a:endParaRPr lang="en-IN" sz="1600" dirty="0"/>
          </a:p>
        </p:txBody>
      </p:sp>
      <p:graphicFrame>
        <p:nvGraphicFramePr>
          <p:cNvPr id="6" name="Object 5" descr="E super 1 to E super 2.">
            <a:extLst>
              <a:ext uri="{FF2B5EF4-FFF2-40B4-BE49-F238E27FC236}">
                <a16:creationId xmlns:a16="http://schemas.microsoft.com/office/drawing/2014/main" id="{BE75E576-E22E-4C50-88EE-B57BF9A51E47}"/>
              </a:ext>
            </a:extLst>
          </p:cNvPr>
          <p:cNvGraphicFramePr>
            <a:graphicFrameLocks noChangeAspect="1"/>
          </p:cNvGraphicFramePr>
          <p:nvPr>
            <p:extLst>
              <p:ext uri="{D42A27DB-BD31-4B8C-83A1-F6EECF244321}">
                <p14:modId xmlns:p14="http://schemas.microsoft.com/office/powerpoint/2010/main" val="1412201717"/>
              </p:ext>
            </p:extLst>
          </p:nvPr>
        </p:nvGraphicFramePr>
        <p:xfrm>
          <a:off x="4633456" y="5950635"/>
          <a:ext cx="850384" cy="282455"/>
        </p:xfrm>
        <a:graphic>
          <a:graphicData uri="http://schemas.openxmlformats.org/presentationml/2006/ole">
            <mc:AlternateContent xmlns:mc="http://schemas.openxmlformats.org/markup-compatibility/2006">
              <mc:Choice xmlns:v="urn:schemas-microsoft-com:vml" Requires="v">
                <p:oleObj spid="_x0000_s15416" name="Equation" r:id="rId5" imgW="893106" imgH="297426" progId="Equation.DSMT4">
                  <p:embed/>
                </p:oleObj>
              </mc:Choice>
              <mc:Fallback>
                <p:oleObj name="Equation" r:id="rId5" imgW="893106" imgH="297426" progId="Equation.DSMT4">
                  <p:embed/>
                  <p:pic>
                    <p:nvPicPr>
                      <p:cNvPr id="0" name=""/>
                      <p:cNvPicPr/>
                      <p:nvPr/>
                    </p:nvPicPr>
                    <p:blipFill>
                      <a:blip r:embed="rId6"/>
                      <a:stretch>
                        <a:fillRect/>
                      </a:stretch>
                    </p:blipFill>
                    <p:spPr>
                      <a:xfrm>
                        <a:off x="4633456" y="5950635"/>
                        <a:ext cx="850384" cy="282455"/>
                      </a:xfrm>
                      <a:prstGeom prst="rect">
                        <a:avLst/>
                      </a:prstGeom>
                    </p:spPr>
                  </p:pic>
                </p:oleObj>
              </mc:Fallback>
            </mc:AlternateContent>
          </a:graphicData>
        </a:graphic>
      </p:graphicFrame>
    </p:spTree>
    <p:extLst>
      <p:ext uri="{BB962C8B-B14F-4D97-AF65-F5344CB8AC3E}">
        <p14:creationId xmlns:p14="http://schemas.microsoft.com/office/powerpoint/2010/main" val="5040472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6A311-B05E-49C3-8481-B22D76D19751}"/>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Types of Fixed Exchange Rate Systems</a:t>
            </a:r>
            <a:endParaRPr lang="en-IN" sz="3200"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8CB60DF0-C71A-472D-B42D-9D3D410CC725}"/>
              </a:ext>
            </a:extLst>
          </p:cNvPr>
          <p:cNvSpPr>
            <a:spLocks noGrp="1"/>
          </p:cNvSpPr>
          <p:nvPr>
            <p:ph sz="quarter" idx="13"/>
          </p:nvPr>
        </p:nvSpPr>
        <p:spPr>
          <a:xfrm>
            <a:off x="466602" y="1552575"/>
            <a:ext cx="8220197" cy="858115"/>
          </a:xfrm>
        </p:spPr>
        <p:txBody>
          <a:bodyPr/>
          <a:lstStyle/>
          <a:p>
            <a:pPr marL="432000" indent="-432000">
              <a:buFont typeface="+mj-lt"/>
              <a:buAutoNum type="arabicPeriod"/>
            </a:pPr>
            <a:r>
              <a:rPr lang="en-US" altLang="en-US" b="1" dirty="0">
                <a:latin typeface="Arial (Body)"/>
                <a:ea typeface="ヒラギノ角ゴ Pro W3" pitchFamily="-84" charset="-128"/>
              </a:rPr>
              <a:t>Reserve currency system</a:t>
            </a:r>
            <a:r>
              <a:rPr lang="en-US" altLang="en-US" dirty="0">
                <a:latin typeface="Arial (Body)"/>
                <a:ea typeface="ヒラギノ角ゴ Pro W3" pitchFamily="-84" charset="-128"/>
              </a:rPr>
              <a:t>: one currency acts as official international reserves</a:t>
            </a:r>
            <a:endParaRPr lang="en-IN" dirty="0"/>
          </a:p>
        </p:txBody>
      </p:sp>
      <p:sp>
        <p:nvSpPr>
          <p:cNvPr id="4" name="Content Placeholder 3">
            <a:extLst>
              <a:ext uri="{FF2B5EF4-FFF2-40B4-BE49-F238E27FC236}">
                <a16:creationId xmlns:a16="http://schemas.microsoft.com/office/drawing/2014/main" id="{3803552A-AB4C-4F7A-8D61-665557A36168}"/>
              </a:ext>
            </a:extLst>
          </p:cNvPr>
          <p:cNvSpPr>
            <a:spLocks noGrp="1"/>
          </p:cNvSpPr>
          <p:nvPr>
            <p:ph sz="quarter" idx="14"/>
          </p:nvPr>
        </p:nvSpPr>
        <p:spPr>
          <a:xfrm>
            <a:off x="468313" y="2503671"/>
            <a:ext cx="8218486" cy="1818947"/>
          </a:xfrm>
        </p:spPr>
        <p:txBody>
          <a:bodyPr tIns="0" rIns="0" bIns="0"/>
          <a:lstStyle/>
          <a:p>
            <a:pPr marL="740664" lvl="1" indent="-283464" eaLnBrk="1" hangingPunct="1"/>
            <a:r>
              <a:rPr lang="en-US" altLang="en-US" sz="2200" dirty="0">
                <a:latin typeface="Arial (Body)"/>
                <a:ea typeface="ヒラギノ角ゴ Pro W3" pitchFamily="-84" charset="-128"/>
              </a:rPr>
              <a:t>The U.S. dollar was the currency that acted as official international reserves from under the fixed exchange rate system from 1944 to 1973.</a:t>
            </a:r>
          </a:p>
          <a:p>
            <a:pPr marL="740664" lvl="1" indent="-283464" eaLnBrk="1" hangingPunct="1"/>
            <a:r>
              <a:rPr lang="en-US" altLang="en-US" sz="2200" dirty="0">
                <a:latin typeface="Arial (Body)"/>
                <a:ea typeface="ヒラギノ角ゴ Pro W3" pitchFamily="-84" charset="-128"/>
              </a:rPr>
              <a:t>All countries except the United States held U.S. dollars as the means to make official international payments.</a:t>
            </a:r>
            <a:endParaRPr lang="en-IN" sz="2200" dirty="0"/>
          </a:p>
        </p:txBody>
      </p:sp>
      <p:sp>
        <p:nvSpPr>
          <p:cNvPr id="5" name="Content Placeholder 4">
            <a:extLst>
              <a:ext uri="{FF2B5EF4-FFF2-40B4-BE49-F238E27FC236}">
                <a16:creationId xmlns:a16="http://schemas.microsoft.com/office/drawing/2014/main" id="{777CCF6A-317A-4370-B371-9F73A6687321}"/>
              </a:ext>
            </a:extLst>
          </p:cNvPr>
          <p:cNvSpPr>
            <a:spLocks noGrp="1"/>
          </p:cNvSpPr>
          <p:nvPr>
            <p:ph sz="quarter" idx="15"/>
          </p:nvPr>
        </p:nvSpPr>
        <p:spPr>
          <a:xfrm>
            <a:off x="468313" y="4412429"/>
            <a:ext cx="8218487" cy="934053"/>
          </a:xfrm>
        </p:spPr>
        <p:txBody>
          <a:bodyPr/>
          <a:lstStyle/>
          <a:p>
            <a:pPr marL="432000" indent="-432000">
              <a:buFont typeface="+mj-lt"/>
              <a:buAutoNum type="arabicPeriod" startAt="2"/>
            </a:pPr>
            <a:r>
              <a:rPr lang="en-US" altLang="en-US" sz="2200" b="1" dirty="0">
                <a:latin typeface="Arial (Body)"/>
                <a:ea typeface="ヒラギノ角ゴ Pro W3" pitchFamily="-84" charset="-128"/>
              </a:rPr>
              <a:t>Gold standard</a:t>
            </a:r>
            <a:r>
              <a:rPr lang="en-US" altLang="en-US" sz="2200" dirty="0">
                <a:latin typeface="Arial (Body)"/>
                <a:ea typeface="ヒラギノ角ゴ Pro W3" pitchFamily="-84" charset="-128"/>
              </a:rPr>
              <a:t>: gold acts as official international reserves that all countries use to make official international payments.</a:t>
            </a:r>
          </a:p>
        </p:txBody>
      </p:sp>
    </p:spTree>
    <p:extLst>
      <p:ext uri="{BB962C8B-B14F-4D97-AF65-F5344CB8AC3E}">
        <p14:creationId xmlns:p14="http://schemas.microsoft.com/office/powerpoint/2010/main" val="31296019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275E9-BDF5-4B34-ABEF-775DFBF7E914}"/>
              </a:ext>
            </a:extLst>
          </p:cNvPr>
          <p:cNvSpPr>
            <a:spLocks noGrp="1"/>
          </p:cNvSpPr>
          <p:nvPr>
            <p:ph type="title"/>
          </p:nvPr>
        </p:nvSpPr>
        <p:spPr/>
        <p:txBody>
          <a:bodyPr/>
          <a:lstStyle/>
          <a:p>
            <a:r>
              <a:rPr lang="en-US" altLang="en-US" sz="3600" dirty="0">
                <a:ea typeface="ヒラギノ角ゴ Pro W3" pitchFamily="-84" charset="-128"/>
              </a:rPr>
              <a:t>Reserve Currency System</a:t>
            </a:r>
            <a:endParaRPr lang="en-IN" dirty="0"/>
          </a:p>
        </p:txBody>
      </p:sp>
      <p:sp>
        <p:nvSpPr>
          <p:cNvPr id="3" name="Content Placeholder 2">
            <a:extLst>
              <a:ext uri="{FF2B5EF4-FFF2-40B4-BE49-F238E27FC236}">
                <a16:creationId xmlns:a16="http://schemas.microsoft.com/office/drawing/2014/main" id="{4A1BB7DA-E083-40F7-916E-E89483F2507C}"/>
              </a:ext>
            </a:extLst>
          </p:cNvPr>
          <p:cNvSpPr>
            <a:spLocks noGrp="1"/>
          </p:cNvSpPr>
          <p:nvPr>
            <p:ph sz="quarter" idx="13"/>
          </p:nvPr>
        </p:nvSpPr>
        <p:spPr>
          <a:xfrm>
            <a:off x="457200" y="1552575"/>
            <a:ext cx="8229600" cy="1412298"/>
          </a:xfrm>
        </p:spPr>
        <p:txBody>
          <a:bodyPr/>
          <a:lstStyle/>
          <a:p>
            <a:pPr eaLnBrk="1" hangingPunct="1"/>
            <a:r>
              <a:rPr lang="en-US" altLang="en-US" sz="1800" dirty="0">
                <a:latin typeface="Arial (Body)"/>
                <a:ea typeface="ヒラギノ角ゴ Pro W3" pitchFamily="-84" charset="-128"/>
              </a:rPr>
              <a:t>From 1944 to 1973, central banks throughout the world fixed the value of their currencies relative to the U.S. dollar by buying or selling domestic assets in exchange for dollar denominated assets.</a:t>
            </a:r>
          </a:p>
          <a:p>
            <a:r>
              <a:rPr lang="en-US" altLang="en-US" sz="1800" dirty="0">
                <a:latin typeface="Arial (Body)"/>
                <a:ea typeface="ヒラギノ角ゴ Pro W3" pitchFamily="-84" charset="-128"/>
              </a:rPr>
              <a:t>Arbitrage ensured that exchange rates between any two currencies</a:t>
            </a:r>
          </a:p>
        </p:txBody>
      </p:sp>
      <p:sp>
        <p:nvSpPr>
          <p:cNvPr id="4" name="Content Placeholder 3">
            <a:extLst>
              <a:ext uri="{FF2B5EF4-FFF2-40B4-BE49-F238E27FC236}">
                <a16:creationId xmlns:a16="http://schemas.microsoft.com/office/drawing/2014/main" id="{15BBD635-3A5E-4347-9CF6-5E23B9919671}"/>
              </a:ext>
            </a:extLst>
          </p:cNvPr>
          <p:cNvSpPr>
            <a:spLocks noGrp="1"/>
          </p:cNvSpPr>
          <p:nvPr>
            <p:ph sz="quarter" idx="14"/>
          </p:nvPr>
        </p:nvSpPr>
        <p:spPr>
          <a:xfrm>
            <a:off x="457201" y="3009457"/>
            <a:ext cx="2114549" cy="343341"/>
          </a:xfrm>
        </p:spPr>
        <p:txBody>
          <a:bodyPr tIns="0" rIns="0" bIns="0"/>
          <a:lstStyle/>
          <a:p>
            <a:pPr marL="255600" indent="0" eaLnBrk="1" hangingPunct="1">
              <a:buNone/>
            </a:pPr>
            <a:r>
              <a:rPr lang="en-US" altLang="en-US" sz="1800" dirty="0">
                <a:latin typeface="Arial (Body)"/>
                <a:ea typeface="ヒラギノ角ゴ Pro W3" pitchFamily="-84" charset="-128"/>
              </a:rPr>
              <a:t>remained fixed.</a:t>
            </a:r>
          </a:p>
        </p:txBody>
      </p:sp>
      <p:sp>
        <p:nvSpPr>
          <p:cNvPr id="5" name="Content Placeholder 4">
            <a:extLst>
              <a:ext uri="{FF2B5EF4-FFF2-40B4-BE49-F238E27FC236}">
                <a16:creationId xmlns:a16="http://schemas.microsoft.com/office/drawing/2014/main" id="{43413E93-E055-4683-9C9E-06D4F99AA69A}"/>
              </a:ext>
            </a:extLst>
          </p:cNvPr>
          <p:cNvSpPr>
            <a:spLocks noGrp="1"/>
          </p:cNvSpPr>
          <p:nvPr>
            <p:ph sz="quarter" idx="15"/>
          </p:nvPr>
        </p:nvSpPr>
        <p:spPr>
          <a:xfrm>
            <a:off x="457200" y="3401459"/>
            <a:ext cx="6067425" cy="403182"/>
          </a:xfrm>
        </p:spPr>
        <p:txBody>
          <a:bodyPr/>
          <a:lstStyle/>
          <a:p>
            <a:pPr lvl="1"/>
            <a:r>
              <a:rPr lang="en-US" altLang="en-US" sz="1800" dirty="0">
                <a:latin typeface="Arial (Body)"/>
                <a:ea typeface="ヒラギノ角ゴ Pro W3" pitchFamily="-84" charset="-128"/>
              </a:rPr>
              <a:t>Suppose Bank of Japan fixed the exchange rate at</a:t>
            </a:r>
            <a:endParaRPr lang="en-IN" sz="1800" dirty="0"/>
          </a:p>
        </p:txBody>
      </p:sp>
      <p:graphicFrame>
        <p:nvGraphicFramePr>
          <p:cNvPr id="19" name="Object 18" descr="360 Japan yen per U S $1">
            <a:extLst>
              <a:ext uri="{FF2B5EF4-FFF2-40B4-BE49-F238E27FC236}">
                <a16:creationId xmlns:a16="http://schemas.microsoft.com/office/drawing/2014/main" id="{35FC95C6-FA00-46CD-86D2-A84428E1792A}"/>
              </a:ext>
            </a:extLst>
          </p:cNvPr>
          <p:cNvGraphicFramePr>
            <a:graphicFrameLocks noChangeAspect="1"/>
          </p:cNvGraphicFramePr>
          <p:nvPr>
            <p:extLst>
              <p:ext uri="{D42A27DB-BD31-4B8C-83A1-F6EECF244321}">
                <p14:modId xmlns:p14="http://schemas.microsoft.com/office/powerpoint/2010/main" val="359933202"/>
              </p:ext>
            </p:extLst>
          </p:nvPr>
        </p:nvGraphicFramePr>
        <p:xfrm>
          <a:off x="6598730" y="3494343"/>
          <a:ext cx="1167646" cy="300757"/>
        </p:xfrm>
        <a:graphic>
          <a:graphicData uri="http://schemas.openxmlformats.org/presentationml/2006/ole">
            <mc:AlternateContent xmlns:mc="http://schemas.openxmlformats.org/markup-compatibility/2006">
              <mc:Choice xmlns:v="urn:schemas-microsoft-com:vml" Requires="v">
                <p:oleObj spid="_x0000_s16542" name="Equation" r:id="rId3" imgW="838080" imgH="215640" progId="Equation.DSMT4">
                  <p:embed/>
                </p:oleObj>
              </mc:Choice>
              <mc:Fallback>
                <p:oleObj name="Equation" r:id="rId3" imgW="838080" imgH="215640" progId="Equation.DSMT4">
                  <p:embed/>
                  <p:pic>
                    <p:nvPicPr>
                      <p:cNvPr id="0" name=""/>
                      <p:cNvPicPr/>
                      <p:nvPr/>
                    </p:nvPicPr>
                    <p:blipFill>
                      <a:blip r:embed="rId4"/>
                      <a:stretch>
                        <a:fillRect/>
                      </a:stretch>
                    </p:blipFill>
                    <p:spPr>
                      <a:xfrm>
                        <a:off x="6598730" y="3494343"/>
                        <a:ext cx="1167646" cy="300757"/>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9F20AB8C-765D-48C2-B799-1704B7C4E62D}"/>
              </a:ext>
            </a:extLst>
          </p:cNvPr>
          <p:cNvSpPr>
            <a:spLocks noGrp="1"/>
          </p:cNvSpPr>
          <p:nvPr>
            <p:ph sz="quarter" idx="16"/>
          </p:nvPr>
        </p:nvSpPr>
        <p:spPr>
          <a:xfrm>
            <a:off x="457200" y="3863351"/>
            <a:ext cx="6010275" cy="440216"/>
          </a:xfrm>
        </p:spPr>
        <p:txBody>
          <a:bodyPr/>
          <a:lstStyle/>
          <a:p>
            <a:pPr marL="741600" lvl="1" indent="0">
              <a:buNone/>
            </a:pPr>
            <a:r>
              <a:rPr lang="en-US" altLang="en-US" sz="1800" dirty="0">
                <a:latin typeface="Arial (Body)"/>
                <a:ea typeface="ヒラギノ角ゴ Pro W3" pitchFamily="-84" charset="-128"/>
              </a:rPr>
              <a:t>and the Bank of France fixed the exchange rate at</a:t>
            </a:r>
            <a:endParaRPr lang="en-IN" sz="1800" dirty="0"/>
          </a:p>
        </p:txBody>
      </p:sp>
      <p:graphicFrame>
        <p:nvGraphicFramePr>
          <p:cNvPr id="20" name="Object 19" descr="5 French franc per U S $1">
            <a:extLst>
              <a:ext uri="{FF2B5EF4-FFF2-40B4-BE49-F238E27FC236}">
                <a16:creationId xmlns:a16="http://schemas.microsoft.com/office/drawing/2014/main" id="{F623EFA1-2302-4228-9742-59934C28D11E}"/>
              </a:ext>
            </a:extLst>
          </p:cNvPr>
          <p:cNvGraphicFramePr>
            <a:graphicFrameLocks noChangeAspect="1"/>
          </p:cNvGraphicFramePr>
          <p:nvPr>
            <p:extLst>
              <p:ext uri="{D42A27DB-BD31-4B8C-83A1-F6EECF244321}">
                <p14:modId xmlns:p14="http://schemas.microsoft.com/office/powerpoint/2010/main" val="3245264109"/>
              </p:ext>
            </p:extLst>
          </p:nvPr>
        </p:nvGraphicFramePr>
        <p:xfrm>
          <a:off x="6582806" y="3953817"/>
          <a:ext cx="1031126" cy="287363"/>
        </p:xfrm>
        <a:graphic>
          <a:graphicData uri="http://schemas.openxmlformats.org/presentationml/2006/ole">
            <mc:AlternateContent xmlns:mc="http://schemas.openxmlformats.org/markup-compatibility/2006">
              <mc:Choice xmlns:v="urn:schemas-microsoft-com:vml" Requires="v">
                <p:oleObj spid="_x0000_s16543" name="Equation" r:id="rId5" imgW="774360" imgH="215640" progId="Equation.DSMT4">
                  <p:embed/>
                </p:oleObj>
              </mc:Choice>
              <mc:Fallback>
                <p:oleObj name="Equation" r:id="rId5" imgW="774360" imgH="215640" progId="Equation.DSMT4">
                  <p:embed/>
                  <p:pic>
                    <p:nvPicPr>
                      <p:cNvPr id="0" name=""/>
                      <p:cNvPicPr/>
                      <p:nvPr/>
                    </p:nvPicPr>
                    <p:blipFill>
                      <a:blip r:embed="rId6"/>
                      <a:stretch>
                        <a:fillRect/>
                      </a:stretch>
                    </p:blipFill>
                    <p:spPr>
                      <a:xfrm>
                        <a:off x="6582806" y="3953817"/>
                        <a:ext cx="1031126" cy="287363"/>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7FB5D9A3-66DF-4F7D-AF19-52813862F870}"/>
              </a:ext>
            </a:extLst>
          </p:cNvPr>
          <p:cNvSpPr>
            <a:spLocks noGrp="1"/>
          </p:cNvSpPr>
          <p:nvPr>
            <p:ph sz="quarter" idx="17"/>
          </p:nvPr>
        </p:nvSpPr>
        <p:spPr>
          <a:xfrm>
            <a:off x="457200" y="4764913"/>
            <a:ext cx="3324225" cy="476250"/>
          </a:xfrm>
        </p:spPr>
        <p:txBody>
          <a:bodyPr/>
          <a:lstStyle/>
          <a:p>
            <a:pPr lvl="1"/>
            <a:r>
              <a:rPr lang="en-US" altLang="en-US" sz="1800" dirty="0">
                <a:latin typeface="Arial (Body)"/>
                <a:ea typeface="ヒラギノ角ゴ Pro W3" pitchFamily="-84" charset="-128"/>
              </a:rPr>
              <a:t>The yen/franc rate was</a:t>
            </a:r>
          </a:p>
        </p:txBody>
      </p:sp>
      <p:graphicFrame>
        <p:nvGraphicFramePr>
          <p:cNvPr id="17" name="Object 16" descr="Start fraction start fraction 360 Japan yen per U S $1 end fraction over 5 French franc per U S $1 end fraction = start fraction = start fraction 72 japan yen over 1 French franc end fraction">
            <a:extLst>
              <a:ext uri="{FF2B5EF4-FFF2-40B4-BE49-F238E27FC236}">
                <a16:creationId xmlns:a16="http://schemas.microsoft.com/office/drawing/2014/main" id="{8FB614C6-7A14-4CCA-A02C-553B3FDFF557}"/>
              </a:ext>
            </a:extLst>
          </p:cNvPr>
          <p:cNvGraphicFramePr>
            <a:graphicFrameLocks noChangeAspect="1"/>
          </p:cNvGraphicFramePr>
          <p:nvPr>
            <p:extLst>
              <p:ext uri="{D42A27DB-BD31-4B8C-83A1-F6EECF244321}">
                <p14:modId xmlns:p14="http://schemas.microsoft.com/office/powerpoint/2010/main" val="2972268391"/>
              </p:ext>
            </p:extLst>
          </p:nvPr>
        </p:nvGraphicFramePr>
        <p:xfrm>
          <a:off x="3896062" y="4436814"/>
          <a:ext cx="1460970" cy="1082770"/>
        </p:xfrm>
        <a:graphic>
          <a:graphicData uri="http://schemas.openxmlformats.org/presentationml/2006/ole">
            <mc:AlternateContent xmlns:mc="http://schemas.openxmlformats.org/markup-compatibility/2006">
              <mc:Choice xmlns:v="urn:schemas-microsoft-com:vml" Requires="v">
                <p:oleObj spid="_x0000_s16544" name="Equation" r:id="rId7" imgW="1655233" imgH="1226836" progId="Equation.DSMT4">
                  <p:embed/>
                </p:oleObj>
              </mc:Choice>
              <mc:Fallback>
                <p:oleObj name="Equation" r:id="rId7" imgW="1655233" imgH="1226836" progId="Equation.DSMT4">
                  <p:embed/>
                  <p:pic>
                    <p:nvPicPr>
                      <p:cNvPr id="0" name=""/>
                      <p:cNvPicPr/>
                      <p:nvPr/>
                    </p:nvPicPr>
                    <p:blipFill>
                      <a:blip r:embed="rId8"/>
                      <a:stretch>
                        <a:fillRect/>
                      </a:stretch>
                    </p:blipFill>
                    <p:spPr>
                      <a:xfrm>
                        <a:off x="3896062" y="4436814"/>
                        <a:ext cx="1460970" cy="108277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C14D3929-3FBF-479D-8C94-48DE6541C240}"/>
              </a:ext>
            </a:extLst>
          </p:cNvPr>
          <p:cNvSpPr>
            <a:spLocks noGrp="1"/>
          </p:cNvSpPr>
          <p:nvPr>
            <p:ph sz="quarter" idx="18"/>
          </p:nvPr>
        </p:nvSpPr>
        <p:spPr>
          <a:xfrm>
            <a:off x="457200" y="5567876"/>
            <a:ext cx="8229600" cy="699574"/>
          </a:xfrm>
        </p:spPr>
        <p:txBody>
          <a:bodyPr/>
          <a:lstStyle/>
          <a:p>
            <a:pPr lvl="1"/>
            <a:r>
              <a:rPr lang="en-US" altLang="en-US" sz="1800" dirty="0">
                <a:latin typeface="Arial (Body)"/>
                <a:ea typeface="ヒラギノ角ゴ Pro W3" pitchFamily="-84" charset="-128"/>
              </a:rPr>
              <a:t>If not, then currency traders could make an easy profit by buying currency where it was cheap and selling it where it was expensive.</a:t>
            </a:r>
          </a:p>
        </p:txBody>
      </p:sp>
    </p:spTree>
    <p:extLst>
      <p:ext uri="{BB962C8B-B14F-4D97-AF65-F5344CB8AC3E}">
        <p14:creationId xmlns:p14="http://schemas.microsoft.com/office/powerpoint/2010/main" val="16121492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1C7FDC-E7A3-41C1-AF84-3C05D4F8A5D0}"/>
              </a:ext>
            </a:extLst>
          </p:cNvPr>
          <p:cNvSpPr>
            <a:spLocks noGrp="1"/>
          </p:cNvSpPr>
          <p:nvPr>
            <p:ph type="title"/>
          </p:nvPr>
        </p:nvSpPr>
        <p:spPr/>
        <p:txBody>
          <a:bodyPr/>
          <a:lstStyle/>
          <a:p>
            <a:r>
              <a:rPr lang="en-US" altLang="en-US" dirty="0">
                <a:ea typeface="ヒラギノ角ゴ Pro W3" pitchFamily="-84" charset="-128"/>
                <a:cs typeface="Times New Roman" panose="02020603050405020304" pitchFamily="18" charset="0"/>
              </a:rPr>
              <a:t>Gold and Silver Standard</a:t>
            </a:r>
            <a:endParaRPr lang="en-IN" dirty="0">
              <a:cs typeface="Times New Roman" panose="02020603050405020304" pitchFamily="18" charset="0"/>
            </a:endParaRPr>
          </a:p>
        </p:txBody>
      </p:sp>
      <p:sp>
        <p:nvSpPr>
          <p:cNvPr id="5" name="Content Placeholder 4">
            <a:extLst>
              <a:ext uri="{FF2B5EF4-FFF2-40B4-BE49-F238E27FC236}">
                <a16:creationId xmlns:a16="http://schemas.microsoft.com/office/drawing/2014/main" id="{75B3C73C-DC39-4706-97A5-1C0D89B56C0F}"/>
              </a:ext>
            </a:extLst>
          </p:cNvPr>
          <p:cNvSpPr>
            <a:spLocks noGrp="1"/>
          </p:cNvSpPr>
          <p:nvPr>
            <p:ph sz="quarter" idx="13"/>
          </p:nvPr>
        </p:nvSpPr>
        <p:spPr>
          <a:xfrm>
            <a:off x="457200" y="1556327"/>
            <a:ext cx="8229600" cy="2721033"/>
          </a:xfrm>
        </p:spPr>
        <p:txBody>
          <a:bodyPr/>
          <a:lstStyle/>
          <a:p>
            <a:pPr eaLnBrk="1" hangingPunct="1"/>
            <a:r>
              <a:rPr lang="en-US" altLang="en-US" sz="2000" b="1" dirty="0">
                <a:latin typeface="Arial (Body)"/>
                <a:ea typeface="ヒラギノ角ゴ Pro W3" pitchFamily="-84" charset="-128"/>
              </a:rPr>
              <a:t>Bimetallic standard</a:t>
            </a:r>
            <a:r>
              <a:rPr lang="en-US" altLang="en-US" sz="2000" dirty="0">
                <a:latin typeface="Arial (Body)"/>
                <a:ea typeface="ヒラギノ角ゴ Pro W3" pitchFamily="-84" charset="-128"/>
              </a:rPr>
              <a:t>: the value of currency is based on both silver and gold.</a:t>
            </a:r>
          </a:p>
          <a:p>
            <a:pPr eaLnBrk="1" hangingPunct="1"/>
            <a:r>
              <a:rPr lang="en-US" altLang="en-US" sz="2000" dirty="0">
                <a:latin typeface="Arial (Body)"/>
                <a:ea typeface="ヒラギノ角ゴ Pro W3" pitchFamily="-84" charset="-128"/>
              </a:rPr>
              <a:t>The United States used a bimetallic standard from 1837 to 1861.</a:t>
            </a:r>
          </a:p>
          <a:p>
            <a:pPr eaLnBrk="1" hangingPunct="1"/>
            <a:r>
              <a:rPr lang="en-US" altLang="en-US" sz="2000" dirty="0">
                <a:latin typeface="Arial (Body)"/>
                <a:ea typeface="ヒラギノ角ゴ Pro W3" pitchFamily="-84" charset="-128"/>
              </a:rPr>
              <a:t>Banks coined specified amounts of gold or silver into the national currency unit.</a:t>
            </a:r>
          </a:p>
          <a:p>
            <a:pPr lvl="1" eaLnBrk="1" hangingPunct="1"/>
            <a:r>
              <a:rPr lang="en-US" altLang="en-US" sz="2000" dirty="0">
                <a:latin typeface="Arial (Body)"/>
                <a:ea typeface="ヒラギノ角ゴ Pro W3" pitchFamily="-84" charset="-128"/>
              </a:rPr>
              <a:t>371.25 grains of silver or 23.22 grains of gold could be turned into a silver or a gold dollar</a:t>
            </a:r>
            <a:endParaRPr lang="en-IN" sz="2000" dirty="0"/>
          </a:p>
        </p:txBody>
      </p:sp>
      <p:sp>
        <p:nvSpPr>
          <p:cNvPr id="6" name="Content Placeholder 5">
            <a:extLst>
              <a:ext uri="{FF2B5EF4-FFF2-40B4-BE49-F238E27FC236}">
                <a16:creationId xmlns:a16="http://schemas.microsoft.com/office/drawing/2014/main" id="{BB707E95-81A7-468B-BCCC-D60F20D662C3}"/>
              </a:ext>
            </a:extLst>
          </p:cNvPr>
          <p:cNvSpPr>
            <a:spLocks noGrp="1"/>
          </p:cNvSpPr>
          <p:nvPr>
            <p:ph sz="quarter" idx="14"/>
          </p:nvPr>
        </p:nvSpPr>
        <p:spPr>
          <a:xfrm>
            <a:off x="457200" y="4401821"/>
            <a:ext cx="3035808" cy="446404"/>
          </a:xfrm>
        </p:spPr>
        <p:txBody>
          <a:bodyPr/>
          <a:lstStyle/>
          <a:p>
            <a:pPr lvl="1" indent="-284400"/>
            <a:r>
              <a:rPr lang="en-US" altLang="en-US" sz="2000" dirty="0">
                <a:latin typeface="Arial (Body)"/>
                <a:ea typeface="ヒラギノ角ゴ Pro W3" pitchFamily="-84" charset="-128"/>
              </a:rPr>
              <a:t>So gold was worth</a:t>
            </a:r>
            <a:endParaRPr lang="en-IN" sz="2000" dirty="0"/>
          </a:p>
        </p:txBody>
      </p:sp>
      <p:graphicFrame>
        <p:nvGraphicFramePr>
          <p:cNvPr id="15" name="Object 14" descr="Start fraction 371.25 over 23.22 end fraction = 16">
            <a:extLst>
              <a:ext uri="{FF2B5EF4-FFF2-40B4-BE49-F238E27FC236}">
                <a16:creationId xmlns:a16="http://schemas.microsoft.com/office/drawing/2014/main" id="{BA3DB55A-398D-4F1C-9E7C-319DEA10004F}"/>
              </a:ext>
            </a:extLst>
          </p:cNvPr>
          <p:cNvGraphicFramePr>
            <a:graphicFrameLocks noChangeAspect="1"/>
          </p:cNvGraphicFramePr>
          <p:nvPr>
            <p:extLst>
              <p:ext uri="{D42A27DB-BD31-4B8C-83A1-F6EECF244321}">
                <p14:modId xmlns:p14="http://schemas.microsoft.com/office/powerpoint/2010/main" val="1474069055"/>
              </p:ext>
            </p:extLst>
          </p:nvPr>
        </p:nvGraphicFramePr>
        <p:xfrm>
          <a:off x="3564096" y="4535720"/>
          <a:ext cx="2127250" cy="287337"/>
        </p:xfrm>
        <a:graphic>
          <a:graphicData uri="http://schemas.openxmlformats.org/presentationml/2006/ole">
            <mc:AlternateContent xmlns:mc="http://schemas.openxmlformats.org/markup-compatibility/2006">
              <mc:Choice xmlns:v="urn:schemas-microsoft-com:vml" Requires="v">
                <p:oleObj spid="_x0000_s17460" name="Equation" r:id="rId3" imgW="2127694" imgH="286610" progId="Equation.DSMT4">
                  <p:embed/>
                </p:oleObj>
              </mc:Choice>
              <mc:Fallback>
                <p:oleObj name="Equation" r:id="rId3" imgW="2127694" imgH="286610" progId="Equation.DSMT4">
                  <p:embed/>
                  <p:pic>
                    <p:nvPicPr>
                      <p:cNvPr id="0" name=""/>
                      <p:cNvPicPr/>
                      <p:nvPr/>
                    </p:nvPicPr>
                    <p:blipFill>
                      <a:blip r:embed="rId4"/>
                      <a:stretch>
                        <a:fillRect/>
                      </a:stretch>
                    </p:blipFill>
                    <p:spPr>
                      <a:xfrm>
                        <a:off x="3564096" y="4535720"/>
                        <a:ext cx="2127250" cy="287337"/>
                      </a:xfrm>
                      <a:prstGeom prst="rect">
                        <a:avLst/>
                      </a:prstGeom>
                    </p:spPr>
                  </p:pic>
                </p:oleObj>
              </mc:Fallback>
            </mc:AlternateContent>
          </a:graphicData>
        </a:graphic>
      </p:graphicFrame>
      <p:sp>
        <p:nvSpPr>
          <p:cNvPr id="7" name="Content Placeholder 6">
            <a:extLst>
              <a:ext uri="{FF2B5EF4-FFF2-40B4-BE49-F238E27FC236}">
                <a16:creationId xmlns:a16="http://schemas.microsoft.com/office/drawing/2014/main" id="{0FF0F193-DCBD-42AF-8B0E-0910B765B36C}"/>
              </a:ext>
            </a:extLst>
          </p:cNvPr>
          <p:cNvSpPr>
            <a:spLocks noGrp="1"/>
          </p:cNvSpPr>
          <p:nvPr>
            <p:ph sz="quarter" idx="15"/>
          </p:nvPr>
        </p:nvSpPr>
        <p:spPr>
          <a:xfrm>
            <a:off x="5791200" y="4511361"/>
            <a:ext cx="2895600" cy="334961"/>
          </a:xfrm>
        </p:spPr>
        <p:txBody>
          <a:bodyPr lIns="0" tIns="0" rIns="0" bIns="0"/>
          <a:lstStyle/>
          <a:p>
            <a:pPr marL="0" lvl="1" indent="0">
              <a:buNone/>
            </a:pPr>
            <a:r>
              <a:rPr lang="en-US" altLang="en-US" sz="2000" dirty="0">
                <a:latin typeface="Arial (Body)"/>
                <a:ea typeface="ヒラギノ角ゴ Pro W3" pitchFamily="-84" charset="-128"/>
              </a:rPr>
              <a:t>times as much as silver.</a:t>
            </a:r>
            <a:endParaRPr lang="en-IN" sz="2000" dirty="0"/>
          </a:p>
        </p:txBody>
      </p:sp>
      <p:sp>
        <p:nvSpPr>
          <p:cNvPr id="8" name="Content Placeholder 7">
            <a:extLst>
              <a:ext uri="{FF2B5EF4-FFF2-40B4-BE49-F238E27FC236}">
                <a16:creationId xmlns:a16="http://schemas.microsoft.com/office/drawing/2014/main" id="{B65D0259-594B-45AC-B9DE-F8AC7DCAA1C7}"/>
              </a:ext>
            </a:extLst>
          </p:cNvPr>
          <p:cNvSpPr>
            <a:spLocks noGrp="1"/>
          </p:cNvSpPr>
          <p:nvPr>
            <p:ph sz="quarter" idx="16"/>
          </p:nvPr>
        </p:nvSpPr>
        <p:spPr>
          <a:xfrm>
            <a:off x="457200" y="4924540"/>
            <a:ext cx="1381760" cy="395605"/>
          </a:xfrm>
        </p:spPr>
        <p:txBody>
          <a:bodyPr/>
          <a:lstStyle/>
          <a:p>
            <a:pPr lvl="1" indent="-284400"/>
            <a:r>
              <a:rPr lang="en-US" altLang="en-US" sz="2000" dirty="0">
                <a:latin typeface="Arial (Body)"/>
                <a:ea typeface="ヒラギノ角ゴ Pro W3" pitchFamily="-84" charset="-128"/>
              </a:rPr>
              <a:t>See</a:t>
            </a:r>
            <a:endParaRPr lang="en-IN" sz="2000" dirty="0"/>
          </a:p>
        </p:txBody>
      </p:sp>
      <p:sp>
        <p:nvSpPr>
          <p:cNvPr id="10" name="Text Placeholder 9">
            <a:extLst>
              <a:ext uri="{FF2B5EF4-FFF2-40B4-BE49-F238E27FC236}">
                <a16:creationId xmlns:a16="http://schemas.microsoft.com/office/drawing/2014/main" id="{CC387A39-9A2C-47F3-8BBE-CC64BF8B2402}"/>
              </a:ext>
            </a:extLst>
          </p:cNvPr>
          <p:cNvSpPr>
            <a:spLocks noGrp="1"/>
          </p:cNvSpPr>
          <p:nvPr>
            <p:ph type="body" sz="quarter" idx="18"/>
          </p:nvPr>
        </p:nvSpPr>
        <p:spPr>
          <a:xfrm>
            <a:off x="1930400" y="4981894"/>
            <a:ext cx="2441575" cy="367346"/>
          </a:xfrm>
        </p:spPr>
        <p:txBody>
          <a:bodyPr lIns="0" tIns="0" rIns="0" bIns="0"/>
          <a:lstStyle/>
          <a:p>
            <a:pPr marL="0" lvl="1" indent="0">
              <a:buNone/>
            </a:pPr>
            <a:r>
              <a:rPr lang="en-US" altLang="en-US" sz="2000" u="sng" dirty="0">
                <a:latin typeface="Arial (Body)"/>
                <a:ea typeface="ヒラギノ角ゴ Pro W3" pitchFamily="-84" charset="-128"/>
                <a:hlinkClick r:id="rId5" tooltip="http://www.micheloud.com/FXM/MH/index.htm"/>
              </a:rPr>
              <a:t>www.micheloud.com</a:t>
            </a:r>
            <a:endParaRPr lang="en-IN" sz="2000" dirty="0"/>
          </a:p>
        </p:txBody>
      </p:sp>
      <p:sp>
        <p:nvSpPr>
          <p:cNvPr id="11" name="Content Placeholder 10">
            <a:extLst>
              <a:ext uri="{FF2B5EF4-FFF2-40B4-BE49-F238E27FC236}">
                <a16:creationId xmlns:a16="http://schemas.microsoft.com/office/drawing/2014/main" id="{AB6AFF31-E0C3-494F-A222-8770DA722FD3}"/>
              </a:ext>
            </a:extLst>
          </p:cNvPr>
          <p:cNvSpPr>
            <a:spLocks noGrp="1"/>
          </p:cNvSpPr>
          <p:nvPr>
            <p:ph sz="quarter" idx="19"/>
          </p:nvPr>
        </p:nvSpPr>
        <p:spPr>
          <a:xfrm>
            <a:off x="4470876" y="4989513"/>
            <a:ext cx="4313079" cy="358342"/>
          </a:xfrm>
        </p:spPr>
        <p:txBody>
          <a:bodyPr lIns="0" tIns="0" rIns="0" bIns="0"/>
          <a:lstStyle/>
          <a:p>
            <a:pPr marL="0" lvl="1" indent="0">
              <a:buNone/>
            </a:pPr>
            <a:r>
              <a:rPr lang="en-US" altLang="en-US" sz="2000" dirty="0">
                <a:latin typeface="Arial (Body)"/>
                <a:ea typeface="ヒラギノ角ゴ Pro W3" pitchFamily="-84" charset="-128"/>
              </a:rPr>
              <a:t>for a fun description of the bimetallic</a:t>
            </a:r>
            <a:endParaRPr lang="en-IN" sz="2000" dirty="0"/>
          </a:p>
        </p:txBody>
      </p:sp>
      <p:sp>
        <p:nvSpPr>
          <p:cNvPr id="12" name="Content Placeholder 11">
            <a:extLst>
              <a:ext uri="{FF2B5EF4-FFF2-40B4-BE49-F238E27FC236}">
                <a16:creationId xmlns:a16="http://schemas.microsoft.com/office/drawing/2014/main" id="{1EAC30B0-D79D-418E-BFD2-20FA8675F430}"/>
              </a:ext>
            </a:extLst>
          </p:cNvPr>
          <p:cNvSpPr>
            <a:spLocks noGrp="1"/>
          </p:cNvSpPr>
          <p:nvPr>
            <p:ph sz="quarter" idx="20"/>
          </p:nvPr>
        </p:nvSpPr>
        <p:spPr>
          <a:xfrm>
            <a:off x="468313" y="5418006"/>
            <a:ext cx="8315642" cy="379254"/>
          </a:xfrm>
        </p:spPr>
        <p:txBody>
          <a:bodyPr lIns="0" tIns="0" rIns="0" bIns="0"/>
          <a:lstStyle/>
          <a:p>
            <a:pPr marL="741600" lvl="1" indent="0">
              <a:buNone/>
            </a:pPr>
            <a:r>
              <a:rPr lang="en-US" altLang="en-US" sz="2000" dirty="0">
                <a:latin typeface="Arial (Body)"/>
                <a:ea typeface="ヒラギノ角ゴ Pro W3" pitchFamily="-84" charset="-128"/>
              </a:rPr>
              <a:t>standard, the gold standard after 1873, and the </a:t>
            </a:r>
            <a:r>
              <a:rPr lang="en-US" altLang="en-US" sz="2000" b="1" dirty="0">
                <a:latin typeface="Arial (Body)"/>
                <a:ea typeface="ヒラギノ角ゴ Pro W3" pitchFamily="-84" charset="-128"/>
              </a:rPr>
              <a:t>Wizard of Oz!</a:t>
            </a:r>
            <a:endParaRPr lang="en-IN" sz="2000" dirty="0"/>
          </a:p>
        </p:txBody>
      </p:sp>
    </p:spTree>
    <p:extLst>
      <p:ext uri="{BB962C8B-B14F-4D97-AF65-F5344CB8AC3E}">
        <p14:creationId xmlns:p14="http://schemas.microsoft.com/office/powerpoint/2010/main" val="27846676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A6DB2-0297-4F88-9D54-AC79E66025E6}"/>
              </a:ext>
            </a:extLst>
          </p:cNvPr>
          <p:cNvSpPr>
            <a:spLocks noGrp="1"/>
          </p:cNvSpPr>
          <p:nvPr>
            <p:ph type="title"/>
          </p:nvPr>
        </p:nvSpPr>
        <p:spPr/>
        <p:txBody>
          <a:bodyPr/>
          <a:lstStyle/>
          <a:p>
            <a:r>
              <a:rPr lang="en-US" altLang="en-US" sz="3200" dirty="0">
                <a:ea typeface="ヒラギノ角ゴ Pro W3" pitchFamily="-84" charset="-128"/>
                <a:cs typeface="Times New Roman" panose="02020603050405020304" pitchFamily="18" charset="0"/>
              </a:rPr>
              <a:t>Figure 18.8 Growth Rates of International Reserves</a:t>
            </a:r>
            <a:endParaRPr lang="en-IN" sz="3200" dirty="0">
              <a:cs typeface="Times New Roman" panose="02020603050405020304" pitchFamily="18" charset="0"/>
            </a:endParaRPr>
          </a:p>
        </p:txBody>
      </p:sp>
      <p:pic>
        <p:nvPicPr>
          <p:cNvPr id="6" name="Content Placeholder 5" descr="A graph plots growth percent per year versus year, 19 63 to 20 19 for 3 entities as follows. For long description in Notes pane, press F6.">
            <a:extLst>
              <a:ext uri="{FF2B5EF4-FFF2-40B4-BE49-F238E27FC236}">
                <a16:creationId xmlns:a16="http://schemas.microsoft.com/office/drawing/2014/main" id="{4CABB6E4-ED81-4FBA-A618-FBE868F4EA6D}"/>
              </a:ext>
            </a:extLst>
          </p:cNvPr>
          <p:cNvPicPr>
            <a:picLocks noGrp="1" noChangeAspect="1"/>
          </p:cNvPicPr>
          <p:nvPr>
            <p:ph sz="quarter" idx="13"/>
          </p:nvPr>
        </p:nvPicPr>
        <p:blipFill>
          <a:blip r:embed="rId3"/>
          <a:stretch>
            <a:fillRect/>
          </a:stretch>
        </p:blipFill>
        <p:spPr>
          <a:xfrm>
            <a:off x="2262152" y="1572826"/>
            <a:ext cx="4810197" cy="3093057"/>
          </a:xfrm>
        </p:spPr>
      </p:pic>
      <p:sp>
        <p:nvSpPr>
          <p:cNvPr id="4" name="Content Placeholder 3">
            <a:extLst>
              <a:ext uri="{FF2B5EF4-FFF2-40B4-BE49-F238E27FC236}">
                <a16:creationId xmlns:a16="http://schemas.microsoft.com/office/drawing/2014/main" id="{88239E86-9948-4290-9C8F-2737E031AE24}"/>
              </a:ext>
            </a:extLst>
          </p:cNvPr>
          <p:cNvSpPr>
            <a:spLocks noGrp="1"/>
          </p:cNvSpPr>
          <p:nvPr>
            <p:ph sz="quarter" idx="14"/>
          </p:nvPr>
        </p:nvSpPr>
        <p:spPr>
          <a:xfrm>
            <a:off x="457200" y="4733701"/>
            <a:ext cx="8229600" cy="1616857"/>
          </a:xfrm>
        </p:spPr>
        <p:txBody>
          <a:bodyPr/>
          <a:lstStyle/>
          <a:p>
            <a:pPr marL="0" indent="0">
              <a:buNone/>
            </a:pPr>
            <a:r>
              <a:rPr lang="en-US" sz="1800" dirty="0">
                <a:latin typeface="Arial (Body)"/>
              </a:rPr>
              <a:t>Annualized growth rates of international reserves did not decline sharply after the early 1970s. Recently, developing countries have added large sums to their reserve holdings, but their pace of accumulation has slowed starting with the crisis years of 2008–2009. The figure shows averages of annual growth rates.</a:t>
            </a:r>
          </a:p>
          <a:p>
            <a:pPr marL="0" indent="0">
              <a:spcBef>
                <a:spcPts val="500"/>
              </a:spcBef>
              <a:buNone/>
            </a:pPr>
            <a:r>
              <a:rPr lang="en-US" sz="1800" b="1" dirty="0">
                <a:latin typeface="Arial (Body)"/>
              </a:rPr>
              <a:t>Source: </a:t>
            </a:r>
            <a:r>
              <a:rPr lang="en-US" sz="1800" dirty="0">
                <a:latin typeface="Arial (Body)"/>
              </a:rPr>
              <a:t>International Monetary Fund.</a:t>
            </a:r>
          </a:p>
        </p:txBody>
      </p:sp>
    </p:spTree>
    <p:extLst>
      <p:ext uri="{BB962C8B-B14F-4D97-AF65-F5344CB8AC3E}">
        <p14:creationId xmlns:p14="http://schemas.microsoft.com/office/powerpoint/2010/main" val="40435861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E552F-DBD3-493E-A49C-25260AB8B48D}"/>
              </a:ext>
            </a:extLst>
          </p:cNvPr>
          <p:cNvSpPr>
            <a:spLocks noGrp="1"/>
          </p:cNvSpPr>
          <p:nvPr>
            <p:ph type="title"/>
          </p:nvPr>
        </p:nvSpPr>
        <p:spPr/>
        <p:txBody>
          <a:bodyPr/>
          <a:lstStyle/>
          <a:p>
            <a:r>
              <a:rPr lang="en-US" altLang="en-US" sz="3200" dirty="0">
                <a:ea typeface="ヒラギノ角ゴ Pro W3" pitchFamily="-84" charset="-128"/>
              </a:rPr>
              <a:t>Figure 18.9 Currency Composition of Global Reserve Holdings</a:t>
            </a:r>
            <a:endParaRPr lang="en-IN" sz="3200" dirty="0"/>
          </a:p>
        </p:txBody>
      </p:sp>
      <p:pic>
        <p:nvPicPr>
          <p:cNvPr id="12" name="Content Placeholder 11" descr="The graph plots 4 currencies, the dollar, euro, yen, and pound sterling. For long description in Notes pane, press F6.">
            <a:extLst>
              <a:ext uri="{FF2B5EF4-FFF2-40B4-BE49-F238E27FC236}">
                <a16:creationId xmlns:a16="http://schemas.microsoft.com/office/drawing/2014/main" id="{69574CDA-C1CC-4EAB-8E61-60AC176188F7}"/>
              </a:ext>
            </a:extLst>
          </p:cNvPr>
          <p:cNvPicPr>
            <a:picLocks noGrp="1" noChangeAspect="1"/>
          </p:cNvPicPr>
          <p:nvPr>
            <p:ph sz="quarter" idx="13"/>
          </p:nvPr>
        </p:nvPicPr>
        <p:blipFill>
          <a:blip r:embed="rId3"/>
          <a:stretch>
            <a:fillRect/>
          </a:stretch>
        </p:blipFill>
        <p:spPr>
          <a:xfrm>
            <a:off x="2199358" y="1570398"/>
            <a:ext cx="4745283" cy="2845060"/>
          </a:xfrm>
        </p:spPr>
      </p:pic>
      <p:sp>
        <p:nvSpPr>
          <p:cNvPr id="6" name="Content Placeholder 5">
            <a:extLst>
              <a:ext uri="{FF2B5EF4-FFF2-40B4-BE49-F238E27FC236}">
                <a16:creationId xmlns:a16="http://schemas.microsoft.com/office/drawing/2014/main" id="{5665AB5F-E3B9-4305-8D98-AF134F9CBA34}"/>
              </a:ext>
            </a:extLst>
          </p:cNvPr>
          <p:cNvSpPr>
            <a:spLocks noGrp="1"/>
          </p:cNvSpPr>
          <p:nvPr>
            <p:ph sz="quarter" idx="16"/>
          </p:nvPr>
        </p:nvSpPr>
        <p:spPr>
          <a:xfrm>
            <a:off x="457200" y="4644248"/>
            <a:ext cx="8432800" cy="828299"/>
          </a:xfrm>
        </p:spPr>
        <p:txBody>
          <a:bodyPr lIns="0" tIns="0" rIns="0" bIns="0"/>
          <a:lstStyle/>
          <a:p>
            <a:pPr marL="0" indent="0">
              <a:buNone/>
            </a:pPr>
            <a:r>
              <a:rPr lang="en-US" sz="1600" dirty="0">
                <a:latin typeface="Arial (Body)"/>
              </a:rPr>
              <a:t>While the euro’s role as a reserve currency increased during the first decade of its existence, it has taken a hit after the euro crisis. The dollar remains the overwhelming favorite.</a:t>
            </a:r>
          </a:p>
          <a:p>
            <a:pPr marL="0" indent="0">
              <a:spcBef>
                <a:spcPts val="600"/>
              </a:spcBef>
              <a:buNone/>
            </a:pPr>
            <a:r>
              <a:rPr lang="en-US" sz="1600" b="1" dirty="0">
                <a:latin typeface="Arial (Body)"/>
              </a:rPr>
              <a:t>Source: </a:t>
            </a:r>
            <a:r>
              <a:rPr lang="en-US" sz="1600" dirty="0">
                <a:latin typeface="Arial (Body)"/>
              </a:rPr>
              <a:t>International Monetary Fund, Currency Composition of Foreign Exchange Reserves</a:t>
            </a:r>
            <a:endParaRPr lang="en-IN" dirty="0"/>
          </a:p>
        </p:txBody>
      </p:sp>
      <p:sp>
        <p:nvSpPr>
          <p:cNvPr id="7" name="Content Placeholder 6">
            <a:extLst>
              <a:ext uri="{FF2B5EF4-FFF2-40B4-BE49-F238E27FC236}">
                <a16:creationId xmlns:a16="http://schemas.microsoft.com/office/drawing/2014/main" id="{4ED01CE7-53F0-4196-BD15-E2B3F4A764F0}"/>
              </a:ext>
            </a:extLst>
          </p:cNvPr>
          <p:cNvSpPr>
            <a:spLocks noGrp="1"/>
          </p:cNvSpPr>
          <p:nvPr>
            <p:ph sz="quarter" idx="17"/>
          </p:nvPr>
        </p:nvSpPr>
        <p:spPr>
          <a:xfrm>
            <a:off x="446368" y="5533071"/>
            <a:ext cx="1230032" cy="292417"/>
          </a:xfrm>
        </p:spPr>
        <p:txBody>
          <a:bodyPr lIns="0" tIns="0" rIns="0" bIns="0"/>
          <a:lstStyle/>
          <a:p>
            <a:pPr marL="0" indent="0">
              <a:buNone/>
            </a:pPr>
            <a:r>
              <a:rPr lang="en-US" dirty="0">
                <a:latin typeface="Arial (Body)"/>
              </a:rPr>
              <a:t>(C</a:t>
            </a:r>
            <a:r>
              <a:rPr lang="en-US" sz="100" dirty="0">
                <a:latin typeface="Arial (Body)"/>
              </a:rPr>
              <a:t> </a:t>
            </a:r>
            <a:r>
              <a:rPr lang="en-US" dirty="0">
                <a:latin typeface="Arial (Body)"/>
              </a:rPr>
              <a:t>O</a:t>
            </a:r>
            <a:r>
              <a:rPr lang="en-US" sz="100" dirty="0">
                <a:latin typeface="Arial (Body)"/>
              </a:rPr>
              <a:t> </a:t>
            </a:r>
            <a:r>
              <a:rPr lang="en-US" dirty="0">
                <a:latin typeface="Arial (Body)"/>
              </a:rPr>
              <a:t>F</a:t>
            </a:r>
            <a:r>
              <a:rPr lang="en-US" sz="100" dirty="0">
                <a:latin typeface="Arial (Body)"/>
              </a:rPr>
              <a:t> </a:t>
            </a:r>
            <a:r>
              <a:rPr lang="en-US" dirty="0">
                <a:latin typeface="Arial (Body)"/>
              </a:rPr>
              <a:t>E</a:t>
            </a:r>
            <a:r>
              <a:rPr lang="en-US" sz="100" dirty="0">
                <a:latin typeface="Arial (Body)"/>
              </a:rPr>
              <a:t> </a:t>
            </a:r>
            <a:r>
              <a:rPr lang="en-US" dirty="0">
                <a:latin typeface="Arial (Body)"/>
              </a:rPr>
              <a:t>R), at</a:t>
            </a:r>
            <a:endParaRPr lang="en-IN" dirty="0"/>
          </a:p>
        </p:txBody>
      </p:sp>
      <p:sp>
        <p:nvSpPr>
          <p:cNvPr id="8" name="Text Placeholder 7">
            <a:extLst>
              <a:ext uri="{FF2B5EF4-FFF2-40B4-BE49-F238E27FC236}">
                <a16:creationId xmlns:a16="http://schemas.microsoft.com/office/drawing/2014/main" id="{4F80615E-CEFB-4CE9-861B-AC3A8985E840}"/>
              </a:ext>
            </a:extLst>
          </p:cNvPr>
          <p:cNvSpPr>
            <a:spLocks noGrp="1"/>
          </p:cNvSpPr>
          <p:nvPr>
            <p:ph type="body" sz="quarter" idx="18"/>
          </p:nvPr>
        </p:nvSpPr>
        <p:spPr>
          <a:xfrm>
            <a:off x="1758210" y="5537271"/>
            <a:ext cx="4945753" cy="297472"/>
          </a:xfrm>
        </p:spPr>
        <p:txBody>
          <a:bodyPr lIns="0" tIns="0" rIns="0" bIns="0"/>
          <a:lstStyle/>
          <a:p>
            <a:pPr marL="0" indent="0">
              <a:buNone/>
            </a:pPr>
            <a:r>
              <a:rPr lang="en-US" dirty="0">
                <a:latin typeface="Arial (Body)"/>
                <a:hlinkClick r:id="rId4" tooltip="http://www.imf.org/external/np/sta/cofer/eng/index.htm"/>
              </a:rPr>
              <a:t>http://www.imf.org/external/np/sta/cofer/eng/index.htm</a:t>
            </a:r>
            <a:endParaRPr lang="en-IN" dirty="0"/>
          </a:p>
        </p:txBody>
      </p:sp>
      <p:sp>
        <p:nvSpPr>
          <p:cNvPr id="9" name="Content Placeholder 8">
            <a:extLst>
              <a:ext uri="{FF2B5EF4-FFF2-40B4-BE49-F238E27FC236}">
                <a16:creationId xmlns:a16="http://schemas.microsoft.com/office/drawing/2014/main" id="{3C829150-057E-42D8-B337-075057B73633}"/>
              </a:ext>
            </a:extLst>
          </p:cNvPr>
          <p:cNvSpPr>
            <a:spLocks noGrp="1"/>
          </p:cNvSpPr>
          <p:nvPr>
            <p:ph sz="quarter" idx="19"/>
          </p:nvPr>
        </p:nvSpPr>
        <p:spPr>
          <a:xfrm>
            <a:off x="6751091" y="5547921"/>
            <a:ext cx="1817723" cy="292418"/>
          </a:xfrm>
        </p:spPr>
        <p:txBody>
          <a:bodyPr lIns="0" tIns="0" rIns="0" bIns="0"/>
          <a:lstStyle/>
          <a:p>
            <a:pPr marL="0" indent="0">
              <a:buNone/>
            </a:pPr>
            <a:r>
              <a:rPr lang="en-US" dirty="0">
                <a:latin typeface="Arial (Body)"/>
              </a:rPr>
              <a:t>. These data cover</a:t>
            </a:r>
            <a:endParaRPr lang="en-IN" dirty="0"/>
          </a:p>
        </p:txBody>
      </p:sp>
      <p:sp>
        <p:nvSpPr>
          <p:cNvPr id="10" name="Content Placeholder 9">
            <a:extLst>
              <a:ext uri="{FF2B5EF4-FFF2-40B4-BE49-F238E27FC236}">
                <a16:creationId xmlns:a16="http://schemas.microsoft.com/office/drawing/2014/main" id="{AD714379-CE79-43E0-B974-9FDD7DCEA9F8}"/>
              </a:ext>
            </a:extLst>
          </p:cNvPr>
          <p:cNvSpPr>
            <a:spLocks noGrp="1"/>
          </p:cNvSpPr>
          <p:nvPr>
            <p:ph sz="quarter" idx="20"/>
          </p:nvPr>
        </p:nvSpPr>
        <p:spPr>
          <a:xfrm>
            <a:off x="446387" y="5901021"/>
            <a:ext cx="5783591" cy="284109"/>
          </a:xfrm>
        </p:spPr>
        <p:txBody>
          <a:bodyPr lIns="0" tIns="0" rIns="0" bIns="0"/>
          <a:lstStyle/>
          <a:p>
            <a:pPr marL="0" indent="0">
              <a:buNone/>
            </a:pPr>
            <a:r>
              <a:rPr lang="en-US" dirty="0">
                <a:latin typeface="Arial (Body)"/>
              </a:rPr>
              <a:t>only the countries that report reserve composition to the I</a:t>
            </a:r>
            <a:r>
              <a:rPr lang="en-US" sz="100" dirty="0">
                <a:latin typeface="Arial (Body)"/>
              </a:rPr>
              <a:t> </a:t>
            </a:r>
            <a:r>
              <a:rPr lang="en-US" dirty="0">
                <a:latin typeface="Arial (Body)"/>
              </a:rPr>
              <a:t>M</a:t>
            </a:r>
            <a:r>
              <a:rPr lang="en-US" sz="100" dirty="0">
                <a:latin typeface="Arial (Body)"/>
              </a:rPr>
              <a:t> </a:t>
            </a:r>
            <a:r>
              <a:rPr lang="en-US" dirty="0">
                <a:latin typeface="Arial (Body)"/>
              </a:rPr>
              <a:t>F.</a:t>
            </a:r>
            <a:endParaRPr lang="en-IN" dirty="0"/>
          </a:p>
        </p:txBody>
      </p:sp>
    </p:spTree>
    <p:extLst>
      <p:ext uri="{BB962C8B-B14F-4D97-AF65-F5344CB8AC3E}">
        <p14:creationId xmlns:p14="http://schemas.microsoft.com/office/powerpoint/2010/main" val="14789056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FD87-625B-481F-BFDC-56CC3AA0E940}"/>
              </a:ext>
            </a:extLst>
          </p:cNvPr>
          <p:cNvSpPr>
            <a:spLocks noGrp="1"/>
          </p:cNvSpPr>
          <p:nvPr>
            <p:ph type="title"/>
          </p:nvPr>
        </p:nvSpPr>
        <p:spPr/>
        <p:txBody>
          <a:bodyPr/>
          <a:lstStyle/>
          <a:p>
            <a:r>
              <a:rPr lang="en-US" altLang="en-US" dirty="0">
                <a:latin typeface="+mn-lt"/>
                <a:ea typeface="ヒラギノ角ゴ Pro W3" pitchFamily="-84" charset="-128"/>
                <a:cs typeface="Times New Roman" panose="02020603050405020304" pitchFamily="18" charset="0"/>
              </a:rPr>
              <a:t>Summary </a:t>
            </a:r>
            <a:r>
              <a:rPr lang="en-US" altLang="en-US" sz="2000" b="0" dirty="0">
                <a:latin typeface="+mn-lt"/>
                <a:ea typeface="ヒラギノ角ゴ Pro W3" pitchFamily="-84" charset="-128"/>
                <a:cs typeface="Times New Roman" panose="02020603050405020304" pitchFamily="18" charset="0"/>
              </a:rPr>
              <a:t>(1 of 4)</a:t>
            </a:r>
            <a:endParaRPr lang="en-IN" sz="2000" dirty="0">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07EC0293-E217-4C49-84E2-C3541EBC252A}"/>
              </a:ext>
            </a:extLst>
          </p:cNvPr>
          <p:cNvSpPr>
            <a:spLocks noGrp="1"/>
          </p:cNvSpPr>
          <p:nvPr>
            <p:ph sz="quarter" idx="13"/>
          </p:nvPr>
        </p:nvSpPr>
        <p:spPr>
          <a:xfrm>
            <a:off x="466602" y="1552575"/>
            <a:ext cx="8220197" cy="878109"/>
          </a:xfrm>
        </p:spPr>
        <p:txBody>
          <a:bodyPr/>
          <a:lstStyle/>
          <a:p>
            <a:pPr marL="432000" indent="-432000">
              <a:buFont typeface="+mj-lt"/>
              <a:buAutoNum type="arabicPeriod"/>
            </a:pPr>
            <a:r>
              <a:rPr lang="en-US" altLang="en-US" dirty="0">
                <a:latin typeface="Arial (Body)"/>
                <a:ea typeface="ヒラギノ角ゴ Pro W3" pitchFamily="-84" charset="-128"/>
              </a:rPr>
              <a:t>Changes in a central bank</a:t>
            </a:r>
            <a:r>
              <a:rPr lang="en-US" altLang="ja-JP" dirty="0">
                <a:latin typeface="Arial (Body)"/>
                <a:ea typeface="ヒラギノ角ゴ Pro W3" pitchFamily="-84" charset="-128"/>
              </a:rPr>
              <a:t>’s balance sheet lead to changes in the domestic money supply.</a:t>
            </a:r>
            <a:endParaRPr lang="en-IN" dirty="0"/>
          </a:p>
        </p:txBody>
      </p:sp>
      <p:sp>
        <p:nvSpPr>
          <p:cNvPr id="4" name="Content Placeholder 3">
            <a:extLst>
              <a:ext uri="{FF2B5EF4-FFF2-40B4-BE49-F238E27FC236}">
                <a16:creationId xmlns:a16="http://schemas.microsoft.com/office/drawing/2014/main" id="{592FEAF9-DF6D-46D8-A1CC-F19AC1A764AA}"/>
              </a:ext>
            </a:extLst>
          </p:cNvPr>
          <p:cNvSpPr>
            <a:spLocks noGrp="1"/>
          </p:cNvSpPr>
          <p:nvPr>
            <p:ph sz="quarter" idx="14"/>
          </p:nvPr>
        </p:nvSpPr>
        <p:spPr>
          <a:xfrm>
            <a:off x="457200" y="2518277"/>
            <a:ext cx="7762875" cy="1638481"/>
          </a:xfrm>
        </p:spPr>
        <p:txBody>
          <a:bodyPr tIns="0" rIns="0" bIns="0"/>
          <a:lstStyle/>
          <a:p>
            <a:pPr marL="740664" lvl="1" indent="-283464" eaLnBrk="1" hangingPunct="1"/>
            <a:r>
              <a:rPr lang="en-US" altLang="en-US" sz="2400" dirty="0">
                <a:latin typeface="Arial (Body)"/>
                <a:ea typeface="ヒラギノ角ゴ Pro W3" pitchFamily="-84" charset="-128"/>
              </a:rPr>
              <a:t>Buying domestic or foreign assets increases the domestic money supply.</a:t>
            </a:r>
          </a:p>
          <a:p>
            <a:pPr marL="740664" lvl="1" indent="-283464" eaLnBrk="1" hangingPunct="1"/>
            <a:r>
              <a:rPr lang="en-US" altLang="en-US" sz="2400" dirty="0">
                <a:latin typeface="Arial (Body)"/>
                <a:ea typeface="ヒラギノ角ゴ Pro W3" pitchFamily="-84" charset="-128"/>
              </a:rPr>
              <a:t>Selling domestic or foreign assets decreases the domestic money supply.</a:t>
            </a:r>
            <a:endParaRPr lang="en-IN" dirty="0"/>
          </a:p>
        </p:txBody>
      </p:sp>
      <p:sp>
        <p:nvSpPr>
          <p:cNvPr id="5" name="Content Placeholder 4">
            <a:extLst>
              <a:ext uri="{FF2B5EF4-FFF2-40B4-BE49-F238E27FC236}">
                <a16:creationId xmlns:a16="http://schemas.microsoft.com/office/drawing/2014/main" id="{D5C68AE6-04A5-4095-821F-453CD99CF290}"/>
              </a:ext>
            </a:extLst>
          </p:cNvPr>
          <p:cNvSpPr>
            <a:spLocks noGrp="1"/>
          </p:cNvSpPr>
          <p:nvPr>
            <p:ph sz="quarter" idx="15"/>
          </p:nvPr>
        </p:nvSpPr>
        <p:spPr>
          <a:xfrm>
            <a:off x="468313" y="4225000"/>
            <a:ext cx="7475537" cy="1394750"/>
          </a:xfrm>
        </p:spPr>
        <p:txBody>
          <a:bodyPr/>
          <a:lstStyle/>
          <a:p>
            <a:pPr marL="432000" indent="-432000">
              <a:buFont typeface="+mj-lt"/>
              <a:buAutoNum type="arabicPeriod" startAt="2"/>
            </a:pPr>
            <a:r>
              <a:rPr lang="en-US" altLang="en-US" dirty="0">
                <a:latin typeface="Arial (Body)"/>
                <a:ea typeface="ヒラギノ角ゴ Pro W3" pitchFamily="-84" charset="-128"/>
              </a:rPr>
              <a:t>When markets expect exchange rates to be fixed, domestic and foreign assets have equal expected returns if they are treated as perfect substitutes.</a:t>
            </a:r>
            <a:endParaRPr lang="en-IN" dirty="0"/>
          </a:p>
        </p:txBody>
      </p:sp>
    </p:spTree>
    <p:extLst>
      <p:ext uri="{BB962C8B-B14F-4D97-AF65-F5344CB8AC3E}">
        <p14:creationId xmlns:p14="http://schemas.microsoft.com/office/powerpoint/2010/main" val="19049885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FD87-625B-481F-BFDC-56CC3AA0E940}"/>
              </a:ext>
            </a:extLst>
          </p:cNvPr>
          <p:cNvSpPr>
            <a:spLocks noGrp="1"/>
          </p:cNvSpPr>
          <p:nvPr>
            <p:ph type="title"/>
          </p:nvPr>
        </p:nvSpPr>
        <p:spPr/>
        <p:txBody>
          <a:bodyPr/>
          <a:lstStyle/>
          <a:p>
            <a:r>
              <a:rPr lang="en-US" altLang="en-US" dirty="0">
                <a:latin typeface="+mn-lt"/>
                <a:ea typeface="ヒラギノ角ゴ Pro W3" pitchFamily="-84" charset="-128"/>
                <a:cs typeface="Times New Roman" panose="02020603050405020304" pitchFamily="18" charset="0"/>
              </a:rPr>
              <a:t>Summary </a:t>
            </a:r>
            <a:r>
              <a:rPr lang="en-US" altLang="en-US" sz="2000" b="0" dirty="0">
                <a:latin typeface="+mn-lt"/>
                <a:ea typeface="ヒラギノ角ゴ Pro W3" pitchFamily="-84" charset="-128"/>
                <a:cs typeface="Times New Roman" panose="02020603050405020304" pitchFamily="18" charset="0"/>
              </a:rPr>
              <a:t>(2 of 4)</a:t>
            </a:r>
            <a:endParaRPr lang="en-IN" sz="2000" dirty="0">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07EC0293-E217-4C49-84E2-C3541EBC252A}"/>
              </a:ext>
            </a:extLst>
          </p:cNvPr>
          <p:cNvSpPr>
            <a:spLocks noGrp="1"/>
          </p:cNvSpPr>
          <p:nvPr>
            <p:ph sz="quarter" idx="13"/>
          </p:nvPr>
        </p:nvSpPr>
        <p:spPr>
          <a:xfrm>
            <a:off x="466602" y="1552575"/>
            <a:ext cx="8220197" cy="2316040"/>
          </a:xfrm>
        </p:spPr>
        <p:txBody>
          <a:bodyPr/>
          <a:lstStyle/>
          <a:p>
            <a:pPr marL="432000" indent="-432000" eaLnBrk="1" hangingPunct="1">
              <a:buFont typeface="Times" pitchFamily="-84" charset="0"/>
              <a:buAutoNum type="arabicPeriod" startAt="3"/>
            </a:pPr>
            <a:r>
              <a:rPr lang="en-US" altLang="en-US" dirty="0">
                <a:latin typeface="Arial (Body)"/>
                <a:ea typeface="ヒラギノ角ゴ Pro W3" pitchFamily="-84" charset="-128"/>
              </a:rPr>
              <a:t>Monetary policy is ineffective in influencing output or employment under fixed exchange rates.</a:t>
            </a:r>
          </a:p>
          <a:p>
            <a:pPr marL="432000" indent="-432000" eaLnBrk="1" hangingPunct="1">
              <a:buFont typeface="Times" pitchFamily="-84" charset="0"/>
              <a:buAutoNum type="arabicPeriod" startAt="3"/>
            </a:pPr>
            <a:r>
              <a:rPr lang="en-US" altLang="en-US" dirty="0">
                <a:latin typeface="Arial (Body)"/>
                <a:ea typeface="ヒラギノ角ゴ Pro W3" pitchFamily="-84" charset="-128"/>
              </a:rPr>
              <a:t>Temporary fiscal policy is more effective in influencing output and employment under fixed exchange rates, compared to under flexible exchange rates.</a:t>
            </a:r>
          </a:p>
        </p:txBody>
      </p:sp>
    </p:spTree>
    <p:extLst>
      <p:ext uri="{BB962C8B-B14F-4D97-AF65-F5344CB8AC3E}">
        <p14:creationId xmlns:p14="http://schemas.microsoft.com/office/powerpoint/2010/main" val="18204078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FD87-625B-481F-BFDC-56CC3AA0E940}"/>
              </a:ext>
            </a:extLst>
          </p:cNvPr>
          <p:cNvSpPr>
            <a:spLocks noGrp="1"/>
          </p:cNvSpPr>
          <p:nvPr>
            <p:ph type="title"/>
          </p:nvPr>
        </p:nvSpPr>
        <p:spPr/>
        <p:txBody>
          <a:bodyPr/>
          <a:lstStyle/>
          <a:p>
            <a:r>
              <a:rPr lang="en-US" altLang="en-US" dirty="0">
                <a:latin typeface="+mn-lt"/>
                <a:ea typeface="ヒラギノ角ゴ Pro W3" pitchFamily="-84" charset="-128"/>
                <a:cs typeface="Times New Roman" panose="02020603050405020304" pitchFamily="18" charset="0"/>
              </a:rPr>
              <a:t>Summary </a:t>
            </a:r>
            <a:r>
              <a:rPr lang="en-US" altLang="en-US" sz="2000" b="0" dirty="0">
                <a:latin typeface="+mn-lt"/>
                <a:ea typeface="ヒラギノ角ゴ Pro W3" pitchFamily="-84" charset="-128"/>
                <a:cs typeface="Times New Roman" panose="02020603050405020304" pitchFamily="18" charset="0"/>
              </a:rPr>
              <a:t>(3 of 4)</a:t>
            </a:r>
            <a:endParaRPr lang="en-IN" sz="2000" dirty="0">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07EC0293-E217-4C49-84E2-C3541EBC252A}"/>
              </a:ext>
            </a:extLst>
          </p:cNvPr>
          <p:cNvSpPr>
            <a:spLocks noGrp="1"/>
          </p:cNvSpPr>
          <p:nvPr>
            <p:ph sz="quarter" idx="13"/>
          </p:nvPr>
        </p:nvSpPr>
        <p:spPr>
          <a:xfrm>
            <a:off x="466603" y="1552574"/>
            <a:ext cx="8054400" cy="4352925"/>
          </a:xfrm>
        </p:spPr>
        <p:txBody>
          <a:bodyPr/>
          <a:lstStyle/>
          <a:p>
            <a:pPr marL="432000" indent="-432000" eaLnBrk="1" hangingPunct="1">
              <a:buFont typeface="Times" pitchFamily="-84" charset="0"/>
              <a:buAutoNum type="arabicPeriod" startAt="5"/>
            </a:pPr>
            <a:r>
              <a:rPr lang="en-US" altLang="en-US" sz="2400" dirty="0">
                <a:latin typeface="Arial (Body)"/>
                <a:ea typeface="ヒラギノ角ゴ Pro W3" pitchFamily="-84" charset="-128"/>
              </a:rPr>
              <a:t>A balance of payments crisis occurs when a central bank does not have enough official international reserves to maintain a fixed exchange rate.</a:t>
            </a:r>
          </a:p>
          <a:p>
            <a:pPr marL="432000" indent="-432000" eaLnBrk="1" hangingPunct="1">
              <a:buFont typeface="Times" pitchFamily="-84" charset="0"/>
              <a:buAutoNum type="arabicPeriod" startAt="5"/>
            </a:pPr>
            <a:r>
              <a:rPr lang="en-US" altLang="en-US" sz="2400" dirty="0">
                <a:latin typeface="Arial (Body)"/>
                <a:ea typeface="ヒラギノ角ゴ Pro W3" pitchFamily="-84" charset="-128"/>
              </a:rPr>
              <a:t>Capital flight can occur if investors expect a devaluation, which may occur if they expect that a central bank can no longer maintain a fixed exchange rate: self-fulfilling crises can occur.</a:t>
            </a:r>
          </a:p>
          <a:p>
            <a:pPr marL="432000" indent="-432000" eaLnBrk="1" hangingPunct="1">
              <a:buFont typeface="Times" pitchFamily="-84" charset="0"/>
              <a:buAutoNum type="arabicPeriod" startAt="5"/>
            </a:pPr>
            <a:r>
              <a:rPr lang="en-US" altLang="en-US" sz="2400" dirty="0">
                <a:latin typeface="Arial (Body)"/>
                <a:ea typeface="ヒラギノ角ゴ Pro W3" pitchFamily="-84" charset="-128"/>
              </a:rPr>
              <a:t>Domestic and foreign assets may not be perfect substitutes due to differences in default risk or due to exchange rate risk.</a:t>
            </a:r>
          </a:p>
        </p:txBody>
      </p:sp>
    </p:spTree>
    <p:extLst>
      <p:ext uri="{BB962C8B-B14F-4D97-AF65-F5344CB8AC3E}">
        <p14:creationId xmlns:p14="http://schemas.microsoft.com/office/powerpoint/2010/main" val="30572523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FD87-625B-481F-BFDC-56CC3AA0E940}"/>
              </a:ext>
            </a:extLst>
          </p:cNvPr>
          <p:cNvSpPr>
            <a:spLocks noGrp="1"/>
          </p:cNvSpPr>
          <p:nvPr>
            <p:ph type="title"/>
          </p:nvPr>
        </p:nvSpPr>
        <p:spPr/>
        <p:txBody>
          <a:bodyPr/>
          <a:lstStyle/>
          <a:p>
            <a:r>
              <a:rPr lang="en-US" altLang="en-US" dirty="0">
                <a:latin typeface="+mn-lt"/>
                <a:ea typeface="ヒラギノ角ゴ Pro W3" pitchFamily="-84" charset="-128"/>
                <a:cs typeface="Times New Roman" panose="02020603050405020304" pitchFamily="18" charset="0"/>
              </a:rPr>
              <a:t>Summary </a:t>
            </a:r>
            <a:r>
              <a:rPr lang="en-US" altLang="en-US" sz="2000" b="0" dirty="0">
                <a:latin typeface="+mn-lt"/>
                <a:ea typeface="ヒラギノ角ゴ Pro W3" pitchFamily="-84" charset="-128"/>
                <a:cs typeface="Times New Roman" panose="02020603050405020304" pitchFamily="18" charset="0"/>
              </a:rPr>
              <a:t>(4 of 4)</a:t>
            </a:r>
            <a:endParaRPr lang="en-IN" sz="2000" dirty="0">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07EC0293-E217-4C49-84E2-C3541EBC252A}"/>
              </a:ext>
            </a:extLst>
          </p:cNvPr>
          <p:cNvSpPr>
            <a:spLocks noGrp="1"/>
          </p:cNvSpPr>
          <p:nvPr>
            <p:ph sz="quarter" idx="13"/>
          </p:nvPr>
        </p:nvSpPr>
        <p:spPr>
          <a:xfrm>
            <a:off x="466602" y="1552574"/>
            <a:ext cx="8220197" cy="2619375"/>
          </a:xfrm>
        </p:spPr>
        <p:txBody>
          <a:bodyPr/>
          <a:lstStyle/>
          <a:p>
            <a:pPr marL="432000" indent="-432000" eaLnBrk="1" hangingPunct="1">
              <a:buFont typeface="Times" pitchFamily="-84" charset="0"/>
              <a:buAutoNum type="arabicPeriod" startAt="8"/>
            </a:pPr>
            <a:r>
              <a:rPr lang="en-US" altLang="en-US" dirty="0">
                <a:latin typeface="Arial (Body)"/>
                <a:ea typeface="ヒラギノ角ゴ Pro W3" pitchFamily="-84" charset="-128"/>
              </a:rPr>
              <a:t>Under a reserve currency system, all central banks but the one that controls the supply of the reserve currency trade the reserve currency to maintain fixed exchange rates.</a:t>
            </a:r>
          </a:p>
          <a:p>
            <a:pPr marL="432000" indent="-432000" eaLnBrk="1" hangingPunct="1">
              <a:buFont typeface="Times" pitchFamily="-84" charset="0"/>
              <a:buAutoNum type="arabicPeriod" startAt="8"/>
            </a:pPr>
            <a:r>
              <a:rPr lang="en-US" altLang="en-US" dirty="0">
                <a:latin typeface="Arial (Body)"/>
                <a:ea typeface="ヒラギノ角ゴ Pro W3" pitchFamily="-84" charset="-128"/>
              </a:rPr>
              <a:t>Under a gold standard, all central banks trade gold to maintain fixed exchange rates.</a:t>
            </a:r>
          </a:p>
        </p:txBody>
      </p:sp>
    </p:spTree>
    <p:extLst>
      <p:ext uri="{BB962C8B-B14F-4D97-AF65-F5344CB8AC3E}">
        <p14:creationId xmlns:p14="http://schemas.microsoft.com/office/powerpoint/2010/main" val="22702297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8A07E-BF81-408C-BDC4-300C8259EFF9}"/>
              </a:ext>
            </a:extLst>
          </p:cNvPr>
          <p:cNvSpPr>
            <a:spLocks noGrp="1"/>
          </p:cNvSpPr>
          <p:nvPr>
            <p:ph type="title"/>
          </p:nvPr>
        </p:nvSpPr>
        <p:spPr>
          <a:xfrm>
            <a:off x="457200" y="142875"/>
            <a:ext cx="8229600" cy="1169775"/>
          </a:xfrm>
        </p:spPr>
        <p:txBody>
          <a:bodyPr/>
          <a:lstStyle/>
          <a:p>
            <a:r>
              <a:rPr lang="en-US" altLang="en-US" sz="2200" dirty="0">
                <a:ea typeface="ヒラギノ角ゴ Pro W3" pitchFamily="-84" charset="-128"/>
                <a:cs typeface="Times New Roman" panose="02020603050405020304" pitchFamily="18" charset="0"/>
              </a:rPr>
              <a:t>Figure 18A1.1 The Domestic Bond Supply and the Foreign Exchange Risk Premium Under Imperfect Asset Substitutability</a:t>
            </a:r>
            <a:endParaRPr lang="en-IN" sz="2200" dirty="0"/>
          </a:p>
        </p:txBody>
      </p:sp>
      <p:pic>
        <p:nvPicPr>
          <p:cNvPr id="6" name="Content Placeholder 5" descr="The graph plots the risk premium on domestic bonds versus quantity of domestic bonds. For long description in Notes pane, press F6.">
            <a:extLst>
              <a:ext uri="{FF2B5EF4-FFF2-40B4-BE49-F238E27FC236}">
                <a16:creationId xmlns:a16="http://schemas.microsoft.com/office/drawing/2014/main" id="{7C1BE353-2577-4F96-BBFA-BFA8F059EFBF}"/>
              </a:ext>
            </a:extLst>
          </p:cNvPr>
          <p:cNvPicPr>
            <a:picLocks noGrp="1" noChangeAspect="1"/>
          </p:cNvPicPr>
          <p:nvPr>
            <p:ph sz="quarter" idx="13"/>
          </p:nvPr>
        </p:nvPicPr>
        <p:blipFill>
          <a:blip r:embed="rId3"/>
          <a:stretch>
            <a:fillRect/>
          </a:stretch>
        </p:blipFill>
        <p:spPr>
          <a:xfrm>
            <a:off x="3052093" y="1573674"/>
            <a:ext cx="3649412" cy="3653503"/>
          </a:xfrm>
        </p:spPr>
      </p:pic>
      <p:sp>
        <p:nvSpPr>
          <p:cNvPr id="4" name="Content Placeholder 3">
            <a:extLst>
              <a:ext uri="{FF2B5EF4-FFF2-40B4-BE49-F238E27FC236}">
                <a16:creationId xmlns:a16="http://schemas.microsoft.com/office/drawing/2014/main" id="{417ECD6B-ECA3-4CE1-A042-DC23EF518AD4}"/>
              </a:ext>
            </a:extLst>
          </p:cNvPr>
          <p:cNvSpPr>
            <a:spLocks noGrp="1"/>
          </p:cNvSpPr>
          <p:nvPr>
            <p:ph sz="quarter" idx="14"/>
          </p:nvPr>
        </p:nvSpPr>
        <p:spPr>
          <a:xfrm>
            <a:off x="457200" y="5514975"/>
            <a:ext cx="8229600" cy="733425"/>
          </a:xfrm>
        </p:spPr>
        <p:txBody>
          <a:bodyPr/>
          <a:lstStyle/>
          <a:p>
            <a:pPr marL="432" indent="0">
              <a:buNone/>
            </a:pPr>
            <a:r>
              <a:rPr lang="en-US" sz="1800" dirty="0">
                <a:latin typeface="Arial (Body)"/>
              </a:rPr>
              <a:t>An increase in the supply of domestic currency bonds that the private sector must hold raises the risk premium on domestic currency assets.</a:t>
            </a:r>
          </a:p>
        </p:txBody>
      </p:sp>
    </p:spTree>
    <p:extLst>
      <p:ext uri="{BB962C8B-B14F-4D97-AF65-F5344CB8AC3E}">
        <p14:creationId xmlns:p14="http://schemas.microsoft.com/office/powerpoint/2010/main" val="40588120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noChangeArrowheads="1"/>
          </p:cNvSpPr>
          <p:nvPr>
            <p:ph type="title"/>
          </p:nvPr>
        </p:nvSpPr>
        <p:spPr/>
        <p:txBody>
          <a:bodyPr/>
          <a:lstStyle/>
          <a:p>
            <a:pPr eaLnBrk="1" hangingPunct="1"/>
            <a:r>
              <a:rPr lang="en-US" altLang="en-US" sz="2800" dirty="0">
                <a:latin typeface="+mj-lt"/>
                <a:ea typeface="ヒラギノ角ゴ Pro W3" pitchFamily="-84" charset="-128"/>
              </a:rPr>
              <a:t>Figure 18A2.1 How the Timing of a Balance of Payments Crisis Is Determined</a:t>
            </a:r>
          </a:p>
        </p:txBody>
      </p:sp>
      <p:pic>
        <p:nvPicPr>
          <p:cNvPr id="6" name="Content Placeholder 5" descr="The graph plots exchange rate, E above y = 0 and foreign reserves, F asterisk below y = 0, which increases downward, versus time. For long description in Notes pane, press F6.">
            <a:extLst>
              <a:ext uri="{FF2B5EF4-FFF2-40B4-BE49-F238E27FC236}">
                <a16:creationId xmlns:a16="http://schemas.microsoft.com/office/drawing/2014/main" id="{1FABB653-30CC-4D9E-949A-08FE390E393E}"/>
              </a:ext>
            </a:extLst>
          </p:cNvPr>
          <p:cNvPicPr>
            <a:picLocks noGrp="1" noChangeAspect="1"/>
          </p:cNvPicPr>
          <p:nvPr>
            <p:ph idx="1"/>
          </p:nvPr>
        </p:nvPicPr>
        <p:blipFill>
          <a:blip r:embed="rId4"/>
          <a:stretch>
            <a:fillRect/>
          </a:stretch>
        </p:blipFill>
        <p:spPr>
          <a:xfrm>
            <a:off x="3084569" y="1577472"/>
            <a:ext cx="2974863" cy="3507337"/>
          </a:xfrm>
        </p:spPr>
      </p:pic>
      <p:sp>
        <p:nvSpPr>
          <p:cNvPr id="5" name="Content Placeholder 4"/>
          <p:cNvSpPr>
            <a:spLocks noGrp="1"/>
          </p:cNvSpPr>
          <p:nvPr>
            <p:ph idx="13"/>
          </p:nvPr>
        </p:nvSpPr>
        <p:spPr>
          <a:xfrm>
            <a:off x="457200" y="5193457"/>
            <a:ext cx="8229600" cy="321629"/>
          </a:xfrm>
        </p:spPr>
        <p:txBody>
          <a:bodyPr lIns="0" tIns="0" rIns="0" bIns="0"/>
          <a:lstStyle/>
          <a:p>
            <a:pPr marL="0" indent="0">
              <a:buNone/>
            </a:pPr>
            <a:r>
              <a:rPr lang="en-US" sz="1800" dirty="0">
                <a:latin typeface="Arial (Body)"/>
              </a:rPr>
              <a:t>The market stages a speculative attack and buys the remaining foreign reserve</a:t>
            </a:r>
          </a:p>
        </p:txBody>
      </p:sp>
      <p:sp>
        <p:nvSpPr>
          <p:cNvPr id="7" name="Content Placeholder 6"/>
          <p:cNvSpPr>
            <a:spLocks noGrp="1"/>
          </p:cNvSpPr>
          <p:nvPr>
            <p:ph idx="14"/>
          </p:nvPr>
        </p:nvSpPr>
        <p:spPr>
          <a:xfrm>
            <a:off x="489474" y="5564252"/>
            <a:ext cx="609600" cy="292390"/>
          </a:xfrm>
        </p:spPr>
        <p:txBody>
          <a:bodyPr lIns="0" tIns="0" rIns="0" bIns="0"/>
          <a:lstStyle/>
          <a:p>
            <a:pPr marL="0" indent="0">
              <a:buNone/>
            </a:pPr>
            <a:r>
              <a:rPr lang="en-US" sz="1800" dirty="0">
                <a:latin typeface="Arial (Body)"/>
              </a:rPr>
              <a:t>stock</a:t>
            </a:r>
            <a:endParaRPr lang="en-US" sz="1800" dirty="0"/>
          </a:p>
        </p:txBody>
      </p:sp>
      <p:graphicFrame>
        <p:nvGraphicFramePr>
          <p:cNvPr id="10" name="Object 9" descr="F asterisk sub T"/>
          <p:cNvGraphicFramePr>
            <a:graphicFrameLocks noChangeAspect="1"/>
          </p:cNvGraphicFramePr>
          <p:nvPr>
            <p:extLst>
              <p:ext uri="{D42A27DB-BD31-4B8C-83A1-F6EECF244321}">
                <p14:modId xmlns:p14="http://schemas.microsoft.com/office/powerpoint/2010/main" val="3555169865"/>
              </p:ext>
            </p:extLst>
          </p:nvPr>
        </p:nvGraphicFramePr>
        <p:xfrm>
          <a:off x="1255352" y="5562745"/>
          <a:ext cx="278535" cy="352136"/>
        </p:xfrm>
        <a:graphic>
          <a:graphicData uri="http://schemas.openxmlformats.org/presentationml/2006/ole">
            <mc:AlternateContent xmlns:mc="http://schemas.openxmlformats.org/markup-compatibility/2006">
              <mc:Choice xmlns:v="urn:schemas-microsoft-com:vml" Requires="v">
                <p:oleObj spid="_x0000_s18584" name="Equation" r:id="rId5" imgW="190440" imgH="241200" progId="Equation.DSMT4">
                  <p:embed/>
                </p:oleObj>
              </mc:Choice>
              <mc:Fallback>
                <p:oleObj name="Equation" r:id="rId5" imgW="190440" imgH="241200" progId="Equation.DSMT4">
                  <p:embed/>
                  <p:pic>
                    <p:nvPicPr>
                      <p:cNvPr id="10" name="Object 9"/>
                      <p:cNvPicPr/>
                      <p:nvPr/>
                    </p:nvPicPr>
                    <p:blipFill>
                      <a:blip r:embed="rId6"/>
                      <a:stretch>
                        <a:fillRect/>
                      </a:stretch>
                    </p:blipFill>
                    <p:spPr>
                      <a:xfrm>
                        <a:off x="1255352" y="5562745"/>
                        <a:ext cx="278535" cy="352136"/>
                      </a:xfrm>
                      <a:prstGeom prst="rect">
                        <a:avLst/>
                      </a:prstGeom>
                    </p:spPr>
                  </p:pic>
                </p:oleObj>
              </mc:Fallback>
            </mc:AlternateContent>
          </a:graphicData>
        </a:graphic>
      </p:graphicFrame>
      <p:sp>
        <p:nvSpPr>
          <p:cNvPr id="9" name="Content Placeholder 8"/>
          <p:cNvSpPr>
            <a:spLocks noGrp="1"/>
          </p:cNvSpPr>
          <p:nvPr>
            <p:ph idx="15"/>
          </p:nvPr>
        </p:nvSpPr>
        <p:spPr>
          <a:xfrm>
            <a:off x="1697916" y="5567398"/>
            <a:ext cx="6260379" cy="353792"/>
          </a:xfrm>
        </p:spPr>
        <p:txBody>
          <a:bodyPr lIns="0" tIns="0" rIns="0" bIns="0"/>
          <a:lstStyle/>
          <a:p>
            <a:pPr marL="0" indent="0">
              <a:buNone/>
            </a:pPr>
            <a:r>
              <a:rPr lang="en-US" sz="1800" dirty="0">
                <a:latin typeface="Arial (Body)"/>
              </a:rPr>
              <a:t>at time </a:t>
            </a:r>
            <a:r>
              <a:rPr lang="en-US" sz="1800" i="1" dirty="0">
                <a:latin typeface="Arial (Body)"/>
              </a:rPr>
              <a:t>T</a:t>
            </a:r>
            <a:r>
              <a:rPr lang="en-US" sz="1800" dirty="0">
                <a:latin typeface="Arial (Body)"/>
              </a:rPr>
              <a:t>, which is when the shadow floating exchange rate</a:t>
            </a:r>
            <a:endParaRPr lang="en-US" sz="1800" dirty="0"/>
          </a:p>
        </p:txBody>
      </p:sp>
      <p:graphicFrame>
        <p:nvGraphicFramePr>
          <p:cNvPr id="11" name="Object 10" descr="E super S sub T"/>
          <p:cNvGraphicFramePr>
            <a:graphicFrameLocks noChangeAspect="1"/>
          </p:cNvGraphicFramePr>
          <p:nvPr>
            <p:extLst>
              <p:ext uri="{D42A27DB-BD31-4B8C-83A1-F6EECF244321}">
                <p14:modId xmlns:p14="http://schemas.microsoft.com/office/powerpoint/2010/main" val="1941040400"/>
              </p:ext>
            </p:extLst>
          </p:nvPr>
        </p:nvGraphicFramePr>
        <p:xfrm>
          <a:off x="522288" y="5949950"/>
          <a:ext cx="344487" cy="363538"/>
        </p:xfrm>
        <a:graphic>
          <a:graphicData uri="http://schemas.openxmlformats.org/presentationml/2006/ole">
            <mc:AlternateContent xmlns:mc="http://schemas.openxmlformats.org/markup-compatibility/2006">
              <mc:Choice xmlns:v="urn:schemas-microsoft-com:vml" Requires="v">
                <p:oleObj spid="_x0000_s18585" name="Equation" r:id="rId7" imgW="228600" imgH="241200" progId="Equation.DSMT4">
                  <p:embed/>
                </p:oleObj>
              </mc:Choice>
              <mc:Fallback>
                <p:oleObj name="Equation" r:id="rId7" imgW="228600" imgH="241200" progId="Equation.DSMT4">
                  <p:embed/>
                  <p:pic>
                    <p:nvPicPr>
                      <p:cNvPr id="11" name="Object 10"/>
                      <p:cNvPicPr/>
                      <p:nvPr/>
                    </p:nvPicPr>
                    <p:blipFill>
                      <a:blip r:embed="rId8"/>
                      <a:stretch>
                        <a:fillRect/>
                      </a:stretch>
                    </p:blipFill>
                    <p:spPr>
                      <a:xfrm>
                        <a:off x="522288" y="5949950"/>
                        <a:ext cx="344487" cy="363538"/>
                      </a:xfrm>
                      <a:prstGeom prst="rect">
                        <a:avLst/>
                      </a:prstGeom>
                    </p:spPr>
                  </p:pic>
                </p:oleObj>
              </mc:Fallback>
            </mc:AlternateContent>
          </a:graphicData>
        </a:graphic>
      </p:graphicFrame>
      <p:sp>
        <p:nvSpPr>
          <p:cNvPr id="12" name="Content Placeholder 11"/>
          <p:cNvSpPr>
            <a:spLocks noGrp="1"/>
          </p:cNvSpPr>
          <p:nvPr>
            <p:ph idx="16"/>
          </p:nvPr>
        </p:nvSpPr>
        <p:spPr>
          <a:xfrm>
            <a:off x="1033632" y="5981566"/>
            <a:ext cx="4909968" cy="353792"/>
          </a:xfrm>
        </p:spPr>
        <p:txBody>
          <a:bodyPr lIns="0" tIns="0" rIns="0" bIns="0"/>
          <a:lstStyle/>
          <a:p>
            <a:pPr marL="0" indent="0">
              <a:buNone/>
            </a:pPr>
            <a:r>
              <a:rPr lang="en-US" sz="1800" dirty="0">
                <a:latin typeface="Arial (Body)"/>
              </a:rPr>
              <a:t>just equals the pre-collapse fixed exchange rate</a:t>
            </a:r>
            <a:endParaRPr lang="en-US" sz="1800" dirty="0"/>
          </a:p>
        </p:txBody>
      </p:sp>
      <p:graphicFrame>
        <p:nvGraphicFramePr>
          <p:cNvPr id="14" name="Object 13" descr="E super 0."/>
          <p:cNvGraphicFramePr>
            <a:graphicFrameLocks noChangeAspect="1"/>
          </p:cNvGraphicFramePr>
          <p:nvPr>
            <p:extLst>
              <p:ext uri="{D42A27DB-BD31-4B8C-83A1-F6EECF244321}">
                <p14:modId xmlns:p14="http://schemas.microsoft.com/office/powerpoint/2010/main" val="1576406390"/>
              </p:ext>
            </p:extLst>
          </p:nvPr>
        </p:nvGraphicFramePr>
        <p:xfrm>
          <a:off x="6057483" y="5981563"/>
          <a:ext cx="338074" cy="253556"/>
        </p:xfrm>
        <a:graphic>
          <a:graphicData uri="http://schemas.openxmlformats.org/presentationml/2006/ole">
            <mc:AlternateContent xmlns:mc="http://schemas.openxmlformats.org/markup-compatibility/2006">
              <mc:Choice xmlns:v="urn:schemas-microsoft-com:vml" Requires="v">
                <p:oleObj spid="_x0000_s18586" name="Equation" r:id="rId9" imgW="253800" imgH="190440" progId="Equation.DSMT4">
                  <p:embed/>
                </p:oleObj>
              </mc:Choice>
              <mc:Fallback>
                <p:oleObj name="Equation" r:id="rId9" imgW="253800" imgH="190440" progId="Equation.DSMT4">
                  <p:embed/>
                  <p:pic>
                    <p:nvPicPr>
                      <p:cNvPr id="14" name="Object 13"/>
                      <p:cNvPicPr/>
                      <p:nvPr/>
                    </p:nvPicPr>
                    <p:blipFill>
                      <a:blip r:embed="rId10"/>
                      <a:stretch>
                        <a:fillRect/>
                      </a:stretch>
                    </p:blipFill>
                    <p:spPr>
                      <a:xfrm>
                        <a:off x="6057483" y="5981563"/>
                        <a:ext cx="338074" cy="253556"/>
                      </a:xfrm>
                      <a:prstGeom prst="rect">
                        <a:avLst/>
                      </a:prstGeom>
                    </p:spPr>
                  </p:pic>
                </p:oleObj>
              </mc:Fallback>
            </mc:AlternateContent>
          </a:graphicData>
        </a:graphic>
      </p:graphicFrame>
    </p:spTree>
    <p:extLst>
      <p:ext uri="{BB962C8B-B14F-4D97-AF65-F5344CB8AC3E}">
        <p14:creationId xmlns:p14="http://schemas.microsoft.com/office/powerpoint/2010/main" val="306830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dirty="0"/>
              <a:t>This work is protected by United States copyright laws and is</a:t>
            </a:r>
            <a:r>
              <a:rPr lang="en-US" b="1" baseline="0" dirty="0"/>
              <a:t> </a:t>
            </a:r>
            <a:r>
              <a:rPr lang="en-US" b="1"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147973</TotalTime>
  <Words>5643</Words>
  <Application>Microsoft Office PowerPoint</Application>
  <PresentationFormat>On-screen Show (4:3)</PresentationFormat>
  <Paragraphs>316</Paragraphs>
  <Slides>51</Slides>
  <Notes>13</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51</vt:i4>
      </vt:variant>
    </vt:vector>
  </HeadingPairs>
  <TitlesOfParts>
    <vt:vector size="61" baseType="lpstr">
      <vt:lpstr>Verdana</vt:lpstr>
      <vt:lpstr>Noto Sans Symbols</vt:lpstr>
      <vt:lpstr>Times</vt:lpstr>
      <vt:lpstr>Calibri</vt:lpstr>
      <vt:lpstr>Arial</vt:lpstr>
      <vt:lpstr>Arial (Body)</vt:lpstr>
      <vt:lpstr>Times New Roman</vt:lpstr>
      <vt:lpstr>USHE</vt:lpstr>
      <vt:lpstr>USHE_slide options</vt:lpstr>
      <vt:lpstr>Equation</vt:lpstr>
      <vt:lpstr>International Economics: Theory and Policy</vt:lpstr>
      <vt:lpstr>Learning Objectives</vt:lpstr>
      <vt:lpstr>Preview</vt:lpstr>
      <vt:lpstr>Introduction</vt:lpstr>
      <vt:lpstr>Central Bank Intervention and the Money Supply</vt:lpstr>
      <vt:lpstr>Central Bank’s Balance Sheet (1 of 2)</vt:lpstr>
      <vt:lpstr>Central Bank’s Balance Sheet (2 of 2)</vt:lpstr>
      <vt:lpstr>Assets, Liabilities, and the Money Supply (1 of 2)</vt:lpstr>
      <vt:lpstr>Assets, Liabilities, and the Money Supply (2 of 2)</vt:lpstr>
      <vt:lpstr>Table 18.1 Effects of a $100 Foreign Exchange Intervention: Summary</vt:lpstr>
      <vt:lpstr>Foreign Exchange Markets</vt:lpstr>
      <vt:lpstr>Sterilization</vt:lpstr>
      <vt:lpstr>Fixed Exchange Rates (1 of 4)</vt:lpstr>
      <vt:lpstr>Fixed Exchange Rates (2 of 4)</vt:lpstr>
      <vt:lpstr>Fixed Exchange Rates (3 of 4)</vt:lpstr>
      <vt:lpstr>Fixed Exchange Rates (4 of 4)</vt:lpstr>
      <vt:lpstr>Figure 18.1 Asset Market Equilibrium With a Fixed Exchange Rate, E sub 0</vt:lpstr>
      <vt:lpstr>Monetary Policy and Fixed Exchange Rates</vt:lpstr>
      <vt:lpstr>Figure 18.2 Monetary Expansion Is Ineffective Under a Fixed Exchange Rate</vt:lpstr>
      <vt:lpstr>Fiscal Policy and Fixed Exchange Rates in the Short Run</vt:lpstr>
      <vt:lpstr>Figure 18.3 Fiscal Expansion Under a Fixed Exchange Rate</vt:lpstr>
      <vt:lpstr>Fiscal Policy and Fixed Exchange Rates in the Long Run (1 of 2)</vt:lpstr>
      <vt:lpstr>Fiscal Policy and Fixed Exchange Rates in the Long Run (2 of 2)</vt:lpstr>
      <vt:lpstr>Devaluation and Revaluation</vt:lpstr>
      <vt:lpstr>Devaluation </vt:lpstr>
      <vt:lpstr>Figure 18.4 Effect of a Currency Devaluation</vt:lpstr>
      <vt:lpstr>Financial Crises and Capital Flight (1 of 6)</vt:lpstr>
      <vt:lpstr>Financial Crises and Capital Flight (2 of 6)</vt:lpstr>
      <vt:lpstr>Financial Crises and Capital Flight (3 of 6)</vt:lpstr>
      <vt:lpstr>Figure 18.5 Capital Flight, the Money Supply, and the Interest Rate</vt:lpstr>
      <vt:lpstr>Financial Crises and Capital Flight (4 of 6)</vt:lpstr>
      <vt:lpstr>Financial Crises and Capital Flight (5 of 6)</vt:lpstr>
      <vt:lpstr>Financial Crises and Capital Flight (6 of 6)</vt:lpstr>
      <vt:lpstr>Figure 18.6 The Swiss Franc’s Exchange Rate against the Euro and Swiss Foreign Exchange Reserves, 2006–2016</vt:lpstr>
      <vt:lpstr>Interest Rate Differentials (1 of 3)</vt:lpstr>
      <vt:lpstr>Interest Rate Differentials (2 of 3)</vt:lpstr>
      <vt:lpstr>Interest Rate Differentials (3 of 3)</vt:lpstr>
      <vt:lpstr>The Rescue Package: Reducing rho</vt:lpstr>
      <vt:lpstr>Figure 18.7 Effect of a Sterilized Central Bank Purchase of Foreign Assets Under Imperfect Asset Substitutability</vt:lpstr>
      <vt:lpstr>Types of Fixed Exchange Rate Systems</vt:lpstr>
      <vt:lpstr>Reserve Currency System</vt:lpstr>
      <vt:lpstr>Gold and Silver Standard</vt:lpstr>
      <vt:lpstr>Figure 18.8 Growth Rates of International Reserves</vt:lpstr>
      <vt:lpstr>Figure 18.9 Currency Composition of Global Reserve Holdings</vt:lpstr>
      <vt:lpstr>Summary (1 of 4)</vt:lpstr>
      <vt:lpstr>Summary (2 of 4)</vt:lpstr>
      <vt:lpstr>Summary (3 of 4)</vt:lpstr>
      <vt:lpstr>Summary (4 of 4)</vt:lpstr>
      <vt:lpstr>Figure 18A1.1 The Domestic Bond Supply and the Foreign Exchange Risk Premium Under Imperfect Asset Substitutability</vt:lpstr>
      <vt:lpstr>Figure 18A2.1 How the Timing of a Balance of Payments Crisis Is Determined</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Economics: Theory and Policy, Twelfth Edition, Chapter 18, Fixed Exchange Rates and Foreign Exchange Intervention</dc:title>
  <dc:subject>Business</dc:subject>
  <dc:creator>Krugman/Obstfeld/Melitz</dc:creator>
  <cp:keywords>International Economics</cp:keywords>
  <dc:description>Long description alt-text is inserted in the notes pane; Alt text for images/math equations within table cells have been placed behind the object intentionally to provide a better screen reader user experience; This presentation contains the hyperlinks.</dc:description>
  <cp:lastModifiedBy>Chiranjeevi, Kumar</cp:lastModifiedBy>
  <cp:revision>961</cp:revision>
  <dcterms:modified xsi:type="dcterms:W3CDTF">2021-10-22T15:04:54Z</dcterms:modified>
</cp:coreProperties>
</file>