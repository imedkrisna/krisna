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51"/>
  </p:notesMasterIdLst>
  <p:handoutMasterIdLst>
    <p:handoutMasterId r:id="rId52"/>
  </p:handoutMasterIdLst>
  <p:sldIdLst>
    <p:sldId id="330" r:id="rId3"/>
    <p:sldId id="331" r:id="rId4"/>
    <p:sldId id="334" r:id="rId5"/>
    <p:sldId id="333" r:id="rId6"/>
    <p:sldId id="521" r:id="rId7"/>
    <p:sldId id="522" r:id="rId8"/>
    <p:sldId id="523" r:id="rId9"/>
    <p:sldId id="524" r:id="rId10"/>
    <p:sldId id="525" r:id="rId11"/>
    <p:sldId id="526" r:id="rId12"/>
    <p:sldId id="527" r:id="rId13"/>
    <p:sldId id="568" r:id="rId14"/>
    <p:sldId id="529" r:id="rId15"/>
    <p:sldId id="530" r:id="rId16"/>
    <p:sldId id="531" r:id="rId17"/>
    <p:sldId id="532" r:id="rId18"/>
    <p:sldId id="533" r:id="rId19"/>
    <p:sldId id="534" r:id="rId20"/>
    <p:sldId id="535" r:id="rId21"/>
    <p:sldId id="536" r:id="rId22"/>
    <p:sldId id="540" r:id="rId23"/>
    <p:sldId id="538" r:id="rId24"/>
    <p:sldId id="541" r:id="rId25"/>
    <p:sldId id="539" r:id="rId26"/>
    <p:sldId id="542" r:id="rId27"/>
    <p:sldId id="543" r:id="rId28"/>
    <p:sldId id="544" r:id="rId29"/>
    <p:sldId id="545" r:id="rId30"/>
    <p:sldId id="546" r:id="rId31"/>
    <p:sldId id="566" r:id="rId32"/>
    <p:sldId id="548" r:id="rId33"/>
    <p:sldId id="549" r:id="rId34"/>
    <p:sldId id="550" r:id="rId35"/>
    <p:sldId id="551" r:id="rId36"/>
    <p:sldId id="552" r:id="rId37"/>
    <p:sldId id="553" r:id="rId38"/>
    <p:sldId id="554" r:id="rId39"/>
    <p:sldId id="555" r:id="rId40"/>
    <p:sldId id="556" r:id="rId41"/>
    <p:sldId id="557" r:id="rId42"/>
    <p:sldId id="558" r:id="rId43"/>
    <p:sldId id="565" r:id="rId44"/>
    <p:sldId id="560" r:id="rId45"/>
    <p:sldId id="561" r:id="rId46"/>
    <p:sldId id="562" r:id="rId47"/>
    <p:sldId id="563" r:id="rId48"/>
    <p:sldId id="564" r:id="rId49"/>
    <p:sldId id="298" r:id="rId50"/>
  </p:sldIdLst>
  <p:sldSz cx="9144000" cy="6858000" type="screen4x3"/>
  <p:notesSz cx="6858000" cy="9144000"/>
  <p:embeddedFontLst>
    <p:embeddedFont>
      <p:font typeface="Noto Sans Symbols" panose="020B0604020202020204" charset="0"/>
      <p:regular r:id="rId53"/>
      <p:bold r:id="rId54"/>
      <p:italic r:id="rId55"/>
      <p:boldItalic r:id="rId56"/>
    </p:embeddedFont>
    <p:embeddedFont>
      <p:font typeface="Times" panose="02020603050405020304" pitchFamily="18" charset="0"/>
      <p:regular r:id="rId57"/>
      <p:bold r:id="rId58"/>
      <p:italic r:id="rId59"/>
      <p:boldItalic r:id="rId60"/>
    </p:embeddedFont>
    <p:embeddedFont>
      <p:font typeface="Verdana" panose="020B060403050404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10"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81" autoAdjust="0"/>
    <p:restoredTop sz="94291" autoAdjust="0"/>
  </p:normalViewPr>
  <p:slideViewPr>
    <p:cSldViewPr snapToGrid="0" snapToObjects="1">
      <p:cViewPr varScale="1">
        <p:scale>
          <a:sx n="104" d="100"/>
          <a:sy n="104" d="100"/>
        </p:scale>
        <p:origin x="1320" y="96"/>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777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1.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7.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60" Type="http://schemas.openxmlformats.org/officeDocument/2006/relationships/font" Target="fonts/font8.fntdata"/><Relationship Id="rId65"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4888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53359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72758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L left parenthesis R, Y super 1 right parenthesis, is shifted to the right, for an increase in real income: L left parenthesis, R, Y super 2, right parenthesis.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18082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aggregate real money demand curve, L left parenthesis R, Y right parenthesis, falls with decreasing steepness through 3 points, from left to right: point 2 (Q super 2, R super 2); the real money supply, (Q super 1, R super 1) and (Q super 3, R super 3). For real money supply, M super s, over P, left parenthesis = Q super 1, right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2834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L left parenthesis, R, Y, right parenthesis, falls with decreasing steepness through point 1 at (M super 1 over P, R super 1) and the point 2 at (M super 2, over P, R super 2). When the vertical line of the real money supply increases, and shifts to the right, point 2 becomes the new lower interest rate.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5762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L left parenthesis, R, Y super 1, right parenthesis, falls through point 1 at (Q super 1, R super 1). The aggregate real money demand curve shifts to the right when there is an increase in real income, for plot L left parenthesis, R, Y super 2, right parenthesis. Point 1 shifts to the right to point 1 prime at (Q super 2, R super 1). Point 2 is then above point 1 at (Q super 1, R super 2), on the vertical line for real money supply.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6546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y = 0, the y-axis represents the dollar to euro exchange rate. The expected return on euro deposits on this upper half of the graph falls with decreasing steepness through point 1 prime, at (R sub dollars super 1, E sub dollars to euros, super 1). Below y = 0, the y-axis represents U S real money holdings, which increases in a downward direction. The plot for L left parenthesis R sub dollars, Y sub U S, right parenthesis, rises with decreasing steepness through point 1, where x = R sub dollars super 1, and y = the U S real money supply, which is M sub U S super S, over, P sub U 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21236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United States, the Federal Reserve System determines the U S money supply through the U S money market, determining the dollar interest rate. In Europe, the European Central Bank monitors the European money supply of that money market to determine the euro interest rate. Together, these forces determine the foreign exchange market, dollar to euro exchange rate.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93478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y = 0, the plot for expected euro return falls with decreasing steepness through point 2 prime, at (R sub dollars super 2, E sub dollars to euros super 2), and then point 1 prime at (R sub dollars super 1, E sub dollars to euros, super 1). Below y = 0, the plot for L left parenthesis, R sub dollars, Y sub U S, right parenthesis, rises with decreasing steepness through point 2 and then point 1. Point 2 is located at (R sub dollars super 2, M sub U S super 2 over P sub U S), and point 1 is located at (R sub dollars super 1, M sub U S super 1 over P sub U S). The vertical distance between point 1 and point 2 represents an increase in U S real money supply.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9751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y = 0, the original plot falls with decreasing steepness through point 1 prime, at (R sub dollars super 1, E sub dollars to euros, super 1). The plot is then shifted right for an increase in European money supply, or fall in euro interest rate, for the new expected euro return. The dashed-line plot falls with decreasing steepness through point 2 prime, (R sub dollars super 1, E sub dollars to euros super 2), which is below point 1 prime. Below y = 0, the plot for L left parenthesis R sub dollars, Y sub U S, right parenthesis, rises with decreasing steepness through point 1, at (R sub dollars super 1, U S real money supply).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97707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45-degree rising line passes through the data. Dots are clusters slightly below the line at roughly (20, 9) for years including 1998, 1999 and 2003 to 2014. Midway up the line, at (100, 100) are years including 1982 to 1987. At (1000, 1000), years include 1989, 1990, 1993 and 1994, farther apart than earlier points.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42247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January to September 2007, inflation holds at roughly 80 percent. In December 2007, inflation begins to rise to 250, to 800 in June 2008, and then in July 2008 to 2,750 percent.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9053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double line graph plots the changes in the exchange rate and price level ratio for U S and Japan in percent change per month versus year, 19 80 to 20 20. The price level ratio change varies between y = 1 and y = negative 1 for the entire time frame. The exchange rate fluctuates between y = 10 and y = negative 5 with two significant spikes in 19 92 to 15 and 19 99 to 18 and a significant dip to negative 10 in 19 96.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13187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graphs show the dollar to euro exchange rate above y = 0, and U S real money holding below y = 0, versus rates of return in dollar terms. In graph ay, short-run effects, the original plot for expected euro return falls with decreasing steepness through point 3 prime at x = R sub dollars super 2, and then point 1 prime, at (R sub dollars super 1, E sub dollars to euros super 1). The plot shifts to the right, and falls with decreasing steepness through point 2 prime, at (R sub dollars super 2, E sub dollars to euros super 2); the area above y = E sub dollars to euros super 2 is labeled, dollar return. The plot below y = 0 for L left parenthesis R sub dollars, Y sub U S, right parenthesis, rises with decreasing steepness through point 2 and point 1. Point 1 is at a horizontal line from y = M sub U S super 1 over P sub U S super 1. A decrease takes the horizontal line to point 2 at y = M sub U S super 2 over P sub U S super 1. In graph b, adjustment to long-run equilibrium the plot for expected euro exchange rate falls through point 2 prime at (R sub dollars super 2, E sub dollars to euros super 2), and then point 4 prime, at (R sub dollars super 1, E sub dollars to euros super 3). The plot for L left parenthesis R sub dollars, Y sub U S, right parenthesis, rises through point 2 at (R sub dollars super 2, M sub U S super 2 over P sub U S super 1), and then point 4, at (R sub dollars super 1, M sub U S super 2, P sub U S super 2). The horizontal at point 4 represents U S real money supply.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72426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forms a horizontal line at y = M sub U S super 1, that extends to t sub 0, and then shifts upwards to M sub U S super 2. Graph b plots dollar interest rate, R sub dollars, versus time. The plot rises from R super 2 at t sub 0, with decreasing to steepness to R sub dollars super 1. Graph c plots U S price level, P sub U S, versus time. The plot begins as a horizontal line at y = P sub U S super 1, the rises with decreasing steepness to y = P sub U S super 2. Graph d plots dollar to euro exchange rate, E sub dollars to euros, versus time. The plot falls from y = E sub dollars to euros super 2 with decreasing steepness to y = E sub dollars to euros super 3, which is roughly midway between y = E sub dollars to euros super 2 and y = E sub dollars to euros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11865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48</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671853"/>
            <a:ext cx="8229600" cy="51217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3523697"/>
            <a:ext cx="8229600" cy="512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4396670"/>
            <a:ext cx="8229600" cy="512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457200" y="5217528"/>
            <a:ext cx="8091487" cy="512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797A2497-49FC-4E97-BA53-834BEE3AA41C}"/>
              </a:ext>
            </a:extLst>
          </p:cNvPr>
          <p:cNvSpPr>
            <a:spLocks noGrp="1"/>
          </p:cNvSpPr>
          <p:nvPr>
            <p:ph sz="quarter" idx="18"/>
          </p:nvPr>
        </p:nvSpPr>
        <p:spPr>
          <a:xfrm>
            <a:off x="457200" y="6038386"/>
            <a:ext cx="8229600" cy="6381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6E158B03-35ED-4C86-A177-C036F37E31D1}"/>
              </a:ext>
            </a:extLst>
          </p:cNvPr>
          <p:cNvSpPr>
            <a:spLocks noGrp="1"/>
          </p:cNvSpPr>
          <p:nvPr>
            <p:ph sz="quarter" idx="19"/>
          </p:nvPr>
        </p:nvSpPr>
        <p:spPr>
          <a:xfrm>
            <a:off x="457200" y="6858000"/>
            <a:ext cx="8229600" cy="93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11.xml"/><Relationship Id="rId6" Type="http://schemas.openxmlformats.org/officeDocument/2006/relationships/oleObject" Target="../embeddings/oleObject6.bin"/><Relationship Id="rId5" Type="http://schemas.openxmlformats.org/officeDocument/2006/relationships/image" Target="../media/image6.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0.wmf"/><Relationship Id="rId4"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bin"/><Relationship Id="rId1" Type="http://schemas.openxmlformats.org/officeDocument/2006/relationships/slideLayout" Target="../slideLayouts/slideLayout4.xml"/><Relationship Id="rId5" Type="http://schemas.openxmlformats.org/officeDocument/2006/relationships/image" Target="../media/image12.wmf"/><Relationship Id="rId4"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5.wmf"/><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oleObject" Target="../embeddings/oleObject11.bin"/><Relationship Id="rId5" Type="http://schemas.openxmlformats.org/officeDocument/2006/relationships/image" Target="../media/image14.wmf"/><Relationship Id="rId4"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7" Type="http://schemas.openxmlformats.org/officeDocument/2006/relationships/image" Target="../media/image18.wmf"/><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oleObject" Target="../embeddings/oleObject13.bin"/><Relationship Id="rId5" Type="http://schemas.openxmlformats.org/officeDocument/2006/relationships/image" Target="../media/image17.wmf"/><Relationship Id="rId4"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19.jpg"/><Relationship Id="rId7" Type="http://schemas.openxmlformats.org/officeDocument/2006/relationships/image" Target="../media/image21.wmf"/><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oleObject" Target="../embeddings/oleObject15.bin"/><Relationship Id="rId5" Type="http://schemas.openxmlformats.org/officeDocument/2006/relationships/image" Target="../media/image20.emf"/><Relationship Id="rId4" Type="http://schemas.openxmlformats.org/officeDocument/2006/relationships/oleObject" Target="../embeddings/oleObject14.bin"/><Relationship Id="rId9" Type="http://schemas.openxmlformats.org/officeDocument/2006/relationships/image" Target="../media/image18.wmf"/></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image" Target="../media/image24.wm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28.emf"/><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oleObject" Target="../embeddings/oleObject20.bin"/><Relationship Id="rId5" Type="http://schemas.openxmlformats.org/officeDocument/2006/relationships/image" Target="../media/image27.emf"/><Relationship Id="rId4"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1.bin"/><Relationship Id="rId1" Type="http://schemas.openxmlformats.org/officeDocument/2006/relationships/slideLayout" Target="../slideLayouts/slideLayout11.xml"/><Relationship Id="rId6" Type="http://schemas.openxmlformats.org/officeDocument/2006/relationships/oleObject" Target="../embeddings/oleObject23.bin"/><Relationship Id="rId5" Type="http://schemas.openxmlformats.org/officeDocument/2006/relationships/image" Target="../media/image31.emf"/><Relationship Id="rId4" Type="http://schemas.openxmlformats.org/officeDocument/2006/relationships/oleObject" Target="../embeddings/oleObject22.bin"/><Relationship Id="rId9" Type="http://schemas.openxmlformats.org/officeDocument/2006/relationships/image" Target="../media/image6.wmf"/></Relationships>
</file>

<file path=ppt/slides/_rels/slide31.xml.rels><?xml version="1.0" encoding="UTF-8" standalone="yes"?>
<Relationships xmlns="http://schemas.openxmlformats.org/package/2006/relationships"><Relationship Id="rId3" Type="http://schemas.openxmlformats.org/officeDocument/2006/relationships/image" Target="../media/image33.wmf"/><Relationship Id="rId7" Type="http://schemas.openxmlformats.org/officeDocument/2006/relationships/image" Target="../media/image35.wmf"/><Relationship Id="rId2"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27.bin"/><Relationship Id="rId5" Type="http://schemas.openxmlformats.org/officeDocument/2006/relationships/image" Target="../media/image34.wmf"/><Relationship Id="rId4" Type="http://schemas.openxmlformats.org/officeDocument/2006/relationships/oleObject" Target="../embeddings/oleObject26.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40.jpg"/><Relationship Id="rId7" Type="http://schemas.openxmlformats.org/officeDocument/2006/relationships/image" Target="../media/image42.wmf"/><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oleObject" Target="../embeddings/oleObject29.bin"/><Relationship Id="rId5" Type="http://schemas.openxmlformats.org/officeDocument/2006/relationships/image" Target="../media/image41.wmf"/><Relationship Id="rId4" Type="http://schemas.openxmlformats.org/officeDocument/2006/relationships/oleObject" Target="../embeddings/oleObject28.bin"/><Relationship Id="rId9" Type="http://schemas.openxmlformats.org/officeDocument/2006/relationships/image" Target="../media/image43.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a:t>Twelfth</a:t>
            </a:r>
            <a:r>
              <a:rPr lang="en-US">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latin typeface="+mn-lt"/>
              </a:rPr>
              <a:t>Chapter 15</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786139"/>
          </a:xfrm>
        </p:spPr>
        <p:txBody>
          <a:bodyPr/>
          <a:lstStyle/>
          <a:p>
            <a:pPr algn="ctr"/>
            <a:r>
              <a:rPr lang="en-US" altLang="en-US" dirty="0">
                <a:latin typeface="Arial (Body)"/>
              </a:rPr>
              <a:t>Money, Interest Rates, and Exchange Rates</a:t>
            </a:r>
            <a:endParaRPr lang="en-US" dirty="0">
              <a:latin typeface="Arial (Body)"/>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Learning Objectives</a:t>
            </a:r>
            <a:endParaRPr lang="en-US"/>
          </a:p>
        </p:txBody>
      </p:sp>
      <p:sp>
        <p:nvSpPr>
          <p:cNvPr id="4" name="Content Placeholder 3"/>
          <p:cNvSpPr>
            <a:spLocks noGrp="1"/>
          </p:cNvSpPr>
          <p:nvPr>
            <p:ph sz="quarter" idx="13"/>
          </p:nvPr>
        </p:nvSpPr>
        <p:spPr/>
        <p:txBody>
          <a:bodyPr/>
          <a:lstStyle/>
          <a:p>
            <a:pPr marL="0" indent="0">
              <a:buNone/>
            </a:pPr>
            <a:r>
              <a:rPr lang="en-US" sz="2000" b="1" dirty="0">
                <a:solidFill>
                  <a:srgbClr val="007FA3"/>
                </a:solidFill>
                <a:latin typeface="Arial (Body)"/>
                <a:ea typeface="Verdana" panose="020B0604030504040204" pitchFamily="34" charset="0"/>
                <a:cs typeface="Verdana" panose="020B0604030504040204" pitchFamily="34" charset="0"/>
              </a:rPr>
              <a:t>15.1</a:t>
            </a:r>
            <a:r>
              <a:rPr lang="en-US" sz="2000" dirty="0">
                <a:latin typeface="Arial (Body)"/>
                <a:ea typeface="Verdana" panose="020B0604030504040204" pitchFamily="34" charset="0"/>
                <a:cs typeface="Verdana" panose="020B0604030504040204" pitchFamily="34" charset="0"/>
              </a:rPr>
              <a:t> </a:t>
            </a:r>
            <a:r>
              <a:rPr lang="en-US" sz="2000" dirty="0">
                <a:latin typeface="Arial (Body)"/>
              </a:rPr>
              <a:t>Describe and discuss the national money markets in which interest rates are determined.</a:t>
            </a:r>
          </a:p>
          <a:p>
            <a:pPr marL="0" indent="0">
              <a:buNone/>
            </a:pPr>
            <a:r>
              <a:rPr lang="en-US" sz="2000" b="1" dirty="0">
                <a:solidFill>
                  <a:srgbClr val="007FA3"/>
                </a:solidFill>
                <a:latin typeface="Arial (Body)"/>
                <a:ea typeface="Verdana" panose="020B0604030504040204" pitchFamily="34" charset="0"/>
                <a:cs typeface="Verdana" panose="020B0604030504040204" pitchFamily="34" charset="0"/>
              </a:rPr>
              <a:t>15.2 </a:t>
            </a:r>
            <a:r>
              <a:rPr lang="en-US" sz="2000" dirty="0">
                <a:latin typeface="Arial (Body)"/>
              </a:rPr>
              <a:t>Show how monetary policy and interest rates feed into the foreign exchange market.</a:t>
            </a:r>
          </a:p>
          <a:p>
            <a:pPr marL="0" indent="0">
              <a:buNone/>
            </a:pPr>
            <a:r>
              <a:rPr lang="en-US" sz="2000" b="1" dirty="0">
                <a:solidFill>
                  <a:srgbClr val="007FA3"/>
                </a:solidFill>
                <a:latin typeface="Arial (Body)"/>
                <a:ea typeface="Verdana" panose="020B0604030504040204" pitchFamily="34" charset="0"/>
                <a:cs typeface="Verdana" panose="020B0604030504040204" pitchFamily="34" charset="0"/>
              </a:rPr>
              <a:t>15.3</a:t>
            </a:r>
            <a:r>
              <a:rPr lang="en-US" sz="2000" dirty="0">
                <a:latin typeface="Arial (Body)"/>
                <a:ea typeface="Verdana" panose="020B0604030504040204" pitchFamily="34" charset="0"/>
                <a:cs typeface="Verdana" panose="020B0604030504040204" pitchFamily="34" charset="0"/>
              </a:rPr>
              <a:t> </a:t>
            </a:r>
            <a:r>
              <a:rPr lang="en-US" sz="2000" dirty="0">
                <a:latin typeface="Arial (Body)"/>
              </a:rPr>
              <a:t>Distinguish between the economy’s long-run position and the short run, in which money prices and wages are sticky.</a:t>
            </a:r>
          </a:p>
          <a:p>
            <a:pPr marL="0" indent="0">
              <a:buNone/>
            </a:pPr>
            <a:r>
              <a:rPr lang="en-US" sz="2000" b="1" dirty="0">
                <a:solidFill>
                  <a:srgbClr val="007FA3"/>
                </a:solidFill>
                <a:latin typeface="Arial (Body)"/>
                <a:ea typeface="Verdana" panose="020B0604030504040204" pitchFamily="34" charset="0"/>
                <a:cs typeface="Verdana" panose="020B0604030504040204" pitchFamily="34" charset="0"/>
              </a:rPr>
              <a:t>15.4</a:t>
            </a:r>
            <a:r>
              <a:rPr lang="en-US" sz="2000" b="1" dirty="0">
                <a:solidFill>
                  <a:schemeClr val="accent1"/>
                </a:solidFill>
                <a:latin typeface="Arial (Body)"/>
                <a:ea typeface="Verdana" panose="020B0604030504040204" pitchFamily="34" charset="0"/>
                <a:cs typeface="Verdana" panose="020B0604030504040204" pitchFamily="34" charset="0"/>
              </a:rPr>
              <a:t> </a:t>
            </a:r>
            <a:r>
              <a:rPr lang="en-US" sz="2000" dirty="0">
                <a:latin typeface="Arial (Body)"/>
              </a:rPr>
              <a:t>Explain how price levels and exchange rates respond to monetary factors in the long run.</a:t>
            </a:r>
          </a:p>
          <a:p>
            <a:pPr marL="0" indent="0">
              <a:buNone/>
            </a:pPr>
            <a:r>
              <a:rPr lang="en-US" sz="2000" b="1" dirty="0">
                <a:solidFill>
                  <a:srgbClr val="007FA3"/>
                </a:solidFill>
                <a:latin typeface="Arial (Body)"/>
                <a:ea typeface="Verdana" panose="020B0604030504040204" pitchFamily="34" charset="0"/>
                <a:cs typeface="Verdana" panose="020B0604030504040204" pitchFamily="34" charset="0"/>
              </a:rPr>
              <a:t>15.5</a:t>
            </a:r>
            <a:r>
              <a:rPr lang="en-US" sz="2000" b="1" dirty="0">
                <a:solidFill>
                  <a:schemeClr val="accent1"/>
                </a:solidFill>
                <a:latin typeface="Arial (Body)"/>
                <a:ea typeface="Verdana" panose="020B0604030504040204" pitchFamily="34" charset="0"/>
                <a:cs typeface="Verdana" panose="020B0604030504040204" pitchFamily="34" charset="0"/>
              </a:rPr>
              <a:t> </a:t>
            </a:r>
            <a:r>
              <a:rPr lang="en-US" sz="2000" dirty="0">
                <a:latin typeface="Arial (Body)"/>
              </a:rPr>
              <a:t>Outline the relationship between the short-run and the long-run effects of monetary policy, and explain the concept of short-run exchange rate overshooting.</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Preview</a:t>
            </a:r>
            <a:endParaRPr lang="en-IN" dirty="0"/>
          </a:p>
        </p:txBody>
      </p:sp>
      <p:sp>
        <p:nvSpPr>
          <p:cNvPr id="7" name="Content Placeholder 6"/>
          <p:cNvSpPr>
            <a:spLocks noGrp="1"/>
          </p:cNvSpPr>
          <p:nvPr>
            <p:ph sz="quarter" idx="13"/>
          </p:nvPr>
        </p:nvSpPr>
        <p:spPr>
          <a:xfrm>
            <a:off x="457200" y="1556327"/>
            <a:ext cx="8229600" cy="4522740"/>
          </a:xfrm>
        </p:spPr>
        <p:txBody>
          <a:bodyPr/>
          <a:lstStyle/>
          <a:p>
            <a:pPr eaLnBrk="1" hangingPunct="1"/>
            <a:r>
              <a:rPr lang="en-US" altLang="en-US" dirty="0">
                <a:latin typeface="Arial (Body)"/>
              </a:rPr>
              <a:t>What is </a:t>
            </a:r>
            <a:r>
              <a:rPr lang="en-US" altLang="en-US" b="1" dirty="0">
                <a:latin typeface="Arial (Body)"/>
              </a:rPr>
              <a:t>money</a:t>
            </a:r>
            <a:r>
              <a:rPr lang="en-US" altLang="en-US" dirty="0">
                <a:latin typeface="Arial (Body)"/>
              </a:rPr>
              <a:t>?</a:t>
            </a:r>
          </a:p>
          <a:p>
            <a:pPr eaLnBrk="1" hangingPunct="1"/>
            <a:r>
              <a:rPr lang="en-US" altLang="en-US" dirty="0">
                <a:latin typeface="Arial (Body)"/>
              </a:rPr>
              <a:t>Control of the supply of money</a:t>
            </a:r>
          </a:p>
          <a:p>
            <a:pPr eaLnBrk="1" hangingPunct="1"/>
            <a:r>
              <a:rPr lang="en-US" altLang="en-US" dirty="0">
                <a:latin typeface="Arial (Body)"/>
              </a:rPr>
              <a:t>The willingness to hold monetary assets</a:t>
            </a:r>
          </a:p>
          <a:p>
            <a:pPr eaLnBrk="1" hangingPunct="1"/>
            <a:r>
              <a:rPr lang="en-US" altLang="en-US" dirty="0">
                <a:latin typeface="Arial (Body)"/>
              </a:rPr>
              <a:t>A model of real monetary assets and </a:t>
            </a:r>
            <a:br>
              <a:rPr lang="en-US" altLang="en-US" dirty="0">
                <a:latin typeface="Arial (Body)"/>
              </a:rPr>
            </a:br>
            <a:r>
              <a:rPr lang="en-US" altLang="en-US" dirty="0">
                <a:latin typeface="Arial (Body)"/>
              </a:rPr>
              <a:t>interest rates</a:t>
            </a:r>
          </a:p>
          <a:p>
            <a:pPr eaLnBrk="1" hangingPunct="1"/>
            <a:r>
              <a:rPr lang="en-US" altLang="en-US" dirty="0">
                <a:latin typeface="Arial (Body)"/>
              </a:rPr>
              <a:t>A model of real monetary assets, interest rates, and exchange rates</a:t>
            </a:r>
          </a:p>
          <a:p>
            <a:pPr eaLnBrk="1" hangingPunct="1"/>
            <a:r>
              <a:rPr lang="en-US" altLang="en-US" dirty="0">
                <a:latin typeface="Arial (Body)"/>
              </a:rPr>
              <a:t>Long-run effects of changes in money on prices, interest rates, and exchange rates</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What Is Money? </a:t>
            </a:r>
            <a:r>
              <a:rPr lang="en-US" altLang="en-US" sz="2000" b="0" dirty="0"/>
              <a:t>(1 of 3)</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b="1" dirty="0">
                <a:latin typeface="Arial (Body)"/>
              </a:rPr>
              <a:t>Money</a:t>
            </a:r>
            <a:r>
              <a:rPr lang="en-US" altLang="en-US" dirty="0">
                <a:latin typeface="Arial (Body)"/>
              </a:rPr>
              <a:t> is an asset that is widely used as a means of payment.</a:t>
            </a:r>
          </a:p>
          <a:p>
            <a:pPr lvl="1" eaLnBrk="1" hangingPunct="1"/>
            <a:r>
              <a:rPr lang="en-US" altLang="en-US" dirty="0">
                <a:latin typeface="Arial (Body)"/>
              </a:rPr>
              <a:t>Different groups of assets may be classified as money.</a:t>
            </a:r>
          </a:p>
          <a:p>
            <a:pPr lvl="2" eaLnBrk="1" hangingPunct="1"/>
            <a:r>
              <a:rPr lang="en-US" altLang="en-US" dirty="0">
                <a:latin typeface="Arial (Body)"/>
              </a:rPr>
              <a:t>Money can be defined narrowly or broadly.</a:t>
            </a:r>
          </a:p>
          <a:p>
            <a:pPr lvl="2" eaLnBrk="1" hangingPunct="1"/>
            <a:r>
              <a:rPr lang="en-US" altLang="en-US" dirty="0">
                <a:latin typeface="Arial (Body)"/>
              </a:rPr>
              <a:t>Currency in circulation, checking deposits, and debit card accounts form a narrow definition of money.</a:t>
            </a:r>
          </a:p>
          <a:p>
            <a:pPr lvl="2" eaLnBrk="1" hangingPunct="1"/>
            <a:r>
              <a:rPr lang="en-US" altLang="en-US" dirty="0">
                <a:latin typeface="Arial (Body)"/>
              </a:rPr>
              <a:t>Deposits of currency are excluded from this narrow definition, although they may act as a substitute for money in a broader definition.</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What Is Money? </a:t>
            </a:r>
            <a:r>
              <a:rPr lang="en-US" altLang="en-US" sz="2000" b="0" dirty="0"/>
              <a:t>(2 of 3)</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Money is a </a:t>
            </a:r>
            <a:r>
              <a:rPr lang="en-US" altLang="en-US" b="1" dirty="0">
                <a:latin typeface="Arial (Body)"/>
              </a:rPr>
              <a:t>liquid</a:t>
            </a:r>
            <a:r>
              <a:rPr lang="en-US" altLang="en-US" i="1" dirty="0">
                <a:latin typeface="Arial (Body)"/>
              </a:rPr>
              <a:t> </a:t>
            </a:r>
            <a:r>
              <a:rPr lang="en-US" altLang="en-US" dirty="0">
                <a:latin typeface="Arial (Body)"/>
              </a:rPr>
              <a:t>asset: it can be easily used to pay for goods and services or to repay debt without substantial transaction costs.</a:t>
            </a:r>
          </a:p>
          <a:p>
            <a:pPr lvl="1" eaLnBrk="1" hangingPunct="1"/>
            <a:r>
              <a:rPr lang="en-US" altLang="en-US" sz="2400" dirty="0">
                <a:latin typeface="Arial (Body)"/>
              </a:rPr>
              <a:t>But monetary or liquid assets earn </a:t>
            </a:r>
            <a:r>
              <a:rPr lang="en-US" altLang="en-US" sz="2400" b="1" dirty="0">
                <a:latin typeface="Arial (Body)"/>
              </a:rPr>
              <a:t>little or no interest</a:t>
            </a:r>
            <a:r>
              <a:rPr lang="en-US" altLang="en-US" sz="2400" dirty="0">
                <a:latin typeface="Arial (Body)"/>
              </a:rPr>
              <a:t>.</a:t>
            </a:r>
          </a:p>
          <a:p>
            <a:pPr eaLnBrk="1" hangingPunct="1"/>
            <a:r>
              <a:rPr lang="en-US" altLang="en-US" dirty="0">
                <a:latin typeface="Arial (Body)"/>
              </a:rPr>
              <a:t>Illiquid assets require substantial transaction costs in terms of time, effort, or fees to convert them to funds for payment.</a:t>
            </a:r>
          </a:p>
          <a:p>
            <a:pPr lvl="1" eaLnBrk="1" hangingPunct="1"/>
            <a:r>
              <a:rPr lang="en-US" altLang="en-US" sz="2400" dirty="0">
                <a:latin typeface="Arial (Body)"/>
              </a:rPr>
              <a:t>But they generally earn a higher interest rate or rate of return than monetary assets.</a:t>
            </a:r>
          </a:p>
        </p:txBody>
      </p:sp>
    </p:spTree>
    <p:extLst>
      <p:ext uri="{BB962C8B-B14F-4D97-AF65-F5344CB8AC3E}">
        <p14:creationId xmlns:p14="http://schemas.microsoft.com/office/powerpoint/2010/main" val="414681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What Is Money? </a:t>
            </a:r>
            <a:r>
              <a:rPr lang="en-US" altLang="en-US" sz="2000" b="0" dirty="0"/>
              <a:t>(3 of 3)</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Let’</a:t>
            </a:r>
            <a:r>
              <a:rPr lang="en-US" altLang="ja-JP" dirty="0">
                <a:latin typeface="Arial (Body)"/>
              </a:rPr>
              <a:t>s group assets into monetary assets (or liquid assets) and non-monetary assets (or illiquid assets). </a:t>
            </a:r>
          </a:p>
          <a:p>
            <a:pPr eaLnBrk="1" hangingPunct="1"/>
            <a:r>
              <a:rPr lang="en-US" altLang="en-US" dirty="0">
                <a:latin typeface="Arial (Body)"/>
              </a:rPr>
              <a:t>The demarcation between the two is arbitrary, </a:t>
            </a:r>
          </a:p>
          <a:p>
            <a:pPr lvl="1" eaLnBrk="1" hangingPunct="1"/>
            <a:r>
              <a:rPr lang="en-US" altLang="en-US" sz="2400" dirty="0">
                <a:latin typeface="Arial (Body)"/>
              </a:rPr>
              <a:t>but currency in circulation, checking deposits, debit card accounts, savings deposits, and time deposits are generally more liquid than bonds, loans, deposits of currency in the foreign exchange markets, stocks, real estate, and other assets.</a:t>
            </a:r>
          </a:p>
        </p:txBody>
      </p:sp>
    </p:spTree>
    <p:extLst>
      <p:ext uri="{BB962C8B-B14F-4D97-AF65-F5344CB8AC3E}">
        <p14:creationId xmlns:p14="http://schemas.microsoft.com/office/powerpoint/2010/main" val="2341816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Money Supply</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The central bank substantially controls the quantity of money that circulates in an economy, the </a:t>
            </a:r>
            <a:r>
              <a:rPr lang="en-US" altLang="en-US" b="1" dirty="0">
                <a:latin typeface="Arial (Body)"/>
              </a:rPr>
              <a:t>money supply</a:t>
            </a:r>
            <a:r>
              <a:rPr lang="en-US" altLang="en-US" dirty="0">
                <a:latin typeface="Arial (Body)"/>
              </a:rPr>
              <a:t>.</a:t>
            </a:r>
          </a:p>
          <a:p>
            <a:pPr lvl="1" eaLnBrk="1" hangingPunct="1"/>
            <a:r>
              <a:rPr lang="en-US" altLang="en-US" sz="2400" dirty="0">
                <a:latin typeface="Arial (Body)"/>
              </a:rPr>
              <a:t>In the United States, the central banking system is the Federal Reserve System.</a:t>
            </a:r>
          </a:p>
          <a:p>
            <a:pPr lvl="2" eaLnBrk="1" hangingPunct="1"/>
            <a:r>
              <a:rPr lang="en-US" altLang="en-US" sz="2400" dirty="0">
                <a:latin typeface="Arial (Body)"/>
              </a:rPr>
              <a:t>The Federal Reserve System directly regulates the amount of currency in circulation.</a:t>
            </a:r>
          </a:p>
          <a:p>
            <a:pPr lvl="2" eaLnBrk="1" hangingPunct="1"/>
            <a:r>
              <a:rPr lang="en-US" altLang="en-US" sz="2400" dirty="0">
                <a:latin typeface="Arial (Body)"/>
              </a:rPr>
              <a:t>It indirectly influences the amount of checking deposits, debit card accounts, and other monetary assets. </a:t>
            </a:r>
          </a:p>
        </p:txBody>
      </p:sp>
    </p:spTree>
    <p:extLst>
      <p:ext uri="{BB962C8B-B14F-4D97-AF65-F5344CB8AC3E}">
        <p14:creationId xmlns:p14="http://schemas.microsoft.com/office/powerpoint/2010/main" val="667802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Money Demand</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b="1" dirty="0">
                <a:latin typeface="Arial (Body)"/>
              </a:rPr>
              <a:t>Money demand</a:t>
            </a:r>
            <a:r>
              <a:rPr lang="en-US" altLang="en-US" dirty="0">
                <a:latin typeface="Arial (Body)"/>
              </a:rPr>
              <a:t> represents the amount of monetary assets that people are willing to hold (instead of illiquid assets).</a:t>
            </a:r>
          </a:p>
          <a:p>
            <a:pPr lvl="1" eaLnBrk="1" hangingPunct="1"/>
            <a:r>
              <a:rPr lang="en-US" altLang="en-US" sz="2400" dirty="0">
                <a:latin typeface="Arial (Body)"/>
              </a:rPr>
              <a:t>What influences willingness to hold monetary assets?</a:t>
            </a:r>
          </a:p>
          <a:p>
            <a:pPr lvl="1" eaLnBrk="1" hangingPunct="1"/>
            <a:r>
              <a:rPr lang="en-US" altLang="en-US" sz="2400" dirty="0">
                <a:latin typeface="Arial (Body)"/>
              </a:rPr>
              <a:t>We consider individual demand of money and aggregate demand of money.</a:t>
            </a:r>
          </a:p>
        </p:txBody>
      </p:sp>
    </p:spTree>
    <p:extLst>
      <p:ext uri="{BB962C8B-B14F-4D97-AF65-F5344CB8AC3E}">
        <p14:creationId xmlns:p14="http://schemas.microsoft.com/office/powerpoint/2010/main" val="1193430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What Influences Demand of Money for Individuals and Institutions?</a:t>
            </a:r>
            <a:endParaRPr lang="en-US" sz="32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1890260"/>
          </a:xfrm>
        </p:spPr>
        <p:txBody>
          <a:bodyPr/>
          <a:lstStyle/>
          <a:p>
            <a:pPr marL="432000" indent="-432000" eaLnBrk="1" hangingPunct="1">
              <a:buFont typeface="Times" pitchFamily="-1" charset="0"/>
              <a:buAutoNum type="arabicPeriod"/>
            </a:pPr>
            <a:r>
              <a:rPr lang="en-US" altLang="en-US" sz="2000" b="1" dirty="0">
                <a:latin typeface="Arial (Body)"/>
              </a:rPr>
              <a:t>Interest rates/expected rates of return</a:t>
            </a:r>
            <a:r>
              <a:rPr lang="en-US" altLang="en-US" sz="2000" dirty="0">
                <a:latin typeface="Arial (Body)"/>
              </a:rPr>
              <a:t> on monetary assets relative to the expected rates of returns on non-monetary assets.</a:t>
            </a:r>
          </a:p>
          <a:p>
            <a:pPr marL="432000" indent="-432000" eaLnBrk="1" hangingPunct="1">
              <a:buFont typeface="Times" pitchFamily="-1" charset="0"/>
              <a:buAutoNum type="arabicPeriod"/>
            </a:pPr>
            <a:r>
              <a:rPr lang="en-US" altLang="en-US" sz="2000" b="1" dirty="0">
                <a:latin typeface="Arial (Body)"/>
              </a:rPr>
              <a:t>Risk</a:t>
            </a:r>
            <a:r>
              <a:rPr lang="en-US" altLang="en-US" sz="2000" dirty="0">
                <a:latin typeface="Arial (Body)"/>
              </a:rPr>
              <a:t>: the risk of holding monetary assets principally comes from unexpected inflation, which reduces the purchasing power of money.</a:t>
            </a:r>
          </a:p>
        </p:txBody>
      </p:sp>
      <p:sp>
        <p:nvSpPr>
          <p:cNvPr id="4" name="Content Placeholder 3">
            <a:extLst>
              <a:ext uri="{FF2B5EF4-FFF2-40B4-BE49-F238E27FC236}">
                <a16:creationId xmlns:a16="http://schemas.microsoft.com/office/drawing/2014/main" id="{E3D60E7D-12C1-4EE2-82BE-EF1950096B88}"/>
              </a:ext>
            </a:extLst>
          </p:cNvPr>
          <p:cNvSpPr>
            <a:spLocks noGrp="1"/>
          </p:cNvSpPr>
          <p:nvPr>
            <p:ph sz="quarter" idx="14"/>
          </p:nvPr>
        </p:nvSpPr>
        <p:spPr>
          <a:xfrm>
            <a:off x="457200" y="3523113"/>
            <a:ext cx="8229600" cy="1152000"/>
          </a:xfrm>
        </p:spPr>
        <p:txBody>
          <a:bodyPr/>
          <a:lstStyle/>
          <a:p>
            <a:pPr marL="740664" lvl="1" indent="-283464" eaLnBrk="1" hangingPunct="1"/>
            <a:r>
              <a:rPr lang="en-US" altLang="en-US" sz="2000" dirty="0">
                <a:latin typeface="Arial (Body)"/>
              </a:rPr>
              <a:t>But many other assets have this risk too, so this risk is not very important in defining the demand of monetary assets versus non-monetary assets.</a:t>
            </a:r>
          </a:p>
        </p:txBody>
      </p:sp>
      <p:sp>
        <p:nvSpPr>
          <p:cNvPr id="5" name="Content Placeholder 4">
            <a:extLst>
              <a:ext uri="{FF2B5EF4-FFF2-40B4-BE49-F238E27FC236}">
                <a16:creationId xmlns:a16="http://schemas.microsoft.com/office/drawing/2014/main" id="{7DBC58C5-6E12-4E19-BE49-BE8C71B5B721}"/>
              </a:ext>
            </a:extLst>
          </p:cNvPr>
          <p:cNvSpPr>
            <a:spLocks noGrp="1"/>
          </p:cNvSpPr>
          <p:nvPr>
            <p:ph sz="quarter" idx="15"/>
          </p:nvPr>
        </p:nvSpPr>
        <p:spPr>
          <a:xfrm>
            <a:off x="457200" y="4708576"/>
            <a:ext cx="8229600" cy="1152000"/>
          </a:xfrm>
        </p:spPr>
        <p:txBody>
          <a:bodyPr/>
          <a:lstStyle/>
          <a:p>
            <a:pPr marL="432000" indent="-432000">
              <a:buFont typeface="+mj-lt"/>
              <a:buAutoNum type="arabicPeriod" startAt="3"/>
            </a:pPr>
            <a:r>
              <a:rPr lang="en-US" altLang="en-US" sz="2000" b="1" dirty="0">
                <a:latin typeface="Arial (Body)"/>
              </a:rPr>
              <a:t>Liquidity</a:t>
            </a:r>
            <a:r>
              <a:rPr lang="en-US" altLang="en-US" sz="2000" dirty="0">
                <a:latin typeface="Arial (Body)"/>
              </a:rPr>
              <a:t>: A need for greater liquidity occurs when the price of transactions increases or the quantity of goods bought in transactions increases.</a:t>
            </a:r>
          </a:p>
        </p:txBody>
      </p:sp>
    </p:spTree>
    <p:extLst>
      <p:ext uri="{BB962C8B-B14F-4D97-AF65-F5344CB8AC3E}">
        <p14:creationId xmlns:p14="http://schemas.microsoft.com/office/powerpoint/2010/main" val="101837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What Influences Aggregate Demand of Money? </a:t>
            </a:r>
            <a:r>
              <a:rPr lang="en-US" altLang="en-US" sz="2000" b="0" dirty="0"/>
              <a:t>(1 of 2)</a:t>
            </a:r>
            <a:endParaRPr lang="en-US" sz="2000" b="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7"/>
            <a:ext cx="8229600" cy="1332000"/>
          </a:xfrm>
        </p:spPr>
        <p:txBody>
          <a:bodyPr/>
          <a:lstStyle/>
          <a:p>
            <a:pPr marL="432000" indent="-432000">
              <a:buFont typeface="Times" pitchFamily="-1" charset="0"/>
              <a:buAutoNum type="arabicPeriod"/>
            </a:pPr>
            <a:r>
              <a:rPr lang="en-US" altLang="en-US" sz="2000" b="1" dirty="0"/>
              <a:t>Interest rates/expected rates of return</a:t>
            </a:r>
            <a:r>
              <a:rPr lang="en-US" altLang="en-US" sz="2000" dirty="0"/>
              <a:t>: monetary assets pay little or no interest, so the interest rate on non-monetary assets such as bonds, loans, and deposits is the opportunity cost of holding monetary assets.</a:t>
            </a:r>
          </a:p>
        </p:txBody>
      </p:sp>
      <p:sp>
        <p:nvSpPr>
          <p:cNvPr id="12" name="Content Placeholder 11">
            <a:extLst>
              <a:ext uri="{FF2B5EF4-FFF2-40B4-BE49-F238E27FC236}">
                <a16:creationId xmlns:a16="http://schemas.microsoft.com/office/drawing/2014/main" id="{C49688A6-D32F-4F0A-A3EC-74A5576D8CF2}"/>
              </a:ext>
            </a:extLst>
          </p:cNvPr>
          <p:cNvSpPr>
            <a:spLocks noGrp="1"/>
          </p:cNvSpPr>
          <p:nvPr>
            <p:ph sz="quarter" idx="14"/>
          </p:nvPr>
        </p:nvSpPr>
        <p:spPr>
          <a:xfrm>
            <a:off x="457200" y="2958358"/>
            <a:ext cx="8136000" cy="324000"/>
          </a:xfrm>
        </p:spPr>
        <p:txBody>
          <a:bodyPr tIns="0"/>
          <a:lstStyle/>
          <a:p>
            <a:pPr marL="740664" lvl="1" indent="-283464" eaLnBrk="1" hangingPunct="1"/>
            <a:r>
              <a:rPr lang="en-US" altLang="en-US" sz="2000" dirty="0"/>
              <a:t>A higher interest rate means a higher opportunity cost of holding</a:t>
            </a:r>
            <a:endParaRPr lang="en-US" sz="2000" dirty="0"/>
          </a:p>
        </p:txBody>
      </p:sp>
      <p:sp>
        <p:nvSpPr>
          <p:cNvPr id="13" name="Content Placeholder 12">
            <a:extLst>
              <a:ext uri="{FF2B5EF4-FFF2-40B4-BE49-F238E27FC236}">
                <a16:creationId xmlns:a16="http://schemas.microsoft.com/office/drawing/2014/main" id="{23C02F8D-7B9E-4BC0-ABE4-D410E9DE248F}"/>
              </a:ext>
            </a:extLst>
          </p:cNvPr>
          <p:cNvSpPr>
            <a:spLocks noGrp="1"/>
          </p:cNvSpPr>
          <p:nvPr>
            <p:ph sz="quarter" idx="15"/>
          </p:nvPr>
        </p:nvSpPr>
        <p:spPr>
          <a:xfrm>
            <a:off x="457200" y="3352585"/>
            <a:ext cx="2808000" cy="324000"/>
          </a:xfrm>
        </p:spPr>
        <p:txBody>
          <a:bodyPr tIns="0"/>
          <a:lstStyle/>
          <a:p>
            <a:pPr marL="741600" lvl="1" indent="0">
              <a:buNone/>
            </a:pPr>
            <a:r>
              <a:rPr lang="en-US" altLang="en-US" sz="2000" dirty="0">
                <a:latin typeface="+mn-lt"/>
              </a:rPr>
              <a:t>monetary assets</a:t>
            </a:r>
            <a:endParaRPr lang="en-US" sz="2000" dirty="0">
              <a:latin typeface="+mn-lt"/>
            </a:endParaRPr>
          </a:p>
        </p:txBody>
      </p:sp>
      <p:graphicFrame>
        <p:nvGraphicFramePr>
          <p:cNvPr id="17" name="Object 16" descr="Right arrow">
            <a:extLst>
              <a:ext uri="{FF2B5EF4-FFF2-40B4-BE49-F238E27FC236}">
                <a16:creationId xmlns:a16="http://schemas.microsoft.com/office/drawing/2014/main" id="{9553C65D-92C4-4C35-BB7B-4C1528B0B7E1}"/>
              </a:ext>
            </a:extLst>
          </p:cNvPr>
          <p:cNvGraphicFramePr>
            <a:graphicFrameLocks noChangeAspect="1"/>
          </p:cNvGraphicFramePr>
          <p:nvPr>
            <p:extLst>
              <p:ext uri="{D42A27DB-BD31-4B8C-83A1-F6EECF244321}">
                <p14:modId xmlns:p14="http://schemas.microsoft.com/office/powerpoint/2010/main" val="893088645"/>
              </p:ext>
            </p:extLst>
          </p:nvPr>
        </p:nvGraphicFramePr>
        <p:xfrm>
          <a:off x="3323037" y="3388018"/>
          <a:ext cx="382481" cy="280487"/>
        </p:xfrm>
        <a:graphic>
          <a:graphicData uri="http://schemas.openxmlformats.org/presentationml/2006/ole">
            <mc:AlternateContent xmlns:mc="http://schemas.openxmlformats.org/markup-compatibility/2006">
              <mc:Choice xmlns:v="urn:schemas-microsoft-com:vml" Requires="v">
                <p:oleObj name="Equation" r:id="rId3" imgW="190440" imgH="139680" progId="Equation.DSMT4">
                  <p:embed/>
                </p:oleObj>
              </mc:Choice>
              <mc:Fallback>
                <p:oleObj name="Equation" r:id="rId3" imgW="190440" imgH="139680" progId="Equation.DSMT4">
                  <p:embed/>
                  <p:pic>
                    <p:nvPicPr>
                      <p:cNvPr id="0" name=""/>
                      <p:cNvPicPr/>
                      <p:nvPr/>
                    </p:nvPicPr>
                    <p:blipFill>
                      <a:blip r:embed="rId4"/>
                      <a:stretch>
                        <a:fillRect/>
                      </a:stretch>
                    </p:blipFill>
                    <p:spPr>
                      <a:xfrm>
                        <a:off x="3323037" y="3388018"/>
                        <a:ext cx="382481" cy="280487"/>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13FABC2B-EAB1-46C7-AB41-0A1EE5060192}"/>
              </a:ext>
            </a:extLst>
          </p:cNvPr>
          <p:cNvSpPr>
            <a:spLocks noGrp="1"/>
          </p:cNvSpPr>
          <p:nvPr>
            <p:ph sz="quarter" idx="16"/>
          </p:nvPr>
        </p:nvSpPr>
        <p:spPr>
          <a:xfrm>
            <a:off x="3783636" y="3344505"/>
            <a:ext cx="3028950" cy="324000"/>
          </a:xfrm>
        </p:spPr>
        <p:txBody>
          <a:bodyPr tIns="0"/>
          <a:lstStyle/>
          <a:p>
            <a:pPr marL="0" lvl="1" indent="0">
              <a:buNone/>
            </a:pPr>
            <a:r>
              <a:rPr lang="en-US" altLang="en-US" sz="2000" dirty="0">
                <a:latin typeface="+mn-lt"/>
              </a:rPr>
              <a:t>lower demand of money.</a:t>
            </a:r>
          </a:p>
        </p:txBody>
      </p:sp>
      <p:sp>
        <p:nvSpPr>
          <p:cNvPr id="18" name="Content Placeholder 17">
            <a:extLst>
              <a:ext uri="{FF2B5EF4-FFF2-40B4-BE49-F238E27FC236}">
                <a16:creationId xmlns:a16="http://schemas.microsoft.com/office/drawing/2014/main" id="{C7B65FEB-8246-4C5A-B42A-F709A9A6E0DA}"/>
              </a:ext>
            </a:extLst>
          </p:cNvPr>
          <p:cNvSpPr>
            <a:spLocks noGrp="1"/>
          </p:cNvSpPr>
          <p:nvPr>
            <p:ph sz="quarter" idx="17"/>
          </p:nvPr>
        </p:nvSpPr>
        <p:spPr>
          <a:xfrm>
            <a:off x="457200" y="3744898"/>
            <a:ext cx="8229600" cy="1068262"/>
          </a:xfrm>
        </p:spPr>
        <p:txBody>
          <a:bodyPr/>
          <a:lstStyle/>
          <a:p>
            <a:pPr marL="432000" indent="-432000">
              <a:buFont typeface="+mj-lt"/>
              <a:buAutoNum type="arabicPeriod" startAt="2"/>
            </a:pPr>
            <a:r>
              <a:rPr lang="en-US" altLang="en-US" sz="2000" b="1" dirty="0">
                <a:latin typeface="+mn-lt"/>
              </a:rPr>
              <a:t>Prices</a:t>
            </a:r>
            <a:r>
              <a:rPr lang="en-US" altLang="en-US" sz="2000" dirty="0">
                <a:latin typeface="+mn-lt"/>
              </a:rPr>
              <a:t>: the prices of goods and services bought in transactions will influence the willingness to hold money to conduct those transactions.</a:t>
            </a:r>
            <a:endParaRPr lang="en-US" sz="2000" dirty="0">
              <a:latin typeface="+mn-lt"/>
            </a:endParaRPr>
          </a:p>
        </p:txBody>
      </p:sp>
      <p:sp>
        <p:nvSpPr>
          <p:cNvPr id="19" name="Content Placeholder 18">
            <a:extLst>
              <a:ext uri="{FF2B5EF4-FFF2-40B4-BE49-F238E27FC236}">
                <a16:creationId xmlns:a16="http://schemas.microsoft.com/office/drawing/2014/main" id="{AB71E8EE-725A-4772-8A7C-2631233BD0D0}"/>
              </a:ext>
            </a:extLst>
          </p:cNvPr>
          <p:cNvSpPr>
            <a:spLocks noGrp="1"/>
          </p:cNvSpPr>
          <p:nvPr>
            <p:ph sz="quarter" idx="18"/>
          </p:nvPr>
        </p:nvSpPr>
        <p:spPr>
          <a:xfrm>
            <a:off x="457200" y="4864363"/>
            <a:ext cx="8229600" cy="741629"/>
          </a:xfrm>
        </p:spPr>
        <p:txBody>
          <a:bodyPr/>
          <a:lstStyle/>
          <a:p>
            <a:pPr marL="740664" lvl="1" indent="-283464" eaLnBrk="1" hangingPunct="1"/>
            <a:r>
              <a:rPr lang="en-US" altLang="en-US" sz="2000" dirty="0">
                <a:latin typeface="+mn-lt"/>
              </a:rPr>
              <a:t>A higher level of average prices means a greater need for liquidity to buy the same amount of goods and services </a:t>
            </a:r>
            <a:endParaRPr lang="en-US" sz="2000" dirty="0">
              <a:latin typeface="+mn-lt"/>
            </a:endParaRPr>
          </a:p>
        </p:txBody>
      </p:sp>
      <p:graphicFrame>
        <p:nvGraphicFramePr>
          <p:cNvPr id="25" name="Object 24" descr="Right arrow">
            <a:extLst>
              <a:ext uri="{FF2B5EF4-FFF2-40B4-BE49-F238E27FC236}">
                <a16:creationId xmlns:a16="http://schemas.microsoft.com/office/drawing/2014/main" id="{2E258B04-AB2A-4ECD-8C26-0CA5AA52B37B}"/>
              </a:ext>
            </a:extLst>
          </p:cNvPr>
          <p:cNvGraphicFramePr>
            <a:graphicFrameLocks noChangeAspect="1"/>
          </p:cNvGraphicFramePr>
          <p:nvPr>
            <p:extLst>
              <p:ext uri="{D42A27DB-BD31-4B8C-83A1-F6EECF244321}">
                <p14:modId xmlns:p14="http://schemas.microsoft.com/office/powerpoint/2010/main" val="3440889021"/>
              </p:ext>
            </p:extLst>
          </p:nvPr>
        </p:nvGraphicFramePr>
        <p:xfrm>
          <a:off x="1296418" y="5746426"/>
          <a:ext cx="347806" cy="255443"/>
        </p:xfrm>
        <a:graphic>
          <a:graphicData uri="http://schemas.openxmlformats.org/presentationml/2006/ole">
            <mc:AlternateContent xmlns:mc="http://schemas.openxmlformats.org/markup-compatibility/2006">
              <mc:Choice xmlns:v="urn:schemas-microsoft-com:vml" Requires="v">
                <p:oleObj name="Equation" r:id="rId5" imgW="382503" imgH="280482" progId="Equation.DSMT4">
                  <p:embed/>
                </p:oleObj>
              </mc:Choice>
              <mc:Fallback>
                <p:oleObj name="Equation" r:id="rId5" imgW="382503" imgH="280482" progId="Equation.DSMT4">
                  <p:embed/>
                  <p:pic>
                    <p:nvPicPr>
                      <p:cNvPr id="0" name=""/>
                      <p:cNvPicPr/>
                      <p:nvPr/>
                    </p:nvPicPr>
                    <p:blipFill>
                      <a:blip r:embed="rId6"/>
                      <a:stretch>
                        <a:fillRect/>
                      </a:stretch>
                    </p:blipFill>
                    <p:spPr>
                      <a:xfrm>
                        <a:off x="1296418" y="5746426"/>
                        <a:ext cx="347806" cy="255443"/>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D9275195-F497-4E94-84A5-4D1671CFCF4E}"/>
              </a:ext>
            </a:extLst>
          </p:cNvPr>
          <p:cNvSpPr>
            <a:spLocks noGrp="1"/>
          </p:cNvSpPr>
          <p:nvPr>
            <p:ph sz="quarter" idx="19"/>
          </p:nvPr>
        </p:nvSpPr>
        <p:spPr>
          <a:xfrm>
            <a:off x="1748037" y="5696571"/>
            <a:ext cx="3060000" cy="362586"/>
          </a:xfrm>
        </p:spPr>
        <p:txBody>
          <a:bodyPr lIns="0" tIns="0" rIns="0" bIns="0"/>
          <a:lstStyle/>
          <a:p>
            <a:pPr marL="0" lvl="1" indent="0">
              <a:buNone/>
            </a:pPr>
            <a:r>
              <a:rPr lang="en-US" altLang="en-US" sz="2000" dirty="0">
                <a:latin typeface="+mn-lt"/>
              </a:rPr>
              <a:t>higher demand of money.</a:t>
            </a:r>
            <a:endParaRPr lang="en-US" sz="2000" dirty="0">
              <a:latin typeface="+mn-lt"/>
            </a:endParaRPr>
          </a:p>
        </p:txBody>
      </p:sp>
    </p:spTree>
    <p:extLst>
      <p:ext uri="{BB962C8B-B14F-4D97-AF65-F5344CB8AC3E}">
        <p14:creationId xmlns:p14="http://schemas.microsoft.com/office/powerpoint/2010/main" val="180075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What Influences Aggregate Demand of Money? </a:t>
            </a:r>
            <a:r>
              <a:rPr lang="en-US" altLang="en-US" sz="2000" b="0" dirty="0"/>
              <a:t>(2 of 2)</a:t>
            </a:r>
            <a:endParaRPr lang="en-US" sz="2000" b="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1224000"/>
          </a:xfrm>
        </p:spPr>
        <p:txBody>
          <a:bodyPr/>
          <a:lstStyle/>
          <a:p>
            <a:pPr marL="432000" indent="-432000" eaLnBrk="1" hangingPunct="1">
              <a:spcBef>
                <a:spcPts val="600"/>
              </a:spcBef>
              <a:buFont typeface="Times" pitchFamily="-1" charset="0"/>
              <a:buAutoNum type="arabicPeriod" startAt="3"/>
            </a:pPr>
            <a:r>
              <a:rPr lang="en-US" altLang="en-US" b="1" dirty="0">
                <a:latin typeface="Arial (Body)"/>
              </a:rPr>
              <a:t>Income</a:t>
            </a:r>
            <a:r>
              <a:rPr lang="en-US" altLang="en-US" dirty="0">
                <a:latin typeface="Arial (Body)"/>
              </a:rPr>
              <a:t>: greater income implies more goods and services can be bought, so that more money is needed to conduct transactions.</a:t>
            </a:r>
          </a:p>
        </p:txBody>
      </p:sp>
      <p:sp>
        <p:nvSpPr>
          <p:cNvPr id="12" name="Content Placeholder 11">
            <a:extLst>
              <a:ext uri="{FF2B5EF4-FFF2-40B4-BE49-F238E27FC236}">
                <a16:creationId xmlns:a16="http://schemas.microsoft.com/office/drawing/2014/main" id="{C49688A6-D32F-4F0A-A3EC-74A5576D8CF2}"/>
              </a:ext>
            </a:extLst>
          </p:cNvPr>
          <p:cNvSpPr>
            <a:spLocks noGrp="1"/>
          </p:cNvSpPr>
          <p:nvPr>
            <p:ph sz="quarter" idx="14"/>
          </p:nvPr>
        </p:nvSpPr>
        <p:spPr>
          <a:xfrm>
            <a:off x="457201" y="2912171"/>
            <a:ext cx="7651820" cy="443977"/>
          </a:xfrm>
        </p:spPr>
        <p:txBody>
          <a:bodyPr tIns="0"/>
          <a:lstStyle/>
          <a:p>
            <a:pPr marL="740664" lvl="1" indent="-283464" eaLnBrk="1" hangingPunct="1"/>
            <a:r>
              <a:rPr lang="en-US" altLang="en-US" dirty="0">
                <a:latin typeface="Arial (Body)"/>
              </a:rPr>
              <a:t>A higher real national income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means more</a:t>
            </a:r>
            <a:endParaRPr lang="en-US" dirty="0"/>
          </a:p>
        </p:txBody>
      </p:sp>
      <p:sp>
        <p:nvSpPr>
          <p:cNvPr id="13" name="Content Placeholder 12">
            <a:extLst>
              <a:ext uri="{FF2B5EF4-FFF2-40B4-BE49-F238E27FC236}">
                <a16:creationId xmlns:a16="http://schemas.microsoft.com/office/drawing/2014/main" id="{23C02F8D-7B9E-4BC0-ABE4-D410E9DE248F}"/>
              </a:ext>
            </a:extLst>
          </p:cNvPr>
          <p:cNvSpPr>
            <a:spLocks noGrp="1"/>
          </p:cNvSpPr>
          <p:nvPr>
            <p:ph sz="quarter" idx="15"/>
          </p:nvPr>
        </p:nvSpPr>
        <p:spPr>
          <a:xfrm>
            <a:off x="457200" y="3432794"/>
            <a:ext cx="8229600" cy="423343"/>
          </a:xfrm>
        </p:spPr>
        <p:txBody>
          <a:bodyPr tIns="0"/>
          <a:lstStyle/>
          <a:p>
            <a:pPr marL="741600" lvl="1" indent="0">
              <a:buNone/>
            </a:pPr>
            <a:r>
              <a:rPr lang="en-US" altLang="en-US" sz="2400" dirty="0">
                <a:latin typeface="Arial (Body)"/>
              </a:rPr>
              <a:t>goods and services are being produced and bought in</a:t>
            </a:r>
            <a:endParaRPr lang="en-US" sz="2400" dirty="0"/>
          </a:p>
        </p:txBody>
      </p:sp>
      <p:sp>
        <p:nvSpPr>
          <p:cNvPr id="14" name="Content Placeholder 13">
            <a:extLst>
              <a:ext uri="{FF2B5EF4-FFF2-40B4-BE49-F238E27FC236}">
                <a16:creationId xmlns:a16="http://schemas.microsoft.com/office/drawing/2014/main" id="{13FABC2B-EAB1-46C7-AB41-0A1EE5060192}"/>
              </a:ext>
            </a:extLst>
          </p:cNvPr>
          <p:cNvSpPr>
            <a:spLocks noGrp="1"/>
          </p:cNvSpPr>
          <p:nvPr>
            <p:ph sz="quarter" idx="16"/>
          </p:nvPr>
        </p:nvSpPr>
        <p:spPr>
          <a:xfrm>
            <a:off x="457199" y="3950615"/>
            <a:ext cx="6972301" cy="409441"/>
          </a:xfrm>
        </p:spPr>
        <p:txBody>
          <a:bodyPr tIns="0"/>
          <a:lstStyle/>
          <a:p>
            <a:pPr marL="741600" lvl="1" indent="0">
              <a:buNone/>
            </a:pPr>
            <a:r>
              <a:rPr lang="en-US" altLang="en-US" sz="2400" dirty="0">
                <a:latin typeface="Arial (Body)"/>
              </a:rPr>
              <a:t>transactions, increasing the need for liquidity</a:t>
            </a:r>
            <a:endParaRPr lang="en-US" sz="2400" dirty="0"/>
          </a:p>
        </p:txBody>
      </p:sp>
      <p:graphicFrame>
        <p:nvGraphicFramePr>
          <p:cNvPr id="17" name="Object 16" descr="Right arrow">
            <a:extLst>
              <a:ext uri="{FF2B5EF4-FFF2-40B4-BE49-F238E27FC236}">
                <a16:creationId xmlns:a16="http://schemas.microsoft.com/office/drawing/2014/main" id="{9553C65D-92C4-4C35-BB7B-4C1528B0B7E1}"/>
              </a:ext>
            </a:extLst>
          </p:cNvPr>
          <p:cNvGraphicFramePr>
            <a:graphicFrameLocks noChangeAspect="1"/>
          </p:cNvGraphicFramePr>
          <p:nvPr>
            <p:extLst>
              <p:ext uri="{D42A27DB-BD31-4B8C-83A1-F6EECF244321}">
                <p14:modId xmlns:p14="http://schemas.microsoft.com/office/powerpoint/2010/main" val="1035760970"/>
              </p:ext>
            </p:extLst>
          </p:nvPr>
        </p:nvGraphicFramePr>
        <p:xfrm>
          <a:off x="7601547" y="4051520"/>
          <a:ext cx="420729" cy="308536"/>
        </p:xfrm>
        <a:graphic>
          <a:graphicData uri="http://schemas.openxmlformats.org/presentationml/2006/ole">
            <mc:AlternateContent xmlns:mc="http://schemas.openxmlformats.org/markup-compatibility/2006">
              <mc:Choice xmlns:v="urn:schemas-microsoft-com:vml" Requires="v">
                <p:oleObj name="Equation" r:id="rId3" imgW="190440" imgH="139680" progId="Equation.DSMT4">
                  <p:embed/>
                </p:oleObj>
              </mc:Choice>
              <mc:Fallback>
                <p:oleObj name="Equation" r:id="rId3" imgW="190440" imgH="139680" progId="Equation.DSMT4">
                  <p:embed/>
                  <p:pic>
                    <p:nvPicPr>
                      <p:cNvPr id="17" name="Object 16">
                        <a:extLst>
                          <a:ext uri="{FF2B5EF4-FFF2-40B4-BE49-F238E27FC236}">
                            <a16:creationId xmlns:a16="http://schemas.microsoft.com/office/drawing/2014/main" id="{9553C65D-92C4-4C35-BB7B-4C1528B0B7E1}"/>
                          </a:ext>
                        </a:extLst>
                      </p:cNvPr>
                      <p:cNvPicPr/>
                      <p:nvPr/>
                    </p:nvPicPr>
                    <p:blipFill>
                      <a:blip r:embed="rId4"/>
                      <a:stretch>
                        <a:fillRect/>
                      </a:stretch>
                    </p:blipFill>
                    <p:spPr>
                      <a:xfrm>
                        <a:off x="7601547" y="4051520"/>
                        <a:ext cx="420729" cy="308536"/>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C7B65FEB-8246-4C5A-B42A-F709A9A6E0DA}"/>
              </a:ext>
            </a:extLst>
          </p:cNvPr>
          <p:cNvSpPr>
            <a:spLocks noGrp="1"/>
          </p:cNvSpPr>
          <p:nvPr>
            <p:ph sz="quarter" idx="17"/>
          </p:nvPr>
        </p:nvSpPr>
        <p:spPr>
          <a:xfrm>
            <a:off x="457200" y="4508605"/>
            <a:ext cx="4486589" cy="505522"/>
          </a:xfrm>
        </p:spPr>
        <p:txBody>
          <a:bodyPr tIns="0"/>
          <a:lstStyle/>
          <a:p>
            <a:pPr marL="741600" lvl="1" indent="0" defTabSz="457200">
              <a:spcBef>
                <a:spcPts val="0"/>
              </a:spcBef>
              <a:buClrTx/>
              <a:buSzTx/>
              <a:buNone/>
              <a:defRPr/>
            </a:pPr>
            <a:r>
              <a:rPr lang="en-US" altLang="en-US" sz="2400" dirty="0">
                <a:latin typeface="Arial (Body)"/>
              </a:rPr>
              <a:t>higher demand of money.</a:t>
            </a:r>
          </a:p>
        </p:txBody>
      </p:sp>
    </p:spTree>
    <p:extLst>
      <p:ext uri="{BB962C8B-B14F-4D97-AF65-F5344CB8AC3E}">
        <p14:creationId xmlns:p14="http://schemas.microsoft.com/office/powerpoint/2010/main" val="605982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1E1D-F144-4A5E-A601-DFCF71C47189}"/>
              </a:ext>
            </a:extLst>
          </p:cNvPr>
          <p:cNvSpPr>
            <a:spLocks noGrp="1"/>
          </p:cNvSpPr>
          <p:nvPr>
            <p:ph type="title"/>
          </p:nvPr>
        </p:nvSpPr>
        <p:spPr/>
        <p:txBody>
          <a:bodyPr/>
          <a:lstStyle/>
          <a:p>
            <a:r>
              <a:rPr lang="en-US" altLang="en-US" sz="3200" dirty="0"/>
              <a:t>A Model of Aggregate Money Demand</a:t>
            </a:r>
            <a:endParaRPr lang="en-IN" sz="3200" dirty="0"/>
          </a:p>
        </p:txBody>
      </p:sp>
      <p:sp>
        <p:nvSpPr>
          <p:cNvPr id="3" name="Content Placeholder 2">
            <a:extLst>
              <a:ext uri="{FF2B5EF4-FFF2-40B4-BE49-F238E27FC236}">
                <a16:creationId xmlns:a16="http://schemas.microsoft.com/office/drawing/2014/main" id="{5778735E-B56D-424A-A080-46773B5ECD26}"/>
              </a:ext>
            </a:extLst>
          </p:cNvPr>
          <p:cNvSpPr>
            <a:spLocks noGrp="1"/>
          </p:cNvSpPr>
          <p:nvPr>
            <p:ph sz="quarter" idx="13"/>
          </p:nvPr>
        </p:nvSpPr>
        <p:spPr>
          <a:xfrm>
            <a:off x="457200" y="1552575"/>
            <a:ext cx="6616840" cy="469408"/>
          </a:xfrm>
        </p:spPr>
        <p:txBody>
          <a:bodyPr/>
          <a:lstStyle/>
          <a:p>
            <a:pPr marL="432" indent="0">
              <a:buNone/>
            </a:pPr>
            <a:r>
              <a:rPr lang="en-US" altLang="en-US" sz="2000" dirty="0"/>
              <a:t>The aggregate demand of money can be expressed as:</a:t>
            </a:r>
          </a:p>
        </p:txBody>
      </p:sp>
      <p:graphicFrame>
        <p:nvGraphicFramePr>
          <p:cNvPr id="17" name="Object 16" descr="M super d = P times L left parenthesis R comma y right parenthesis or">
            <a:extLst>
              <a:ext uri="{FF2B5EF4-FFF2-40B4-BE49-F238E27FC236}">
                <a16:creationId xmlns:a16="http://schemas.microsoft.com/office/drawing/2014/main" id="{14F7297F-FECA-47D8-973E-6D4FA04EDA64}"/>
              </a:ext>
            </a:extLst>
          </p:cNvPr>
          <p:cNvGraphicFramePr>
            <a:graphicFrameLocks noChangeAspect="1"/>
          </p:cNvGraphicFramePr>
          <p:nvPr>
            <p:extLst>
              <p:ext uri="{D42A27DB-BD31-4B8C-83A1-F6EECF244321}">
                <p14:modId xmlns:p14="http://schemas.microsoft.com/office/powerpoint/2010/main" val="1700457949"/>
              </p:ext>
            </p:extLst>
          </p:nvPr>
        </p:nvGraphicFramePr>
        <p:xfrm>
          <a:off x="3416673" y="2135859"/>
          <a:ext cx="1933719" cy="360550"/>
        </p:xfrm>
        <a:graphic>
          <a:graphicData uri="http://schemas.openxmlformats.org/presentationml/2006/ole">
            <mc:AlternateContent xmlns:mc="http://schemas.openxmlformats.org/markup-compatibility/2006">
              <mc:Choice xmlns:v="urn:schemas-microsoft-com:vml" Requires="v">
                <p:oleObj name="Equation" r:id="rId2" imgW="1358640" imgH="253800" progId="Equation.DSMT4">
                  <p:embed/>
                </p:oleObj>
              </mc:Choice>
              <mc:Fallback>
                <p:oleObj name="Equation" r:id="rId2" imgW="1358640" imgH="253800" progId="Equation.DSMT4">
                  <p:embed/>
                  <p:pic>
                    <p:nvPicPr>
                      <p:cNvPr id="17" name="Object 16" descr="M super d = P times L left parenthesis R comma y right parenthesis or">
                        <a:extLst>
                          <a:ext uri="{FF2B5EF4-FFF2-40B4-BE49-F238E27FC236}">
                            <a16:creationId xmlns:a16="http://schemas.microsoft.com/office/drawing/2014/main" id="{3BE7C5A6-C30C-4C6B-8AA4-AB082B669B25}"/>
                          </a:ext>
                        </a:extLst>
                      </p:cNvPr>
                      <p:cNvPicPr/>
                      <p:nvPr/>
                    </p:nvPicPr>
                    <p:blipFill>
                      <a:blip r:embed="rId3"/>
                      <a:stretch>
                        <a:fillRect/>
                      </a:stretch>
                    </p:blipFill>
                    <p:spPr>
                      <a:xfrm>
                        <a:off x="3416673" y="2135859"/>
                        <a:ext cx="1933719" cy="36055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5C38069-F982-4037-8271-B5C60AB26CF6}"/>
              </a:ext>
            </a:extLst>
          </p:cNvPr>
          <p:cNvSpPr>
            <a:spLocks noGrp="1"/>
          </p:cNvSpPr>
          <p:nvPr>
            <p:ph sz="quarter" idx="14"/>
          </p:nvPr>
        </p:nvSpPr>
        <p:spPr>
          <a:xfrm>
            <a:off x="457200" y="2598614"/>
            <a:ext cx="8229600" cy="1571455"/>
          </a:xfrm>
        </p:spPr>
        <p:txBody>
          <a:bodyPr/>
          <a:lstStyle/>
          <a:p>
            <a:pPr marL="0" indent="0">
              <a:spcBef>
                <a:spcPts val="600"/>
              </a:spcBef>
              <a:buNone/>
            </a:pPr>
            <a:r>
              <a:rPr lang="en-US" altLang="en-US" sz="2000" dirty="0"/>
              <a:t>where:</a:t>
            </a:r>
            <a:endParaRPr lang="en-IN" altLang="en-US" sz="2000" dirty="0"/>
          </a:p>
          <a:p>
            <a:pPr marL="0" indent="271463">
              <a:spcBef>
                <a:spcPts val="600"/>
              </a:spcBef>
              <a:buNone/>
            </a:pPr>
            <a:r>
              <a:rPr lang="en-US" altLang="en-US" sz="2000" i="1" dirty="0"/>
              <a:t>P</a:t>
            </a:r>
            <a:r>
              <a:rPr lang="en-US" altLang="en-US" sz="2000" dirty="0"/>
              <a:t> is the price level</a:t>
            </a:r>
          </a:p>
          <a:p>
            <a:pPr marL="0" indent="271463">
              <a:spcBef>
                <a:spcPts val="600"/>
              </a:spcBef>
              <a:buNone/>
            </a:pPr>
            <a:r>
              <a:rPr lang="en-US" altLang="en-US" sz="2000" i="1" dirty="0"/>
              <a:t>Y</a:t>
            </a:r>
            <a:r>
              <a:rPr lang="en-US" altLang="en-US" sz="2000" dirty="0"/>
              <a:t> is real national income</a:t>
            </a:r>
          </a:p>
          <a:p>
            <a:pPr marL="0" indent="271463">
              <a:spcBef>
                <a:spcPts val="600"/>
              </a:spcBef>
              <a:buNone/>
            </a:pPr>
            <a:r>
              <a:rPr lang="en-US" altLang="en-US" sz="2000" i="1" dirty="0"/>
              <a:t>R</a:t>
            </a:r>
            <a:r>
              <a:rPr lang="en-US" altLang="en-US" sz="2000" dirty="0"/>
              <a:t> is a measure of interest rates on non-monetary assets</a:t>
            </a:r>
          </a:p>
        </p:txBody>
      </p:sp>
      <p:graphicFrame>
        <p:nvGraphicFramePr>
          <p:cNvPr id="18" name="Object 17" descr="L left parenthesis R comma Y right parenthesis,">
            <a:extLst>
              <a:ext uri="{FF2B5EF4-FFF2-40B4-BE49-F238E27FC236}">
                <a16:creationId xmlns:a16="http://schemas.microsoft.com/office/drawing/2014/main" id="{CE089252-C045-4375-8841-3733FF60AA8B}"/>
              </a:ext>
            </a:extLst>
          </p:cNvPr>
          <p:cNvGraphicFramePr>
            <a:graphicFrameLocks noChangeAspect="1"/>
          </p:cNvGraphicFramePr>
          <p:nvPr>
            <p:extLst>
              <p:ext uri="{D42A27DB-BD31-4B8C-83A1-F6EECF244321}">
                <p14:modId xmlns:p14="http://schemas.microsoft.com/office/powerpoint/2010/main" val="3357364625"/>
              </p:ext>
            </p:extLst>
          </p:nvPr>
        </p:nvGraphicFramePr>
        <p:xfrm>
          <a:off x="649181" y="4215619"/>
          <a:ext cx="769620" cy="349829"/>
        </p:xfrm>
        <a:graphic>
          <a:graphicData uri="http://schemas.openxmlformats.org/presentationml/2006/ole">
            <mc:AlternateContent xmlns:mc="http://schemas.openxmlformats.org/markup-compatibility/2006">
              <mc:Choice xmlns:v="urn:schemas-microsoft-com:vml" Requires="v">
                <p:oleObj name="Equation" r:id="rId4" imgW="558720" imgH="253800" progId="Equation.DSMT4">
                  <p:embed/>
                </p:oleObj>
              </mc:Choice>
              <mc:Fallback>
                <p:oleObj name="Equation" r:id="rId4" imgW="558720" imgH="253800" progId="Equation.DSMT4">
                  <p:embed/>
                  <p:pic>
                    <p:nvPicPr>
                      <p:cNvPr id="18" name="Object 17" descr="L left parenthesis R comma Y right parenthesis,">
                        <a:extLst>
                          <a:ext uri="{FF2B5EF4-FFF2-40B4-BE49-F238E27FC236}">
                            <a16:creationId xmlns:a16="http://schemas.microsoft.com/office/drawing/2014/main" id="{33540F76-8F68-4520-AFAA-AD33CAC16F14}"/>
                          </a:ext>
                        </a:extLst>
                      </p:cNvPr>
                      <p:cNvPicPr/>
                      <p:nvPr/>
                    </p:nvPicPr>
                    <p:blipFill>
                      <a:blip r:embed="rId5"/>
                      <a:stretch>
                        <a:fillRect/>
                      </a:stretch>
                    </p:blipFill>
                    <p:spPr>
                      <a:xfrm>
                        <a:off x="649181" y="4215619"/>
                        <a:ext cx="769620" cy="349829"/>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3749A886-FBE6-42E5-B0A9-1F12E244A7D3}"/>
              </a:ext>
            </a:extLst>
          </p:cNvPr>
          <p:cNvSpPr>
            <a:spLocks noGrp="1"/>
          </p:cNvSpPr>
          <p:nvPr>
            <p:ph sz="quarter" idx="15"/>
          </p:nvPr>
        </p:nvSpPr>
        <p:spPr>
          <a:xfrm>
            <a:off x="1512275" y="4215619"/>
            <a:ext cx="6023987" cy="362485"/>
          </a:xfrm>
        </p:spPr>
        <p:txBody>
          <a:bodyPr lIns="0" tIns="0" rIns="0" bIns="0"/>
          <a:lstStyle/>
          <a:p>
            <a:pPr marL="432" indent="0">
              <a:buNone/>
            </a:pPr>
            <a:r>
              <a:rPr lang="en-US" altLang="en-US" sz="2000" dirty="0"/>
              <a:t>is the aggregate demand of real monetary assets</a:t>
            </a:r>
            <a:endParaRPr lang="en-IN" sz="2000" dirty="0"/>
          </a:p>
        </p:txBody>
      </p:sp>
      <p:sp>
        <p:nvSpPr>
          <p:cNvPr id="6" name="Content Placeholder 5">
            <a:extLst>
              <a:ext uri="{FF2B5EF4-FFF2-40B4-BE49-F238E27FC236}">
                <a16:creationId xmlns:a16="http://schemas.microsoft.com/office/drawing/2014/main" id="{E641A1B3-E722-4608-A9E9-19BD1A3E9E9B}"/>
              </a:ext>
            </a:extLst>
          </p:cNvPr>
          <p:cNvSpPr>
            <a:spLocks noGrp="1"/>
          </p:cNvSpPr>
          <p:nvPr>
            <p:ph sz="quarter" idx="16"/>
          </p:nvPr>
        </p:nvSpPr>
        <p:spPr>
          <a:xfrm>
            <a:off x="457200" y="4657496"/>
            <a:ext cx="8229600" cy="803504"/>
          </a:xfrm>
        </p:spPr>
        <p:txBody>
          <a:bodyPr/>
          <a:lstStyle/>
          <a:p>
            <a:r>
              <a:rPr lang="en-US" altLang="en-US" sz="2000" dirty="0"/>
              <a:t>Aggregate demand of real monetary assets is a function of national income and interest rates.</a:t>
            </a:r>
            <a:endParaRPr lang="en-US" sz="2000" dirty="0"/>
          </a:p>
        </p:txBody>
      </p:sp>
      <p:graphicFrame>
        <p:nvGraphicFramePr>
          <p:cNvPr id="19" name="Object 18" descr="Start fraction M super d over P end fraction = L left parenthesis R comma Y right parenthesis">
            <a:extLst>
              <a:ext uri="{FF2B5EF4-FFF2-40B4-BE49-F238E27FC236}">
                <a16:creationId xmlns:a16="http://schemas.microsoft.com/office/drawing/2014/main" id="{2A38FEE0-D7FC-4F27-9937-547A2CCF8021}"/>
              </a:ext>
            </a:extLst>
          </p:cNvPr>
          <p:cNvGraphicFramePr>
            <a:graphicFrameLocks noChangeAspect="1"/>
          </p:cNvGraphicFramePr>
          <p:nvPr>
            <p:extLst>
              <p:ext uri="{D42A27DB-BD31-4B8C-83A1-F6EECF244321}">
                <p14:modId xmlns:p14="http://schemas.microsoft.com/office/powerpoint/2010/main" val="197810511"/>
              </p:ext>
            </p:extLst>
          </p:nvPr>
        </p:nvGraphicFramePr>
        <p:xfrm>
          <a:off x="3990277" y="5563565"/>
          <a:ext cx="1542934" cy="679836"/>
        </p:xfrm>
        <a:graphic>
          <a:graphicData uri="http://schemas.openxmlformats.org/presentationml/2006/ole">
            <mc:AlternateContent xmlns:mc="http://schemas.openxmlformats.org/markup-compatibility/2006">
              <mc:Choice xmlns:v="urn:schemas-microsoft-com:vml" Requires="v">
                <p:oleObj name="Equation" r:id="rId6" imgW="952200" imgH="419040" progId="Equation.DSMT4">
                  <p:embed/>
                </p:oleObj>
              </mc:Choice>
              <mc:Fallback>
                <p:oleObj name="Equation" r:id="rId6" imgW="952200" imgH="419040" progId="Equation.DSMT4">
                  <p:embed/>
                  <p:pic>
                    <p:nvPicPr>
                      <p:cNvPr id="19" name="Object 18" descr="Start fraction M super d over P end fraction = L left parenthesis R comma Y right parenthesis">
                        <a:extLst>
                          <a:ext uri="{FF2B5EF4-FFF2-40B4-BE49-F238E27FC236}">
                            <a16:creationId xmlns:a16="http://schemas.microsoft.com/office/drawing/2014/main" id="{6446DF3D-FF54-4231-97FC-39C672DFF800}"/>
                          </a:ext>
                        </a:extLst>
                      </p:cNvPr>
                      <p:cNvPicPr/>
                      <p:nvPr/>
                    </p:nvPicPr>
                    <p:blipFill>
                      <a:blip r:embed="rId7"/>
                      <a:stretch>
                        <a:fillRect/>
                      </a:stretch>
                    </p:blipFill>
                    <p:spPr>
                      <a:xfrm>
                        <a:off x="3990277" y="5563565"/>
                        <a:ext cx="1542934" cy="679836"/>
                      </a:xfrm>
                      <a:prstGeom prst="rect">
                        <a:avLst/>
                      </a:prstGeom>
                    </p:spPr>
                  </p:pic>
                </p:oleObj>
              </mc:Fallback>
            </mc:AlternateContent>
          </a:graphicData>
        </a:graphic>
      </p:graphicFrame>
    </p:spTree>
    <p:extLst>
      <p:ext uri="{BB962C8B-B14F-4D97-AF65-F5344CB8AC3E}">
        <p14:creationId xmlns:p14="http://schemas.microsoft.com/office/powerpoint/2010/main" val="1110246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15.1 Aggregate Real Money Demand and the Interest Rate</a:t>
            </a:r>
            <a:endParaRPr lang="en-US" sz="3400" b="0" dirty="0"/>
          </a:p>
        </p:txBody>
      </p:sp>
      <p:pic>
        <p:nvPicPr>
          <p:cNvPr id="6" name="Content Placeholder 5" descr="A graph plots interest rate, R versus aggregate real money demand. The plot, L left parenthesis R, Y right parenthesis, falls with decreasing steepness.">
            <a:extLst>
              <a:ext uri="{FF2B5EF4-FFF2-40B4-BE49-F238E27FC236}">
                <a16:creationId xmlns:a16="http://schemas.microsoft.com/office/drawing/2014/main" id="{DCE90BB6-DFFD-4581-B97B-257B7376F299}"/>
              </a:ext>
            </a:extLst>
          </p:cNvPr>
          <p:cNvPicPr>
            <a:picLocks noGrp="1" noChangeAspect="1"/>
          </p:cNvPicPr>
          <p:nvPr>
            <p:ph sz="quarter" idx="13"/>
          </p:nvPr>
        </p:nvPicPr>
        <p:blipFill>
          <a:blip r:embed="rId3"/>
          <a:stretch>
            <a:fillRect/>
          </a:stretch>
        </p:blipFill>
        <p:spPr>
          <a:xfrm>
            <a:off x="2823272" y="1663492"/>
            <a:ext cx="3497455" cy="3460871"/>
          </a:xfrm>
        </p:spPr>
      </p:pic>
      <p:sp>
        <p:nvSpPr>
          <p:cNvPr id="12" name="Content Placeholder 11">
            <a:extLst>
              <a:ext uri="{FF2B5EF4-FFF2-40B4-BE49-F238E27FC236}">
                <a16:creationId xmlns:a16="http://schemas.microsoft.com/office/drawing/2014/main" id="{C49688A6-D32F-4F0A-A3EC-74A5576D8CF2}"/>
              </a:ext>
            </a:extLst>
          </p:cNvPr>
          <p:cNvSpPr>
            <a:spLocks noGrp="1"/>
          </p:cNvSpPr>
          <p:nvPr>
            <p:ph sz="quarter" idx="14"/>
          </p:nvPr>
        </p:nvSpPr>
        <p:spPr>
          <a:xfrm>
            <a:off x="457200" y="5396587"/>
            <a:ext cx="8496300" cy="926674"/>
          </a:xfrm>
        </p:spPr>
        <p:txBody>
          <a:bodyPr tIns="0"/>
          <a:lstStyle/>
          <a:p>
            <a:pPr marL="0" indent="0">
              <a:buNone/>
            </a:pPr>
            <a:r>
              <a:rPr lang="en-US" sz="2000" dirty="0">
                <a:latin typeface="Arial (Body)"/>
              </a:rPr>
              <a:t>The downward-sloping real money demand schedule shows that for a given real income level </a:t>
            </a:r>
            <a:r>
              <a:rPr lang="en-US" sz="2000" i="1" dirty="0">
                <a:latin typeface="Arial (Body)"/>
              </a:rPr>
              <a:t>Y</a:t>
            </a:r>
            <a:r>
              <a:rPr lang="en-US" sz="2000" dirty="0">
                <a:latin typeface="Arial (Body)"/>
              </a:rPr>
              <a:t>, real money demand rises as the interest rate falls.</a:t>
            </a:r>
          </a:p>
        </p:txBody>
      </p:sp>
    </p:spTree>
    <p:extLst>
      <p:ext uri="{BB962C8B-B14F-4D97-AF65-F5344CB8AC3E}">
        <p14:creationId xmlns:p14="http://schemas.microsoft.com/office/powerpoint/2010/main" val="4246857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600" dirty="0"/>
              <a:t>Figure 15.2 Effect on the Aggregate Real Money Demand Schedule of a Rise in Real Income</a:t>
            </a:r>
            <a:endParaRPr lang="en-US" sz="2600" b="0" dirty="0"/>
          </a:p>
        </p:txBody>
      </p:sp>
      <p:pic>
        <p:nvPicPr>
          <p:cNvPr id="16" name="Content Placeholder 15" descr="The graph shows the interest rate, R versus the aggregate real money demand. For long description in Notes pane, press F6.">
            <a:extLst>
              <a:ext uri="{FF2B5EF4-FFF2-40B4-BE49-F238E27FC236}">
                <a16:creationId xmlns:a16="http://schemas.microsoft.com/office/drawing/2014/main" id="{5365DC64-5B0E-43F5-BCC9-7A0D38A55788}"/>
              </a:ext>
            </a:extLst>
          </p:cNvPr>
          <p:cNvPicPr>
            <a:picLocks noGrp="1" noChangeAspect="1"/>
          </p:cNvPicPr>
          <p:nvPr>
            <p:ph sz="quarter" idx="13"/>
          </p:nvPr>
        </p:nvPicPr>
        <p:blipFill>
          <a:blip r:embed="rId3"/>
          <a:stretch>
            <a:fillRect/>
          </a:stretch>
        </p:blipFill>
        <p:spPr>
          <a:xfrm>
            <a:off x="2854060" y="1513268"/>
            <a:ext cx="3435879" cy="3417678"/>
          </a:xfrm>
        </p:spPr>
      </p:pic>
      <p:sp>
        <p:nvSpPr>
          <p:cNvPr id="7" name="Content Placeholder 6">
            <a:extLst>
              <a:ext uri="{FF2B5EF4-FFF2-40B4-BE49-F238E27FC236}">
                <a16:creationId xmlns:a16="http://schemas.microsoft.com/office/drawing/2014/main" id="{BDCCE52D-D86E-4E6F-97EE-0D3B68EE2434}"/>
              </a:ext>
            </a:extLst>
          </p:cNvPr>
          <p:cNvSpPr>
            <a:spLocks noGrp="1"/>
          </p:cNvSpPr>
          <p:nvPr>
            <p:ph sz="quarter" idx="14"/>
          </p:nvPr>
        </p:nvSpPr>
        <p:spPr>
          <a:xfrm>
            <a:off x="457201" y="5234248"/>
            <a:ext cx="3780000" cy="324000"/>
          </a:xfrm>
        </p:spPr>
        <p:txBody>
          <a:bodyPr lIns="90000" tIns="0"/>
          <a:lstStyle/>
          <a:p>
            <a:pPr marL="432" indent="0">
              <a:buNone/>
            </a:pPr>
            <a:r>
              <a:rPr lang="en-US" sz="2000" dirty="0">
                <a:latin typeface="Arial (Body)"/>
              </a:rPr>
              <a:t>An increase in real income from</a:t>
            </a:r>
            <a:endParaRPr lang="en-US" sz="2000" dirty="0"/>
          </a:p>
        </p:txBody>
      </p:sp>
      <p:graphicFrame>
        <p:nvGraphicFramePr>
          <p:cNvPr id="14" name="Object 13" descr="Y super 1 to Y super 2">
            <a:extLst>
              <a:ext uri="{FF2B5EF4-FFF2-40B4-BE49-F238E27FC236}">
                <a16:creationId xmlns:a16="http://schemas.microsoft.com/office/drawing/2014/main" id="{4FC0CF15-5758-4BCB-AA2C-41A2720C3925}"/>
              </a:ext>
            </a:extLst>
          </p:cNvPr>
          <p:cNvGraphicFramePr>
            <a:graphicFrameLocks noChangeAspect="1"/>
          </p:cNvGraphicFramePr>
          <p:nvPr>
            <p:extLst>
              <p:ext uri="{D42A27DB-BD31-4B8C-83A1-F6EECF244321}">
                <p14:modId xmlns:p14="http://schemas.microsoft.com/office/powerpoint/2010/main" val="3377382746"/>
              </p:ext>
            </p:extLst>
          </p:nvPr>
        </p:nvGraphicFramePr>
        <p:xfrm>
          <a:off x="4273550" y="5253038"/>
          <a:ext cx="836613" cy="334962"/>
        </p:xfrm>
        <a:graphic>
          <a:graphicData uri="http://schemas.openxmlformats.org/presentationml/2006/ole">
            <mc:AlternateContent xmlns:mc="http://schemas.openxmlformats.org/markup-compatibility/2006">
              <mc:Choice xmlns:v="urn:schemas-microsoft-com:vml" Requires="v">
                <p:oleObj name="Equation" r:id="rId4" imgW="571320" imgH="228600" progId="Equation.DSMT4">
                  <p:embed/>
                </p:oleObj>
              </mc:Choice>
              <mc:Fallback>
                <p:oleObj name="Equation" r:id="rId4" imgW="571320" imgH="228600" progId="Equation.DSMT4">
                  <p:embed/>
                  <p:pic>
                    <p:nvPicPr>
                      <p:cNvPr id="10" name="Object 9">
                        <a:extLst>
                          <a:ext uri="{FF2B5EF4-FFF2-40B4-BE49-F238E27FC236}">
                            <a16:creationId xmlns:a16="http://schemas.microsoft.com/office/drawing/2014/main" id="{26975012-D691-46CE-9862-3A6B2E3568E1}"/>
                          </a:ext>
                        </a:extLst>
                      </p:cNvPr>
                      <p:cNvPicPr/>
                      <p:nvPr/>
                    </p:nvPicPr>
                    <p:blipFill>
                      <a:blip r:embed="rId5"/>
                      <a:stretch>
                        <a:fillRect/>
                      </a:stretch>
                    </p:blipFill>
                    <p:spPr>
                      <a:xfrm>
                        <a:off x="4273550" y="5253038"/>
                        <a:ext cx="836613" cy="33496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B2F0884C-A4D5-4A59-8DEF-1092DEE7E55D}"/>
              </a:ext>
            </a:extLst>
          </p:cNvPr>
          <p:cNvSpPr>
            <a:spLocks noGrp="1"/>
          </p:cNvSpPr>
          <p:nvPr>
            <p:ph sz="quarter" idx="15"/>
          </p:nvPr>
        </p:nvSpPr>
        <p:spPr>
          <a:xfrm>
            <a:off x="5188567" y="5216528"/>
            <a:ext cx="3267477" cy="360000"/>
          </a:xfrm>
        </p:spPr>
        <p:txBody>
          <a:bodyPr lIns="0" tIns="0"/>
          <a:lstStyle/>
          <a:p>
            <a:pPr marL="0" indent="0">
              <a:buNone/>
            </a:pPr>
            <a:r>
              <a:rPr lang="en-US" sz="2000" dirty="0">
                <a:latin typeface="Arial (Body)"/>
              </a:rPr>
              <a:t>raises the demand for real</a:t>
            </a:r>
            <a:endParaRPr lang="en-US" sz="2000" dirty="0">
              <a:latin typeface="+mn-lt"/>
            </a:endParaRPr>
          </a:p>
        </p:txBody>
      </p:sp>
      <p:sp>
        <p:nvSpPr>
          <p:cNvPr id="9" name="Content Placeholder 8">
            <a:extLst>
              <a:ext uri="{FF2B5EF4-FFF2-40B4-BE49-F238E27FC236}">
                <a16:creationId xmlns:a16="http://schemas.microsoft.com/office/drawing/2014/main" id="{A77D17DF-EBA2-4640-8AFD-8744395355D6}"/>
              </a:ext>
            </a:extLst>
          </p:cNvPr>
          <p:cNvSpPr>
            <a:spLocks noGrp="1"/>
          </p:cNvSpPr>
          <p:nvPr>
            <p:ph sz="quarter" idx="16"/>
          </p:nvPr>
        </p:nvSpPr>
        <p:spPr>
          <a:xfrm>
            <a:off x="457200" y="5639532"/>
            <a:ext cx="8229600" cy="648000"/>
          </a:xfrm>
        </p:spPr>
        <p:txBody>
          <a:bodyPr tIns="0"/>
          <a:lstStyle/>
          <a:p>
            <a:pPr marL="0" indent="0">
              <a:buNone/>
            </a:pPr>
            <a:r>
              <a:rPr lang="en-US" sz="2000" dirty="0">
                <a:latin typeface="Arial (Body)"/>
              </a:rPr>
              <a:t>money balances at every level of the interest rate and causes the whole demand schedule to shift upward.</a:t>
            </a:r>
            <a:endParaRPr lang="en-US" sz="2000" dirty="0"/>
          </a:p>
        </p:txBody>
      </p:sp>
    </p:spTree>
    <p:extLst>
      <p:ext uri="{BB962C8B-B14F-4D97-AF65-F5344CB8AC3E}">
        <p14:creationId xmlns:p14="http://schemas.microsoft.com/office/powerpoint/2010/main" val="132819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A Model of the Money Market </a:t>
            </a:r>
            <a:r>
              <a:rPr lang="en-US" altLang="en-US" sz="2000" b="0" dirty="0"/>
              <a:t>(1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The money market is where monetary or liquid assets, which are loosely called “</a:t>
            </a:r>
            <a:r>
              <a:rPr lang="en-US" altLang="ja-JP" dirty="0">
                <a:latin typeface="Arial (Body)"/>
              </a:rPr>
              <a:t>money,” are lent and borrowed.</a:t>
            </a:r>
          </a:p>
          <a:p>
            <a:pPr lvl="1" eaLnBrk="1" hangingPunct="1"/>
            <a:r>
              <a:rPr lang="en-US" altLang="en-US" dirty="0">
                <a:latin typeface="Arial (Body)"/>
              </a:rPr>
              <a:t>Monetary assets in the money market generally have low interest rates compared to interest rates on bonds, loans, and deposits of currency in the foreign exchange markets.</a:t>
            </a:r>
          </a:p>
          <a:p>
            <a:pPr lvl="1" eaLnBrk="1" hangingPunct="1"/>
            <a:r>
              <a:rPr lang="en-US" altLang="en-US" dirty="0">
                <a:latin typeface="Arial (Body)"/>
              </a:rPr>
              <a:t>Domestic interest rates directly affect rates of return on domestic currency deposits in the foreign exchange markets.</a:t>
            </a:r>
          </a:p>
        </p:txBody>
      </p:sp>
    </p:spTree>
    <p:extLst>
      <p:ext uri="{BB962C8B-B14F-4D97-AF65-F5344CB8AC3E}">
        <p14:creationId xmlns:p14="http://schemas.microsoft.com/office/powerpoint/2010/main" val="546889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A Model of the Money Market </a:t>
            </a:r>
            <a:r>
              <a:rPr lang="en-US" altLang="en-US" sz="2000" b="0" dirty="0"/>
              <a:t>(2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7"/>
            <a:ext cx="8229600" cy="1224000"/>
          </a:xfrm>
        </p:spPr>
        <p:txBody>
          <a:bodyPr/>
          <a:lstStyle/>
          <a:p>
            <a:pPr eaLnBrk="1" hangingPunct="1">
              <a:spcBef>
                <a:spcPct val="50000"/>
              </a:spcBef>
            </a:pPr>
            <a:r>
              <a:rPr lang="en-US" altLang="en-US" sz="2400" dirty="0">
                <a:latin typeface="Arial (Body)"/>
              </a:rPr>
              <a:t>When no shortages (excess demand) or surpluses (excess supply) of monetary assets exist, the model achieves an equilibrium:</a:t>
            </a:r>
          </a:p>
        </p:txBody>
      </p:sp>
      <p:graphicFrame>
        <p:nvGraphicFramePr>
          <p:cNvPr id="5" name="Object 4" descr="M super S = M super D">
            <a:extLst>
              <a:ext uri="{FF2B5EF4-FFF2-40B4-BE49-F238E27FC236}">
                <a16:creationId xmlns:a16="http://schemas.microsoft.com/office/drawing/2014/main" id="{ED0FF889-042A-4812-9C4A-EF970E5A2B68}"/>
              </a:ext>
            </a:extLst>
          </p:cNvPr>
          <p:cNvGraphicFramePr>
            <a:graphicFrameLocks noChangeAspect="1"/>
          </p:cNvGraphicFramePr>
          <p:nvPr>
            <p:extLst>
              <p:ext uri="{D42A27DB-BD31-4B8C-83A1-F6EECF244321}">
                <p14:modId xmlns:p14="http://schemas.microsoft.com/office/powerpoint/2010/main" val="1551232858"/>
              </p:ext>
            </p:extLst>
          </p:nvPr>
        </p:nvGraphicFramePr>
        <p:xfrm>
          <a:off x="3905023" y="2899826"/>
          <a:ext cx="1333955" cy="490025"/>
        </p:xfrm>
        <a:graphic>
          <a:graphicData uri="http://schemas.openxmlformats.org/presentationml/2006/ole">
            <mc:AlternateContent xmlns:mc="http://schemas.openxmlformats.org/markup-compatibility/2006">
              <mc:Choice xmlns:v="urn:schemas-microsoft-com:vml" Requires="v">
                <p:oleObj name="Equation" r:id="rId2" imgW="622080" imgH="228600" progId="Equation.DSMT4">
                  <p:embed/>
                </p:oleObj>
              </mc:Choice>
              <mc:Fallback>
                <p:oleObj name="Equation" r:id="rId2" imgW="622080" imgH="228600" progId="Equation.DSMT4">
                  <p:embed/>
                  <p:pic>
                    <p:nvPicPr>
                      <p:cNvPr id="0" name=""/>
                      <p:cNvPicPr/>
                      <p:nvPr/>
                    </p:nvPicPr>
                    <p:blipFill>
                      <a:blip r:embed="rId3"/>
                      <a:stretch>
                        <a:fillRect/>
                      </a:stretch>
                    </p:blipFill>
                    <p:spPr>
                      <a:xfrm>
                        <a:off x="3905023" y="2899826"/>
                        <a:ext cx="1333955" cy="49002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5F789E62-E802-4F62-B489-E2B596A5B5CA}"/>
              </a:ext>
            </a:extLst>
          </p:cNvPr>
          <p:cNvSpPr>
            <a:spLocks noGrp="1"/>
          </p:cNvSpPr>
          <p:nvPr>
            <p:ph sz="quarter" idx="14"/>
          </p:nvPr>
        </p:nvSpPr>
        <p:spPr>
          <a:xfrm>
            <a:off x="457200" y="3513799"/>
            <a:ext cx="8077200" cy="1349603"/>
          </a:xfrm>
        </p:spPr>
        <p:txBody>
          <a:bodyPr/>
          <a:lstStyle/>
          <a:p>
            <a:r>
              <a:rPr lang="en-US" altLang="en-US" sz="2400" dirty="0">
                <a:latin typeface="Arial (Body)"/>
              </a:rPr>
              <a:t>Alternatively, when the quantity of real monetary assets supplied matches the quantity of real monetary assets demanded, the model achieves an equilibrium:</a:t>
            </a:r>
            <a:endParaRPr lang="en-US" dirty="0"/>
          </a:p>
        </p:txBody>
      </p:sp>
      <p:graphicFrame>
        <p:nvGraphicFramePr>
          <p:cNvPr id="6" name="Object 5" descr="Start fraction M super s over P end fraction = L left parenthesis R comma Y right parenthesis">
            <a:extLst>
              <a:ext uri="{FF2B5EF4-FFF2-40B4-BE49-F238E27FC236}">
                <a16:creationId xmlns:a16="http://schemas.microsoft.com/office/drawing/2014/main" id="{7AFFAC7C-E063-4A56-98B9-CD5817E31D79}"/>
              </a:ext>
            </a:extLst>
          </p:cNvPr>
          <p:cNvGraphicFramePr>
            <a:graphicFrameLocks noChangeAspect="1"/>
          </p:cNvGraphicFramePr>
          <p:nvPr>
            <p:extLst>
              <p:ext uri="{D42A27DB-BD31-4B8C-83A1-F6EECF244321}">
                <p14:modId xmlns:p14="http://schemas.microsoft.com/office/powerpoint/2010/main" val="4261249136"/>
              </p:ext>
            </p:extLst>
          </p:nvPr>
        </p:nvGraphicFramePr>
        <p:xfrm>
          <a:off x="3882433" y="5009903"/>
          <a:ext cx="1375961" cy="613604"/>
        </p:xfrm>
        <a:graphic>
          <a:graphicData uri="http://schemas.openxmlformats.org/presentationml/2006/ole">
            <mc:AlternateContent xmlns:mc="http://schemas.openxmlformats.org/markup-compatibility/2006">
              <mc:Choice xmlns:v="urn:schemas-microsoft-com:vml" Requires="v">
                <p:oleObj name="Equation" r:id="rId4" imgW="939600" imgH="419040" progId="Equation.DSMT4">
                  <p:embed/>
                </p:oleObj>
              </mc:Choice>
              <mc:Fallback>
                <p:oleObj name="Equation" r:id="rId4" imgW="939600" imgH="419040" progId="Equation.DSMT4">
                  <p:embed/>
                  <p:pic>
                    <p:nvPicPr>
                      <p:cNvPr id="0" name=""/>
                      <p:cNvPicPr/>
                      <p:nvPr/>
                    </p:nvPicPr>
                    <p:blipFill>
                      <a:blip r:embed="rId5"/>
                      <a:stretch>
                        <a:fillRect/>
                      </a:stretch>
                    </p:blipFill>
                    <p:spPr>
                      <a:xfrm>
                        <a:off x="3882433" y="5009903"/>
                        <a:ext cx="1375961" cy="613604"/>
                      </a:xfrm>
                      <a:prstGeom prst="rect">
                        <a:avLst/>
                      </a:prstGeom>
                    </p:spPr>
                  </p:pic>
                </p:oleObj>
              </mc:Fallback>
            </mc:AlternateContent>
          </a:graphicData>
        </a:graphic>
      </p:graphicFrame>
    </p:spTree>
    <p:extLst>
      <p:ext uri="{BB962C8B-B14F-4D97-AF65-F5344CB8AC3E}">
        <p14:creationId xmlns:p14="http://schemas.microsoft.com/office/powerpoint/2010/main" val="3670016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A Model of the Money Market </a:t>
            </a:r>
            <a:r>
              <a:rPr lang="en-US" altLang="en-US" sz="2000" b="0" dirty="0"/>
              <a:t>(3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7"/>
            <a:ext cx="8229600" cy="4077030"/>
          </a:xfrm>
        </p:spPr>
        <p:txBody>
          <a:bodyPr/>
          <a:lstStyle/>
          <a:p>
            <a:pPr eaLnBrk="1" hangingPunct="1"/>
            <a:r>
              <a:rPr lang="en-US" altLang="en-US" dirty="0">
                <a:latin typeface="Arial (Body)"/>
              </a:rPr>
              <a:t>When there is an excess supply of monetary assets, there is an excess demand for interest-bearing assets such as bonds, loans, and deposits.</a:t>
            </a:r>
          </a:p>
          <a:p>
            <a:pPr lvl="1" eaLnBrk="1" hangingPunct="1"/>
            <a:r>
              <a:rPr lang="en-US" altLang="en-US" sz="2400" dirty="0">
                <a:latin typeface="Arial (Body)"/>
              </a:rPr>
              <a:t>People with an excess supply of monetary assets are willing to offer or accept interest-bearing assets (by giving up their money) at lower interest rates.</a:t>
            </a:r>
          </a:p>
          <a:p>
            <a:pPr lvl="1" eaLnBrk="1" hangingPunct="1"/>
            <a:r>
              <a:rPr lang="en-US" altLang="en-US" sz="2400" dirty="0">
                <a:latin typeface="Arial (Body)"/>
              </a:rPr>
              <a:t>Others are more willing to hold additional monetary assets as interest rates (the opportunity cost of holding monetary assets) fall.</a:t>
            </a:r>
          </a:p>
        </p:txBody>
      </p:sp>
    </p:spTree>
    <p:extLst>
      <p:ext uri="{BB962C8B-B14F-4D97-AF65-F5344CB8AC3E}">
        <p14:creationId xmlns:p14="http://schemas.microsoft.com/office/powerpoint/2010/main" val="4001495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A Model of the Money Market </a:t>
            </a:r>
            <a:r>
              <a:rPr lang="en-US" altLang="en-US" sz="2000" b="0" dirty="0"/>
              <a:t>(4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4452587"/>
          </a:xfrm>
        </p:spPr>
        <p:txBody>
          <a:bodyPr/>
          <a:lstStyle/>
          <a:p>
            <a:pPr eaLnBrk="1" hangingPunct="1"/>
            <a:r>
              <a:rPr lang="en-US" altLang="en-US" dirty="0">
                <a:latin typeface="Arial (Body)"/>
              </a:rPr>
              <a:t>When there is an excess demand of monetary assets, there is an excess supply of interest-bearing assets such as bonds, loans, and deposits.</a:t>
            </a:r>
          </a:p>
          <a:p>
            <a:pPr lvl="1" eaLnBrk="1" hangingPunct="1"/>
            <a:r>
              <a:rPr lang="en-US" altLang="en-US" dirty="0">
                <a:latin typeface="Arial (Body)"/>
              </a:rPr>
              <a:t>People who desire monetary assets but do not have access to them are willing to sell non-monetary assets in return for the monetary assets that they desire.</a:t>
            </a:r>
          </a:p>
          <a:p>
            <a:pPr lvl="1" eaLnBrk="1" hangingPunct="1"/>
            <a:r>
              <a:rPr lang="en-US" altLang="en-US" dirty="0">
                <a:latin typeface="Arial (Body)"/>
              </a:rPr>
              <a:t>Those with monetary assets are more willing to give them up in return for interest-bearing assets as interest rates (the opportunity cost of holding money) rise.</a:t>
            </a:r>
          </a:p>
        </p:txBody>
      </p:sp>
    </p:spTree>
    <p:extLst>
      <p:ext uri="{BB962C8B-B14F-4D97-AF65-F5344CB8AC3E}">
        <p14:creationId xmlns:p14="http://schemas.microsoft.com/office/powerpoint/2010/main" val="347418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15.3 Determination of the Equilibrium Interest Rate</a:t>
            </a:r>
            <a:endParaRPr lang="en-US" sz="3200" dirty="0"/>
          </a:p>
        </p:txBody>
      </p:sp>
      <p:pic>
        <p:nvPicPr>
          <p:cNvPr id="13" name="Content Placeholder 12" descr="The graph shows interest rate, R versus real money holding. For long description in Notes pane, press F6.">
            <a:extLst>
              <a:ext uri="{FF2B5EF4-FFF2-40B4-BE49-F238E27FC236}">
                <a16:creationId xmlns:a16="http://schemas.microsoft.com/office/drawing/2014/main" id="{6EFE2953-5969-4CD2-AEDA-612D327E5B25}"/>
              </a:ext>
            </a:extLst>
          </p:cNvPr>
          <p:cNvPicPr>
            <a:picLocks noGrp="1" noChangeAspect="1"/>
          </p:cNvPicPr>
          <p:nvPr>
            <p:ph sz="quarter" idx="13"/>
          </p:nvPr>
        </p:nvPicPr>
        <p:blipFill>
          <a:blip r:embed="rId3"/>
          <a:stretch>
            <a:fillRect/>
          </a:stretch>
        </p:blipFill>
        <p:spPr>
          <a:xfrm>
            <a:off x="2827151" y="1570823"/>
            <a:ext cx="3489697" cy="3001401"/>
          </a:xfrm>
        </p:spPr>
      </p:pic>
      <p:sp>
        <p:nvSpPr>
          <p:cNvPr id="6" name="Content Placeholder 5">
            <a:extLst>
              <a:ext uri="{FF2B5EF4-FFF2-40B4-BE49-F238E27FC236}">
                <a16:creationId xmlns:a16="http://schemas.microsoft.com/office/drawing/2014/main" id="{F29BE24D-1376-44D2-A661-3681A832FEAF}"/>
              </a:ext>
            </a:extLst>
          </p:cNvPr>
          <p:cNvSpPr>
            <a:spLocks noGrp="1"/>
          </p:cNvSpPr>
          <p:nvPr>
            <p:ph sz="quarter" idx="14"/>
          </p:nvPr>
        </p:nvSpPr>
        <p:spPr>
          <a:xfrm>
            <a:off x="457200" y="4924021"/>
            <a:ext cx="5502729" cy="360000"/>
          </a:xfrm>
        </p:spPr>
        <p:txBody>
          <a:bodyPr tIns="0"/>
          <a:lstStyle/>
          <a:p>
            <a:pPr marL="432" indent="0">
              <a:buNone/>
            </a:pPr>
            <a:r>
              <a:rPr lang="en-US" sz="2000" dirty="0"/>
              <a:t>With </a:t>
            </a:r>
            <a:r>
              <a:rPr lang="en-US" sz="2000" i="1" dirty="0"/>
              <a:t>P </a:t>
            </a:r>
            <a:r>
              <a:rPr lang="en-US" sz="2000" dirty="0"/>
              <a:t>and </a:t>
            </a:r>
            <a:r>
              <a:rPr lang="en-US" sz="2000" i="1" dirty="0"/>
              <a:t>Y </a:t>
            </a:r>
            <a:r>
              <a:rPr lang="en-US" sz="2000" dirty="0"/>
              <a:t>given and a real money supply of</a:t>
            </a:r>
          </a:p>
        </p:txBody>
      </p:sp>
      <p:graphicFrame>
        <p:nvGraphicFramePr>
          <p:cNvPr id="14" name="Object 13" descr="Start fraction M super s over P end fraction = L left parenthesis R comma Y right parenthesis,">
            <a:extLst>
              <a:ext uri="{FF2B5EF4-FFF2-40B4-BE49-F238E27FC236}">
                <a16:creationId xmlns:a16="http://schemas.microsoft.com/office/drawing/2014/main" id="{B2039C0F-E6AC-4C04-AE4B-68220682D7A0}"/>
              </a:ext>
            </a:extLst>
          </p:cNvPr>
          <p:cNvGraphicFramePr>
            <a:graphicFrameLocks noChangeAspect="1"/>
          </p:cNvGraphicFramePr>
          <p:nvPr>
            <p:extLst>
              <p:ext uri="{D42A27DB-BD31-4B8C-83A1-F6EECF244321}">
                <p14:modId xmlns:p14="http://schemas.microsoft.com/office/powerpoint/2010/main" val="1479894917"/>
              </p:ext>
            </p:extLst>
          </p:nvPr>
        </p:nvGraphicFramePr>
        <p:xfrm>
          <a:off x="6042721" y="4754866"/>
          <a:ext cx="492320" cy="648680"/>
        </p:xfrm>
        <a:graphic>
          <a:graphicData uri="http://schemas.openxmlformats.org/presentationml/2006/ole">
            <mc:AlternateContent xmlns:mc="http://schemas.openxmlformats.org/markup-compatibility/2006">
              <mc:Choice xmlns:v="urn:schemas-microsoft-com:vml" Requires="v">
                <p:oleObj name="Equation" r:id="rId4" imgW="317160" imgH="419040" progId="Equation.DSMT4">
                  <p:embed/>
                </p:oleObj>
              </mc:Choice>
              <mc:Fallback>
                <p:oleObj name="Equation" r:id="rId4" imgW="317160" imgH="419040" progId="Equation.DSMT4">
                  <p:embed/>
                  <p:pic>
                    <p:nvPicPr>
                      <p:cNvPr id="0" name=""/>
                      <p:cNvPicPr/>
                      <p:nvPr/>
                    </p:nvPicPr>
                    <p:blipFill>
                      <a:blip r:embed="rId5"/>
                      <a:stretch>
                        <a:fillRect/>
                      </a:stretch>
                    </p:blipFill>
                    <p:spPr>
                      <a:xfrm>
                        <a:off x="6042721" y="4754866"/>
                        <a:ext cx="492320" cy="64868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B1A1A50A-C87D-4D71-9601-B274D1310291}"/>
              </a:ext>
            </a:extLst>
          </p:cNvPr>
          <p:cNvSpPr>
            <a:spLocks noGrp="1"/>
          </p:cNvSpPr>
          <p:nvPr>
            <p:ph sz="quarter" idx="15"/>
          </p:nvPr>
        </p:nvSpPr>
        <p:spPr>
          <a:xfrm>
            <a:off x="6636879" y="4982797"/>
            <a:ext cx="1773591" cy="360000"/>
          </a:xfrm>
        </p:spPr>
        <p:txBody>
          <a:bodyPr lIns="0" tIns="0" rIns="0" bIns="0"/>
          <a:lstStyle/>
          <a:p>
            <a:pPr marL="0" indent="0">
              <a:buNone/>
            </a:pPr>
            <a:r>
              <a:rPr lang="en-US" sz="2000" dirty="0">
                <a:latin typeface="+mn-lt"/>
              </a:rPr>
              <a:t>money market</a:t>
            </a:r>
          </a:p>
        </p:txBody>
      </p:sp>
      <p:sp>
        <p:nvSpPr>
          <p:cNvPr id="8" name="Content Placeholder 7">
            <a:extLst>
              <a:ext uri="{FF2B5EF4-FFF2-40B4-BE49-F238E27FC236}">
                <a16:creationId xmlns:a16="http://schemas.microsoft.com/office/drawing/2014/main" id="{D2A180D6-D39D-4F8B-A770-501329E0BB7A}"/>
              </a:ext>
            </a:extLst>
          </p:cNvPr>
          <p:cNvSpPr>
            <a:spLocks noGrp="1"/>
          </p:cNvSpPr>
          <p:nvPr>
            <p:ph sz="quarter" idx="16"/>
          </p:nvPr>
        </p:nvSpPr>
        <p:spPr>
          <a:xfrm>
            <a:off x="457200" y="5441711"/>
            <a:ext cx="8455688" cy="360000"/>
          </a:xfrm>
        </p:spPr>
        <p:txBody>
          <a:bodyPr tIns="0"/>
          <a:lstStyle/>
          <a:p>
            <a:pPr marL="0" indent="0">
              <a:buNone/>
            </a:pPr>
            <a:r>
              <a:rPr lang="en-US" sz="2000" dirty="0">
                <a:latin typeface="Arial (Body)"/>
              </a:rPr>
              <a:t>equilibrium is </a:t>
            </a:r>
            <a:r>
              <a:rPr lang="en-US" sz="2000" dirty="0">
                <a:latin typeface="+mn-lt"/>
              </a:rPr>
              <a:t>at point 1. At this point, aggregate real money demand and</a:t>
            </a:r>
          </a:p>
        </p:txBody>
      </p:sp>
      <p:sp>
        <p:nvSpPr>
          <p:cNvPr id="9" name="Content Placeholder 8">
            <a:extLst>
              <a:ext uri="{FF2B5EF4-FFF2-40B4-BE49-F238E27FC236}">
                <a16:creationId xmlns:a16="http://schemas.microsoft.com/office/drawing/2014/main" id="{FB34439E-D879-4490-A45F-96C8641063B0}"/>
              </a:ext>
            </a:extLst>
          </p:cNvPr>
          <p:cNvSpPr>
            <a:spLocks noGrp="1"/>
          </p:cNvSpPr>
          <p:nvPr>
            <p:ph sz="quarter" idx="17"/>
          </p:nvPr>
        </p:nvSpPr>
        <p:spPr>
          <a:xfrm>
            <a:off x="457200" y="5935992"/>
            <a:ext cx="7692013" cy="360000"/>
          </a:xfrm>
        </p:spPr>
        <p:txBody>
          <a:bodyPr tIns="0"/>
          <a:lstStyle/>
          <a:p>
            <a:pPr marL="0" indent="0">
              <a:buNone/>
            </a:pPr>
            <a:r>
              <a:rPr lang="en-US" sz="2000" dirty="0">
                <a:latin typeface="+mn-lt"/>
              </a:rPr>
              <a:t>the real money supply are equal and the equilibrium interest rate is</a:t>
            </a:r>
          </a:p>
        </p:txBody>
      </p:sp>
      <p:graphicFrame>
        <p:nvGraphicFramePr>
          <p:cNvPr id="15" name="Object 14" descr="R super 1.">
            <a:extLst>
              <a:ext uri="{FF2B5EF4-FFF2-40B4-BE49-F238E27FC236}">
                <a16:creationId xmlns:a16="http://schemas.microsoft.com/office/drawing/2014/main" id="{CDA50B11-5E8F-43CD-B294-EE2298810E2A}"/>
              </a:ext>
            </a:extLst>
          </p:cNvPr>
          <p:cNvGraphicFramePr>
            <a:graphicFrameLocks noChangeAspect="1"/>
          </p:cNvGraphicFramePr>
          <p:nvPr>
            <p:extLst>
              <p:ext uri="{D42A27DB-BD31-4B8C-83A1-F6EECF244321}">
                <p14:modId xmlns:p14="http://schemas.microsoft.com/office/powerpoint/2010/main" val="2795958270"/>
              </p:ext>
            </p:extLst>
          </p:nvPr>
        </p:nvGraphicFramePr>
        <p:xfrm>
          <a:off x="8259981" y="5917003"/>
          <a:ext cx="426819" cy="338074"/>
        </p:xfrm>
        <a:graphic>
          <a:graphicData uri="http://schemas.openxmlformats.org/presentationml/2006/ole">
            <mc:AlternateContent xmlns:mc="http://schemas.openxmlformats.org/markup-compatibility/2006">
              <mc:Choice xmlns:v="urn:schemas-microsoft-com:vml" Requires="v">
                <p:oleObj name="Equation" r:id="rId6" imgW="241200" imgH="190440" progId="Equation.DSMT4">
                  <p:embed/>
                </p:oleObj>
              </mc:Choice>
              <mc:Fallback>
                <p:oleObj name="Equation" r:id="rId6" imgW="241200" imgH="190440" progId="Equation.DSMT4">
                  <p:embed/>
                  <p:pic>
                    <p:nvPicPr>
                      <p:cNvPr id="0" name=""/>
                      <p:cNvPicPr/>
                      <p:nvPr/>
                    </p:nvPicPr>
                    <p:blipFill>
                      <a:blip r:embed="rId7"/>
                      <a:stretch>
                        <a:fillRect/>
                      </a:stretch>
                    </p:blipFill>
                    <p:spPr>
                      <a:xfrm>
                        <a:off x="8259981" y="5917003"/>
                        <a:ext cx="426819" cy="338074"/>
                      </a:xfrm>
                      <a:prstGeom prst="rect">
                        <a:avLst/>
                      </a:prstGeom>
                    </p:spPr>
                  </p:pic>
                </p:oleObj>
              </mc:Fallback>
            </mc:AlternateContent>
          </a:graphicData>
        </a:graphic>
      </p:graphicFrame>
    </p:spTree>
    <p:extLst>
      <p:ext uri="{BB962C8B-B14F-4D97-AF65-F5344CB8AC3E}">
        <p14:creationId xmlns:p14="http://schemas.microsoft.com/office/powerpoint/2010/main" val="934762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15.4 Effect of an Increase in the Money Supply on the Interest Rate</a:t>
            </a:r>
            <a:endParaRPr lang="en-US" sz="3200" dirty="0"/>
          </a:p>
        </p:txBody>
      </p:sp>
      <p:pic>
        <p:nvPicPr>
          <p:cNvPr id="10" name="Content Placeholder 9" descr="The graph shows interest rate, R versus real money holdings. For long description in Notes pane, press F6.">
            <a:extLst>
              <a:ext uri="{FF2B5EF4-FFF2-40B4-BE49-F238E27FC236}">
                <a16:creationId xmlns:a16="http://schemas.microsoft.com/office/drawing/2014/main" id="{4BE7CE6C-3FA6-4424-BAB2-C033F0BAEED2}"/>
              </a:ext>
            </a:extLst>
          </p:cNvPr>
          <p:cNvPicPr>
            <a:picLocks noGrp="1" noChangeAspect="1"/>
          </p:cNvPicPr>
          <p:nvPr>
            <p:ph sz="quarter" idx="13"/>
          </p:nvPr>
        </p:nvPicPr>
        <p:blipFill>
          <a:blip r:embed="rId3"/>
          <a:stretch>
            <a:fillRect/>
          </a:stretch>
        </p:blipFill>
        <p:spPr>
          <a:xfrm>
            <a:off x="2590851" y="1700213"/>
            <a:ext cx="3962297" cy="3231519"/>
          </a:xfrm>
        </p:spPr>
      </p:pic>
      <p:sp>
        <p:nvSpPr>
          <p:cNvPr id="6" name="Content Placeholder 5">
            <a:extLst>
              <a:ext uri="{FF2B5EF4-FFF2-40B4-BE49-F238E27FC236}">
                <a16:creationId xmlns:a16="http://schemas.microsoft.com/office/drawing/2014/main" id="{F29BE24D-1376-44D2-A661-3681A832FEAF}"/>
              </a:ext>
            </a:extLst>
          </p:cNvPr>
          <p:cNvSpPr>
            <a:spLocks noGrp="1"/>
          </p:cNvSpPr>
          <p:nvPr>
            <p:ph sz="quarter" idx="14"/>
          </p:nvPr>
        </p:nvSpPr>
        <p:spPr>
          <a:xfrm>
            <a:off x="457201" y="5079298"/>
            <a:ext cx="7631191" cy="360000"/>
          </a:xfrm>
        </p:spPr>
        <p:txBody>
          <a:bodyPr tIns="0"/>
          <a:lstStyle/>
          <a:p>
            <a:pPr marL="432" indent="0">
              <a:buNone/>
            </a:pPr>
            <a:r>
              <a:rPr lang="en-US" sz="2000" dirty="0">
                <a:latin typeface="Arial (Body)"/>
              </a:rPr>
              <a:t>For a given price level, </a:t>
            </a:r>
            <a:r>
              <a:rPr lang="en-US" sz="2000" i="1" dirty="0">
                <a:latin typeface="Arial (Body)"/>
              </a:rPr>
              <a:t>P</a:t>
            </a:r>
            <a:r>
              <a:rPr lang="en-US" sz="2000" dirty="0">
                <a:latin typeface="Arial (Body)"/>
              </a:rPr>
              <a:t>, and real income level, </a:t>
            </a:r>
            <a:r>
              <a:rPr lang="en-US" sz="2000" i="1" dirty="0">
                <a:latin typeface="Arial (Body)"/>
              </a:rPr>
              <a:t>Y</a:t>
            </a:r>
            <a:r>
              <a:rPr lang="en-US" sz="2000" dirty="0">
                <a:latin typeface="Arial (Body)"/>
              </a:rPr>
              <a:t>, an increase in</a:t>
            </a:r>
            <a:endParaRPr lang="en-US" sz="2000" dirty="0"/>
          </a:p>
        </p:txBody>
      </p:sp>
      <p:sp>
        <p:nvSpPr>
          <p:cNvPr id="7" name="Content Placeholder 6">
            <a:extLst>
              <a:ext uri="{FF2B5EF4-FFF2-40B4-BE49-F238E27FC236}">
                <a16:creationId xmlns:a16="http://schemas.microsoft.com/office/drawing/2014/main" id="{B1A1A50A-C87D-4D71-9601-B274D1310291}"/>
              </a:ext>
            </a:extLst>
          </p:cNvPr>
          <p:cNvSpPr>
            <a:spLocks noGrp="1"/>
          </p:cNvSpPr>
          <p:nvPr>
            <p:ph sz="quarter" idx="15"/>
          </p:nvPr>
        </p:nvSpPr>
        <p:spPr>
          <a:xfrm>
            <a:off x="457199" y="5521820"/>
            <a:ext cx="2758274" cy="351891"/>
          </a:xfrm>
        </p:spPr>
        <p:txBody>
          <a:bodyPr tIns="0"/>
          <a:lstStyle/>
          <a:p>
            <a:pPr marL="0" indent="0">
              <a:buNone/>
            </a:pPr>
            <a:r>
              <a:rPr lang="en-US" sz="2000" dirty="0">
                <a:latin typeface="Arial (Body)"/>
              </a:rPr>
              <a:t>the money supply from</a:t>
            </a:r>
            <a:endParaRPr lang="en-US" sz="2000" dirty="0">
              <a:latin typeface="+mn-lt"/>
            </a:endParaRPr>
          </a:p>
        </p:txBody>
      </p:sp>
      <p:graphicFrame>
        <p:nvGraphicFramePr>
          <p:cNvPr id="11" name="Object 10" descr="M super 1 to M super 2.">
            <a:extLst>
              <a:ext uri="{FF2B5EF4-FFF2-40B4-BE49-F238E27FC236}">
                <a16:creationId xmlns:a16="http://schemas.microsoft.com/office/drawing/2014/main" id="{512680A1-71E4-4772-A881-CEB61AC04BE4}"/>
              </a:ext>
            </a:extLst>
          </p:cNvPr>
          <p:cNvGraphicFramePr>
            <a:graphicFrameLocks noChangeAspect="1"/>
          </p:cNvGraphicFramePr>
          <p:nvPr>
            <p:extLst>
              <p:ext uri="{D42A27DB-BD31-4B8C-83A1-F6EECF244321}">
                <p14:modId xmlns:p14="http://schemas.microsoft.com/office/powerpoint/2010/main" val="469640009"/>
              </p:ext>
            </p:extLst>
          </p:nvPr>
        </p:nvGraphicFramePr>
        <p:xfrm>
          <a:off x="3321104" y="5529263"/>
          <a:ext cx="1042987" cy="368300"/>
        </p:xfrm>
        <a:graphic>
          <a:graphicData uri="http://schemas.openxmlformats.org/presentationml/2006/ole">
            <mc:AlternateContent xmlns:mc="http://schemas.openxmlformats.org/markup-compatibility/2006">
              <mc:Choice xmlns:v="urn:schemas-microsoft-com:vml" Requires="v">
                <p:oleObj name="Equation" r:id="rId4" imgW="647640" imgH="228600" progId="Equation.DSMT4">
                  <p:embed/>
                </p:oleObj>
              </mc:Choice>
              <mc:Fallback>
                <p:oleObj name="Equation" r:id="rId4" imgW="647640" imgH="228600" progId="Equation.DSMT4">
                  <p:embed/>
                  <p:pic>
                    <p:nvPicPr>
                      <p:cNvPr id="0" name=""/>
                      <p:cNvPicPr/>
                      <p:nvPr/>
                    </p:nvPicPr>
                    <p:blipFill>
                      <a:blip r:embed="rId5"/>
                      <a:stretch>
                        <a:fillRect/>
                      </a:stretch>
                    </p:blipFill>
                    <p:spPr>
                      <a:xfrm>
                        <a:off x="3321104" y="5529263"/>
                        <a:ext cx="1042987" cy="3683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D2A180D6-D39D-4F8B-A770-501329E0BB7A}"/>
              </a:ext>
            </a:extLst>
          </p:cNvPr>
          <p:cNvSpPr>
            <a:spLocks noGrp="1"/>
          </p:cNvSpPr>
          <p:nvPr>
            <p:ph sz="quarter" idx="16"/>
          </p:nvPr>
        </p:nvSpPr>
        <p:spPr>
          <a:xfrm>
            <a:off x="4451527" y="5545229"/>
            <a:ext cx="3456000" cy="352920"/>
          </a:xfrm>
        </p:spPr>
        <p:txBody>
          <a:bodyPr lIns="0" tIns="0"/>
          <a:lstStyle/>
          <a:p>
            <a:pPr marL="0" indent="0">
              <a:buNone/>
            </a:pPr>
            <a:r>
              <a:rPr lang="en-US" sz="2000" dirty="0">
                <a:latin typeface="Arial (Body)"/>
              </a:rPr>
              <a:t>reduces the interest rate from</a:t>
            </a:r>
            <a:endParaRPr lang="en-US" sz="2000" dirty="0">
              <a:latin typeface="+mn-lt"/>
            </a:endParaRPr>
          </a:p>
        </p:txBody>
      </p:sp>
      <p:graphicFrame>
        <p:nvGraphicFramePr>
          <p:cNvPr id="15" name="Object 14" descr="R super 1, point 1  to R super 2, point 2">
            <a:extLst>
              <a:ext uri="{FF2B5EF4-FFF2-40B4-BE49-F238E27FC236}">
                <a16:creationId xmlns:a16="http://schemas.microsoft.com/office/drawing/2014/main" id="{CDA50B11-5E8F-43CD-B294-EE2298810E2A}"/>
              </a:ext>
            </a:extLst>
          </p:cNvPr>
          <p:cNvGraphicFramePr>
            <a:graphicFrameLocks noChangeAspect="1"/>
          </p:cNvGraphicFramePr>
          <p:nvPr>
            <p:extLst>
              <p:ext uri="{D42A27DB-BD31-4B8C-83A1-F6EECF244321}">
                <p14:modId xmlns:p14="http://schemas.microsoft.com/office/powerpoint/2010/main" val="2555123844"/>
              </p:ext>
            </p:extLst>
          </p:nvPr>
        </p:nvGraphicFramePr>
        <p:xfrm>
          <a:off x="452438" y="5954713"/>
          <a:ext cx="2955925" cy="395287"/>
        </p:xfrm>
        <a:graphic>
          <a:graphicData uri="http://schemas.openxmlformats.org/presentationml/2006/ole">
            <mc:AlternateContent xmlns:mc="http://schemas.openxmlformats.org/markup-compatibility/2006">
              <mc:Choice xmlns:v="urn:schemas-microsoft-com:vml" Requires="v">
                <p:oleObj name="Equation" r:id="rId6" imgW="1892160" imgH="253800" progId="Equation.DSMT4">
                  <p:embed/>
                </p:oleObj>
              </mc:Choice>
              <mc:Fallback>
                <p:oleObj name="Equation" r:id="rId6" imgW="1892160" imgH="253800" progId="Equation.DSMT4">
                  <p:embed/>
                  <p:pic>
                    <p:nvPicPr>
                      <p:cNvPr id="15" name="Object 14">
                        <a:extLst>
                          <a:ext uri="{FF2B5EF4-FFF2-40B4-BE49-F238E27FC236}">
                            <a16:creationId xmlns:a16="http://schemas.microsoft.com/office/drawing/2014/main" id="{CDA50B11-5E8F-43CD-B294-EE2298810E2A}"/>
                          </a:ext>
                        </a:extLst>
                      </p:cNvPr>
                      <p:cNvPicPr/>
                      <p:nvPr/>
                    </p:nvPicPr>
                    <p:blipFill>
                      <a:blip r:embed="rId7"/>
                      <a:stretch>
                        <a:fillRect/>
                      </a:stretch>
                    </p:blipFill>
                    <p:spPr>
                      <a:xfrm>
                        <a:off x="452438" y="5954713"/>
                        <a:ext cx="2955925" cy="395287"/>
                      </a:xfrm>
                      <a:prstGeom prst="rect">
                        <a:avLst/>
                      </a:prstGeom>
                    </p:spPr>
                  </p:pic>
                </p:oleObj>
              </mc:Fallback>
            </mc:AlternateContent>
          </a:graphicData>
        </a:graphic>
      </p:graphicFrame>
    </p:spTree>
    <p:extLst>
      <p:ext uri="{BB962C8B-B14F-4D97-AF65-F5344CB8AC3E}">
        <p14:creationId xmlns:p14="http://schemas.microsoft.com/office/powerpoint/2010/main" val="156816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15.5 Effect on the Interest Rate of a Rise in Real Income</a:t>
            </a:r>
            <a:endParaRPr lang="en-US" sz="3200" dirty="0"/>
          </a:p>
        </p:txBody>
      </p:sp>
      <p:pic>
        <p:nvPicPr>
          <p:cNvPr id="9" name="Content Placeholder 8" descr="The graph shows interest rate, R versus real money holding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26628" y="1608647"/>
            <a:ext cx="4090744" cy="3535972"/>
          </a:xfrm>
        </p:spPr>
      </p:pic>
      <p:sp>
        <p:nvSpPr>
          <p:cNvPr id="6" name="Content Placeholder 5">
            <a:extLst>
              <a:ext uri="{FF2B5EF4-FFF2-40B4-BE49-F238E27FC236}">
                <a16:creationId xmlns:a16="http://schemas.microsoft.com/office/drawing/2014/main" id="{F29BE24D-1376-44D2-A661-3681A832FEAF}"/>
              </a:ext>
            </a:extLst>
          </p:cNvPr>
          <p:cNvSpPr>
            <a:spLocks noGrp="1"/>
          </p:cNvSpPr>
          <p:nvPr>
            <p:ph sz="quarter" idx="14"/>
          </p:nvPr>
        </p:nvSpPr>
        <p:spPr>
          <a:xfrm>
            <a:off x="457200" y="5397100"/>
            <a:ext cx="3492000" cy="360000"/>
          </a:xfrm>
        </p:spPr>
        <p:txBody>
          <a:bodyPr tIns="0"/>
          <a:lstStyle/>
          <a:p>
            <a:pPr marL="0" indent="0">
              <a:buNone/>
            </a:pPr>
            <a:r>
              <a:rPr lang="en-US" sz="2000" dirty="0">
                <a:latin typeface="Arial (Body)"/>
              </a:rPr>
              <a:t>Given the real money supply,</a:t>
            </a:r>
          </a:p>
        </p:txBody>
      </p:sp>
      <p:graphicFrame>
        <p:nvGraphicFramePr>
          <p:cNvPr id="3" name="Object 2" descr="Start fraction M super s over P end fraction L left parenthesis = Q super 1 right parenthesis,">
            <a:extLst>
              <a:ext uri="{FF2B5EF4-FFF2-40B4-BE49-F238E27FC236}">
                <a16:creationId xmlns:a16="http://schemas.microsoft.com/office/drawing/2014/main" id="{005C7FA4-0E28-468C-BE5C-F219BFCBA441}"/>
              </a:ext>
            </a:extLst>
          </p:cNvPr>
          <p:cNvGraphicFramePr>
            <a:graphicFrameLocks noChangeAspect="1"/>
          </p:cNvGraphicFramePr>
          <p:nvPr>
            <p:extLst>
              <p:ext uri="{D42A27DB-BD31-4B8C-83A1-F6EECF244321}">
                <p14:modId xmlns:p14="http://schemas.microsoft.com/office/powerpoint/2010/main" val="4032751331"/>
              </p:ext>
            </p:extLst>
          </p:nvPr>
        </p:nvGraphicFramePr>
        <p:xfrm>
          <a:off x="4001199" y="5292654"/>
          <a:ext cx="1014413" cy="558800"/>
        </p:xfrm>
        <a:graphic>
          <a:graphicData uri="http://schemas.openxmlformats.org/presentationml/2006/ole">
            <mc:AlternateContent xmlns:mc="http://schemas.openxmlformats.org/markup-compatibility/2006">
              <mc:Choice xmlns:v="urn:schemas-microsoft-com:vml" Requires="v">
                <p:oleObj name="Equation" r:id="rId4" imgW="1013650" imgH="558079" progId="Equation.DSMT4">
                  <p:embed/>
                </p:oleObj>
              </mc:Choice>
              <mc:Fallback>
                <p:oleObj name="Equation" r:id="rId4" imgW="1013650" imgH="558079" progId="Equation.DSMT4">
                  <p:embed/>
                  <p:pic>
                    <p:nvPicPr>
                      <p:cNvPr id="3" name="Object 2">
                        <a:extLst>
                          <a:ext uri="{FF2B5EF4-FFF2-40B4-BE49-F238E27FC236}">
                            <a16:creationId xmlns:a16="http://schemas.microsoft.com/office/drawing/2014/main" id="{005C7FA4-0E28-468C-BE5C-F219BFCBA441}"/>
                          </a:ext>
                        </a:extLst>
                      </p:cNvPr>
                      <p:cNvPicPr/>
                      <p:nvPr/>
                    </p:nvPicPr>
                    <p:blipFill>
                      <a:blip r:embed="rId5"/>
                      <a:stretch>
                        <a:fillRect/>
                      </a:stretch>
                    </p:blipFill>
                    <p:spPr>
                      <a:xfrm>
                        <a:off x="4001199" y="5292654"/>
                        <a:ext cx="1014413" cy="5588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B1A1A50A-C87D-4D71-9601-B274D1310291}"/>
              </a:ext>
            </a:extLst>
          </p:cNvPr>
          <p:cNvSpPr>
            <a:spLocks noGrp="1"/>
          </p:cNvSpPr>
          <p:nvPr>
            <p:ph sz="quarter" idx="15"/>
          </p:nvPr>
        </p:nvSpPr>
        <p:spPr>
          <a:xfrm>
            <a:off x="5105487" y="5381109"/>
            <a:ext cx="3027872" cy="352062"/>
          </a:xfrm>
        </p:spPr>
        <p:txBody>
          <a:bodyPr lIns="0" tIns="0"/>
          <a:lstStyle/>
          <a:p>
            <a:pPr marL="0" indent="0">
              <a:buNone/>
            </a:pPr>
            <a:r>
              <a:rPr lang="en-US" sz="2000" dirty="0">
                <a:latin typeface="Arial (Body)"/>
              </a:rPr>
              <a:t>a rise in real income from</a:t>
            </a:r>
            <a:endParaRPr lang="en-US" sz="2000" dirty="0"/>
          </a:p>
        </p:txBody>
      </p:sp>
      <p:graphicFrame>
        <p:nvGraphicFramePr>
          <p:cNvPr id="11" name="Object 10" descr="Y super 1 to Y super 2">
            <a:extLst>
              <a:ext uri="{FF2B5EF4-FFF2-40B4-BE49-F238E27FC236}">
                <a16:creationId xmlns:a16="http://schemas.microsoft.com/office/drawing/2014/main" id="{512680A1-71E4-4772-A881-CEB61AC04BE4}"/>
              </a:ext>
            </a:extLst>
          </p:cNvPr>
          <p:cNvGraphicFramePr>
            <a:graphicFrameLocks noChangeAspect="1"/>
          </p:cNvGraphicFramePr>
          <p:nvPr>
            <p:extLst>
              <p:ext uri="{D42A27DB-BD31-4B8C-83A1-F6EECF244321}">
                <p14:modId xmlns:p14="http://schemas.microsoft.com/office/powerpoint/2010/main" val="1687890659"/>
              </p:ext>
            </p:extLst>
          </p:nvPr>
        </p:nvGraphicFramePr>
        <p:xfrm>
          <a:off x="522517" y="5920662"/>
          <a:ext cx="962025" cy="368300"/>
        </p:xfrm>
        <a:graphic>
          <a:graphicData uri="http://schemas.openxmlformats.org/presentationml/2006/ole">
            <mc:AlternateContent xmlns:mc="http://schemas.openxmlformats.org/markup-compatibility/2006">
              <mc:Choice xmlns:v="urn:schemas-microsoft-com:vml" Requires="v">
                <p:oleObj name="Equation" r:id="rId6" imgW="596880" imgH="228600" progId="Equation.DSMT4">
                  <p:embed/>
                </p:oleObj>
              </mc:Choice>
              <mc:Fallback>
                <p:oleObj name="Equation" r:id="rId6" imgW="596880" imgH="228600" progId="Equation.DSMT4">
                  <p:embed/>
                  <p:pic>
                    <p:nvPicPr>
                      <p:cNvPr id="11" name="Object 10">
                        <a:extLst>
                          <a:ext uri="{FF2B5EF4-FFF2-40B4-BE49-F238E27FC236}">
                            <a16:creationId xmlns:a16="http://schemas.microsoft.com/office/drawing/2014/main" id="{512680A1-71E4-4772-A881-CEB61AC04BE4}"/>
                          </a:ext>
                        </a:extLst>
                      </p:cNvPr>
                      <p:cNvPicPr/>
                      <p:nvPr/>
                    </p:nvPicPr>
                    <p:blipFill>
                      <a:blip r:embed="rId7"/>
                      <a:stretch>
                        <a:fillRect/>
                      </a:stretch>
                    </p:blipFill>
                    <p:spPr>
                      <a:xfrm>
                        <a:off x="522517" y="5920662"/>
                        <a:ext cx="962025" cy="3683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D2A180D6-D39D-4F8B-A770-501329E0BB7A}"/>
              </a:ext>
            </a:extLst>
          </p:cNvPr>
          <p:cNvSpPr>
            <a:spLocks noGrp="1"/>
          </p:cNvSpPr>
          <p:nvPr>
            <p:ph sz="quarter" idx="16"/>
          </p:nvPr>
        </p:nvSpPr>
        <p:spPr>
          <a:xfrm>
            <a:off x="1611710" y="5955900"/>
            <a:ext cx="3443537" cy="360000"/>
          </a:xfrm>
        </p:spPr>
        <p:txBody>
          <a:bodyPr lIns="0" tIns="0" rIns="0" bIns="0"/>
          <a:lstStyle/>
          <a:p>
            <a:pPr marL="0" indent="0">
              <a:buNone/>
            </a:pPr>
            <a:r>
              <a:rPr lang="en-US" sz="2000" dirty="0">
                <a:latin typeface="Arial (Body)"/>
              </a:rPr>
              <a:t>reduces the interest rate from</a:t>
            </a:r>
            <a:endParaRPr lang="en-US" sz="2000" dirty="0">
              <a:latin typeface="+mn-lt"/>
            </a:endParaRPr>
          </a:p>
        </p:txBody>
      </p:sp>
      <p:graphicFrame>
        <p:nvGraphicFramePr>
          <p:cNvPr id="13" name="Object 12" descr="R super 1, point 1  to R super 2, point 2">
            <a:extLst>
              <a:ext uri="{FF2B5EF4-FFF2-40B4-BE49-F238E27FC236}">
                <a16:creationId xmlns:a16="http://schemas.microsoft.com/office/drawing/2014/main" id="{D70D73B0-1324-4999-A95F-28BF16CC6F4F}"/>
              </a:ext>
            </a:extLst>
          </p:cNvPr>
          <p:cNvGraphicFramePr>
            <a:graphicFrameLocks noChangeAspect="1"/>
          </p:cNvGraphicFramePr>
          <p:nvPr>
            <p:extLst>
              <p:ext uri="{D42A27DB-BD31-4B8C-83A1-F6EECF244321}">
                <p14:modId xmlns:p14="http://schemas.microsoft.com/office/powerpoint/2010/main" val="2237144144"/>
              </p:ext>
            </p:extLst>
          </p:nvPr>
        </p:nvGraphicFramePr>
        <p:xfrm>
          <a:off x="5151164" y="5945852"/>
          <a:ext cx="2955925" cy="395287"/>
        </p:xfrm>
        <a:graphic>
          <a:graphicData uri="http://schemas.openxmlformats.org/presentationml/2006/ole">
            <mc:AlternateContent xmlns:mc="http://schemas.openxmlformats.org/markup-compatibility/2006">
              <mc:Choice xmlns:v="urn:schemas-microsoft-com:vml" Requires="v">
                <p:oleObj name="Equation" r:id="rId8" imgW="1892160" imgH="253800" progId="Equation.DSMT4">
                  <p:embed/>
                </p:oleObj>
              </mc:Choice>
              <mc:Fallback>
                <p:oleObj name="Equation" r:id="rId8" imgW="1892160" imgH="253800" progId="Equation.DSMT4">
                  <p:embed/>
                  <p:pic>
                    <p:nvPicPr>
                      <p:cNvPr id="15" name="Object 14" descr="R super 1, point 1  to R super 2, point 2">
                        <a:extLst>
                          <a:ext uri="{FF2B5EF4-FFF2-40B4-BE49-F238E27FC236}">
                            <a16:creationId xmlns:a16="http://schemas.microsoft.com/office/drawing/2014/main" id="{CDA50B11-5E8F-43CD-B294-EE2298810E2A}"/>
                          </a:ext>
                        </a:extLst>
                      </p:cNvPr>
                      <p:cNvPicPr/>
                      <p:nvPr/>
                    </p:nvPicPr>
                    <p:blipFill>
                      <a:blip r:embed="rId9"/>
                      <a:stretch>
                        <a:fillRect/>
                      </a:stretch>
                    </p:blipFill>
                    <p:spPr>
                      <a:xfrm>
                        <a:off x="5151164" y="5945852"/>
                        <a:ext cx="2955925" cy="395287"/>
                      </a:xfrm>
                      <a:prstGeom prst="rect">
                        <a:avLst/>
                      </a:prstGeom>
                    </p:spPr>
                  </p:pic>
                </p:oleObj>
              </mc:Fallback>
            </mc:AlternateContent>
          </a:graphicData>
        </a:graphic>
      </p:graphicFrame>
    </p:spTree>
    <p:extLst>
      <p:ext uri="{BB962C8B-B14F-4D97-AF65-F5344CB8AC3E}">
        <p14:creationId xmlns:p14="http://schemas.microsoft.com/office/powerpoint/2010/main" val="224623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600" dirty="0"/>
              <a:t>Figure 15.6 Simultaneous Equilibrium in the U.S. Money Market and the Foreign Exchange Market</a:t>
            </a:r>
            <a:endParaRPr lang="en-US" sz="2600" dirty="0"/>
          </a:p>
        </p:txBody>
      </p:sp>
      <p:pic>
        <p:nvPicPr>
          <p:cNvPr id="10" name="Content Placeholder 9" descr="A graph shows the rates of return in dollar terms for the foreign exchange market, on the graph above y = 0, and the money market, below y = 0. For long description in Notes pane, press F6.">
            <a:extLst>
              <a:ext uri="{FF2B5EF4-FFF2-40B4-BE49-F238E27FC236}">
                <a16:creationId xmlns:a16="http://schemas.microsoft.com/office/drawing/2014/main" id="{2D271803-32CE-4CCB-AACD-C66C516C987A}"/>
              </a:ext>
            </a:extLst>
          </p:cNvPr>
          <p:cNvPicPr>
            <a:picLocks noGrp="1" noChangeAspect="1"/>
          </p:cNvPicPr>
          <p:nvPr>
            <p:ph sz="quarter" idx="13"/>
          </p:nvPr>
        </p:nvPicPr>
        <p:blipFill>
          <a:blip r:embed="rId3"/>
          <a:stretch>
            <a:fillRect/>
          </a:stretch>
        </p:blipFill>
        <p:spPr>
          <a:xfrm>
            <a:off x="3338375" y="1581661"/>
            <a:ext cx="2467250" cy="3181112"/>
          </a:xfrm>
        </p:spPr>
      </p:pic>
      <p:sp>
        <p:nvSpPr>
          <p:cNvPr id="6" name="Content Placeholder 5">
            <a:extLst>
              <a:ext uri="{FF2B5EF4-FFF2-40B4-BE49-F238E27FC236}">
                <a16:creationId xmlns:a16="http://schemas.microsoft.com/office/drawing/2014/main" id="{F29BE24D-1376-44D2-A661-3681A832FEAF}"/>
              </a:ext>
            </a:extLst>
          </p:cNvPr>
          <p:cNvSpPr>
            <a:spLocks noGrp="1"/>
          </p:cNvSpPr>
          <p:nvPr>
            <p:ph sz="quarter" idx="14"/>
          </p:nvPr>
        </p:nvSpPr>
        <p:spPr>
          <a:xfrm>
            <a:off x="457200" y="5022687"/>
            <a:ext cx="6510338" cy="364083"/>
          </a:xfrm>
        </p:spPr>
        <p:txBody>
          <a:bodyPr tIns="0"/>
          <a:lstStyle/>
          <a:p>
            <a:pPr marL="0" indent="0">
              <a:buNone/>
            </a:pPr>
            <a:r>
              <a:rPr lang="en-US" sz="2000" dirty="0">
                <a:latin typeface="Arial (Body)"/>
              </a:rPr>
              <a:t>Both asset markets are in equilibrium at the interest rate</a:t>
            </a:r>
          </a:p>
        </p:txBody>
      </p:sp>
      <p:graphicFrame>
        <p:nvGraphicFramePr>
          <p:cNvPr id="14" name="Object 13" descr="R sub dollar, super 1">
            <a:extLst>
              <a:ext uri="{FF2B5EF4-FFF2-40B4-BE49-F238E27FC236}">
                <a16:creationId xmlns:a16="http://schemas.microsoft.com/office/drawing/2014/main" id="{2A8F6D46-91EB-4DFA-85B2-B8DED4153FE4}"/>
              </a:ext>
            </a:extLst>
          </p:cNvPr>
          <p:cNvGraphicFramePr>
            <a:graphicFrameLocks noChangeAspect="1"/>
          </p:cNvGraphicFramePr>
          <p:nvPr>
            <p:extLst>
              <p:ext uri="{D42A27DB-BD31-4B8C-83A1-F6EECF244321}">
                <p14:modId xmlns:p14="http://schemas.microsoft.com/office/powerpoint/2010/main" val="3974257621"/>
              </p:ext>
            </p:extLst>
          </p:nvPr>
        </p:nvGraphicFramePr>
        <p:xfrm>
          <a:off x="6967538" y="4973638"/>
          <a:ext cx="327025" cy="388937"/>
        </p:xfrm>
        <a:graphic>
          <a:graphicData uri="http://schemas.openxmlformats.org/presentationml/2006/ole">
            <mc:AlternateContent xmlns:mc="http://schemas.openxmlformats.org/markup-compatibility/2006">
              <mc:Choice xmlns:v="urn:schemas-microsoft-com:vml" Requires="v">
                <p:oleObj name="Equation" r:id="rId4" imgW="203040" imgH="241200" progId="Equation.DSMT4">
                  <p:embed/>
                </p:oleObj>
              </mc:Choice>
              <mc:Fallback>
                <p:oleObj name="Equation" r:id="rId4" imgW="203040" imgH="241200" progId="Equation.DSMT4">
                  <p:embed/>
                  <p:pic>
                    <p:nvPicPr>
                      <p:cNvPr id="0" name=""/>
                      <p:cNvPicPr/>
                      <p:nvPr/>
                    </p:nvPicPr>
                    <p:blipFill>
                      <a:blip r:embed="rId5"/>
                      <a:stretch>
                        <a:fillRect/>
                      </a:stretch>
                    </p:blipFill>
                    <p:spPr>
                      <a:xfrm>
                        <a:off x="6967538" y="4973638"/>
                        <a:ext cx="327025" cy="388937"/>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B1A1A50A-C87D-4D71-9601-B274D1310291}"/>
              </a:ext>
            </a:extLst>
          </p:cNvPr>
          <p:cNvSpPr>
            <a:spLocks noGrp="1"/>
          </p:cNvSpPr>
          <p:nvPr>
            <p:ph sz="quarter" idx="15"/>
          </p:nvPr>
        </p:nvSpPr>
        <p:spPr>
          <a:xfrm>
            <a:off x="457200" y="5506137"/>
            <a:ext cx="2304000" cy="360000"/>
          </a:xfrm>
        </p:spPr>
        <p:txBody>
          <a:bodyPr lIns="90000" tIns="0"/>
          <a:lstStyle/>
          <a:p>
            <a:pPr marL="0" indent="0">
              <a:buNone/>
            </a:pPr>
            <a:r>
              <a:rPr lang="en-US" sz="2000" dirty="0">
                <a:latin typeface="Arial (Body)"/>
              </a:rPr>
              <a:t>and exchange rate</a:t>
            </a:r>
            <a:endParaRPr lang="en-US" sz="2000" dirty="0">
              <a:latin typeface="+mn-lt"/>
            </a:endParaRPr>
          </a:p>
        </p:txBody>
      </p:sp>
      <p:graphicFrame>
        <p:nvGraphicFramePr>
          <p:cNvPr id="15" name="Object 14" descr="E sub $ per euro super 1, ">
            <a:extLst>
              <a:ext uri="{FF2B5EF4-FFF2-40B4-BE49-F238E27FC236}">
                <a16:creationId xmlns:a16="http://schemas.microsoft.com/office/drawing/2014/main" id="{CDA50B11-5E8F-43CD-B294-EE2298810E2A}"/>
              </a:ext>
            </a:extLst>
          </p:cNvPr>
          <p:cNvGraphicFramePr>
            <a:graphicFrameLocks noChangeAspect="1"/>
          </p:cNvGraphicFramePr>
          <p:nvPr>
            <p:extLst>
              <p:ext uri="{D42A27DB-BD31-4B8C-83A1-F6EECF244321}">
                <p14:modId xmlns:p14="http://schemas.microsoft.com/office/powerpoint/2010/main" val="403131155"/>
              </p:ext>
            </p:extLst>
          </p:nvPr>
        </p:nvGraphicFramePr>
        <p:xfrm>
          <a:off x="2784475" y="5451494"/>
          <a:ext cx="523876" cy="456081"/>
        </p:xfrm>
        <a:graphic>
          <a:graphicData uri="http://schemas.openxmlformats.org/presentationml/2006/ole">
            <mc:AlternateContent xmlns:mc="http://schemas.openxmlformats.org/markup-compatibility/2006">
              <mc:Choice xmlns:v="urn:schemas-microsoft-com:vml" Requires="v">
                <p:oleObj name="Equation" r:id="rId6" imgW="304560" imgH="266400" progId="Equation.DSMT4">
                  <p:embed/>
                </p:oleObj>
              </mc:Choice>
              <mc:Fallback>
                <p:oleObj name="Equation" r:id="rId6" imgW="304560" imgH="266400" progId="Equation.DSMT4">
                  <p:embed/>
                  <p:pic>
                    <p:nvPicPr>
                      <p:cNvPr id="15" name="Object 14">
                        <a:extLst>
                          <a:ext uri="{FF2B5EF4-FFF2-40B4-BE49-F238E27FC236}">
                            <a16:creationId xmlns:a16="http://schemas.microsoft.com/office/drawing/2014/main" id="{CDA50B11-5E8F-43CD-B294-EE2298810E2A}"/>
                          </a:ext>
                        </a:extLst>
                      </p:cNvPr>
                      <p:cNvPicPr/>
                      <p:nvPr/>
                    </p:nvPicPr>
                    <p:blipFill>
                      <a:blip r:embed="rId7"/>
                      <a:stretch>
                        <a:fillRect/>
                      </a:stretch>
                    </p:blipFill>
                    <p:spPr>
                      <a:xfrm>
                        <a:off x="2784475" y="5451494"/>
                        <a:ext cx="523876" cy="45608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D2A180D6-D39D-4F8B-A770-501329E0BB7A}"/>
              </a:ext>
            </a:extLst>
          </p:cNvPr>
          <p:cNvSpPr>
            <a:spLocks noGrp="1"/>
          </p:cNvSpPr>
          <p:nvPr>
            <p:ph sz="quarter" idx="16"/>
          </p:nvPr>
        </p:nvSpPr>
        <p:spPr>
          <a:xfrm>
            <a:off x="3363686" y="5492362"/>
            <a:ext cx="5323114" cy="364083"/>
          </a:xfrm>
        </p:spPr>
        <p:txBody>
          <a:bodyPr lIns="90000" tIns="0"/>
          <a:lstStyle/>
          <a:p>
            <a:pPr marL="0" indent="0">
              <a:buNone/>
            </a:pPr>
            <a:r>
              <a:rPr lang="en-US" sz="2000" dirty="0">
                <a:latin typeface="Arial (Body)"/>
              </a:rPr>
              <a:t>at these values, money supply equals money</a:t>
            </a:r>
            <a:endParaRPr lang="en-US" sz="2000" dirty="0">
              <a:latin typeface="+mn-lt"/>
            </a:endParaRPr>
          </a:p>
        </p:txBody>
      </p:sp>
      <p:sp>
        <p:nvSpPr>
          <p:cNvPr id="20" name="Content Placeholder 19">
            <a:extLst>
              <a:ext uri="{FF2B5EF4-FFF2-40B4-BE49-F238E27FC236}">
                <a16:creationId xmlns:a16="http://schemas.microsoft.com/office/drawing/2014/main" id="{FE78C444-2325-47B1-B530-6327DCBA4C47}"/>
              </a:ext>
            </a:extLst>
          </p:cNvPr>
          <p:cNvSpPr>
            <a:spLocks noGrp="1"/>
          </p:cNvSpPr>
          <p:nvPr>
            <p:ph sz="quarter" idx="17"/>
          </p:nvPr>
        </p:nvSpPr>
        <p:spPr>
          <a:xfrm>
            <a:off x="457199" y="5995950"/>
            <a:ext cx="8229599" cy="360000"/>
          </a:xfrm>
        </p:spPr>
        <p:txBody>
          <a:bodyPr tIns="0"/>
          <a:lstStyle/>
          <a:p>
            <a:pPr marL="0" indent="0">
              <a:buNone/>
            </a:pPr>
            <a:r>
              <a:rPr lang="en-US" sz="2000" dirty="0">
                <a:latin typeface="Arial (Body)"/>
              </a:rPr>
              <a:t>demand (point 1) and the interest parity condition holds (point 1’).</a:t>
            </a:r>
            <a:endParaRPr lang="en-US" sz="2000" dirty="0"/>
          </a:p>
        </p:txBody>
      </p:sp>
    </p:spTree>
    <p:extLst>
      <p:ext uri="{BB962C8B-B14F-4D97-AF65-F5344CB8AC3E}">
        <p14:creationId xmlns:p14="http://schemas.microsoft.com/office/powerpoint/2010/main" val="636226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15.7 Money Market/Exchange Rate Linkages</a:t>
            </a:r>
            <a:endParaRPr lang="en-US" sz="3200" dirty="0"/>
          </a:p>
        </p:txBody>
      </p:sp>
      <p:sp>
        <p:nvSpPr>
          <p:cNvPr id="12" name="Content Placeholder 11">
            <a:extLst>
              <a:ext uri="{FF2B5EF4-FFF2-40B4-BE49-F238E27FC236}">
                <a16:creationId xmlns:a16="http://schemas.microsoft.com/office/drawing/2014/main" id="{6928B5E4-607F-4763-BC89-01DE39C1131B}"/>
              </a:ext>
            </a:extLst>
          </p:cNvPr>
          <p:cNvSpPr>
            <a:spLocks noGrp="1"/>
          </p:cNvSpPr>
          <p:nvPr>
            <p:ph sz="quarter" idx="13"/>
          </p:nvPr>
        </p:nvSpPr>
        <p:spPr>
          <a:xfrm>
            <a:off x="457201" y="1556327"/>
            <a:ext cx="3461656" cy="4693748"/>
          </a:xfrm>
        </p:spPr>
        <p:txBody>
          <a:bodyPr/>
          <a:lstStyle/>
          <a:p>
            <a:pPr marL="432" indent="0">
              <a:buNone/>
            </a:pPr>
            <a:r>
              <a:rPr lang="en-US" sz="2400" dirty="0">
                <a:latin typeface="Arial (Body)"/>
              </a:rPr>
              <a:t>Monetary policy actions by the Fed affect the U.S. interest rate, changing the dollar/euro exchange rate that clears the foreign exchange market. The E</a:t>
            </a:r>
            <a:r>
              <a:rPr lang="en-US" sz="100" dirty="0">
                <a:latin typeface="Arial (Body)"/>
              </a:rPr>
              <a:t> </a:t>
            </a:r>
            <a:r>
              <a:rPr lang="en-US" sz="2400" dirty="0">
                <a:latin typeface="Arial (Body)"/>
              </a:rPr>
              <a:t>C</a:t>
            </a:r>
            <a:r>
              <a:rPr lang="en-US" sz="100" dirty="0">
                <a:latin typeface="Arial (Body)"/>
              </a:rPr>
              <a:t> </a:t>
            </a:r>
            <a:r>
              <a:rPr lang="en-US" sz="2400" dirty="0">
                <a:latin typeface="Arial (Body)"/>
              </a:rPr>
              <a:t>B can affect the exchange rate</a:t>
            </a:r>
            <a:r>
              <a:rPr lang="en-US" sz="2400" baseline="0" dirty="0">
                <a:latin typeface="Arial (Body)"/>
              </a:rPr>
              <a:t> </a:t>
            </a:r>
            <a:r>
              <a:rPr lang="en-US" sz="2400" dirty="0">
                <a:latin typeface="Arial (Body)"/>
              </a:rPr>
              <a:t>by changing the European money supply and interest rate.</a:t>
            </a:r>
            <a:endParaRPr lang="en-US" dirty="0"/>
          </a:p>
        </p:txBody>
      </p:sp>
      <p:pic>
        <p:nvPicPr>
          <p:cNvPr id="18" name="Content Placeholder 17" descr="Two forces determine the dollar to euro foreign exchange rate. For long description in Notes pane, press F6.">
            <a:extLst>
              <a:ext uri="{FF2B5EF4-FFF2-40B4-BE49-F238E27FC236}">
                <a16:creationId xmlns:a16="http://schemas.microsoft.com/office/drawing/2014/main" id="{850EE1BF-B5CB-409C-99A5-A3E0C822B6A7}"/>
              </a:ext>
            </a:extLst>
          </p:cNvPr>
          <p:cNvPicPr>
            <a:picLocks noGrp="1" noChangeAspect="1"/>
          </p:cNvPicPr>
          <p:nvPr>
            <p:ph sz="quarter" idx="17"/>
          </p:nvPr>
        </p:nvPicPr>
        <p:blipFill>
          <a:blip r:embed="rId3"/>
          <a:stretch>
            <a:fillRect/>
          </a:stretch>
        </p:blipFill>
        <p:spPr>
          <a:xfrm>
            <a:off x="4585357" y="1625707"/>
            <a:ext cx="4183053" cy="3818941"/>
          </a:xfrm>
        </p:spPr>
      </p:pic>
    </p:spTree>
    <p:extLst>
      <p:ext uri="{BB962C8B-B14F-4D97-AF65-F5344CB8AC3E}">
        <p14:creationId xmlns:p14="http://schemas.microsoft.com/office/powerpoint/2010/main" val="1974592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200" dirty="0"/>
              <a:t>Figure 15.8 Effect on the Dollar/Euro Exchange Rate and Dollar Interest Rate of an Increase in the U.S. Money Supply</a:t>
            </a:r>
            <a:endParaRPr lang="en-US" sz="2200" dirty="0"/>
          </a:p>
        </p:txBody>
      </p:sp>
      <p:pic>
        <p:nvPicPr>
          <p:cNvPr id="34" name="Content Placeholder 33" descr="A graph shows dollar to euro exchange rate, above y = 0, and U S real money holdings, below y = 0, versus rates of return in dollar terms. For long description in Notes pane, press F6.">
            <a:extLst>
              <a:ext uri="{FF2B5EF4-FFF2-40B4-BE49-F238E27FC236}">
                <a16:creationId xmlns:a16="http://schemas.microsoft.com/office/drawing/2014/main" id="{F2A12818-170C-49DE-A6F8-524D2F335831}"/>
              </a:ext>
            </a:extLst>
          </p:cNvPr>
          <p:cNvPicPr>
            <a:picLocks noGrp="1" noChangeAspect="1"/>
          </p:cNvPicPr>
          <p:nvPr>
            <p:ph sz="quarter" idx="13"/>
          </p:nvPr>
        </p:nvPicPr>
        <p:blipFill>
          <a:blip r:embed="rId3"/>
          <a:stretch>
            <a:fillRect/>
          </a:stretch>
        </p:blipFill>
        <p:spPr>
          <a:xfrm>
            <a:off x="3631584" y="1635760"/>
            <a:ext cx="2109433" cy="3303588"/>
          </a:xfrm>
        </p:spPr>
      </p:pic>
      <p:sp>
        <p:nvSpPr>
          <p:cNvPr id="23" name="Content Placeholder 22">
            <a:extLst>
              <a:ext uri="{FF2B5EF4-FFF2-40B4-BE49-F238E27FC236}">
                <a16:creationId xmlns:a16="http://schemas.microsoft.com/office/drawing/2014/main" id="{805BC6D8-26AC-49F6-A03A-9EE0B4AD3DD5}"/>
              </a:ext>
            </a:extLst>
          </p:cNvPr>
          <p:cNvSpPr>
            <a:spLocks noGrp="1"/>
          </p:cNvSpPr>
          <p:nvPr>
            <p:ph sz="quarter" idx="14"/>
          </p:nvPr>
        </p:nvSpPr>
        <p:spPr>
          <a:xfrm>
            <a:off x="457201" y="4963887"/>
            <a:ext cx="787400" cy="392728"/>
          </a:xfrm>
        </p:spPr>
        <p:txBody>
          <a:bodyPr/>
          <a:lstStyle/>
          <a:p>
            <a:pPr marL="432" indent="0">
              <a:buNone/>
            </a:pPr>
            <a:r>
              <a:rPr lang="en-US" sz="1800" dirty="0"/>
              <a:t>Given</a:t>
            </a:r>
          </a:p>
        </p:txBody>
      </p:sp>
      <p:graphicFrame>
        <p:nvGraphicFramePr>
          <p:cNvPr id="31" name="Object 30" descr="P sub U S and Y sub U S">
            <a:extLst>
              <a:ext uri="{FF2B5EF4-FFF2-40B4-BE49-F238E27FC236}">
                <a16:creationId xmlns:a16="http://schemas.microsoft.com/office/drawing/2014/main" id="{1BB55BD1-647A-4D71-B61D-D48C32E4A62E}"/>
              </a:ext>
            </a:extLst>
          </p:cNvPr>
          <p:cNvGraphicFramePr>
            <a:graphicFrameLocks noChangeAspect="1"/>
          </p:cNvGraphicFramePr>
          <p:nvPr>
            <p:extLst>
              <p:ext uri="{D42A27DB-BD31-4B8C-83A1-F6EECF244321}">
                <p14:modId xmlns:p14="http://schemas.microsoft.com/office/powerpoint/2010/main" val="3595410745"/>
              </p:ext>
            </p:extLst>
          </p:nvPr>
        </p:nvGraphicFramePr>
        <p:xfrm>
          <a:off x="1338943" y="5031502"/>
          <a:ext cx="1310037" cy="368808"/>
        </p:xfrm>
        <a:graphic>
          <a:graphicData uri="http://schemas.openxmlformats.org/presentationml/2006/ole">
            <mc:AlternateContent xmlns:mc="http://schemas.openxmlformats.org/markup-compatibility/2006">
              <mc:Choice xmlns:v="urn:schemas-microsoft-com:vml" Requires="v">
                <p:oleObj name="Equation" r:id="rId4" imgW="1082019" imgH="304997" progId="Equation.DSMT4">
                  <p:embed/>
                </p:oleObj>
              </mc:Choice>
              <mc:Fallback>
                <p:oleObj name="Equation" r:id="rId4" imgW="1082019" imgH="304997" progId="Equation.DSMT4">
                  <p:embed/>
                  <p:pic>
                    <p:nvPicPr>
                      <p:cNvPr id="0" name=""/>
                      <p:cNvPicPr/>
                      <p:nvPr/>
                    </p:nvPicPr>
                    <p:blipFill>
                      <a:blip r:embed="rId5"/>
                      <a:stretch>
                        <a:fillRect/>
                      </a:stretch>
                    </p:blipFill>
                    <p:spPr>
                      <a:xfrm>
                        <a:off x="1338943" y="5031502"/>
                        <a:ext cx="1310037" cy="368808"/>
                      </a:xfrm>
                      <a:prstGeom prst="rect">
                        <a:avLst/>
                      </a:prstGeom>
                    </p:spPr>
                  </p:pic>
                </p:oleObj>
              </mc:Fallback>
            </mc:AlternateContent>
          </a:graphicData>
        </a:graphic>
      </p:graphicFrame>
      <p:sp>
        <p:nvSpPr>
          <p:cNvPr id="24" name="Content Placeholder 23">
            <a:extLst>
              <a:ext uri="{FF2B5EF4-FFF2-40B4-BE49-F238E27FC236}">
                <a16:creationId xmlns:a16="http://schemas.microsoft.com/office/drawing/2014/main" id="{92E8DFD4-0570-48C0-8E0B-61DFBF471908}"/>
              </a:ext>
            </a:extLst>
          </p:cNvPr>
          <p:cNvSpPr>
            <a:spLocks noGrp="1"/>
          </p:cNvSpPr>
          <p:nvPr>
            <p:ph sz="quarter" idx="15"/>
          </p:nvPr>
        </p:nvSpPr>
        <p:spPr>
          <a:xfrm>
            <a:off x="2783440" y="5027678"/>
            <a:ext cx="3597263" cy="358238"/>
          </a:xfrm>
        </p:spPr>
        <p:txBody>
          <a:bodyPr lIns="0" tIns="0" rIns="0" bIns="0"/>
          <a:lstStyle/>
          <a:p>
            <a:pPr marL="0" indent="0">
              <a:buNone/>
            </a:pPr>
            <a:r>
              <a:rPr lang="en-US" sz="1800" dirty="0">
                <a:latin typeface="+mn-lt"/>
              </a:rPr>
              <a:t>when the money supply rises from</a:t>
            </a:r>
          </a:p>
        </p:txBody>
      </p:sp>
      <p:graphicFrame>
        <p:nvGraphicFramePr>
          <p:cNvPr id="32" name="Object 31" descr="M super 1 to M super 2">
            <a:extLst>
              <a:ext uri="{FF2B5EF4-FFF2-40B4-BE49-F238E27FC236}">
                <a16:creationId xmlns:a16="http://schemas.microsoft.com/office/drawing/2014/main" id="{9BBEEC9E-85BB-4BBB-92AE-6DC649E495A1}"/>
              </a:ext>
            </a:extLst>
          </p:cNvPr>
          <p:cNvGraphicFramePr>
            <a:graphicFrameLocks noChangeAspect="1"/>
          </p:cNvGraphicFramePr>
          <p:nvPr>
            <p:extLst>
              <p:ext uri="{D42A27DB-BD31-4B8C-83A1-F6EECF244321}">
                <p14:modId xmlns:p14="http://schemas.microsoft.com/office/powerpoint/2010/main" val="4168123463"/>
              </p:ext>
            </p:extLst>
          </p:nvPr>
        </p:nvGraphicFramePr>
        <p:xfrm>
          <a:off x="6459935" y="5025839"/>
          <a:ext cx="1043421" cy="368012"/>
        </p:xfrm>
        <a:graphic>
          <a:graphicData uri="http://schemas.openxmlformats.org/presentationml/2006/ole">
            <mc:AlternateContent xmlns:mc="http://schemas.openxmlformats.org/markup-compatibility/2006">
              <mc:Choice xmlns:v="urn:schemas-microsoft-com:vml" Requires="v">
                <p:oleObj name="Equation" r:id="rId6" imgW="1147868" imgH="405581" progId="Equation.DSMT4">
                  <p:embed/>
                </p:oleObj>
              </mc:Choice>
              <mc:Fallback>
                <p:oleObj name="Equation" r:id="rId6" imgW="1147868" imgH="405581" progId="Equation.DSMT4">
                  <p:embed/>
                  <p:pic>
                    <p:nvPicPr>
                      <p:cNvPr id="0" name=""/>
                      <p:cNvPicPr/>
                      <p:nvPr/>
                    </p:nvPicPr>
                    <p:blipFill>
                      <a:blip r:embed="rId7"/>
                      <a:stretch>
                        <a:fillRect/>
                      </a:stretch>
                    </p:blipFill>
                    <p:spPr>
                      <a:xfrm>
                        <a:off x="6459935" y="5025839"/>
                        <a:ext cx="1043421" cy="368012"/>
                      </a:xfrm>
                      <a:prstGeom prst="rect">
                        <a:avLst/>
                      </a:prstGeom>
                    </p:spPr>
                  </p:pic>
                </p:oleObj>
              </mc:Fallback>
            </mc:AlternateContent>
          </a:graphicData>
        </a:graphic>
      </p:graphicFrame>
      <p:sp>
        <p:nvSpPr>
          <p:cNvPr id="25" name="Content Placeholder 24">
            <a:extLst>
              <a:ext uri="{FF2B5EF4-FFF2-40B4-BE49-F238E27FC236}">
                <a16:creationId xmlns:a16="http://schemas.microsoft.com/office/drawing/2014/main" id="{CE435A76-24BF-4523-AD1E-D37093C1DF75}"/>
              </a:ext>
            </a:extLst>
          </p:cNvPr>
          <p:cNvSpPr>
            <a:spLocks noGrp="1"/>
          </p:cNvSpPr>
          <p:nvPr>
            <p:ph sz="quarter" idx="16"/>
          </p:nvPr>
        </p:nvSpPr>
        <p:spPr>
          <a:xfrm>
            <a:off x="457200" y="5454128"/>
            <a:ext cx="8229600" cy="882073"/>
          </a:xfrm>
        </p:spPr>
        <p:txBody>
          <a:bodyPr tIns="0"/>
          <a:lstStyle/>
          <a:p>
            <a:pPr marL="0" indent="0">
              <a:buNone/>
            </a:pPr>
            <a:r>
              <a:rPr lang="en-US" sz="1800" dirty="0">
                <a:latin typeface="+mn-lt"/>
              </a:rPr>
              <a:t>the dollar interest rate declines (as money market equilibrium is reestablished at point 2) and the dollar depreciates against the euro (as foreign exchange market equilibrium is reestablished at point 2’).</a:t>
            </a:r>
          </a:p>
        </p:txBody>
      </p:sp>
    </p:spTree>
    <p:extLst>
      <p:ext uri="{BB962C8B-B14F-4D97-AF65-F5344CB8AC3E}">
        <p14:creationId xmlns:p14="http://schemas.microsoft.com/office/powerpoint/2010/main" val="3362201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Changes in the Domestic Money Supply</a:t>
            </a:r>
            <a:endParaRPr lang="en-US" sz="32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3055867"/>
          </a:xfrm>
        </p:spPr>
        <p:txBody>
          <a:bodyPr/>
          <a:lstStyle/>
          <a:p>
            <a:pPr eaLnBrk="1" hangingPunct="1"/>
            <a:r>
              <a:rPr lang="en-US" altLang="en-US" dirty="0">
                <a:latin typeface="Arial (Body)"/>
              </a:rPr>
              <a:t>An increase in a country’</a:t>
            </a:r>
            <a:r>
              <a:rPr lang="en-US" altLang="ja-JP" dirty="0">
                <a:latin typeface="Arial (Body)"/>
              </a:rPr>
              <a:t>s money supply causes interest rates to fall, rates of return on domestic currency deposits to fall, and the domestic currency to depreciate.</a:t>
            </a:r>
          </a:p>
          <a:p>
            <a:pPr eaLnBrk="1" hangingPunct="1"/>
            <a:r>
              <a:rPr lang="en-US" altLang="en-US" dirty="0">
                <a:latin typeface="Arial (Body)"/>
              </a:rPr>
              <a:t>A decrease in a country’</a:t>
            </a:r>
            <a:r>
              <a:rPr lang="en-US" altLang="ja-JP" dirty="0">
                <a:latin typeface="Arial (Body)"/>
              </a:rPr>
              <a:t>s money supply causes interest rates to rise, rates of return on domestic currency deposits to rise, and the domestic currency to appreciate.</a:t>
            </a:r>
            <a:endParaRPr lang="en-US" altLang="en-US" dirty="0">
              <a:latin typeface="Arial (Body)"/>
            </a:endParaRPr>
          </a:p>
        </p:txBody>
      </p:sp>
    </p:spTree>
    <p:extLst>
      <p:ext uri="{BB962C8B-B14F-4D97-AF65-F5344CB8AC3E}">
        <p14:creationId xmlns:p14="http://schemas.microsoft.com/office/powerpoint/2010/main" val="3767967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Changes in the Foreign Money Supply </a:t>
            </a:r>
            <a:r>
              <a:rPr lang="en-US" altLang="en-US" sz="1800" b="0" dirty="0"/>
              <a:t>(1 of 2)</a:t>
            </a:r>
            <a:endParaRPr lang="en-US" sz="18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4452587"/>
          </a:xfrm>
        </p:spPr>
        <p:txBody>
          <a:bodyPr/>
          <a:lstStyle/>
          <a:p>
            <a:pPr eaLnBrk="1" hangingPunct="1"/>
            <a:r>
              <a:rPr lang="en-US" altLang="en-US" dirty="0">
                <a:latin typeface="Arial (Body)"/>
              </a:rPr>
              <a:t>How would a change in the supply of euros affect the U.S. money market and foreign exchange markets?</a:t>
            </a:r>
          </a:p>
          <a:p>
            <a:pPr eaLnBrk="1" hangingPunct="1"/>
            <a:r>
              <a:rPr lang="en-US" altLang="en-US" dirty="0">
                <a:latin typeface="Arial (Body)"/>
              </a:rPr>
              <a:t>An increase in the supply of euros causes a depreciation of the euro (an appreciation of the dollar).</a:t>
            </a:r>
          </a:p>
          <a:p>
            <a:pPr eaLnBrk="1" hangingPunct="1"/>
            <a:r>
              <a:rPr lang="en-US" altLang="en-US" dirty="0">
                <a:latin typeface="Arial (Body)"/>
              </a:rPr>
              <a:t>A decrease in the supply of euros causes an appreciation of the euro (a depreciation of the dollar).</a:t>
            </a:r>
          </a:p>
        </p:txBody>
      </p:sp>
    </p:spTree>
    <p:extLst>
      <p:ext uri="{BB962C8B-B14F-4D97-AF65-F5344CB8AC3E}">
        <p14:creationId xmlns:p14="http://schemas.microsoft.com/office/powerpoint/2010/main" val="2132465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600" dirty="0"/>
              <a:t>Figure 15.9 Effect of an Increase in the European Money Supply on the Dollar/Euro Exchange Rate</a:t>
            </a:r>
            <a:endParaRPr lang="en-US" sz="2600" dirty="0"/>
          </a:p>
        </p:txBody>
      </p:sp>
      <p:pic>
        <p:nvPicPr>
          <p:cNvPr id="7" name="Content Placeholder 6" descr="A graph shows dollar to euro exchange rate, above y = 0, and U S real money holdings, below y = 0, versus rates of return in dollar terms. For long description in Notes pane, press F6.">
            <a:extLst>
              <a:ext uri="{FF2B5EF4-FFF2-40B4-BE49-F238E27FC236}">
                <a16:creationId xmlns:a16="http://schemas.microsoft.com/office/drawing/2014/main" id="{9467CA80-5448-458F-865B-E922F9F8B56C}"/>
              </a:ext>
            </a:extLst>
          </p:cNvPr>
          <p:cNvPicPr>
            <a:picLocks noGrp="1" noChangeAspect="1"/>
          </p:cNvPicPr>
          <p:nvPr>
            <p:ph sz="quarter" idx="13"/>
          </p:nvPr>
        </p:nvPicPr>
        <p:blipFill>
          <a:blip r:embed="rId3"/>
          <a:stretch>
            <a:fillRect/>
          </a:stretch>
        </p:blipFill>
        <p:spPr>
          <a:xfrm>
            <a:off x="3542847" y="1569479"/>
            <a:ext cx="2058307" cy="3191768"/>
          </a:xfrm>
        </p:spPr>
      </p:pic>
      <p:sp>
        <p:nvSpPr>
          <p:cNvPr id="5" name="Content Placeholder 4">
            <a:extLst>
              <a:ext uri="{FF2B5EF4-FFF2-40B4-BE49-F238E27FC236}">
                <a16:creationId xmlns:a16="http://schemas.microsoft.com/office/drawing/2014/main" id="{B35B7D2D-2C51-4EC1-891D-D2258B41C8F4}"/>
              </a:ext>
            </a:extLst>
          </p:cNvPr>
          <p:cNvSpPr>
            <a:spLocks noGrp="1"/>
          </p:cNvSpPr>
          <p:nvPr>
            <p:ph sz="quarter" idx="14"/>
          </p:nvPr>
        </p:nvSpPr>
        <p:spPr>
          <a:xfrm>
            <a:off x="457200" y="4919470"/>
            <a:ext cx="8229600" cy="1399690"/>
          </a:xfrm>
        </p:spPr>
        <p:txBody>
          <a:bodyPr tIns="0"/>
          <a:lstStyle/>
          <a:p>
            <a:pPr marL="432" indent="0">
              <a:buNone/>
            </a:pPr>
            <a:r>
              <a:rPr lang="en-US" sz="1800" dirty="0">
                <a:latin typeface="Arial (Body)"/>
              </a:rPr>
              <a:t>By lowering the dollar return on euro deposits (shown as a leftward shift in the expected euro return curve), an increase in Europe’s money supply causes the dollar to appreciate against the euro. Equilibrium in the foreign exchange market shifts from point 1’ to point 2’ but equilibrium in the U.S. money market remains at point 1.</a:t>
            </a:r>
            <a:endParaRPr lang="en-US" sz="1800" dirty="0"/>
          </a:p>
        </p:txBody>
      </p:sp>
    </p:spTree>
    <p:extLst>
      <p:ext uri="{BB962C8B-B14F-4D97-AF65-F5344CB8AC3E}">
        <p14:creationId xmlns:p14="http://schemas.microsoft.com/office/powerpoint/2010/main" val="260499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Changes in the Foreign Money Supply </a:t>
            </a:r>
            <a:r>
              <a:rPr lang="en-US" altLang="en-US" sz="1800" b="0" dirty="0"/>
              <a:t>(2 of 2)</a:t>
            </a:r>
            <a:endParaRPr lang="en-US" sz="18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4452587"/>
          </a:xfrm>
        </p:spPr>
        <p:txBody>
          <a:bodyPr/>
          <a:lstStyle/>
          <a:p>
            <a:pPr eaLnBrk="1" hangingPunct="1"/>
            <a:r>
              <a:rPr lang="en-US" altLang="en-US" dirty="0">
                <a:latin typeface="Arial (Body)"/>
              </a:rPr>
              <a:t>The increase in the supply of euros reduces interest rates in the E</a:t>
            </a:r>
            <a:r>
              <a:rPr lang="en-US" altLang="en-US" sz="100" dirty="0">
                <a:latin typeface="Arial (Body)"/>
              </a:rPr>
              <a:t> </a:t>
            </a:r>
            <a:r>
              <a:rPr lang="en-US" altLang="en-US" dirty="0">
                <a:latin typeface="Arial (Body)"/>
              </a:rPr>
              <a:t>U, reducing the expected rate of return on euro deposits.</a:t>
            </a:r>
          </a:p>
          <a:p>
            <a:pPr eaLnBrk="1" hangingPunct="1"/>
            <a:r>
              <a:rPr lang="en-US" altLang="en-US" dirty="0">
                <a:latin typeface="Arial (Body)"/>
              </a:rPr>
              <a:t>This reduction in the expected rate of return on euro deposits causes the euro to depreciate.</a:t>
            </a:r>
          </a:p>
          <a:p>
            <a:pPr eaLnBrk="1" hangingPunct="1"/>
            <a:r>
              <a:rPr lang="en-US" altLang="en-US" dirty="0">
                <a:latin typeface="Arial (Body)"/>
              </a:rPr>
              <a:t>We predict no change in the U.S. money market due to the change in the supply of euros.</a:t>
            </a:r>
          </a:p>
        </p:txBody>
      </p:sp>
    </p:spTree>
    <p:extLst>
      <p:ext uri="{BB962C8B-B14F-4D97-AF65-F5344CB8AC3E}">
        <p14:creationId xmlns:p14="http://schemas.microsoft.com/office/powerpoint/2010/main" val="3982153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Long Run and Short Run </a:t>
            </a:r>
            <a:r>
              <a:rPr lang="en-US" altLang="en-US" sz="2000" b="0" dirty="0"/>
              <a:t>(1 of 3)</a:t>
            </a:r>
            <a:endParaRPr lang="en-US" sz="20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4713845"/>
          </a:xfrm>
        </p:spPr>
        <p:txBody>
          <a:bodyPr/>
          <a:lstStyle/>
          <a:p>
            <a:pPr eaLnBrk="1" hangingPunct="1"/>
            <a:r>
              <a:rPr lang="en-US" altLang="en-US" sz="2200" dirty="0">
                <a:latin typeface="Arial (Body)"/>
              </a:rPr>
              <a:t>In the </a:t>
            </a:r>
            <a:r>
              <a:rPr lang="en-US" altLang="en-US" sz="2200" b="1" dirty="0">
                <a:latin typeface="Arial (Body)"/>
              </a:rPr>
              <a:t>short run</a:t>
            </a:r>
            <a:r>
              <a:rPr lang="en-US" altLang="en-US" sz="2200" dirty="0">
                <a:latin typeface="Arial (Body)"/>
              </a:rPr>
              <a:t>, prices do not have sufficient time to adjust to market conditions. </a:t>
            </a:r>
          </a:p>
          <a:p>
            <a:pPr lvl="1" eaLnBrk="1" hangingPunct="1"/>
            <a:r>
              <a:rPr lang="en-US" altLang="en-US" sz="2200" dirty="0">
                <a:latin typeface="Arial (Body)"/>
              </a:rPr>
              <a:t>The analysis heretofore has been a short-run analysis. </a:t>
            </a:r>
          </a:p>
          <a:p>
            <a:pPr eaLnBrk="1" hangingPunct="1"/>
            <a:r>
              <a:rPr lang="en-US" altLang="en-US" sz="2200" dirty="0">
                <a:latin typeface="Arial (Body)"/>
              </a:rPr>
              <a:t>In the </a:t>
            </a:r>
            <a:r>
              <a:rPr lang="en-US" altLang="en-US" sz="2200" b="1" dirty="0">
                <a:latin typeface="Arial (Body)"/>
              </a:rPr>
              <a:t>long run</a:t>
            </a:r>
            <a:r>
              <a:rPr lang="en-US" altLang="en-US" sz="2200" dirty="0">
                <a:latin typeface="Arial (Body)"/>
              </a:rPr>
              <a:t>, prices of factors of production and of output have sufficient time to adjust to market conditions.</a:t>
            </a:r>
          </a:p>
          <a:p>
            <a:pPr lvl="1" eaLnBrk="1" hangingPunct="1"/>
            <a:r>
              <a:rPr lang="en-US" altLang="en-US" sz="2200" dirty="0">
                <a:latin typeface="Arial (Body)"/>
              </a:rPr>
              <a:t>Wages adjust to the demand and supply of labor.</a:t>
            </a:r>
          </a:p>
          <a:p>
            <a:pPr lvl="1" eaLnBrk="1" hangingPunct="1"/>
            <a:r>
              <a:rPr lang="en-US" altLang="en-US" sz="2200" dirty="0">
                <a:latin typeface="Arial (Body)"/>
              </a:rPr>
              <a:t>Real output and income are determined by the amount of workers and other factors of production—by the economy’</a:t>
            </a:r>
            <a:r>
              <a:rPr lang="en-US" altLang="ja-JP" sz="2200" dirty="0">
                <a:latin typeface="Arial (Body)"/>
              </a:rPr>
              <a:t>s productive capacity—not by the quantity of money supplied. </a:t>
            </a:r>
          </a:p>
          <a:p>
            <a:pPr lvl="1" eaLnBrk="1" hangingPunct="1"/>
            <a:r>
              <a:rPr lang="en-US" altLang="en-US" sz="2200" dirty="0">
                <a:latin typeface="Arial (Body)"/>
              </a:rPr>
              <a:t>(Real) interest rates depend on the supply of saved funds and the demand of saved funds.</a:t>
            </a:r>
          </a:p>
        </p:txBody>
      </p:sp>
    </p:spTree>
    <p:extLst>
      <p:ext uri="{BB962C8B-B14F-4D97-AF65-F5344CB8AC3E}">
        <p14:creationId xmlns:p14="http://schemas.microsoft.com/office/powerpoint/2010/main" val="3731924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FA2F69-D1E2-4C7D-8E4B-C78DE73BEFE7}"/>
              </a:ext>
            </a:extLst>
          </p:cNvPr>
          <p:cNvSpPr>
            <a:spLocks noGrp="1"/>
          </p:cNvSpPr>
          <p:nvPr>
            <p:ph type="title"/>
          </p:nvPr>
        </p:nvSpPr>
        <p:spPr/>
        <p:txBody>
          <a:bodyPr/>
          <a:lstStyle/>
          <a:p>
            <a:r>
              <a:rPr lang="en-US" altLang="en-US" dirty="0"/>
              <a:t>Long Run and Short Run </a:t>
            </a:r>
            <a:r>
              <a:rPr lang="en-US" altLang="en-US" sz="2000" b="0" dirty="0"/>
              <a:t>(2 of 3)</a:t>
            </a:r>
            <a:endParaRPr lang="en-IN" sz="2000" dirty="0"/>
          </a:p>
        </p:txBody>
      </p:sp>
      <p:sp>
        <p:nvSpPr>
          <p:cNvPr id="11" name="Content Placeholder 10">
            <a:extLst>
              <a:ext uri="{FF2B5EF4-FFF2-40B4-BE49-F238E27FC236}">
                <a16:creationId xmlns:a16="http://schemas.microsoft.com/office/drawing/2014/main" id="{FA96E157-C5AA-4384-9548-31DED104BB2A}"/>
              </a:ext>
            </a:extLst>
          </p:cNvPr>
          <p:cNvSpPr>
            <a:spLocks noGrp="1"/>
          </p:cNvSpPr>
          <p:nvPr>
            <p:ph sz="quarter" idx="13"/>
          </p:nvPr>
        </p:nvSpPr>
        <p:spPr>
          <a:xfrm>
            <a:off x="457200" y="1552575"/>
            <a:ext cx="8355204" cy="788844"/>
          </a:xfrm>
        </p:spPr>
        <p:txBody>
          <a:bodyPr/>
          <a:lstStyle/>
          <a:p>
            <a:r>
              <a:rPr lang="en-US" altLang="en-US" sz="2200" dirty="0"/>
              <a:t>In the long run, the quantity of money supplied is predicted not to influence the amount of output, (real) interest rates, and the</a:t>
            </a:r>
            <a:endParaRPr lang="en-IN" sz="2200" dirty="0"/>
          </a:p>
        </p:txBody>
      </p:sp>
      <p:sp>
        <p:nvSpPr>
          <p:cNvPr id="12" name="Content Placeholder 11">
            <a:extLst>
              <a:ext uri="{FF2B5EF4-FFF2-40B4-BE49-F238E27FC236}">
                <a16:creationId xmlns:a16="http://schemas.microsoft.com/office/drawing/2014/main" id="{9FE10495-B6D4-4C9C-9A67-33695CDB6494}"/>
              </a:ext>
            </a:extLst>
          </p:cNvPr>
          <p:cNvSpPr>
            <a:spLocks noGrp="1"/>
          </p:cNvSpPr>
          <p:nvPr>
            <p:ph sz="quarter" idx="14"/>
          </p:nvPr>
        </p:nvSpPr>
        <p:spPr>
          <a:xfrm>
            <a:off x="468316" y="2412665"/>
            <a:ext cx="5835502" cy="375705"/>
          </a:xfrm>
        </p:spPr>
        <p:txBody>
          <a:bodyPr lIns="90000" tIns="0" rIns="0" bIns="0"/>
          <a:lstStyle/>
          <a:p>
            <a:pPr marL="255600" indent="0">
              <a:buNone/>
            </a:pPr>
            <a:r>
              <a:rPr lang="en-US" altLang="en-US" sz="2200" dirty="0"/>
              <a:t>aggregate demand of real monetary assets</a:t>
            </a:r>
            <a:endParaRPr lang="en-IN" sz="2200" dirty="0"/>
          </a:p>
        </p:txBody>
      </p:sp>
      <p:graphicFrame>
        <p:nvGraphicFramePr>
          <p:cNvPr id="26" name="Object 25" descr="L left parenthesis R comma Y right parenthesis,">
            <a:extLst>
              <a:ext uri="{FF2B5EF4-FFF2-40B4-BE49-F238E27FC236}">
                <a16:creationId xmlns:a16="http://schemas.microsoft.com/office/drawing/2014/main" id="{6781A2A3-A5EC-4F29-9C22-FB131086B653}"/>
              </a:ext>
            </a:extLst>
          </p:cNvPr>
          <p:cNvGraphicFramePr>
            <a:graphicFrameLocks noChangeAspect="1"/>
          </p:cNvGraphicFramePr>
          <p:nvPr>
            <p:extLst>
              <p:ext uri="{D42A27DB-BD31-4B8C-83A1-F6EECF244321}">
                <p14:modId xmlns:p14="http://schemas.microsoft.com/office/powerpoint/2010/main" val="2624629868"/>
              </p:ext>
            </p:extLst>
          </p:nvPr>
        </p:nvGraphicFramePr>
        <p:xfrm>
          <a:off x="6390842" y="2415741"/>
          <a:ext cx="942107" cy="392545"/>
        </p:xfrm>
        <a:graphic>
          <a:graphicData uri="http://schemas.openxmlformats.org/presentationml/2006/ole">
            <mc:AlternateContent xmlns:mc="http://schemas.openxmlformats.org/markup-compatibility/2006">
              <mc:Choice xmlns:v="urn:schemas-microsoft-com:vml" Requires="v">
                <p:oleObj name="Equation" r:id="rId2" imgW="609480" imgH="253800" progId="Equation.DSMT4">
                  <p:embed/>
                </p:oleObj>
              </mc:Choice>
              <mc:Fallback>
                <p:oleObj name="Equation" r:id="rId2" imgW="609480" imgH="253800" progId="Equation.DSMT4">
                  <p:embed/>
                  <p:pic>
                    <p:nvPicPr>
                      <p:cNvPr id="25" name="Object 24" descr="Start fraction M super s over P end fraction = L left parenthesis R comma Y right parenthesis,">
                        <a:extLst>
                          <a:ext uri="{FF2B5EF4-FFF2-40B4-BE49-F238E27FC236}">
                            <a16:creationId xmlns:a16="http://schemas.microsoft.com/office/drawing/2014/main" id="{BCDAEE9C-A752-41B1-A4BD-E456C1FF4288}"/>
                          </a:ext>
                        </a:extLst>
                      </p:cNvPr>
                      <p:cNvPicPr/>
                      <p:nvPr/>
                    </p:nvPicPr>
                    <p:blipFill>
                      <a:blip r:embed="rId3"/>
                      <a:stretch>
                        <a:fillRect/>
                      </a:stretch>
                    </p:blipFill>
                    <p:spPr>
                      <a:xfrm>
                        <a:off x="6390842" y="2415741"/>
                        <a:ext cx="942107" cy="392545"/>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923D3B60-59AB-4CB0-955E-B0C97A28103A}"/>
              </a:ext>
            </a:extLst>
          </p:cNvPr>
          <p:cNvSpPr>
            <a:spLocks noGrp="1"/>
          </p:cNvSpPr>
          <p:nvPr>
            <p:ph sz="quarter" idx="15"/>
          </p:nvPr>
        </p:nvSpPr>
        <p:spPr>
          <a:xfrm>
            <a:off x="457200" y="2915867"/>
            <a:ext cx="8521700" cy="852569"/>
          </a:xfrm>
        </p:spPr>
        <p:txBody>
          <a:bodyPr/>
          <a:lstStyle/>
          <a:p>
            <a:r>
              <a:rPr lang="en-US" altLang="en-US" sz="2200" dirty="0"/>
              <a:t>However, the quantity of money supplied is predicted to make the level of average prices</a:t>
            </a:r>
            <a:r>
              <a:rPr lang="en-US" altLang="en-US" sz="2200" b="1" dirty="0"/>
              <a:t> adjust proportionally</a:t>
            </a:r>
            <a:r>
              <a:rPr lang="en-US" altLang="en-US" sz="2200" dirty="0"/>
              <a:t> in the long run.</a:t>
            </a:r>
            <a:endParaRPr lang="en-US" sz="2200" b="1" dirty="0"/>
          </a:p>
        </p:txBody>
      </p:sp>
      <p:sp>
        <p:nvSpPr>
          <p:cNvPr id="14" name="Content Placeholder 13">
            <a:extLst>
              <a:ext uri="{FF2B5EF4-FFF2-40B4-BE49-F238E27FC236}">
                <a16:creationId xmlns:a16="http://schemas.microsoft.com/office/drawing/2014/main" id="{58A3332C-1D46-4FAC-AD45-D937D39A92BF}"/>
              </a:ext>
            </a:extLst>
          </p:cNvPr>
          <p:cNvSpPr>
            <a:spLocks noGrp="1"/>
          </p:cNvSpPr>
          <p:nvPr>
            <p:ph sz="quarter" idx="16"/>
          </p:nvPr>
        </p:nvSpPr>
        <p:spPr>
          <a:xfrm>
            <a:off x="457200" y="4145317"/>
            <a:ext cx="4075114" cy="525368"/>
          </a:xfrm>
        </p:spPr>
        <p:txBody>
          <a:bodyPr/>
          <a:lstStyle/>
          <a:p>
            <a:pPr lvl="1"/>
            <a:r>
              <a:rPr lang="en-US" altLang="en-US" sz="2200" dirty="0"/>
              <a:t>The equilibrium condition</a:t>
            </a:r>
            <a:endParaRPr lang="en-US" sz="2200" dirty="0"/>
          </a:p>
        </p:txBody>
      </p:sp>
      <p:graphicFrame>
        <p:nvGraphicFramePr>
          <p:cNvPr id="25" name="Object 24" descr="Start fraction M super s over P end fraction = L left parenthesis R comma Y right parenthesis,">
            <a:extLst>
              <a:ext uri="{FF2B5EF4-FFF2-40B4-BE49-F238E27FC236}">
                <a16:creationId xmlns:a16="http://schemas.microsoft.com/office/drawing/2014/main" id="{BCDAEE9C-A752-41B1-A4BD-E456C1FF4288}"/>
              </a:ext>
            </a:extLst>
          </p:cNvPr>
          <p:cNvGraphicFramePr>
            <a:graphicFrameLocks noChangeAspect="1"/>
          </p:cNvGraphicFramePr>
          <p:nvPr>
            <p:extLst>
              <p:ext uri="{D42A27DB-BD31-4B8C-83A1-F6EECF244321}">
                <p14:modId xmlns:p14="http://schemas.microsoft.com/office/powerpoint/2010/main" val="3966685199"/>
              </p:ext>
            </p:extLst>
          </p:nvPr>
        </p:nvGraphicFramePr>
        <p:xfrm>
          <a:off x="4650560" y="4084016"/>
          <a:ext cx="1431744" cy="630211"/>
        </p:xfrm>
        <a:graphic>
          <a:graphicData uri="http://schemas.openxmlformats.org/presentationml/2006/ole">
            <mc:AlternateContent xmlns:mc="http://schemas.openxmlformats.org/markup-compatibility/2006">
              <mc:Choice xmlns:v="urn:schemas-microsoft-com:vml" Requires="v">
                <p:oleObj name="Equation" r:id="rId4" imgW="1857819" imgH="816930" progId="Equation.DSMT4">
                  <p:embed/>
                </p:oleObj>
              </mc:Choice>
              <mc:Fallback>
                <p:oleObj name="Equation" r:id="rId4" imgW="1857819" imgH="816930" progId="Equation.DSMT4">
                  <p:embed/>
                  <p:pic>
                    <p:nvPicPr>
                      <p:cNvPr id="11" name="Object 10" descr="Start fraction M super s over P end fraction = L left parenthesis R comma Y right parenthesis,">
                        <a:extLst>
                          <a:ext uri="{FF2B5EF4-FFF2-40B4-BE49-F238E27FC236}">
                            <a16:creationId xmlns:a16="http://schemas.microsoft.com/office/drawing/2014/main" id="{D2826D9E-EA85-42C7-88AE-552CAA3948F4}"/>
                          </a:ext>
                        </a:extLst>
                      </p:cNvPr>
                      <p:cNvPicPr/>
                      <p:nvPr/>
                    </p:nvPicPr>
                    <p:blipFill>
                      <a:blip r:embed="rId5"/>
                      <a:stretch>
                        <a:fillRect/>
                      </a:stretch>
                    </p:blipFill>
                    <p:spPr>
                      <a:xfrm>
                        <a:off x="4650560" y="4084016"/>
                        <a:ext cx="1431744" cy="630211"/>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C8BBE24A-BBD2-4132-8613-D5BCDADFB5AF}"/>
              </a:ext>
            </a:extLst>
          </p:cNvPr>
          <p:cNvSpPr>
            <a:spLocks noGrp="1"/>
          </p:cNvSpPr>
          <p:nvPr>
            <p:ph sz="quarter" idx="17"/>
          </p:nvPr>
        </p:nvSpPr>
        <p:spPr>
          <a:xfrm>
            <a:off x="6206289" y="4230459"/>
            <a:ext cx="1659023" cy="392341"/>
          </a:xfrm>
        </p:spPr>
        <p:txBody>
          <a:bodyPr lIns="0" tIns="0" rIns="0" bIns="0"/>
          <a:lstStyle/>
          <a:p>
            <a:pPr marL="0" lvl="1" indent="0">
              <a:buNone/>
            </a:pPr>
            <a:r>
              <a:rPr lang="en-US" altLang="en-US" sz="2200" dirty="0">
                <a:latin typeface="+mn-lt"/>
              </a:rPr>
              <a:t>shows that</a:t>
            </a:r>
            <a:endParaRPr lang="en-US" sz="2200" dirty="0">
              <a:latin typeface="+mn-lt"/>
            </a:endParaRPr>
          </a:p>
        </p:txBody>
      </p:sp>
      <p:sp>
        <p:nvSpPr>
          <p:cNvPr id="16" name="Content Placeholder 15">
            <a:extLst>
              <a:ext uri="{FF2B5EF4-FFF2-40B4-BE49-F238E27FC236}">
                <a16:creationId xmlns:a16="http://schemas.microsoft.com/office/drawing/2014/main" id="{00907197-047B-41EF-BE2F-40F9462E10B7}"/>
              </a:ext>
            </a:extLst>
          </p:cNvPr>
          <p:cNvSpPr>
            <a:spLocks noGrp="1"/>
          </p:cNvSpPr>
          <p:nvPr>
            <p:ph sz="quarter" idx="18"/>
          </p:nvPr>
        </p:nvSpPr>
        <p:spPr>
          <a:xfrm>
            <a:off x="457201" y="4762417"/>
            <a:ext cx="6289964" cy="389163"/>
          </a:xfrm>
        </p:spPr>
        <p:txBody>
          <a:bodyPr tIns="0" rIns="0" bIns="0"/>
          <a:lstStyle/>
          <a:p>
            <a:pPr marL="741600" lvl="1" indent="0">
              <a:buNone/>
            </a:pPr>
            <a:r>
              <a:rPr lang="en-US" altLang="en-US" sz="2200" i="1" dirty="0">
                <a:latin typeface="+mn-lt"/>
              </a:rPr>
              <a:t>P </a:t>
            </a:r>
            <a:r>
              <a:rPr lang="en-US" altLang="en-US" sz="2200" dirty="0">
                <a:latin typeface="+mn-lt"/>
              </a:rPr>
              <a:t>is predicted to adjust proportionally when</a:t>
            </a:r>
            <a:endParaRPr lang="en-US" sz="2200" dirty="0">
              <a:latin typeface="+mn-lt"/>
            </a:endParaRPr>
          </a:p>
        </p:txBody>
      </p:sp>
      <p:graphicFrame>
        <p:nvGraphicFramePr>
          <p:cNvPr id="2" name="Object 1" descr="M super s">
            <a:extLst>
              <a:ext uri="{FF2B5EF4-FFF2-40B4-BE49-F238E27FC236}">
                <a16:creationId xmlns:a16="http://schemas.microsoft.com/office/drawing/2014/main" id="{53731272-85D7-4E54-A0A4-BCB2B4153F43}"/>
              </a:ext>
            </a:extLst>
          </p:cNvPr>
          <p:cNvGraphicFramePr>
            <a:graphicFrameLocks noChangeAspect="1"/>
          </p:cNvGraphicFramePr>
          <p:nvPr>
            <p:extLst>
              <p:ext uri="{D42A27DB-BD31-4B8C-83A1-F6EECF244321}">
                <p14:modId xmlns:p14="http://schemas.microsoft.com/office/powerpoint/2010/main" val="667635543"/>
              </p:ext>
            </p:extLst>
          </p:nvPr>
        </p:nvGraphicFramePr>
        <p:xfrm>
          <a:off x="6827804" y="4774618"/>
          <a:ext cx="409069" cy="306803"/>
        </p:xfrm>
        <a:graphic>
          <a:graphicData uri="http://schemas.openxmlformats.org/presentationml/2006/ole">
            <mc:AlternateContent xmlns:mc="http://schemas.openxmlformats.org/markup-compatibility/2006">
              <mc:Choice xmlns:v="urn:schemas-microsoft-com:vml" Requires="v">
                <p:oleObj name="Equation" r:id="rId6" imgW="253800" imgH="190440" progId="Equation.DSMT4">
                  <p:embed/>
                </p:oleObj>
              </mc:Choice>
              <mc:Fallback>
                <p:oleObj name="Equation" r:id="rId6" imgW="253800" imgH="190440" progId="Equation.DSMT4">
                  <p:embed/>
                  <p:pic>
                    <p:nvPicPr>
                      <p:cNvPr id="0" name=""/>
                      <p:cNvPicPr/>
                      <p:nvPr/>
                    </p:nvPicPr>
                    <p:blipFill>
                      <a:blip r:embed="rId7"/>
                      <a:stretch>
                        <a:fillRect/>
                      </a:stretch>
                    </p:blipFill>
                    <p:spPr>
                      <a:xfrm>
                        <a:off x="6827804" y="4774618"/>
                        <a:ext cx="409069" cy="306803"/>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FA4DACF0-E0F0-4901-83F4-2AFFE9CD30B6}"/>
              </a:ext>
            </a:extLst>
          </p:cNvPr>
          <p:cNvSpPr>
            <a:spLocks noGrp="1"/>
          </p:cNvSpPr>
          <p:nvPr>
            <p:ph sz="quarter" idx="19"/>
          </p:nvPr>
        </p:nvSpPr>
        <p:spPr>
          <a:xfrm>
            <a:off x="468314" y="5208028"/>
            <a:ext cx="3062286" cy="432254"/>
          </a:xfrm>
        </p:spPr>
        <p:txBody>
          <a:bodyPr lIns="90000" tIns="0" rIns="0" bIns="0"/>
          <a:lstStyle/>
          <a:p>
            <a:pPr marL="741600" lvl="1" indent="0">
              <a:buNone/>
            </a:pPr>
            <a:r>
              <a:rPr lang="en-US" altLang="en-US" sz="2200" dirty="0">
                <a:latin typeface="+mn-lt"/>
              </a:rPr>
              <a:t>adjusts, because</a:t>
            </a:r>
            <a:endParaRPr lang="en-IN" sz="2200" dirty="0"/>
          </a:p>
        </p:txBody>
      </p:sp>
      <p:graphicFrame>
        <p:nvGraphicFramePr>
          <p:cNvPr id="27" name="Object 26" descr="L left parenthesis R comma Y right parenthesis,">
            <a:extLst>
              <a:ext uri="{FF2B5EF4-FFF2-40B4-BE49-F238E27FC236}">
                <a16:creationId xmlns:a16="http://schemas.microsoft.com/office/drawing/2014/main" id="{09888A60-518D-49A9-AB15-098EE8D42305}"/>
              </a:ext>
            </a:extLst>
          </p:cNvPr>
          <p:cNvGraphicFramePr>
            <a:graphicFrameLocks noChangeAspect="1"/>
          </p:cNvGraphicFramePr>
          <p:nvPr>
            <p:extLst>
              <p:ext uri="{D42A27DB-BD31-4B8C-83A1-F6EECF244321}">
                <p14:modId xmlns:p14="http://schemas.microsoft.com/office/powerpoint/2010/main" val="1234901333"/>
              </p:ext>
            </p:extLst>
          </p:nvPr>
        </p:nvGraphicFramePr>
        <p:xfrm>
          <a:off x="3584576" y="5237862"/>
          <a:ext cx="863598" cy="392545"/>
        </p:xfrm>
        <a:graphic>
          <a:graphicData uri="http://schemas.openxmlformats.org/presentationml/2006/ole">
            <mc:AlternateContent xmlns:mc="http://schemas.openxmlformats.org/markup-compatibility/2006">
              <mc:Choice xmlns:v="urn:schemas-microsoft-com:vml" Requires="v">
                <p:oleObj name="Equation" r:id="rId8" imgW="558720" imgH="253800" progId="Equation.DSMT4">
                  <p:embed/>
                </p:oleObj>
              </mc:Choice>
              <mc:Fallback>
                <p:oleObj name="Equation" r:id="rId8" imgW="558720" imgH="253800" progId="Equation.DSMT4">
                  <p:embed/>
                  <p:pic>
                    <p:nvPicPr>
                      <p:cNvPr id="26" name="Object 25" descr="L left parenthesis R comma Y right parenthesis,">
                        <a:extLst>
                          <a:ext uri="{FF2B5EF4-FFF2-40B4-BE49-F238E27FC236}">
                            <a16:creationId xmlns:a16="http://schemas.microsoft.com/office/drawing/2014/main" id="{6781A2A3-A5EC-4F29-9C22-FB131086B653}"/>
                          </a:ext>
                        </a:extLst>
                      </p:cNvPr>
                      <p:cNvPicPr/>
                      <p:nvPr/>
                    </p:nvPicPr>
                    <p:blipFill>
                      <a:blip r:embed="rId9"/>
                      <a:stretch>
                        <a:fillRect/>
                      </a:stretch>
                    </p:blipFill>
                    <p:spPr>
                      <a:xfrm>
                        <a:off x="3584576" y="5237862"/>
                        <a:ext cx="863598" cy="392545"/>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83212311-8D8B-4ED5-ACCD-745F59377E6A}"/>
              </a:ext>
            </a:extLst>
          </p:cNvPr>
          <p:cNvSpPr>
            <a:spLocks noGrp="1"/>
          </p:cNvSpPr>
          <p:nvPr>
            <p:ph sz="quarter" idx="20"/>
          </p:nvPr>
        </p:nvSpPr>
        <p:spPr>
          <a:xfrm>
            <a:off x="4528683" y="5212337"/>
            <a:ext cx="2492600" cy="465137"/>
          </a:xfrm>
        </p:spPr>
        <p:txBody>
          <a:bodyPr lIns="0" tIns="0" rIns="0" bIns="0"/>
          <a:lstStyle/>
          <a:p>
            <a:pPr marL="0" lvl="1" indent="0">
              <a:buNone/>
            </a:pPr>
            <a:r>
              <a:rPr lang="en-US" altLang="en-US" sz="2200" dirty="0">
                <a:latin typeface="+mn-lt"/>
              </a:rPr>
              <a:t>does not change.</a:t>
            </a:r>
            <a:endParaRPr lang="en-IN" sz="2200" dirty="0"/>
          </a:p>
        </p:txBody>
      </p:sp>
    </p:spTree>
    <p:extLst>
      <p:ext uri="{BB962C8B-B14F-4D97-AF65-F5344CB8AC3E}">
        <p14:creationId xmlns:p14="http://schemas.microsoft.com/office/powerpoint/2010/main" val="3680237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Long Run and Short Run </a:t>
            </a:r>
            <a:r>
              <a:rPr lang="en-US" altLang="en-US" sz="2000" b="0" dirty="0"/>
              <a:t>(3 of 3)</a:t>
            </a:r>
            <a:endParaRPr lang="en-US" sz="20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864000"/>
          </a:xfrm>
        </p:spPr>
        <p:txBody>
          <a:bodyPr/>
          <a:lstStyle/>
          <a:p>
            <a:pPr eaLnBrk="1" hangingPunct="1"/>
            <a:r>
              <a:rPr lang="en-US" altLang="en-US" dirty="0">
                <a:latin typeface="Arial (Body)"/>
              </a:rPr>
              <a:t>In the long run, there is a direct relationship between the inflation rate and changes in the money supply.</a:t>
            </a:r>
          </a:p>
        </p:txBody>
      </p:sp>
      <p:graphicFrame>
        <p:nvGraphicFramePr>
          <p:cNvPr id="5" name="Object 4" descr="M super s = P times L left parenthesis R comma Y right parenthesis ">
            <a:extLst>
              <a:ext uri="{FF2B5EF4-FFF2-40B4-BE49-F238E27FC236}">
                <a16:creationId xmlns:a16="http://schemas.microsoft.com/office/drawing/2014/main" id="{E81C0504-6C26-4EE7-A600-4E29FF023823}"/>
              </a:ext>
            </a:extLst>
          </p:cNvPr>
          <p:cNvGraphicFramePr>
            <a:graphicFrameLocks noChangeAspect="1"/>
          </p:cNvGraphicFramePr>
          <p:nvPr>
            <p:extLst>
              <p:ext uri="{D42A27DB-BD31-4B8C-83A1-F6EECF244321}">
                <p14:modId xmlns:p14="http://schemas.microsoft.com/office/powerpoint/2010/main" val="824667463"/>
              </p:ext>
            </p:extLst>
          </p:nvPr>
        </p:nvGraphicFramePr>
        <p:xfrm>
          <a:off x="3499195" y="2599114"/>
          <a:ext cx="2142436" cy="476645"/>
        </p:xfrm>
        <a:graphic>
          <a:graphicData uri="http://schemas.openxmlformats.org/presentationml/2006/ole">
            <mc:AlternateContent xmlns:mc="http://schemas.openxmlformats.org/markup-compatibility/2006">
              <mc:Choice xmlns:v="urn:schemas-microsoft-com:vml" Requires="v">
                <p:oleObj name="Equation" r:id="rId2" imgW="1143000" imgH="253800" progId="Equation.DSMT4">
                  <p:embed/>
                </p:oleObj>
              </mc:Choice>
              <mc:Fallback>
                <p:oleObj name="Equation" r:id="rId2" imgW="1143000" imgH="253800" progId="Equation.DSMT4">
                  <p:embed/>
                  <p:pic>
                    <p:nvPicPr>
                      <p:cNvPr id="0" name=""/>
                      <p:cNvPicPr/>
                      <p:nvPr/>
                    </p:nvPicPr>
                    <p:blipFill>
                      <a:blip r:embed="rId3"/>
                      <a:stretch>
                        <a:fillRect/>
                      </a:stretch>
                    </p:blipFill>
                    <p:spPr>
                      <a:xfrm>
                        <a:off x="3499195" y="2599114"/>
                        <a:ext cx="2142436" cy="476645"/>
                      </a:xfrm>
                      <a:prstGeom prst="rect">
                        <a:avLst/>
                      </a:prstGeom>
                    </p:spPr>
                  </p:pic>
                </p:oleObj>
              </mc:Fallback>
            </mc:AlternateContent>
          </a:graphicData>
        </a:graphic>
      </p:graphicFrame>
      <p:graphicFrame>
        <p:nvGraphicFramePr>
          <p:cNvPr id="8" name="Object 7" descr="P = start fraction M super s over L left parenthesis R comma Y right parenthesis">
            <a:extLst>
              <a:ext uri="{FF2B5EF4-FFF2-40B4-BE49-F238E27FC236}">
                <a16:creationId xmlns:a16="http://schemas.microsoft.com/office/drawing/2014/main" id="{BFA83DB2-2C7F-4FD3-8C02-AD7644D0D5AD}"/>
              </a:ext>
            </a:extLst>
          </p:cNvPr>
          <p:cNvGraphicFramePr>
            <a:graphicFrameLocks noChangeAspect="1"/>
          </p:cNvGraphicFramePr>
          <p:nvPr>
            <p:extLst>
              <p:ext uri="{D42A27DB-BD31-4B8C-83A1-F6EECF244321}">
                <p14:modId xmlns:p14="http://schemas.microsoft.com/office/powerpoint/2010/main" val="3081754660"/>
              </p:ext>
            </p:extLst>
          </p:nvPr>
        </p:nvGraphicFramePr>
        <p:xfrm>
          <a:off x="3717045" y="3262610"/>
          <a:ext cx="1709910" cy="832457"/>
        </p:xfrm>
        <a:graphic>
          <a:graphicData uri="http://schemas.openxmlformats.org/presentationml/2006/ole">
            <mc:AlternateContent xmlns:mc="http://schemas.openxmlformats.org/markup-compatibility/2006">
              <mc:Choice xmlns:v="urn:schemas-microsoft-com:vml" Requires="v">
                <p:oleObj name="Equation" r:id="rId4" imgW="965160" imgH="469800" progId="Equation.DSMT4">
                  <p:embed/>
                </p:oleObj>
              </mc:Choice>
              <mc:Fallback>
                <p:oleObj name="Equation" r:id="rId4" imgW="965160" imgH="469800" progId="Equation.DSMT4">
                  <p:embed/>
                  <p:pic>
                    <p:nvPicPr>
                      <p:cNvPr id="0" name=""/>
                      <p:cNvPicPr/>
                      <p:nvPr/>
                    </p:nvPicPr>
                    <p:blipFill>
                      <a:blip r:embed="rId5"/>
                      <a:stretch>
                        <a:fillRect/>
                      </a:stretch>
                    </p:blipFill>
                    <p:spPr>
                      <a:xfrm>
                        <a:off x="3717045" y="3262610"/>
                        <a:ext cx="1709910" cy="832457"/>
                      </a:xfrm>
                      <a:prstGeom prst="rect">
                        <a:avLst/>
                      </a:prstGeom>
                    </p:spPr>
                  </p:pic>
                </p:oleObj>
              </mc:Fallback>
            </mc:AlternateContent>
          </a:graphicData>
        </a:graphic>
      </p:graphicFrame>
      <p:graphicFrame>
        <p:nvGraphicFramePr>
          <p:cNvPr id="9" name="Object 8" descr="Start fraction delta P over P end fraction = start fraction delta M super s over M super S end fraction = start fraction delta L over L end fraction">
            <a:extLst>
              <a:ext uri="{FF2B5EF4-FFF2-40B4-BE49-F238E27FC236}">
                <a16:creationId xmlns:a16="http://schemas.microsoft.com/office/drawing/2014/main" id="{CDAE9684-8832-4DC7-A171-9272A7CFB213}"/>
              </a:ext>
            </a:extLst>
          </p:cNvPr>
          <p:cNvGraphicFramePr>
            <a:graphicFrameLocks noChangeAspect="1"/>
          </p:cNvGraphicFramePr>
          <p:nvPr>
            <p:extLst>
              <p:ext uri="{D42A27DB-BD31-4B8C-83A1-F6EECF244321}">
                <p14:modId xmlns:p14="http://schemas.microsoft.com/office/powerpoint/2010/main" val="3470259131"/>
              </p:ext>
            </p:extLst>
          </p:nvPr>
        </p:nvGraphicFramePr>
        <p:xfrm>
          <a:off x="3542002" y="4272242"/>
          <a:ext cx="2002395" cy="742460"/>
        </p:xfrm>
        <a:graphic>
          <a:graphicData uri="http://schemas.openxmlformats.org/presentationml/2006/ole">
            <mc:AlternateContent xmlns:mc="http://schemas.openxmlformats.org/markup-compatibility/2006">
              <mc:Choice xmlns:v="urn:schemas-microsoft-com:vml" Requires="v">
                <p:oleObj name="Equation" r:id="rId6" imgW="1130040" imgH="419040" progId="Equation.DSMT4">
                  <p:embed/>
                </p:oleObj>
              </mc:Choice>
              <mc:Fallback>
                <p:oleObj name="Equation" r:id="rId6" imgW="1130040" imgH="419040" progId="Equation.DSMT4">
                  <p:embed/>
                  <p:pic>
                    <p:nvPicPr>
                      <p:cNvPr id="0" name=""/>
                      <p:cNvPicPr/>
                      <p:nvPr/>
                    </p:nvPicPr>
                    <p:blipFill>
                      <a:blip r:embed="rId7"/>
                      <a:stretch>
                        <a:fillRect/>
                      </a:stretch>
                    </p:blipFill>
                    <p:spPr>
                      <a:xfrm>
                        <a:off x="3542002" y="4272242"/>
                        <a:ext cx="2002395" cy="74246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0FE2C436-CEE5-41BC-A9C5-4CD943FD285D}"/>
              </a:ext>
            </a:extLst>
          </p:cNvPr>
          <p:cNvSpPr>
            <a:spLocks noGrp="1"/>
          </p:cNvSpPr>
          <p:nvPr>
            <p:ph sz="quarter" idx="14"/>
          </p:nvPr>
        </p:nvSpPr>
        <p:spPr>
          <a:xfrm>
            <a:off x="457200" y="5230146"/>
            <a:ext cx="8172000" cy="1116000"/>
          </a:xfrm>
        </p:spPr>
        <p:txBody>
          <a:bodyPr tIns="0"/>
          <a:lstStyle/>
          <a:p>
            <a:pPr marL="741600" indent="-284400">
              <a:spcBef>
                <a:spcPts val="600"/>
              </a:spcBef>
              <a:buFontTx/>
              <a:buChar char="–"/>
            </a:pPr>
            <a:r>
              <a:rPr lang="en-US" altLang="en-US" dirty="0">
                <a:latin typeface="Arial (Body)"/>
              </a:rPr>
              <a:t>The inflation rate is predicted to equal the growth rate in money supply minus the growth rate in money demand.</a:t>
            </a:r>
          </a:p>
        </p:txBody>
      </p:sp>
    </p:spTree>
    <p:extLst>
      <p:ext uri="{BB962C8B-B14F-4D97-AF65-F5344CB8AC3E}">
        <p14:creationId xmlns:p14="http://schemas.microsoft.com/office/powerpoint/2010/main" val="1834265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Empirical Evidence on Money Supplies and Price Levels </a:t>
            </a:r>
            <a:r>
              <a:rPr lang="en-US" altLang="en-US" sz="1800" b="0" dirty="0"/>
              <a:t>(1 of 2)</a:t>
            </a:r>
            <a:endParaRPr lang="en-US" sz="20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5"/>
            <a:ext cx="8229600" cy="4780307"/>
          </a:xfrm>
        </p:spPr>
        <p:txBody>
          <a:bodyPr/>
          <a:lstStyle/>
          <a:p>
            <a:pPr eaLnBrk="1" hangingPunct="1"/>
            <a:r>
              <a:rPr lang="en-US" altLang="en-US" sz="2400" dirty="0">
                <a:latin typeface="Arial (Body)"/>
              </a:rPr>
              <a:t>Expect positive association between money supplies and price levels in the data, although the relation will not be exact.</a:t>
            </a:r>
          </a:p>
          <a:p>
            <a:pPr eaLnBrk="1" hangingPunct="1"/>
            <a:r>
              <a:rPr lang="en-US" altLang="en-US" sz="2400" dirty="0">
                <a:latin typeface="Arial (Body)"/>
              </a:rPr>
              <a:t>Figure 15-10 shows that, on average, years with higher money growth also tended to be years with higher inflation.</a:t>
            </a:r>
          </a:p>
          <a:p>
            <a:pPr lvl="1"/>
            <a:r>
              <a:rPr lang="en-US" altLang="en-US" sz="2400" dirty="0">
                <a:latin typeface="Arial (Body)"/>
              </a:rPr>
              <a:t>Money supplies and price levels appear to increase in proportion.</a:t>
            </a:r>
          </a:p>
          <a:p>
            <a:pPr lvl="1"/>
            <a:r>
              <a:rPr lang="en-US" altLang="en-US" sz="2400" dirty="0">
                <a:latin typeface="Arial (Body)"/>
              </a:rPr>
              <a:t>Data confirm the strong long-run link between national money supplies and national price levels predicted by economic theory. </a:t>
            </a:r>
          </a:p>
        </p:txBody>
      </p:sp>
    </p:spTree>
    <p:extLst>
      <p:ext uri="{BB962C8B-B14F-4D97-AF65-F5344CB8AC3E}">
        <p14:creationId xmlns:p14="http://schemas.microsoft.com/office/powerpoint/2010/main" val="1915441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a:xfrm>
            <a:off x="457200" y="110532"/>
            <a:ext cx="8229600" cy="1202118"/>
          </a:xfrm>
        </p:spPr>
        <p:txBody>
          <a:bodyPr anchor="ctr"/>
          <a:lstStyle/>
          <a:p>
            <a:r>
              <a:rPr lang="en-US" altLang="en-US" sz="2400" dirty="0"/>
              <a:t>Figure 15.10 Average Money Growth and Inflation in Western Hemisphere Developing Countries, by Year, 1987–2014</a:t>
            </a:r>
            <a:endParaRPr lang="en-US" sz="2400" dirty="0"/>
          </a:p>
        </p:txBody>
      </p:sp>
      <p:pic>
        <p:nvPicPr>
          <p:cNvPr id="7" name="Content Placeholder 6" descr="In the western hemisphere for the years 1980 to 2014, a scatter diagram of money growth and inflation plots the percentage increase in the price level versus the percentage increase in the money supply. For long description in Notes pane, press F6.">
            <a:extLst>
              <a:ext uri="{FF2B5EF4-FFF2-40B4-BE49-F238E27FC236}">
                <a16:creationId xmlns:a16="http://schemas.microsoft.com/office/drawing/2014/main" id="{FEDABE70-5591-43A5-8300-9B81EEF3D98B}"/>
              </a:ext>
            </a:extLst>
          </p:cNvPr>
          <p:cNvPicPr>
            <a:picLocks noGrp="1" noChangeAspect="1"/>
          </p:cNvPicPr>
          <p:nvPr>
            <p:ph sz="quarter" idx="13"/>
          </p:nvPr>
        </p:nvPicPr>
        <p:blipFill>
          <a:blip r:embed="rId3"/>
          <a:stretch>
            <a:fillRect/>
          </a:stretch>
        </p:blipFill>
        <p:spPr>
          <a:xfrm>
            <a:off x="2870649" y="1523376"/>
            <a:ext cx="3402702" cy="3456228"/>
          </a:xfrm>
        </p:spPr>
      </p:pic>
      <p:sp>
        <p:nvSpPr>
          <p:cNvPr id="5" name="Content Placeholder 4">
            <a:extLst>
              <a:ext uri="{FF2B5EF4-FFF2-40B4-BE49-F238E27FC236}">
                <a16:creationId xmlns:a16="http://schemas.microsoft.com/office/drawing/2014/main" id="{8A918549-C06A-42F9-A94E-3CFE38B787D2}"/>
              </a:ext>
            </a:extLst>
          </p:cNvPr>
          <p:cNvSpPr>
            <a:spLocks noGrp="1"/>
          </p:cNvSpPr>
          <p:nvPr>
            <p:ph sz="quarter" idx="14"/>
          </p:nvPr>
        </p:nvSpPr>
        <p:spPr>
          <a:xfrm>
            <a:off x="457200" y="5209468"/>
            <a:ext cx="8229600" cy="1097280"/>
          </a:xfrm>
        </p:spPr>
        <p:txBody>
          <a:bodyPr tIns="0"/>
          <a:lstStyle/>
          <a:p>
            <a:pPr marL="0" indent="0">
              <a:buNone/>
            </a:pPr>
            <a:r>
              <a:rPr lang="en-US" sz="1600" dirty="0">
                <a:latin typeface="Arial (Body)"/>
              </a:rPr>
              <a:t>Even year by year, there is a strong positive relation between average Latin American money supply growth and inflation. (Both axes have logarithmic scales.)</a:t>
            </a:r>
          </a:p>
          <a:p>
            <a:pPr marL="0" indent="0">
              <a:spcBef>
                <a:spcPts val="600"/>
              </a:spcBef>
              <a:buNone/>
            </a:pPr>
            <a:r>
              <a:rPr lang="en-US" sz="1600" b="1" dirty="0">
                <a:latin typeface="Arial (Body)"/>
              </a:rPr>
              <a:t>Source: </a:t>
            </a:r>
            <a:r>
              <a:rPr lang="en-US" sz="1600" dirty="0">
                <a:latin typeface="Arial (Body)"/>
              </a:rPr>
              <a:t>World Bank development indicators database and own calculations. Regional aggregates are weighted by shares of dollar G</a:t>
            </a:r>
            <a:r>
              <a:rPr lang="en-US" sz="100" dirty="0">
                <a:latin typeface="Arial (Body)"/>
              </a:rPr>
              <a:t> </a:t>
            </a:r>
            <a:r>
              <a:rPr lang="en-US" sz="1600" dirty="0">
                <a:latin typeface="Arial (Body)"/>
              </a:rPr>
              <a:t>D</a:t>
            </a:r>
            <a:r>
              <a:rPr lang="en-US" sz="100" dirty="0">
                <a:latin typeface="Arial (Body)"/>
              </a:rPr>
              <a:t> </a:t>
            </a:r>
            <a:r>
              <a:rPr lang="en-US" sz="1600" dirty="0">
                <a:latin typeface="Arial (Body)"/>
              </a:rPr>
              <a:t>P in total regional dollar G</a:t>
            </a:r>
            <a:r>
              <a:rPr lang="en-US" sz="100" dirty="0">
                <a:latin typeface="Arial (Body)"/>
              </a:rPr>
              <a:t> </a:t>
            </a:r>
            <a:r>
              <a:rPr lang="en-US" sz="1600" dirty="0">
                <a:latin typeface="Arial (Body)"/>
              </a:rPr>
              <a:t>D</a:t>
            </a:r>
            <a:r>
              <a:rPr lang="en-US" sz="100" dirty="0">
                <a:latin typeface="Arial (Body)"/>
              </a:rPr>
              <a:t> </a:t>
            </a:r>
            <a:r>
              <a:rPr lang="en-US" sz="1600" dirty="0">
                <a:latin typeface="Arial (Body)"/>
              </a:rPr>
              <a:t>P.</a:t>
            </a:r>
          </a:p>
        </p:txBody>
      </p:sp>
    </p:spTree>
    <p:extLst>
      <p:ext uri="{BB962C8B-B14F-4D97-AF65-F5344CB8AC3E}">
        <p14:creationId xmlns:p14="http://schemas.microsoft.com/office/powerpoint/2010/main" val="3715408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Empirical Evidence on Money Supplies and Price Levels </a:t>
            </a:r>
            <a:r>
              <a:rPr lang="en-US" altLang="en-US" sz="1800" b="0" dirty="0"/>
              <a:t>(2 of 2)</a:t>
            </a:r>
            <a:endParaRPr lang="en-US" sz="2000" dirty="0"/>
          </a:p>
        </p:txBody>
      </p:sp>
      <p:sp>
        <p:nvSpPr>
          <p:cNvPr id="9" name="Content Placeholder 8">
            <a:extLst>
              <a:ext uri="{FF2B5EF4-FFF2-40B4-BE49-F238E27FC236}">
                <a16:creationId xmlns:a16="http://schemas.microsoft.com/office/drawing/2014/main" id="{3F46220A-9C87-407E-9C14-7F29BD64A5BA}"/>
              </a:ext>
            </a:extLst>
          </p:cNvPr>
          <p:cNvSpPr>
            <a:spLocks noGrp="1"/>
          </p:cNvSpPr>
          <p:nvPr>
            <p:ph sz="quarter" idx="13"/>
          </p:nvPr>
        </p:nvSpPr>
        <p:spPr>
          <a:xfrm>
            <a:off x="457200" y="1556326"/>
            <a:ext cx="8229600" cy="3015673"/>
          </a:xfrm>
        </p:spPr>
        <p:txBody>
          <a:bodyPr/>
          <a:lstStyle/>
          <a:p>
            <a:r>
              <a:rPr lang="en-US" dirty="0">
                <a:latin typeface="Arial (Body)"/>
              </a:rPr>
              <a:t>Venezuela experienced exceptionally high levels of money supply growth and inflation in the later 2010s, as depicted in Figure 15-11.</a:t>
            </a:r>
          </a:p>
          <a:p>
            <a:r>
              <a:rPr lang="en-US" dirty="0">
                <a:latin typeface="Arial (Body)"/>
              </a:rPr>
              <a:t>Zimbabwe 2007–2009 is another case of recent </a:t>
            </a:r>
            <a:r>
              <a:rPr lang="en-US" b="1" dirty="0">
                <a:latin typeface="Arial (Body)"/>
              </a:rPr>
              <a:t>hyperinflation</a:t>
            </a:r>
            <a:r>
              <a:rPr lang="en-US" dirty="0">
                <a:latin typeface="Arial (Body)"/>
              </a:rPr>
              <a:t>, explosive and seemingly uncontrollable inflation in which money loses value rapidly and may even go out of use.</a:t>
            </a:r>
          </a:p>
        </p:txBody>
      </p:sp>
    </p:spTree>
    <p:extLst>
      <p:ext uri="{BB962C8B-B14F-4D97-AF65-F5344CB8AC3E}">
        <p14:creationId xmlns:p14="http://schemas.microsoft.com/office/powerpoint/2010/main" val="1415610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Monthly Inflation in Zimbabwe 2007–2008</a:t>
            </a:r>
            <a:endParaRPr lang="en-US" sz="2000" dirty="0"/>
          </a:p>
        </p:txBody>
      </p:sp>
      <p:pic>
        <p:nvPicPr>
          <p:cNvPr id="7" name="Content Placeholder 6" descr="The bar graph of the monthly inflation in Zimbabwe plots inflation in percent per month versus months, January 2007 to July 2008. For long description in Notes pane, press F6.">
            <a:extLst>
              <a:ext uri="{FF2B5EF4-FFF2-40B4-BE49-F238E27FC236}">
                <a16:creationId xmlns:a16="http://schemas.microsoft.com/office/drawing/2014/main" id="{375B9FDB-0B07-4B34-908F-0A1BA42D07E6}"/>
              </a:ext>
            </a:extLst>
          </p:cNvPr>
          <p:cNvPicPr>
            <a:picLocks noGrp="1" noChangeAspect="1"/>
          </p:cNvPicPr>
          <p:nvPr>
            <p:ph sz="quarter" idx="13"/>
          </p:nvPr>
        </p:nvPicPr>
        <p:blipFill>
          <a:blip r:embed="rId3"/>
          <a:stretch>
            <a:fillRect/>
          </a:stretch>
        </p:blipFill>
        <p:spPr>
          <a:xfrm>
            <a:off x="1756531" y="1538559"/>
            <a:ext cx="5630937" cy="4099632"/>
          </a:xfrm>
        </p:spPr>
      </p:pic>
      <p:sp>
        <p:nvSpPr>
          <p:cNvPr id="5" name="Content Placeholder 4">
            <a:extLst>
              <a:ext uri="{FF2B5EF4-FFF2-40B4-BE49-F238E27FC236}">
                <a16:creationId xmlns:a16="http://schemas.microsoft.com/office/drawing/2014/main" id="{C19B8D4D-5C52-42B7-B78A-AC9BE3306A0B}"/>
              </a:ext>
            </a:extLst>
          </p:cNvPr>
          <p:cNvSpPr>
            <a:spLocks noGrp="1"/>
          </p:cNvSpPr>
          <p:nvPr>
            <p:ph sz="quarter" idx="14"/>
          </p:nvPr>
        </p:nvSpPr>
        <p:spPr>
          <a:xfrm>
            <a:off x="457200" y="5863967"/>
            <a:ext cx="8229600" cy="423612"/>
          </a:xfrm>
        </p:spPr>
        <p:txBody>
          <a:bodyPr/>
          <a:lstStyle/>
          <a:p>
            <a:pPr marL="432" indent="0">
              <a:buNone/>
            </a:pPr>
            <a:r>
              <a:rPr lang="en-US" sz="2000" b="1" dirty="0">
                <a:latin typeface="Arial (Body)"/>
              </a:rPr>
              <a:t>Source: </a:t>
            </a:r>
            <a:r>
              <a:rPr lang="en-US" sz="2000" dirty="0">
                <a:latin typeface="Arial (Body)"/>
              </a:rPr>
              <a:t>Reserve Bank of Zimbabwe..</a:t>
            </a:r>
          </a:p>
        </p:txBody>
      </p:sp>
    </p:spTree>
    <p:extLst>
      <p:ext uri="{BB962C8B-B14F-4D97-AF65-F5344CB8AC3E}">
        <p14:creationId xmlns:p14="http://schemas.microsoft.com/office/powerpoint/2010/main" val="2973867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400" dirty="0"/>
              <a:t>Money and Prices in the Long Run </a:t>
            </a:r>
            <a:r>
              <a:rPr lang="en-US" altLang="en-US" sz="2000" b="0" dirty="0"/>
              <a:t>(1 of 2) </a:t>
            </a:r>
            <a:endParaRPr lang="en-US" sz="2000" dirty="0"/>
          </a:p>
        </p:txBody>
      </p:sp>
      <p:sp>
        <p:nvSpPr>
          <p:cNvPr id="9" name="Content Placeholder 8">
            <a:extLst>
              <a:ext uri="{FF2B5EF4-FFF2-40B4-BE49-F238E27FC236}">
                <a16:creationId xmlns:a16="http://schemas.microsoft.com/office/drawing/2014/main" id="{3F46220A-9C87-407E-9C14-7F29BD64A5BA}"/>
              </a:ext>
            </a:extLst>
          </p:cNvPr>
          <p:cNvSpPr>
            <a:spLocks noGrp="1"/>
          </p:cNvSpPr>
          <p:nvPr>
            <p:ph sz="quarter" idx="13"/>
          </p:nvPr>
        </p:nvSpPr>
        <p:spPr>
          <a:xfrm>
            <a:off x="457200" y="1556326"/>
            <a:ext cx="8229600" cy="743529"/>
          </a:xfrm>
        </p:spPr>
        <p:txBody>
          <a:bodyPr/>
          <a:lstStyle/>
          <a:p>
            <a:r>
              <a:rPr lang="en-US" altLang="en-US" sz="2000" dirty="0">
                <a:latin typeface="Arial (Body)"/>
              </a:rPr>
              <a:t>How does a change in the money supply cause prices of output and inputs to change?</a:t>
            </a:r>
          </a:p>
        </p:txBody>
      </p:sp>
      <p:sp>
        <p:nvSpPr>
          <p:cNvPr id="3" name="Content Placeholder 2">
            <a:extLst>
              <a:ext uri="{FF2B5EF4-FFF2-40B4-BE49-F238E27FC236}">
                <a16:creationId xmlns:a16="http://schemas.microsoft.com/office/drawing/2014/main" id="{10DEBD20-E365-4AE6-AF4C-C59BD67DBD0E}"/>
              </a:ext>
            </a:extLst>
          </p:cNvPr>
          <p:cNvSpPr>
            <a:spLocks noGrp="1"/>
          </p:cNvSpPr>
          <p:nvPr>
            <p:ph sz="quarter" idx="14"/>
          </p:nvPr>
        </p:nvSpPr>
        <p:spPr>
          <a:xfrm>
            <a:off x="457200" y="2454443"/>
            <a:ext cx="8229600" cy="936000"/>
          </a:xfrm>
        </p:spPr>
        <p:txBody>
          <a:bodyPr tIns="0"/>
          <a:lstStyle/>
          <a:p>
            <a:pPr marL="432000" indent="-432000">
              <a:buFont typeface="+mj-lt"/>
              <a:buAutoNum type="arabicPeriod"/>
            </a:pPr>
            <a:r>
              <a:rPr lang="en-US" altLang="en-US" sz="2000" b="1" dirty="0">
                <a:latin typeface="Arial (Body)"/>
              </a:rPr>
              <a:t>Excess demand of goods and services</a:t>
            </a:r>
            <a:r>
              <a:rPr lang="en-US" altLang="en-US" sz="2000" dirty="0">
                <a:latin typeface="Arial (Body)"/>
              </a:rPr>
              <a:t>: a higher quantity of money supplied implies that people have more funds available to pay for goods and services.</a:t>
            </a:r>
          </a:p>
        </p:txBody>
      </p:sp>
      <p:sp>
        <p:nvSpPr>
          <p:cNvPr id="4" name="Content Placeholder 3">
            <a:extLst>
              <a:ext uri="{FF2B5EF4-FFF2-40B4-BE49-F238E27FC236}">
                <a16:creationId xmlns:a16="http://schemas.microsoft.com/office/drawing/2014/main" id="{DB873F21-EC5B-49E5-A5B1-641D3B926B7D}"/>
              </a:ext>
            </a:extLst>
          </p:cNvPr>
          <p:cNvSpPr>
            <a:spLocks noGrp="1"/>
          </p:cNvSpPr>
          <p:nvPr>
            <p:ph sz="quarter" idx="15"/>
          </p:nvPr>
        </p:nvSpPr>
        <p:spPr>
          <a:xfrm>
            <a:off x="457200" y="3529626"/>
            <a:ext cx="8229600" cy="2340000"/>
          </a:xfrm>
        </p:spPr>
        <p:txBody>
          <a:bodyPr tIns="0"/>
          <a:lstStyle/>
          <a:p>
            <a:pPr marL="740664" lvl="1" indent="-283464" eaLnBrk="1" hangingPunct="1"/>
            <a:r>
              <a:rPr lang="en-US" altLang="en-US" sz="2000" dirty="0">
                <a:latin typeface="Arial (Body)"/>
              </a:rPr>
              <a:t>To meet high demand, producers hire more workers, creating a strong demand of labor services, or make existing employees work harder. </a:t>
            </a:r>
          </a:p>
          <a:p>
            <a:pPr marL="740664" lvl="1" indent="-283464" eaLnBrk="1" hangingPunct="1"/>
            <a:r>
              <a:rPr lang="en-US" altLang="en-US" sz="2000" dirty="0">
                <a:latin typeface="Arial (Body)"/>
              </a:rPr>
              <a:t>Wages rise to attract more workers or to compensate workers for overtime.</a:t>
            </a:r>
          </a:p>
          <a:p>
            <a:pPr marL="740664" lvl="1" indent="-283464" eaLnBrk="1" hangingPunct="1"/>
            <a:r>
              <a:rPr lang="en-US" altLang="en-US" sz="2000" dirty="0">
                <a:latin typeface="Arial (Body)"/>
              </a:rPr>
              <a:t>Prices of output will eventually rise to compensate for higher costs.</a:t>
            </a:r>
            <a:endParaRPr lang="en-US" sz="2000" dirty="0"/>
          </a:p>
        </p:txBody>
      </p:sp>
    </p:spTree>
    <p:extLst>
      <p:ext uri="{BB962C8B-B14F-4D97-AF65-F5344CB8AC3E}">
        <p14:creationId xmlns:p14="http://schemas.microsoft.com/office/powerpoint/2010/main" val="1720096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400" dirty="0"/>
              <a:t>Money and Prices in the Long Run </a:t>
            </a:r>
            <a:r>
              <a:rPr lang="en-US" altLang="en-US" sz="2000" b="0" dirty="0"/>
              <a:t>(2 of 2) </a:t>
            </a:r>
            <a:endParaRPr lang="en-US" sz="2000" dirty="0"/>
          </a:p>
        </p:txBody>
      </p:sp>
      <p:sp>
        <p:nvSpPr>
          <p:cNvPr id="9" name="Content Placeholder 8">
            <a:extLst>
              <a:ext uri="{FF2B5EF4-FFF2-40B4-BE49-F238E27FC236}">
                <a16:creationId xmlns:a16="http://schemas.microsoft.com/office/drawing/2014/main" id="{3F46220A-9C87-407E-9C14-7F29BD64A5BA}"/>
              </a:ext>
            </a:extLst>
          </p:cNvPr>
          <p:cNvSpPr>
            <a:spLocks noGrp="1"/>
          </p:cNvSpPr>
          <p:nvPr>
            <p:ph sz="quarter" idx="13"/>
          </p:nvPr>
        </p:nvSpPr>
        <p:spPr>
          <a:xfrm>
            <a:off x="457200" y="1556323"/>
            <a:ext cx="8229600" cy="1146684"/>
          </a:xfrm>
        </p:spPr>
        <p:txBody>
          <a:bodyPr/>
          <a:lstStyle/>
          <a:p>
            <a:pPr marL="740664" lvl="1" indent="-283464" eaLnBrk="1" hangingPunct="1"/>
            <a:r>
              <a:rPr lang="en-US" altLang="en-US" sz="2000" dirty="0">
                <a:latin typeface="Arial (Body)"/>
              </a:rPr>
              <a:t>Alternatively, for a fixed amount of output and inputs, producers can charge higher prices and still sell all of their output due to the high demand.</a:t>
            </a:r>
            <a:endParaRPr lang="en-US" altLang="en-US" sz="2000" b="1" dirty="0">
              <a:latin typeface="Arial (Body)"/>
            </a:endParaRPr>
          </a:p>
        </p:txBody>
      </p:sp>
      <p:sp>
        <p:nvSpPr>
          <p:cNvPr id="3" name="Content Placeholder 2">
            <a:extLst>
              <a:ext uri="{FF2B5EF4-FFF2-40B4-BE49-F238E27FC236}">
                <a16:creationId xmlns:a16="http://schemas.microsoft.com/office/drawing/2014/main" id="{10DEBD20-E365-4AE6-AF4C-C59BD67DBD0E}"/>
              </a:ext>
            </a:extLst>
          </p:cNvPr>
          <p:cNvSpPr>
            <a:spLocks noGrp="1"/>
          </p:cNvSpPr>
          <p:nvPr>
            <p:ph sz="quarter" idx="14"/>
          </p:nvPr>
        </p:nvSpPr>
        <p:spPr>
          <a:xfrm>
            <a:off x="457200" y="2805475"/>
            <a:ext cx="8229600" cy="360000"/>
          </a:xfrm>
        </p:spPr>
        <p:txBody>
          <a:bodyPr tIns="0"/>
          <a:lstStyle/>
          <a:p>
            <a:pPr marL="457200" indent="-457200" eaLnBrk="1" hangingPunct="1">
              <a:spcBef>
                <a:spcPts val="600"/>
              </a:spcBef>
              <a:buFont typeface="Times" pitchFamily="-1" charset="0"/>
              <a:buAutoNum type="arabicPeriod" startAt="2"/>
            </a:pPr>
            <a:r>
              <a:rPr lang="en-US" altLang="en-US" sz="2000" b="1" dirty="0">
                <a:latin typeface="Arial (Body)"/>
              </a:rPr>
              <a:t>Inflationary expectations</a:t>
            </a:r>
            <a:r>
              <a:rPr lang="en-US" altLang="en-US" sz="2000" dirty="0">
                <a:latin typeface="Arial (Body)"/>
              </a:rPr>
              <a:t>: </a:t>
            </a:r>
          </a:p>
        </p:txBody>
      </p:sp>
      <p:sp>
        <p:nvSpPr>
          <p:cNvPr id="4" name="Content Placeholder 3">
            <a:extLst>
              <a:ext uri="{FF2B5EF4-FFF2-40B4-BE49-F238E27FC236}">
                <a16:creationId xmlns:a16="http://schemas.microsoft.com/office/drawing/2014/main" id="{DB873F21-EC5B-49E5-A5B1-641D3B926B7D}"/>
              </a:ext>
            </a:extLst>
          </p:cNvPr>
          <p:cNvSpPr>
            <a:spLocks noGrp="1"/>
          </p:cNvSpPr>
          <p:nvPr>
            <p:ph sz="quarter" idx="15"/>
          </p:nvPr>
        </p:nvSpPr>
        <p:spPr>
          <a:xfrm>
            <a:off x="457200" y="3247922"/>
            <a:ext cx="8229600" cy="2753280"/>
          </a:xfrm>
        </p:spPr>
        <p:txBody>
          <a:bodyPr tIns="0"/>
          <a:lstStyle/>
          <a:p>
            <a:pPr marL="740664" lvl="1" indent="-283464" eaLnBrk="1" hangingPunct="1"/>
            <a:r>
              <a:rPr lang="en-US" altLang="en-US" sz="2000" dirty="0">
                <a:latin typeface="Arial (Body)"/>
              </a:rPr>
              <a:t>If workers expect future prices to rise due to an expected money supply increase, they will want to be compensated. </a:t>
            </a:r>
          </a:p>
          <a:p>
            <a:pPr marL="740664" lvl="1" indent="-283464" eaLnBrk="1" hangingPunct="1"/>
            <a:r>
              <a:rPr lang="en-US" altLang="en-US" sz="2000" dirty="0">
                <a:latin typeface="Arial (Body)"/>
              </a:rPr>
              <a:t>And if producers expect the same, they are more willing to raise wages. </a:t>
            </a:r>
          </a:p>
          <a:p>
            <a:pPr marL="740664" lvl="1" indent="-283464" eaLnBrk="1" hangingPunct="1"/>
            <a:r>
              <a:rPr lang="en-US" altLang="en-US" sz="2000" dirty="0">
                <a:latin typeface="Arial (Body)"/>
              </a:rPr>
              <a:t>Producers will be able to match higher costs if they expect to raise prices.</a:t>
            </a:r>
          </a:p>
          <a:p>
            <a:pPr marL="740664" lvl="1" indent="-283464" eaLnBrk="1" hangingPunct="1"/>
            <a:r>
              <a:rPr lang="en-US" altLang="en-US" sz="2000" dirty="0">
                <a:latin typeface="Arial (Body)"/>
              </a:rPr>
              <a:t>Result: expectations about inflation caused by an expected increase in the money supply causes actual inflation.</a:t>
            </a:r>
          </a:p>
        </p:txBody>
      </p:sp>
    </p:spTree>
    <p:extLst>
      <p:ext uri="{BB962C8B-B14F-4D97-AF65-F5344CB8AC3E}">
        <p14:creationId xmlns:p14="http://schemas.microsoft.com/office/powerpoint/2010/main" val="2339064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a:xfrm>
            <a:off x="457200" y="130629"/>
            <a:ext cx="8229600" cy="1182021"/>
          </a:xfrm>
        </p:spPr>
        <p:txBody>
          <a:bodyPr anchor="ctr"/>
          <a:lstStyle/>
          <a:p>
            <a:r>
              <a:rPr lang="en-US" altLang="en-US" sz="2400" dirty="0"/>
              <a:t>Figure 15.12 Month-to-Month Variability of the Dollar/Yen Exchange Rate and of the U.S./Japan Price Level Ratio, 1980–2019</a:t>
            </a:r>
            <a:endParaRPr lang="en-US" sz="2400" dirty="0"/>
          </a:p>
        </p:txBody>
      </p:sp>
      <p:pic>
        <p:nvPicPr>
          <p:cNvPr id="8" name="Content Placeholder 7" descr="A graph plots the dollar to yen exchange rate and U S to Japan price level. For long description in Notes pane, press F6.">
            <a:extLst>
              <a:ext uri="{FF2B5EF4-FFF2-40B4-BE49-F238E27FC236}">
                <a16:creationId xmlns:a16="http://schemas.microsoft.com/office/drawing/2014/main" id="{C7D11474-CC98-46C0-B7ED-27F40DB1C8EC}"/>
              </a:ext>
            </a:extLst>
          </p:cNvPr>
          <p:cNvPicPr>
            <a:picLocks noGrp="1" noChangeAspect="1"/>
          </p:cNvPicPr>
          <p:nvPr>
            <p:ph sz="quarter" idx="13"/>
          </p:nvPr>
        </p:nvPicPr>
        <p:blipFill>
          <a:blip r:embed="rId3"/>
          <a:stretch>
            <a:fillRect/>
          </a:stretch>
        </p:blipFill>
        <p:spPr>
          <a:xfrm>
            <a:off x="2250007" y="1567532"/>
            <a:ext cx="4643985" cy="3191767"/>
          </a:xfrm>
        </p:spPr>
      </p:pic>
      <p:sp>
        <p:nvSpPr>
          <p:cNvPr id="5" name="Content Placeholder 4">
            <a:extLst>
              <a:ext uri="{FF2B5EF4-FFF2-40B4-BE49-F238E27FC236}">
                <a16:creationId xmlns:a16="http://schemas.microsoft.com/office/drawing/2014/main" id="{C19B8D4D-5C52-42B7-B78A-AC9BE3306A0B}"/>
              </a:ext>
            </a:extLst>
          </p:cNvPr>
          <p:cNvSpPr>
            <a:spLocks noGrp="1"/>
          </p:cNvSpPr>
          <p:nvPr>
            <p:ph sz="quarter" idx="14"/>
          </p:nvPr>
        </p:nvSpPr>
        <p:spPr>
          <a:xfrm>
            <a:off x="457195" y="5001187"/>
            <a:ext cx="8312731" cy="1329273"/>
          </a:xfrm>
        </p:spPr>
        <p:txBody>
          <a:bodyPr tIns="0" rIns="0" bIns="0"/>
          <a:lstStyle/>
          <a:p>
            <a:pPr marL="0" indent="0">
              <a:spcBef>
                <a:spcPts val="1000"/>
              </a:spcBef>
              <a:buNone/>
            </a:pPr>
            <a:r>
              <a:rPr lang="en-US" sz="1800" dirty="0">
                <a:latin typeface="Arial (Body)"/>
              </a:rPr>
              <a:t>The much greater month-to-month variability of the exchange rate suggests that price levels are relatively sticky in the short run.</a:t>
            </a:r>
          </a:p>
          <a:p>
            <a:pPr marL="0" indent="0">
              <a:spcBef>
                <a:spcPts val="1000"/>
              </a:spcBef>
              <a:buNone/>
            </a:pPr>
            <a:r>
              <a:rPr lang="en-US" sz="1800" b="1" dirty="0">
                <a:latin typeface="Arial (Body)"/>
              </a:rPr>
              <a:t>Source: </a:t>
            </a:r>
            <a:r>
              <a:rPr lang="en-US" sz="1800" dirty="0">
                <a:latin typeface="Arial (Body)"/>
              </a:rPr>
              <a:t>Price levels from International Monetary Fund, </a:t>
            </a:r>
            <a:r>
              <a:rPr lang="en-US" sz="1800" b="1" dirty="0">
                <a:latin typeface="Arial (Body)"/>
              </a:rPr>
              <a:t>International Financial Statistics</a:t>
            </a:r>
            <a:r>
              <a:rPr lang="en-US" sz="1800" dirty="0">
                <a:latin typeface="Arial (Body)"/>
              </a:rPr>
              <a:t>. Exchange rate from Global Financial Data.</a:t>
            </a:r>
          </a:p>
        </p:txBody>
      </p:sp>
    </p:spTree>
    <p:extLst>
      <p:ext uri="{BB962C8B-B14F-4D97-AF65-F5344CB8AC3E}">
        <p14:creationId xmlns:p14="http://schemas.microsoft.com/office/powerpoint/2010/main" val="18002905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Money, Prices, Exchange Rates, and Expectations </a:t>
            </a:r>
            <a:endParaRPr lang="en-US" sz="3200"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7"/>
            <a:ext cx="8229600" cy="3512978"/>
          </a:xfrm>
        </p:spPr>
        <p:txBody>
          <a:bodyPr/>
          <a:lstStyle/>
          <a:p>
            <a:pPr eaLnBrk="1" hangingPunct="1"/>
            <a:r>
              <a:rPr lang="en-US" altLang="en-US" dirty="0">
                <a:latin typeface="Arial (Body)"/>
              </a:rPr>
              <a:t>When we consider price changes in the long run, inflationary expectations will have an effect in foreign exchange markets. </a:t>
            </a:r>
          </a:p>
          <a:p>
            <a:pPr eaLnBrk="1" hangingPunct="1"/>
            <a:r>
              <a:rPr lang="en-US" altLang="en-US" dirty="0">
                <a:latin typeface="Arial (Body)"/>
              </a:rPr>
              <a:t>Suppose that expectations about inflation change as people change their minds, but actual adjustment of prices occurs afterward.</a:t>
            </a:r>
            <a:endParaRPr lang="en-US" dirty="0"/>
          </a:p>
        </p:txBody>
      </p:sp>
    </p:spTree>
    <p:extLst>
      <p:ext uri="{BB962C8B-B14F-4D97-AF65-F5344CB8AC3E}">
        <p14:creationId xmlns:p14="http://schemas.microsoft.com/office/powerpoint/2010/main" val="2645226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a:xfrm>
            <a:off x="457199" y="215371"/>
            <a:ext cx="8486775" cy="1097279"/>
          </a:xfrm>
        </p:spPr>
        <p:txBody>
          <a:bodyPr/>
          <a:lstStyle/>
          <a:p>
            <a:r>
              <a:rPr lang="en-US" altLang="en-US" sz="2400" dirty="0"/>
              <a:t>Figure 15.13 Short-Run and Long-Run Effects of an Increase in the U.S. Money Supply (Given Real Output, </a:t>
            </a:r>
            <a:r>
              <a:rPr lang="en-US" altLang="en-US" sz="2400" i="1" dirty="0"/>
              <a:t>Y</a:t>
            </a:r>
            <a:r>
              <a:rPr lang="en-US" altLang="en-US" sz="2400" dirty="0"/>
              <a:t>)</a:t>
            </a:r>
            <a:endParaRPr lang="en-US" sz="2400" dirty="0"/>
          </a:p>
        </p:txBody>
      </p:sp>
      <p:pic>
        <p:nvPicPr>
          <p:cNvPr id="7" name="Content Placeholder 6" descr="Two graphs, ay and b, show the short-run effects and the adjustment to long-run equilibrium, respectively, on the graph of the U S money market and foreign exchange market. For long description in Notes pane, press F6.">
            <a:extLst>
              <a:ext uri="{FF2B5EF4-FFF2-40B4-BE49-F238E27FC236}">
                <a16:creationId xmlns:a16="http://schemas.microsoft.com/office/drawing/2014/main" id="{B15FCD44-80B9-44E4-BB5C-DFEBFD67D24F}"/>
              </a:ext>
            </a:extLst>
          </p:cNvPr>
          <p:cNvPicPr>
            <a:picLocks noGrp="1" noChangeAspect="1"/>
          </p:cNvPicPr>
          <p:nvPr>
            <p:ph sz="quarter" idx="13"/>
          </p:nvPr>
        </p:nvPicPr>
        <p:blipFill>
          <a:blip r:embed="rId3"/>
          <a:stretch>
            <a:fillRect/>
          </a:stretch>
        </p:blipFill>
        <p:spPr>
          <a:xfrm>
            <a:off x="2611753" y="1573468"/>
            <a:ext cx="3920495" cy="3388127"/>
          </a:xfrm>
        </p:spPr>
      </p:pic>
      <p:sp>
        <p:nvSpPr>
          <p:cNvPr id="5" name="Content Placeholder 4">
            <a:extLst>
              <a:ext uri="{FF2B5EF4-FFF2-40B4-BE49-F238E27FC236}">
                <a16:creationId xmlns:a16="http://schemas.microsoft.com/office/drawing/2014/main" id="{C19B8D4D-5C52-42B7-B78A-AC9BE3306A0B}"/>
              </a:ext>
            </a:extLst>
          </p:cNvPr>
          <p:cNvSpPr>
            <a:spLocks noGrp="1"/>
          </p:cNvSpPr>
          <p:nvPr>
            <p:ph sz="quarter" idx="14"/>
          </p:nvPr>
        </p:nvSpPr>
        <p:spPr>
          <a:xfrm>
            <a:off x="449170" y="5219607"/>
            <a:ext cx="8237625" cy="1033110"/>
          </a:xfrm>
        </p:spPr>
        <p:txBody>
          <a:bodyPr/>
          <a:lstStyle/>
          <a:p>
            <a:pPr marL="0" indent="0">
              <a:buNone/>
            </a:pPr>
            <a:r>
              <a:rPr lang="en-US" sz="2000" dirty="0">
                <a:latin typeface="Arial (Body)"/>
              </a:rPr>
              <a:t>(a) Short-run adjustment of the asset markets. (b) How the interest rate, price level, and exchange rate move over time as the economy approaches its long-run equilibrium.</a:t>
            </a:r>
          </a:p>
        </p:txBody>
      </p:sp>
    </p:spTree>
    <p:extLst>
      <p:ext uri="{BB962C8B-B14F-4D97-AF65-F5344CB8AC3E}">
        <p14:creationId xmlns:p14="http://schemas.microsoft.com/office/powerpoint/2010/main" val="2587575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Money, Prices, and Exchange Rates in the Long Run</a:t>
            </a:r>
            <a:endParaRPr lang="en-US" sz="3200"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6"/>
            <a:ext cx="8385350" cy="4281766"/>
          </a:xfrm>
        </p:spPr>
        <p:txBody>
          <a:bodyPr/>
          <a:lstStyle/>
          <a:p>
            <a:pPr eaLnBrk="1" hangingPunct="1"/>
            <a:r>
              <a:rPr lang="en-US" altLang="en-US" dirty="0">
                <a:latin typeface="Arial (Body)"/>
              </a:rPr>
              <a:t>A permanent increase in a country’</a:t>
            </a:r>
            <a:r>
              <a:rPr lang="en-US" altLang="ja-JP" dirty="0">
                <a:latin typeface="Arial (Body)"/>
              </a:rPr>
              <a:t>s money supply causes a proportional long-run depreciation of its currency.</a:t>
            </a:r>
          </a:p>
          <a:p>
            <a:pPr lvl="1" eaLnBrk="1" hangingPunct="1"/>
            <a:r>
              <a:rPr lang="en-US" altLang="en-US" dirty="0">
                <a:latin typeface="Arial (Body)"/>
              </a:rPr>
              <a:t>However, the dynamics of the model predict a large depreciation first and a smaller </a:t>
            </a:r>
            <a:r>
              <a:rPr lang="en-US" altLang="en-US" b="1" dirty="0">
                <a:latin typeface="Arial (Body)"/>
              </a:rPr>
              <a:t>subsequent appreciation.</a:t>
            </a:r>
          </a:p>
          <a:p>
            <a:pPr eaLnBrk="1" hangingPunct="1"/>
            <a:r>
              <a:rPr lang="en-US" altLang="en-US" dirty="0">
                <a:latin typeface="Arial (Body)"/>
              </a:rPr>
              <a:t>A permanent decrease in a country’</a:t>
            </a:r>
            <a:r>
              <a:rPr lang="en-US" altLang="ja-JP" dirty="0">
                <a:latin typeface="Arial (Body)"/>
              </a:rPr>
              <a:t>s money supply causes a proportional long-run appreciation of its currency.</a:t>
            </a:r>
          </a:p>
          <a:p>
            <a:pPr lvl="1" eaLnBrk="1" hangingPunct="1"/>
            <a:r>
              <a:rPr lang="en-US" altLang="en-US" dirty="0">
                <a:latin typeface="Arial (Body)"/>
              </a:rPr>
              <a:t>However, the dynamics of the model predict a large appreciation first and a smaller </a:t>
            </a:r>
            <a:r>
              <a:rPr lang="en-US" altLang="en-US" b="1" dirty="0">
                <a:latin typeface="Arial (Body)"/>
              </a:rPr>
              <a:t>subsequent depreciation</a:t>
            </a:r>
            <a:r>
              <a:rPr lang="en-US" altLang="en-US" dirty="0">
                <a:latin typeface="Arial (Body)"/>
              </a:rPr>
              <a:t>.</a:t>
            </a:r>
          </a:p>
        </p:txBody>
      </p:sp>
    </p:spTree>
    <p:extLst>
      <p:ext uri="{BB962C8B-B14F-4D97-AF65-F5344CB8AC3E}">
        <p14:creationId xmlns:p14="http://schemas.microsoft.com/office/powerpoint/2010/main" val="34570998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Graph ay plots U S money supply, M sub U S, versus time. ">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400" dirty="0"/>
              <a:t>Figure 15.14 Time Paths of U.S. Economic Variables After a Permanent Increase in the U.S. Money Supply</a:t>
            </a:r>
            <a:endParaRPr lang="en-US" sz="2400" dirty="0"/>
          </a:p>
        </p:txBody>
      </p:sp>
      <p:pic>
        <p:nvPicPr>
          <p:cNvPr id="15" name="Content Placeholder 14" descr="Graph ay plots U S money supply, M sub U S, versus time. For long description in Notes pane, press F6.">
            <a:extLst>
              <a:ext uri="{FF2B5EF4-FFF2-40B4-BE49-F238E27FC236}">
                <a16:creationId xmlns:a16="http://schemas.microsoft.com/office/drawing/2014/main" id="{2EDB747F-5089-46BB-8BA0-14AA3197E68B}"/>
              </a:ext>
            </a:extLst>
          </p:cNvPr>
          <p:cNvPicPr>
            <a:picLocks noGrp="1" noChangeAspect="1"/>
          </p:cNvPicPr>
          <p:nvPr>
            <p:ph sz="quarter" idx="13"/>
          </p:nvPr>
        </p:nvPicPr>
        <p:blipFill>
          <a:blip r:embed="rId3"/>
          <a:stretch>
            <a:fillRect/>
          </a:stretch>
        </p:blipFill>
        <p:spPr>
          <a:xfrm>
            <a:off x="2484494" y="1551460"/>
            <a:ext cx="4175012" cy="2770138"/>
          </a:xfrm>
        </p:spPr>
      </p:pic>
      <p:sp>
        <p:nvSpPr>
          <p:cNvPr id="16" name="Content Placeholder 15"/>
          <p:cNvSpPr>
            <a:spLocks noGrp="1"/>
          </p:cNvSpPr>
          <p:nvPr>
            <p:ph sz="quarter" idx="14"/>
          </p:nvPr>
        </p:nvSpPr>
        <p:spPr>
          <a:xfrm>
            <a:off x="457200" y="4440620"/>
            <a:ext cx="3811444" cy="318022"/>
          </a:xfrm>
        </p:spPr>
        <p:txBody>
          <a:bodyPr tIns="0" rIns="0"/>
          <a:lstStyle/>
          <a:p>
            <a:pPr marL="432" indent="0">
              <a:buNone/>
            </a:pPr>
            <a:r>
              <a:rPr lang="en-US" sz="1800" dirty="0">
                <a:latin typeface="Arial (Body)"/>
              </a:rPr>
              <a:t>After the money supply increases at</a:t>
            </a:r>
            <a:endParaRPr lang="en-US" sz="1800" dirty="0"/>
          </a:p>
        </p:txBody>
      </p:sp>
      <p:graphicFrame>
        <p:nvGraphicFramePr>
          <p:cNvPr id="22" name="Object 21" descr="T sub 0"/>
          <p:cNvGraphicFramePr>
            <a:graphicFrameLocks noChangeAspect="1"/>
          </p:cNvGraphicFramePr>
          <p:nvPr>
            <p:extLst>
              <p:ext uri="{D42A27DB-BD31-4B8C-83A1-F6EECF244321}">
                <p14:modId xmlns:p14="http://schemas.microsoft.com/office/powerpoint/2010/main" val="1907577792"/>
              </p:ext>
            </p:extLst>
          </p:nvPr>
        </p:nvGraphicFramePr>
        <p:xfrm>
          <a:off x="4362166" y="4437494"/>
          <a:ext cx="209853" cy="343392"/>
        </p:xfrm>
        <a:graphic>
          <a:graphicData uri="http://schemas.openxmlformats.org/presentationml/2006/ole">
            <mc:AlternateContent xmlns:mc="http://schemas.openxmlformats.org/markup-compatibility/2006">
              <mc:Choice xmlns:v="urn:schemas-microsoft-com:vml" Requires="v">
                <p:oleObj name="Equation" r:id="rId4" imgW="139680" imgH="228600" progId="Equation.DSMT4">
                  <p:embed/>
                </p:oleObj>
              </mc:Choice>
              <mc:Fallback>
                <p:oleObj name="Equation" r:id="rId4" imgW="139680" imgH="228600" progId="Equation.DSMT4">
                  <p:embed/>
                  <p:pic>
                    <p:nvPicPr>
                      <p:cNvPr id="0" name=""/>
                      <p:cNvPicPr/>
                      <p:nvPr/>
                    </p:nvPicPr>
                    <p:blipFill>
                      <a:blip r:embed="rId5"/>
                      <a:stretch>
                        <a:fillRect/>
                      </a:stretch>
                    </p:blipFill>
                    <p:spPr>
                      <a:xfrm>
                        <a:off x="4362166" y="4437494"/>
                        <a:ext cx="209853" cy="343392"/>
                      </a:xfrm>
                      <a:prstGeom prst="rect">
                        <a:avLst/>
                      </a:prstGeom>
                    </p:spPr>
                  </p:pic>
                </p:oleObj>
              </mc:Fallback>
            </mc:AlternateContent>
          </a:graphicData>
        </a:graphic>
      </p:graphicFrame>
      <p:sp>
        <p:nvSpPr>
          <p:cNvPr id="17" name="Content Placeholder 16"/>
          <p:cNvSpPr>
            <a:spLocks noGrp="1"/>
          </p:cNvSpPr>
          <p:nvPr>
            <p:ph sz="quarter" idx="15"/>
          </p:nvPr>
        </p:nvSpPr>
        <p:spPr>
          <a:xfrm>
            <a:off x="4700987" y="4432522"/>
            <a:ext cx="3915477" cy="318022"/>
          </a:xfrm>
        </p:spPr>
        <p:txBody>
          <a:bodyPr lIns="0" tIns="0" rIns="0" bIns="0"/>
          <a:lstStyle/>
          <a:p>
            <a:pPr marL="0" indent="0">
              <a:buNone/>
            </a:pPr>
            <a:r>
              <a:rPr lang="en-US" sz="1800" dirty="0">
                <a:latin typeface="Arial (Body)"/>
              </a:rPr>
              <a:t>in panel (a), the interest rate [in panel</a:t>
            </a:r>
            <a:endParaRPr lang="en-US" sz="1800" dirty="0"/>
          </a:p>
        </p:txBody>
      </p:sp>
      <p:sp>
        <p:nvSpPr>
          <p:cNvPr id="18" name="Content Placeholder 17"/>
          <p:cNvSpPr>
            <a:spLocks noGrp="1"/>
          </p:cNvSpPr>
          <p:nvPr>
            <p:ph sz="quarter" idx="16"/>
          </p:nvPr>
        </p:nvSpPr>
        <p:spPr>
          <a:xfrm>
            <a:off x="457200" y="4840280"/>
            <a:ext cx="8229600" cy="613601"/>
          </a:xfrm>
        </p:spPr>
        <p:txBody>
          <a:bodyPr lIns="0" tIns="0" rIns="0"/>
          <a:lstStyle/>
          <a:p>
            <a:pPr marL="101600" indent="0">
              <a:buNone/>
            </a:pPr>
            <a:r>
              <a:rPr lang="en-US" sz="1800" dirty="0">
                <a:latin typeface="Arial (Body)"/>
              </a:rPr>
              <a:t>(b)], price level [in panel (c)], and exchange rate [in panel (d)] move as shown toward their long-run levels. As indicated in panel (d) by the initial jump from</a:t>
            </a:r>
            <a:endParaRPr lang="en-US" sz="1800" dirty="0"/>
          </a:p>
        </p:txBody>
      </p:sp>
      <p:graphicFrame>
        <p:nvGraphicFramePr>
          <p:cNvPr id="11" name="Object 10" descr="E super 1 sub dollar per euro to E super 2 sub dollar per euro">
            <a:extLst>
              <a:ext uri="{FF2B5EF4-FFF2-40B4-BE49-F238E27FC236}">
                <a16:creationId xmlns:a16="http://schemas.microsoft.com/office/drawing/2014/main" id="{84880609-5C4E-4417-8C22-0ADD3AD10F1D}"/>
              </a:ext>
            </a:extLst>
          </p:cNvPr>
          <p:cNvGraphicFramePr>
            <a:graphicFrameLocks noChangeAspect="1"/>
          </p:cNvGraphicFramePr>
          <p:nvPr>
            <p:extLst>
              <p:ext uri="{D42A27DB-BD31-4B8C-83A1-F6EECF244321}">
                <p14:modId xmlns:p14="http://schemas.microsoft.com/office/powerpoint/2010/main" val="2186990069"/>
              </p:ext>
            </p:extLst>
          </p:nvPr>
        </p:nvGraphicFramePr>
        <p:xfrm>
          <a:off x="597583" y="5497652"/>
          <a:ext cx="1176681" cy="371959"/>
        </p:xfrm>
        <a:graphic>
          <a:graphicData uri="http://schemas.openxmlformats.org/presentationml/2006/ole">
            <mc:AlternateContent xmlns:mc="http://schemas.openxmlformats.org/markup-compatibility/2006">
              <mc:Choice xmlns:v="urn:schemas-microsoft-com:vml" Requires="v">
                <p:oleObj name="Equation" r:id="rId6" imgW="761760" imgH="241200" progId="Equation.DSMT4">
                  <p:embed/>
                </p:oleObj>
              </mc:Choice>
              <mc:Fallback>
                <p:oleObj name="Equation" r:id="rId6" imgW="761760" imgH="241200" progId="Equation.DSMT4">
                  <p:embed/>
                  <p:pic>
                    <p:nvPicPr>
                      <p:cNvPr id="11" name="Object 10" descr="Graph ay plots U S money supply, M sub U S, versus time. ">
                        <a:extLst>
                          <a:ext uri="{FF2B5EF4-FFF2-40B4-BE49-F238E27FC236}">
                            <a16:creationId xmlns:a16="http://schemas.microsoft.com/office/drawing/2014/main" id="{84880609-5C4E-4417-8C22-0ADD3AD10F1D}"/>
                          </a:ext>
                        </a:extLst>
                      </p:cNvPr>
                      <p:cNvPicPr/>
                      <p:nvPr/>
                    </p:nvPicPr>
                    <p:blipFill>
                      <a:blip r:embed="rId7"/>
                      <a:stretch>
                        <a:fillRect/>
                      </a:stretch>
                    </p:blipFill>
                    <p:spPr>
                      <a:xfrm>
                        <a:off x="597583" y="5497652"/>
                        <a:ext cx="1176681" cy="371959"/>
                      </a:xfrm>
                      <a:prstGeom prst="rect">
                        <a:avLst/>
                      </a:prstGeom>
                    </p:spPr>
                  </p:pic>
                </p:oleObj>
              </mc:Fallback>
            </mc:AlternateContent>
          </a:graphicData>
        </a:graphic>
      </p:graphicFrame>
      <p:sp>
        <p:nvSpPr>
          <p:cNvPr id="20" name="Content Placeholder 19"/>
          <p:cNvSpPr>
            <a:spLocks noGrp="1"/>
          </p:cNvSpPr>
          <p:nvPr>
            <p:ph sz="quarter" idx="18"/>
          </p:nvPr>
        </p:nvSpPr>
        <p:spPr>
          <a:xfrm>
            <a:off x="1841348" y="5533100"/>
            <a:ext cx="5463804" cy="327485"/>
          </a:xfrm>
        </p:spPr>
        <p:txBody>
          <a:bodyPr lIns="0" tIns="0" rIns="0"/>
          <a:lstStyle/>
          <a:p>
            <a:pPr marL="0" indent="0">
              <a:buNone/>
            </a:pPr>
            <a:r>
              <a:rPr lang="en-US" sz="1800" dirty="0">
                <a:latin typeface="Arial (Body)"/>
              </a:rPr>
              <a:t>the exchange rate overshoots in the short run before</a:t>
            </a:r>
            <a:endParaRPr lang="en-US" sz="1800" dirty="0"/>
          </a:p>
        </p:txBody>
      </p:sp>
      <p:sp>
        <p:nvSpPr>
          <p:cNvPr id="21" name="Content Placeholder 20"/>
          <p:cNvSpPr>
            <a:spLocks noGrp="1"/>
          </p:cNvSpPr>
          <p:nvPr>
            <p:ph sz="quarter" idx="19"/>
          </p:nvPr>
        </p:nvSpPr>
        <p:spPr>
          <a:xfrm>
            <a:off x="457200" y="5988101"/>
            <a:ext cx="3594100" cy="345096"/>
          </a:xfrm>
        </p:spPr>
        <p:txBody>
          <a:bodyPr lIns="0" tIns="0" rIns="0"/>
          <a:lstStyle/>
          <a:p>
            <a:pPr marL="101600" indent="0">
              <a:buNone/>
            </a:pPr>
            <a:r>
              <a:rPr lang="en-US" sz="1800" dirty="0">
                <a:latin typeface="Arial (Body)"/>
              </a:rPr>
              <a:t>settling down to its long-run level,</a:t>
            </a:r>
            <a:endParaRPr lang="en-US" sz="1800" dirty="0"/>
          </a:p>
        </p:txBody>
      </p:sp>
      <p:graphicFrame>
        <p:nvGraphicFramePr>
          <p:cNvPr id="13" name="Object 12" descr="E super 3 sub dollar per euro.">
            <a:extLst>
              <a:ext uri="{FF2B5EF4-FFF2-40B4-BE49-F238E27FC236}">
                <a16:creationId xmlns:a16="http://schemas.microsoft.com/office/drawing/2014/main" id="{FC66E5A7-ADEC-48D8-BF93-82AC714986BD}"/>
              </a:ext>
            </a:extLst>
          </p:cNvPr>
          <p:cNvGraphicFramePr>
            <a:graphicFrameLocks noChangeAspect="1"/>
          </p:cNvGraphicFramePr>
          <p:nvPr>
            <p:extLst>
              <p:ext uri="{D42A27DB-BD31-4B8C-83A1-F6EECF244321}">
                <p14:modId xmlns:p14="http://schemas.microsoft.com/office/powerpoint/2010/main" val="613984811"/>
              </p:ext>
            </p:extLst>
          </p:nvPr>
        </p:nvGraphicFramePr>
        <p:xfrm>
          <a:off x="4092865" y="5937861"/>
          <a:ext cx="522287" cy="377825"/>
        </p:xfrm>
        <a:graphic>
          <a:graphicData uri="http://schemas.openxmlformats.org/presentationml/2006/ole">
            <mc:AlternateContent xmlns:mc="http://schemas.openxmlformats.org/markup-compatibility/2006">
              <mc:Choice xmlns:v="urn:schemas-microsoft-com:vml" Requires="v">
                <p:oleObj name="Equation" r:id="rId8" imgW="330120" imgH="241200" progId="Equation.DSMT4">
                  <p:embed/>
                </p:oleObj>
              </mc:Choice>
              <mc:Fallback>
                <p:oleObj name="Equation" r:id="rId8" imgW="330120" imgH="241200" progId="Equation.DSMT4">
                  <p:embed/>
                  <p:pic>
                    <p:nvPicPr>
                      <p:cNvPr id="13" name="Object 12" descr="Graph ay plots U S money supply, M sub U S, versus time. ">
                        <a:extLst>
                          <a:ext uri="{FF2B5EF4-FFF2-40B4-BE49-F238E27FC236}">
                            <a16:creationId xmlns:a16="http://schemas.microsoft.com/office/drawing/2014/main" id="{FC66E5A7-ADEC-48D8-BF93-82AC714986BD}"/>
                          </a:ext>
                        </a:extLst>
                      </p:cNvPr>
                      <p:cNvPicPr/>
                      <p:nvPr/>
                    </p:nvPicPr>
                    <p:blipFill>
                      <a:blip r:embed="rId9"/>
                      <a:stretch>
                        <a:fillRect/>
                      </a:stretch>
                    </p:blipFill>
                    <p:spPr>
                      <a:xfrm>
                        <a:off x="4092865" y="5937861"/>
                        <a:ext cx="522287" cy="377825"/>
                      </a:xfrm>
                      <a:prstGeom prst="rect">
                        <a:avLst/>
                      </a:prstGeom>
                    </p:spPr>
                  </p:pic>
                </p:oleObj>
              </mc:Fallback>
            </mc:AlternateContent>
          </a:graphicData>
        </a:graphic>
      </p:graphicFrame>
    </p:spTree>
    <p:extLst>
      <p:ext uri="{BB962C8B-B14F-4D97-AF65-F5344CB8AC3E}">
        <p14:creationId xmlns:p14="http://schemas.microsoft.com/office/powerpoint/2010/main" val="497562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Exchange Rate Overshooting</a:t>
            </a:r>
            <a:endParaRPr lang="en-US"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6"/>
            <a:ext cx="8229600" cy="4068619"/>
          </a:xfrm>
        </p:spPr>
        <p:txBody>
          <a:bodyPr/>
          <a:lstStyle/>
          <a:p>
            <a:pPr eaLnBrk="1" hangingPunct="1"/>
            <a:r>
              <a:rPr lang="en-US" altLang="en-US" dirty="0">
                <a:latin typeface="Arial (Body)"/>
              </a:rPr>
              <a:t>The exchange rate is said to </a:t>
            </a:r>
            <a:r>
              <a:rPr lang="en-US" altLang="en-US" b="1" dirty="0">
                <a:latin typeface="Arial (Body)"/>
              </a:rPr>
              <a:t>overshoot</a:t>
            </a:r>
            <a:r>
              <a:rPr lang="en-US" altLang="en-US" dirty="0">
                <a:latin typeface="Arial (Body)"/>
              </a:rPr>
              <a:t> when its immediate response to a change is greater than its long-run response.</a:t>
            </a:r>
          </a:p>
          <a:p>
            <a:pPr eaLnBrk="1" hangingPunct="1"/>
            <a:r>
              <a:rPr lang="en-US" altLang="en-US" dirty="0">
                <a:latin typeface="Arial (Body)"/>
              </a:rPr>
              <a:t>Overshooting is predicted to occur when monetary policy has an immediate effect on interest rates, but not on prices and (expected) inflation.</a:t>
            </a:r>
          </a:p>
          <a:p>
            <a:pPr eaLnBrk="1" hangingPunct="1"/>
            <a:r>
              <a:rPr lang="en-US" altLang="en-US" dirty="0">
                <a:latin typeface="Arial (Body)"/>
              </a:rPr>
              <a:t>Overshooting helps explain why exchange rates are so </a:t>
            </a:r>
            <a:r>
              <a:rPr lang="en-US" altLang="en-US" b="1" dirty="0">
                <a:latin typeface="Arial (Body)"/>
              </a:rPr>
              <a:t>volatile</a:t>
            </a:r>
            <a:r>
              <a:rPr lang="en-US" altLang="en-US" dirty="0">
                <a:latin typeface="Arial (Body)"/>
              </a:rPr>
              <a:t>.</a:t>
            </a:r>
          </a:p>
        </p:txBody>
      </p:sp>
    </p:spTree>
    <p:extLst>
      <p:ext uri="{BB962C8B-B14F-4D97-AF65-F5344CB8AC3E}">
        <p14:creationId xmlns:p14="http://schemas.microsoft.com/office/powerpoint/2010/main" val="4165528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(1 of 4)</a:t>
            </a:r>
            <a:endParaRPr lang="en-US"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6"/>
            <a:ext cx="8229600" cy="2758999"/>
          </a:xfrm>
        </p:spPr>
        <p:txBody>
          <a:bodyPr/>
          <a:lstStyle/>
          <a:p>
            <a:pPr marL="432000" indent="-432000" eaLnBrk="1" hangingPunct="1">
              <a:spcBef>
                <a:spcPts val="600"/>
              </a:spcBef>
              <a:buFont typeface="Times" pitchFamily="-1" charset="0"/>
              <a:buAutoNum type="arabicPeriod"/>
            </a:pPr>
            <a:r>
              <a:rPr lang="en-US" altLang="en-US" dirty="0">
                <a:latin typeface="Arial (Body)"/>
              </a:rPr>
              <a:t>Money demand for individuals and institutions is primarily determined by interest rates and the need for liquidity, the latter of which is influenced by prices and income. </a:t>
            </a:r>
          </a:p>
          <a:p>
            <a:pPr marL="432000" indent="-432000" eaLnBrk="1" hangingPunct="1">
              <a:spcBef>
                <a:spcPts val="600"/>
              </a:spcBef>
              <a:buFont typeface="Times" pitchFamily="-1" charset="0"/>
              <a:buAutoNum type="arabicPeriod"/>
            </a:pPr>
            <a:r>
              <a:rPr lang="en-US" altLang="en-US" dirty="0">
                <a:latin typeface="Arial (Body)"/>
              </a:rPr>
              <a:t>Aggregate money demand is primarily determined by interest rates, the level of average prices, and national income.	</a:t>
            </a:r>
          </a:p>
        </p:txBody>
      </p:sp>
      <p:sp>
        <p:nvSpPr>
          <p:cNvPr id="3" name="Content Placeholder 2">
            <a:extLst>
              <a:ext uri="{FF2B5EF4-FFF2-40B4-BE49-F238E27FC236}">
                <a16:creationId xmlns:a16="http://schemas.microsoft.com/office/drawing/2014/main" id="{0CB4CE69-8911-4968-B1C9-C94A0852F896}"/>
              </a:ext>
            </a:extLst>
          </p:cNvPr>
          <p:cNvSpPr>
            <a:spLocks noGrp="1"/>
          </p:cNvSpPr>
          <p:nvPr>
            <p:ph sz="quarter" idx="14"/>
          </p:nvPr>
        </p:nvSpPr>
        <p:spPr>
          <a:xfrm>
            <a:off x="457200" y="4390478"/>
            <a:ext cx="8229600" cy="1387017"/>
          </a:xfrm>
        </p:spPr>
        <p:txBody>
          <a:bodyPr/>
          <a:lstStyle/>
          <a:p>
            <a:pPr marL="741600" lvl="1"/>
            <a:r>
              <a:rPr lang="en-US" altLang="en-US" dirty="0">
                <a:latin typeface="Arial (Body)"/>
              </a:rPr>
              <a:t>Aggregate demand of real monetary assets depends negatively on the interest rate and positively on real national income.</a:t>
            </a:r>
            <a:endParaRPr lang="en-US" dirty="0"/>
          </a:p>
        </p:txBody>
      </p:sp>
    </p:spTree>
    <p:extLst>
      <p:ext uri="{BB962C8B-B14F-4D97-AF65-F5344CB8AC3E}">
        <p14:creationId xmlns:p14="http://schemas.microsoft.com/office/powerpoint/2010/main" val="28395804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(2 of 4)</a:t>
            </a:r>
            <a:endParaRPr lang="en-US"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5"/>
            <a:ext cx="8229600" cy="2880000"/>
          </a:xfrm>
        </p:spPr>
        <p:txBody>
          <a:bodyPr/>
          <a:lstStyle/>
          <a:p>
            <a:pPr marL="432000" indent="-432000" eaLnBrk="1" hangingPunct="1">
              <a:buFont typeface="Times" pitchFamily="-1" charset="0"/>
              <a:buAutoNum type="arabicPeriod" startAt="3"/>
            </a:pPr>
            <a:r>
              <a:rPr lang="en-US" altLang="en-US" dirty="0">
                <a:latin typeface="Arial (Body)"/>
              </a:rPr>
              <a:t>When the money market is in equilibrium, there are no surpluses or shortages of monetary assets: the quantity of real monetary assets supplied matches the quantity of real monetary assets demanded.</a:t>
            </a:r>
          </a:p>
          <a:p>
            <a:pPr marL="432000" indent="-432000" eaLnBrk="1" hangingPunct="1">
              <a:buFont typeface="Times" pitchFamily="-1" charset="0"/>
              <a:buAutoNum type="arabicPeriod" startAt="4"/>
            </a:pPr>
            <a:r>
              <a:rPr lang="en-US" altLang="en-US" dirty="0">
                <a:latin typeface="Arial (Body)"/>
              </a:rPr>
              <a:t>Short-run scenario: changes in the money supply affect domestic interest rates, as well as the exchange rate. An increase in the domestic money supply</a:t>
            </a:r>
            <a:endParaRPr lang="en-US" altLang="en-US" sz="2400" dirty="0">
              <a:latin typeface="Arial (Body)"/>
            </a:endParaRPr>
          </a:p>
        </p:txBody>
      </p:sp>
      <p:sp>
        <p:nvSpPr>
          <p:cNvPr id="3" name="Content Placeholder 2">
            <a:extLst>
              <a:ext uri="{FF2B5EF4-FFF2-40B4-BE49-F238E27FC236}">
                <a16:creationId xmlns:a16="http://schemas.microsoft.com/office/drawing/2014/main" id="{0CB4CE69-8911-4968-B1C9-C94A0852F896}"/>
              </a:ext>
            </a:extLst>
          </p:cNvPr>
          <p:cNvSpPr>
            <a:spLocks noGrp="1"/>
          </p:cNvSpPr>
          <p:nvPr>
            <p:ph sz="quarter" idx="14"/>
          </p:nvPr>
        </p:nvSpPr>
        <p:spPr>
          <a:xfrm>
            <a:off x="457200" y="4488916"/>
            <a:ext cx="8244000" cy="1656000"/>
          </a:xfrm>
        </p:spPr>
        <p:txBody>
          <a:bodyPr tIns="0"/>
          <a:lstStyle/>
          <a:p>
            <a:pPr marL="741600" lvl="1" indent="-429768" eaLnBrk="1" hangingPunct="1">
              <a:buFont typeface="Times" pitchFamily="-1" charset="0"/>
              <a:buAutoNum type="arabicPeriod"/>
            </a:pPr>
            <a:r>
              <a:rPr lang="en-US" altLang="en-US" dirty="0">
                <a:latin typeface="Arial (Body)"/>
              </a:rPr>
              <a:t>lowers domestic interest rates, </a:t>
            </a:r>
          </a:p>
          <a:p>
            <a:pPr marL="741600" lvl="1" indent="-429768" eaLnBrk="1" hangingPunct="1">
              <a:buFont typeface="Times" pitchFamily="-1" charset="0"/>
              <a:buAutoNum type="arabicPeriod"/>
            </a:pPr>
            <a:r>
              <a:rPr lang="en-US" altLang="en-US" dirty="0">
                <a:latin typeface="Arial (Body)"/>
              </a:rPr>
              <a:t>thus lowering the rate of return on deposits of domestic currency, </a:t>
            </a:r>
          </a:p>
          <a:p>
            <a:pPr marL="741600" lvl="1" indent="-429768" eaLnBrk="1" hangingPunct="1">
              <a:buFont typeface="Times" pitchFamily="-1" charset="0"/>
              <a:buAutoNum type="arabicPeriod"/>
            </a:pPr>
            <a:r>
              <a:rPr lang="en-US" altLang="en-US" dirty="0">
                <a:latin typeface="Arial (Body)"/>
              </a:rPr>
              <a:t>thus causing the domestic currency to depreciate.</a:t>
            </a:r>
          </a:p>
        </p:txBody>
      </p:sp>
    </p:spTree>
    <p:extLst>
      <p:ext uri="{BB962C8B-B14F-4D97-AF65-F5344CB8AC3E}">
        <p14:creationId xmlns:p14="http://schemas.microsoft.com/office/powerpoint/2010/main" val="3634747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(3 of 4)</a:t>
            </a:r>
            <a:endParaRPr lang="en-US"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5"/>
            <a:ext cx="8229600" cy="1538567"/>
          </a:xfrm>
        </p:spPr>
        <p:txBody>
          <a:bodyPr/>
          <a:lstStyle/>
          <a:p>
            <a:pPr marL="432000" indent="-432000" eaLnBrk="1" hangingPunct="1">
              <a:buFont typeface="Times" pitchFamily="-1" charset="0"/>
              <a:buAutoNum type="arabicPeriod" startAt="5"/>
            </a:pPr>
            <a:r>
              <a:rPr lang="en-US" altLang="en-US" sz="2200" dirty="0">
                <a:latin typeface="Arial (Body)"/>
              </a:rPr>
              <a:t>Long-run scenario: changes in the quantity of money supplied are matched by a proportional change in prices, and do not affect real income and real interest rates. An increase in the money supply</a:t>
            </a:r>
          </a:p>
        </p:txBody>
      </p:sp>
      <p:sp>
        <p:nvSpPr>
          <p:cNvPr id="3" name="Content Placeholder 2">
            <a:extLst>
              <a:ext uri="{FF2B5EF4-FFF2-40B4-BE49-F238E27FC236}">
                <a16:creationId xmlns:a16="http://schemas.microsoft.com/office/drawing/2014/main" id="{0CB4CE69-8911-4968-B1C9-C94A0852F896}"/>
              </a:ext>
            </a:extLst>
          </p:cNvPr>
          <p:cNvSpPr>
            <a:spLocks noGrp="1"/>
          </p:cNvSpPr>
          <p:nvPr>
            <p:ph sz="quarter" idx="14"/>
          </p:nvPr>
        </p:nvSpPr>
        <p:spPr>
          <a:xfrm>
            <a:off x="457200" y="3198726"/>
            <a:ext cx="8229600" cy="2836515"/>
          </a:xfrm>
        </p:spPr>
        <p:txBody>
          <a:bodyPr tIns="0"/>
          <a:lstStyle/>
          <a:p>
            <a:pPr marL="741600" lvl="1" indent="-429768">
              <a:buFontTx/>
              <a:buAutoNum type="arabicPeriod"/>
            </a:pPr>
            <a:r>
              <a:rPr lang="en-US" altLang="en-US" sz="2200" dirty="0">
                <a:latin typeface="Arial (Body)"/>
              </a:rPr>
              <a:t>causes expectations about inflation to adjust,</a:t>
            </a:r>
          </a:p>
          <a:p>
            <a:pPr marL="741600" lvl="1" indent="-429768">
              <a:buFontTx/>
              <a:buAutoNum type="arabicPeriod"/>
            </a:pPr>
            <a:r>
              <a:rPr lang="en-US" altLang="en-US" sz="2200" dirty="0">
                <a:latin typeface="Arial (Body)"/>
              </a:rPr>
              <a:t>thus causing the domestic currency to depreciate further,</a:t>
            </a:r>
          </a:p>
          <a:p>
            <a:pPr marL="741600" lvl="1" indent="-429768">
              <a:buFontTx/>
              <a:buAutoNum type="arabicPeriod"/>
            </a:pPr>
            <a:r>
              <a:rPr lang="en-US" altLang="en-US" sz="2200" dirty="0">
                <a:latin typeface="Arial (Body)"/>
              </a:rPr>
              <a:t>and causes prices to adjust proportionally in the long run,</a:t>
            </a:r>
          </a:p>
          <a:p>
            <a:pPr marL="741600" lvl="1" indent="-429768">
              <a:buFontTx/>
              <a:buAutoNum type="arabicPeriod"/>
            </a:pPr>
            <a:r>
              <a:rPr lang="en-US" altLang="en-US" sz="2200" dirty="0">
                <a:latin typeface="Arial (Body)"/>
              </a:rPr>
              <a:t>thus causing interest rates to return to their long-run values,</a:t>
            </a:r>
          </a:p>
          <a:p>
            <a:pPr marL="741600" lvl="1" indent="-429768">
              <a:buFontTx/>
              <a:buAutoNum type="arabicPeriod"/>
            </a:pPr>
            <a:r>
              <a:rPr lang="en-US" altLang="en-US" sz="2200" dirty="0">
                <a:latin typeface="Arial (Body)"/>
              </a:rPr>
              <a:t>and causes a proportional </a:t>
            </a:r>
            <a:r>
              <a:rPr lang="en-US" altLang="en-US" sz="2200" b="1" dirty="0">
                <a:latin typeface="Arial (Body)"/>
              </a:rPr>
              <a:t>long-run</a:t>
            </a:r>
            <a:r>
              <a:rPr lang="en-US" altLang="en-US" sz="2200" dirty="0">
                <a:latin typeface="Arial (Body)"/>
              </a:rPr>
              <a:t> depreciation in the domestic currency.</a:t>
            </a:r>
          </a:p>
        </p:txBody>
      </p:sp>
    </p:spTree>
    <p:extLst>
      <p:ext uri="{BB962C8B-B14F-4D97-AF65-F5344CB8AC3E}">
        <p14:creationId xmlns:p14="http://schemas.microsoft.com/office/powerpoint/2010/main" val="16829223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(4 of 4)</a:t>
            </a:r>
            <a:endParaRPr lang="en-US" dirty="0"/>
          </a:p>
        </p:txBody>
      </p:sp>
      <p:sp>
        <p:nvSpPr>
          <p:cNvPr id="4" name="Content Placeholder 3">
            <a:extLst>
              <a:ext uri="{FF2B5EF4-FFF2-40B4-BE49-F238E27FC236}">
                <a16:creationId xmlns:a16="http://schemas.microsoft.com/office/drawing/2014/main" id="{25A6AA00-9AEA-49EC-8452-40324EFEAA32}"/>
              </a:ext>
            </a:extLst>
          </p:cNvPr>
          <p:cNvSpPr>
            <a:spLocks noGrp="1"/>
          </p:cNvSpPr>
          <p:nvPr>
            <p:ph sz="quarter" idx="13"/>
          </p:nvPr>
        </p:nvSpPr>
        <p:spPr>
          <a:xfrm>
            <a:off x="457200" y="1556325"/>
            <a:ext cx="8229600" cy="1584000"/>
          </a:xfrm>
        </p:spPr>
        <p:txBody>
          <a:bodyPr/>
          <a:lstStyle/>
          <a:p>
            <a:pPr marL="432000" indent="-432000" eaLnBrk="1" hangingPunct="1">
              <a:spcBef>
                <a:spcPts val="600"/>
              </a:spcBef>
              <a:buFont typeface="+mj-lt"/>
              <a:buAutoNum type="arabicPeriod" startAt="6"/>
            </a:pPr>
            <a:r>
              <a:rPr lang="en-US" altLang="en-US" dirty="0">
                <a:latin typeface="Arial (Body)"/>
              </a:rPr>
              <a:t>Interest rates adjust immediately to changes in monetary policy, but prices and (expected) inflation may adjust only in the long run, which results in overshooting of the exchange rate.</a:t>
            </a:r>
            <a:endParaRPr lang="en-US" altLang="en-US" sz="2400" dirty="0">
              <a:latin typeface="Arial (Body)"/>
            </a:endParaRPr>
          </a:p>
        </p:txBody>
      </p:sp>
      <p:sp>
        <p:nvSpPr>
          <p:cNvPr id="3" name="Content Placeholder 2">
            <a:extLst>
              <a:ext uri="{FF2B5EF4-FFF2-40B4-BE49-F238E27FC236}">
                <a16:creationId xmlns:a16="http://schemas.microsoft.com/office/drawing/2014/main" id="{0CB4CE69-8911-4968-B1C9-C94A0852F896}"/>
              </a:ext>
            </a:extLst>
          </p:cNvPr>
          <p:cNvSpPr>
            <a:spLocks noGrp="1"/>
          </p:cNvSpPr>
          <p:nvPr>
            <p:ph sz="quarter" idx="14"/>
          </p:nvPr>
        </p:nvSpPr>
        <p:spPr>
          <a:xfrm>
            <a:off x="457200" y="3332747"/>
            <a:ext cx="8229600" cy="1968927"/>
          </a:xfrm>
        </p:spPr>
        <p:txBody>
          <a:bodyPr tIns="0"/>
          <a:lstStyle/>
          <a:p>
            <a:pPr marL="741600" lvl="1"/>
            <a:r>
              <a:rPr lang="en-US" altLang="en-US" dirty="0">
                <a:latin typeface="Arial (Body)"/>
              </a:rPr>
              <a:t>Overshooting occurs when the immediate response of the exchange rate due to a change is greater than its long-run response.</a:t>
            </a:r>
          </a:p>
          <a:p>
            <a:pPr marL="741600" lvl="1"/>
            <a:r>
              <a:rPr lang="en-US" altLang="en-US" dirty="0">
                <a:latin typeface="Arial (Body)"/>
              </a:rPr>
              <a:t>Overshooting helps explain why exchange rates are so volatile.</a:t>
            </a:r>
          </a:p>
        </p:txBody>
      </p:sp>
    </p:spTree>
    <p:extLst>
      <p:ext uri="{BB962C8B-B14F-4D97-AF65-F5344CB8AC3E}">
        <p14:creationId xmlns:p14="http://schemas.microsoft.com/office/powerpoint/2010/main" val="30849099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150144</TotalTime>
  <Words>5109</Words>
  <Application>Microsoft Office PowerPoint</Application>
  <PresentationFormat>On-screen Show (4:3)</PresentationFormat>
  <Paragraphs>253</Paragraphs>
  <Slides>48</Slides>
  <Notes>18</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48</vt:i4>
      </vt:variant>
    </vt:vector>
  </HeadingPairs>
  <TitlesOfParts>
    <vt:vector size="57" baseType="lpstr">
      <vt:lpstr>Noto Sans Symbols</vt:lpstr>
      <vt:lpstr>Arial</vt:lpstr>
      <vt:lpstr>Times New Roman</vt:lpstr>
      <vt:lpstr>Times</vt:lpstr>
      <vt:lpstr>Verdana</vt:lpstr>
      <vt:lpstr>Arial (Body)</vt:lpstr>
      <vt:lpstr>USHE</vt:lpstr>
      <vt:lpstr>USHE_slide options</vt:lpstr>
      <vt:lpstr>Equation</vt:lpstr>
      <vt:lpstr>International Economics: Theory and Policy</vt:lpstr>
      <vt:lpstr>Learning Objectives</vt:lpstr>
      <vt:lpstr>Preview</vt:lpstr>
      <vt:lpstr>What Is Money? (1 of 3)</vt:lpstr>
      <vt:lpstr>What Is Money? (2 of 3)</vt:lpstr>
      <vt:lpstr>What Is Money? (3 of 3)</vt:lpstr>
      <vt:lpstr>Money Supply</vt:lpstr>
      <vt:lpstr>Money Demand</vt:lpstr>
      <vt:lpstr>What Influences Demand of Money for Individuals and Institutions?</vt:lpstr>
      <vt:lpstr>What Influences Aggregate Demand of Money? (1 of 2)</vt:lpstr>
      <vt:lpstr>What Influences Aggregate Demand of Money? (2 of 2)</vt:lpstr>
      <vt:lpstr>A Model of Aggregate Money Demand</vt:lpstr>
      <vt:lpstr>Figure 15.1 Aggregate Real Money Demand and the Interest Rate</vt:lpstr>
      <vt:lpstr>Figure 15.2 Effect on the Aggregate Real Money Demand Schedule of a Rise in Real Income</vt:lpstr>
      <vt:lpstr>A Model of the Money Market (1 of 4)</vt:lpstr>
      <vt:lpstr>A Model of the Money Market (2 of 4)</vt:lpstr>
      <vt:lpstr>A Model of the Money Market (3 of 4)</vt:lpstr>
      <vt:lpstr>A Model of the Money Market (4 of 4)</vt:lpstr>
      <vt:lpstr>Figure 15.3 Determination of the Equilibrium Interest Rate</vt:lpstr>
      <vt:lpstr>Figure 15.4 Effect of an Increase in the Money Supply on the Interest Rate</vt:lpstr>
      <vt:lpstr>Figure 15.5 Effect on the Interest Rate of a Rise in Real Income</vt:lpstr>
      <vt:lpstr>Figure 15.6 Simultaneous Equilibrium in the U.S. Money Market and the Foreign Exchange Market</vt:lpstr>
      <vt:lpstr>Figure 15.7 Money Market/Exchange Rate Linkages</vt:lpstr>
      <vt:lpstr>Figure 15.8 Effect on the Dollar/Euro Exchange Rate and Dollar Interest Rate of an Increase in the U.S. Money Supply</vt:lpstr>
      <vt:lpstr>Changes in the Domestic Money Supply</vt:lpstr>
      <vt:lpstr>Changes in the Foreign Money Supply (1 of 2)</vt:lpstr>
      <vt:lpstr>Figure 15.9 Effect of an Increase in the European Money Supply on the Dollar/Euro Exchange Rate</vt:lpstr>
      <vt:lpstr>Changes in the Foreign Money Supply (2 of 2)</vt:lpstr>
      <vt:lpstr>Long Run and Short Run (1 of 3)</vt:lpstr>
      <vt:lpstr>Long Run and Short Run (2 of 3)</vt:lpstr>
      <vt:lpstr>Long Run and Short Run (3 of 3)</vt:lpstr>
      <vt:lpstr>Empirical Evidence on Money Supplies and Price Levels (1 of 2)</vt:lpstr>
      <vt:lpstr>Figure 15.10 Average Money Growth and Inflation in Western Hemisphere Developing Countries, by Year, 1987–2014</vt:lpstr>
      <vt:lpstr>Empirical Evidence on Money Supplies and Price Levels (2 of 2)</vt:lpstr>
      <vt:lpstr>Monthly Inflation in Zimbabwe 2007–2008</vt:lpstr>
      <vt:lpstr>Money and Prices in the Long Run (1 of 2) </vt:lpstr>
      <vt:lpstr>Money and Prices in the Long Run (2 of 2) </vt:lpstr>
      <vt:lpstr>Figure 15.12 Month-to-Month Variability of the Dollar/Yen Exchange Rate and of the U.S./Japan Price Level Ratio, 1980–2019</vt:lpstr>
      <vt:lpstr>Money, Prices, Exchange Rates, and Expectations </vt:lpstr>
      <vt:lpstr>Figure 15.13 Short-Run and Long-Run Effects of an Increase in the U.S. Money Supply (Given Real Output, Y)</vt:lpstr>
      <vt:lpstr>Money, Prices, and Exchange Rates in the Long Run</vt:lpstr>
      <vt:lpstr>Figure 15.14 Time Paths of U.S. Economic Variables After a Permanent Increase in the U.S. Money Supply</vt:lpstr>
      <vt:lpstr>Exchange Rate Overshooting</vt:lpstr>
      <vt:lpstr>Summary (1 of 4)</vt:lpstr>
      <vt:lpstr>Summary (2 of 4)</vt:lpstr>
      <vt:lpstr>Summary (3 of 4)</vt:lpstr>
      <vt:lpstr>Summary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15, Money, Interest Rates, and Exchange Rates</dc:title>
  <dc:subject>Business</dc:subject>
  <dc:creator>Krugman/Obstfeld/Melitz</dc:creator>
  <cp:keywords>International Economics</cp:keywords>
  <dc:description>Long description alt-text is inserted in the notes pane.</dc:description>
  <cp:lastModifiedBy>Chellapandi Murugan</cp:lastModifiedBy>
  <cp:revision>2429</cp:revision>
  <dcterms:modified xsi:type="dcterms:W3CDTF">2021-10-22T16:09:56Z</dcterms:modified>
</cp:coreProperties>
</file>