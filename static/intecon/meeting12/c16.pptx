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0"/>
  </p:notesMasterIdLst>
  <p:handoutMasterIdLst>
    <p:handoutMasterId r:id="rId61"/>
  </p:handoutMasterIdLst>
  <p:sldIdLst>
    <p:sldId id="330" r:id="rId3"/>
    <p:sldId id="331" r:id="rId4"/>
    <p:sldId id="334" r:id="rId5"/>
    <p:sldId id="333" r:id="rId6"/>
    <p:sldId id="521" r:id="rId7"/>
    <p:sldId id="522" r:id="rId8"/>
    <p:sldId id="523" r:id="rId9"/>
    <p:sldId id="565" r:id="rId10"/>
    <p:sldId id="566" r:id="rId11"/>
    <p:sldId id="567" r:id="rId12"/>
    <p:sldId id="568" r:id="rId13"/>
    <p:sldId id="569" r:id="rId14"/>
    <p:sldId id="570" r:id="rId15"/>
    <p:sldId id="571" r:id="rId16"/>
    <p:sldId id="572" r:id="rId17"/>
    <p:sldId id="573" r:id="rId18"/>
    <p:sldId id="574" r:id="rId19"/>
    <p:sldId id="575" r:id="rId20"/>
    <p:sldId id="576" r:id="rId21"/>
    <p:sldId id="577" r:id="rId22"/>
    <p:sldId id="578" r:id="rId23"/>
    <p:sldId id="579" r:id="rId24"/>
    <p:sldId id="580" r:id="rId25"/>
    <p:sldId id="581" r:id="rId26"/>
    <p:sldId id="582" r:id="rId27"/>
    <p:sldId id="583" r:id="rId28"/>
    <p:sldId id="584" r:id="rId29"/>
    <p:sldId id="585" r:id="rId30"/>
    <p:sldId id="586" r:id="rId31"/>
    <p:sldId id="587" r:id="rId32"/>
    <p:sldId id="588" r:id="rId33"/>
    <p:sldId id="589" r:id="rId34"/>
    <p:sldId id="590" r:id="rId35"/>
    <p:sldId id="591" r:id="rId36"/>
    <p:sldId id="592" r:id="rId37"/>
    <p:sldId id="593" r:id="rId38"/>
    <p:sldId id="615" r:id="rId39"/>
    <p:sldId id="595" r:id="rId40"/>
    <p:sldId id="596" r:id="rId41"/>
    <p:sldId id="597" r:id="rId42"/>
    <p:sldId id="598" r:id="rId43"/>
    <p:sldId id="599" r:id="rId44"/>
    <p:sldId id="600" r:id="rId45"/>
    <p:sldId id="601" r:id="rId46"/>
    <p:sldId id="602" r:id="rId47"/>
    <p:sldId id="603" r:id="rId48"/>
    <p:sldId id="604" r:id="rId49"/>
    <p:sldId id="360" r:id="rId50"/>
    <p:sldId id="614" r:id="rId51"/>
    <p:sldId id="605" r:id="rId52"/>
    <p:sldId id="606" r:id="rId53"/>
    <p:sldId id="607" r:id="rId54"/>
    <p:sldId id="608" r:id="rId55"/>
    <p:sldId id="609" r:id="rId56"/>
    <p:sldId id="610" r:id="rId57"/>
    <p:sldId id="611" r:id="rId58"/>
    <p:sldId id="298" r:id="rId59"/>
  </p:sldIdLst>
  <p:sldSz cx="9144000" cy="6858000" type="screen4x3"/>
  <p:notesSz cx="6858000" cy="9144000"/>
  <p:embeddedFontLst>
    <p:embeddedFont>
      <p:font typeface="Times" panose="02020603050405020304" pitchFamily="18" charset="0"/>
      <p:regular r:id="rId62"/>
      <p:bold r:id="rId63"/>
      <p:italic r:id="rId64"/>
      <p:boldItalic r:id="rId65"/>
    </p:embeddedFont>
    <p:embeddedFont>
      <p:font typeface="Calibri" panose="020F0502020204030204" pitchFamily="34" charset="0"/>
      <p:regular r:id="rId66"/>
      <p:bold r:id="rId67"/>
      <p:italic r:id="rId68"/>
      <p:boldItalic r:id="rId69"/>
    </p:embeddedFont>
    <p:embeddedFont>
      <p:font typeface="ＭＳ Ｐゴシック" panose="020B0600070205080204" pitchFamily="34" charset="-128"/>
      <p:regular r:id="rId70"/>
    </p:embeddedFont>
    <p:embeddedFont>
      <p:font typeface="Noto Sans Symbols" panose="020B0604020202020204" charset="0"/>
      <p:regular r:id="rId71"/>
      <p:bold r:id="rId72"/>
      <p:italic r:id="rId73"/>
      <p:boldItalic r:id="rId74"/>
    </p:embeddedFont>
    <p:embeddedFont>
      <p:font typeface="Verdana" panose="020B0604030504040204"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12"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4" autoAdjust="0"/>
    <p:restoredTop sz="86004" autoAdjust="0"/>
  </p:normalViewPr>
  <p:slideViewPr>
    <p:cSldViewPr snapToGrid="0" snapToObjects="1">
      <p:cViewPr varScale="1">
        <p:scale>
          <a:sx n="81" d="100"/>
          <a:sy n="81" d="100"/>
        </p:scale>
        <p:origin x="882" y="90"/>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4443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font" Target="fonts/font2.fntdata"/><Relationship Id="rId68" Type="http://schemas.openxmlformats.org/officeDocument/2006/relationships/font" Target="fonts/font7.fntdata"/><Relationship Id="rId76" Type="http://schemas.openxmlformats.org/officeDocument/2006/relationships/font" Target="fonts/font15.fntdata"/><Relationship Id="rId7" Type="http://schemas.openxmlformats.org/officeDocument/2006/relationships/slide" Target="slides/slide5.xml"/><Relationship Id="rId71"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5.fntdata"/><Relationship Id="rId74" Type="http://schemas.openxmlformats.org/officeDocument/2006/relationships/font" Target="fonts/font13.fntdata"/><Relationship Id="rId79"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handoutMaster" Target="handoutMasters/handoutMaster1.xml"/><Relationship Id="rId82"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1.fntdata"/><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47.wmf"/><Relationship Id="rId1" Type="http://schemas.openxmlformats.org/officeDocument/2006/relationships/image" Target="../media/image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Graph ay plots U S money supply, M sub U S, versus time. The plot is a rising line with slope = pi, to point (t sub 0, M sub U S, t sub 0). After the increase, the line continues more steeply, with slope = pi + delta pi. Graph b plots dollar interest rate, R sub dollars, versus time. The plot is a horizontal line first at y = R sub dollars super 1, to x = t sub 0, and then moving up to another horizontal line at y = R sub dollars super 2 = R sub dollars super 1 + delta pi. Graph c plots U S price level, P sub U S, versus time. The plot is a line with slope = pi, to x = t sub 0. After the increase, the line jumps up to a new position at x = t sub 0 and rises more steeply, with slope = pi + delta pi. Graph d plots dollar to euro exchange rate, E sub dollars to euros, versus time. The plot is a line with slope = pi, to x = t sub 0. After the increase, the line jumps up to a new position at x = t sub 0 and rises more steeply, with slope = pi + delta pi.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money supply growth rate increases at time t sub 0 in panel (a), the interest rate [in panel (b)], price level [in panel (c)], and exchange rate [in panel (d)] move to new long-run equilibrium paths. </a:t>
            </a:r>
            <a:endParaRPr lang="en-IN" dirty="0"/>
          </a:p>
          <a:p>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91828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double line graph plots the yen to dollar exchange rate and relative Japan to U S price levels versus year, 19 80 to 20 18. The exchange rate rises from 200 in 19 80 to a peak of 250 in 19 84. In 19 87, it drops to 117 and then continues to fluctuate between 80 and 140 until 20 14, and ends at 120 in 20 18. The price level ratio falls steadily from 200 in 19 80 to 90 in 20 18.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54806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vertical axis ranges from 0 to 180, in increments of 20. The horizontal axis ranges from 0 to 80,000, in increments of 10,000. A line rises through the data points from (0, 42) to (70,000, 125). The data points are clustered between (1,000, 30) and (1,000, 55), with points more widely dispersed and less frequent as the line rises. </a:t>
            </a:r>
            <a:r>
              <a:rPr lang="en-US"/>
              <a:t>All values are estimated.</a:t>
            </a:r>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1958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 S curve is a vertical line at x = left parenthesis, Y sub U S over Y sub E, right parenthesis, super 1. R S intersects a rising R S curve at point 1, where y = real exchange rate super 1.</a:t>
            </a:r>
          </a:p>
          <a:p>
            <a:endParaRPr lang="en-US" dirty="0"/>
          </a:p>
          <a:p>
            <a:pPr eaLnBrk="1" hangingPunct="1"/>
            <a:r>
              <a:rPr lang="en-US" altLang="en-US" dirty="0">
                <a:latin typeface="Times" pitchFamily="-1" charset="0"/>
                <a:ea typeface="ＭＳ Ｐゴシック" pitchFamily="34" charset="-128"/>
              </a:rPr>
              <a:t>Suppose the supply of long run output in the US economy is equal to </a:t>
            </a:r>
            <a:r>
              <a:rPr lang="en-US" altLang="en-US" sz="1200" dirty="0">
                <a:latin typeface="Times" pitchFamily="-1" charset="0"/>
                <a:ea typeface="ＭＳ Ｐゴシック" pitchFamily="34" charset="-128"/>
              </a:rPr>
              <a:t>Y</a:t>
            </a:r>
            <a:r>
              <a:rPr lang="en-US" altLang="en-US" sz="1200" baseline="30000" dirty="0">
                <a:latin typeface="Times" pitchFamily="-1" charset="0"/>
                <a:ea typeface="ＭＳ Ｐゴシック" pitchFamily="34" charset="-128"/>
              </a:rPr>
              <a:t>1</a:t>
            </a:r>
            <a:r>
              <a:rPr lang="en-US" altLang="en-US" sz="1200" baseline="-25000" dirty="0">
                <a:latin typeface="Times" pitchFamily="-1" charset="0"/>
                <a:ea typeface="ＭＳ Ｐゴシック" pitchFamily="34" charset="-128"/>
              </a:rPr>
              <a:t>US</a:t>
            </a:r>
            <a:r>
              <a:rPr lang="en-US" altLang="en-US" sz="1200" dirty="0">
                <a:latin typeface="Times" pitchFamily="-1" charset="0"/>
                <a:ea typeface="ＭＳ Ｐゴシック" pitchFamily="34" charset="-128"/>
              </a:rPr>
              <a:t> and the supply of long run output in the EU is equal to Y</a:t>
            </a:r>
            <a:r>
              <a:rPr lang="en-US" altLang="en-US" sz="1200" baseline="30000" dirty="0">
                <a:latin typeface="Times" pitchFamily="-1" charset="0"/>
                <a:ea typeface="ＭＳ Ｐゴシック" pitchFamily="34" charset="-128"/>
              </a:rPr>
              <a:t>1</a:t>
            </a:r>
            <a:r>
              <a:rPr lang="en-US" altLang="en-US" sz="1200" baseline="-25000" dirty="0">
                <a:latin typeface="Times" pitchFamily="-1" charset="0"/>
                <a:ea typeface="ＭＳ Ｐゴシック" pitchFamily="34" charset="-128"/>
              </a:rPr>
              <a:t>EU</a:t>
            </a:r>
            <a:r>
              <a:rPr lang="en-US" altLang="en-US" sz="1200" dirty="0">
                <a:latin typeface="Times" pitchFamily="-1" charset="0"/>
                <a:ea typeface="ＭＳ Ｐゴシック" pitchFamily="34" charset="-128"/>
              </a:rPr>
              <a:t>.  In the long run, these two quantities depend on the productive capacity of the respective economy--on factors of production like labor, physical capital, technology, natural resources, and so on.  They do not depend on the real exchange rate.  That is, they do not depend on the nominal exchange rate, nor the price levels in either economy.  Thus, the relative supply of US products, (Y</a:t>
            </a:r>
            <a:r>
              <a:rPr lang="en-US" altLang="en-US" sz="1200" baseline="-25000" dirty="0">
                <a:latin typeface="Times" pitchFamily="-1" charset="0"/>
                <a:ea typeface="ＭＳ Ｐゴシック" pitchFamily="34" charset="-128"/>
              </a:rPr>
              <a:t>US</a:t>
            </a:r>
            <a:r>
              <a:rPr lang="en-US" altLang="en-US" sz="1200" dirty="0">
                <a:latin typeface="Times" pitchFamily="-1" charset="0"/>
                <a:ea typeface="ＭＳ Ｐゴシック" pitchFamily="34" charset="-128"/>
              </a:rPr>
              <a:t>/Y</a:t>
            </a:r>
            <a:r>
              <a:rPr lang="en-US" altLang="en-US" sz="1200" baseline="-25000" dirty="0">
                <a:latin typeface="Times" pitchFamily="-1" charset="0"/>
                <a:ea typeface="ＭＳ Ｐゴシック" pitchFamily="34" charset="-128"/>
              </a:rPr>
              <a:t>EU</a:t>
            </a:r>
            <a:r>
              <a:rPr lang="en-US" altLang="en-US" sz="1200" baseline="30000" dirty="0">
                <a:latin typeface="Times" pitchFamily="-1" charset="0"/>
                <a:ea typeface="ＭＳ Ｐゴシック" pitchFamily="34" charset="-128"/>
              </a:rPr>
              <a:t>)1</a:t>
            </a:r>
            <a:r>
              <a:rPr lang="en-US" altLang="en-US" sz="1200" dirty="0">
                <a:latin typeface="Times" pitchFamily="-1" charset="0"/>
                <a:ea typeface="ＭＳ Ｐゴシック" pitchFamily="34" charset="-128"/>
              </a:rPr>
              <a:t>, is also independent of the real exchange rate.  We represent this independence by drawing a vertical line in the graph.</a:t>
            </a:r>
            <a:endParaRPr lang="en-US" altLang="en-US" sz="1200" baseline="30000" dirty="0">
              <a:latin typeface="Times" pitchFamily="-1" charset="0"/>
              <a:ea typeface="ＭＳ Ｐゴシック" pitchFamily="34" charset="-128"/>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59796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3022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8268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73450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270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53527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73639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12425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75394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11594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84152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42124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45-degree line extends down to the right through a point where x and y both = E sub dollars to euros super 2, and a second point where both x and y = E sub dollars to euros super 1, and then to the origin. The upper right quadrant plots dollar to euro exchange rate versus rates of return in dollar terms. The plot for initial expected return on euro deposits falls with decreasing steepness through point 1 prime, at (R sub dollars super 1, E sub dollars to euro super 1). The plot for expected return on euro deposits after rise in expected future dollar depreciation is shifted up, and falls with decreasing steepness through point 2 prime, where x =, R sub dollars super 2 = R sub dollars super 1 + delta pie, and y = E sub dollars to euros super 2. The lower right quadrant plots U S real money holdings versus rates of return in dollar terms. The plot for money demand, L left parenthesis R sub dollars, Y sub U S, right parenthesis, rises to the right with decreasing steepness. The plot passes through point 1, at (R sub dollars super 1, M sub U S super 1 over P sub U S super 1), where y = the U S real money supply. It then passes through point 2, where x =, R sub dollars super 2 = R sub dollars super 1 + delta pie, and y = M sub U S super 1 over P sub S super 2. The lower left quadrant plots U S real money holdings versus dollar to euro exchange rate. The plot for P </a:t>
            </a:r>
            <a:r>
              <a:rPr lang="en-US" dirty="0" err="1"/>
              <a:t>P</a:t>
            </a:r>
            <a:r>
              <a:rPr lang="en-US" dirty="0"/>
              <a:t> </a:t>
            </a:r>
            <a:r>
              <a:rPr lang="en-US" dirty="0" err="1"/>
              <a:t>P</a:t>
            </a:r>
            <a:r>
              <a:rPr lang="en-US" dirty="0"/>
              <a:t> relation falls to the right with decreasing steepness, through a first point at (E sub dollars to euros super 2, M sub U S super 1 over P sub U S super 2), and then a second point at (E sub dollars to euros super 1, M sub U S super 1 over P sub U S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40546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57</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671853"/>
            <a:ext cx="8229600" cy="51217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3523697"/>
            <a:ext cx="8229600" cy="512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4396670"/>
            <a:ext cx="8229600" cy="512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457200" y="5217528"/>
            <a:ext cx="8091487" cy="512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797A2497-49FC-4E97-BA53-834BEE3AA41C}"/>
              </a:ext>
            </a:extLst>
          </p:cNvPr>
          <p:cNvSpPr>
            <a:spLocks noGrp="1"/>
          </p:cNvSpPr>
          <p:nvPr>
            <p:ph sz="quarter" idx="18"/>
          </p:nvPr>
        </p:nvSpPr>
        <p:spPr>
          <a:xfrm>
            <a:off x="457200" y="6038386"/>
            <a:ext cx="8229600" cy="6381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6E158B03-35ED-4C86-A177-C036F37E31D1}"/>
              </a:ext>
            </a:extLst>
          </p:cNvPr>
          <p:cNvSpPr>
            <a:spLocks noGrp="1"/>
          </p:cNvSpPr>
          <p:nvPr>
            <p:ph sz="quarter" idx="19"/>
          </p:nvPr>
        </p:nvSpPr>
        <p:spPr>
          <a:xfrm>
            <a:off x="457200" y="6858000"/>
            <a:ext cx="8229600" cy="93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6.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0.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12.bin"/><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5.bin"/><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19.emf"/><Relationship Id="rId5" Type="http://schemas.openxmlformats.org/officeDocument/2006/relationships/oleObject" Target="../embeddings/oleObject17.bin"/><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20.emf"/></Relationships>
</file>

<file path=ppt/slides/_rels/slide19.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vmlDrawing" Target="../drawings/vmlDrawing8.vml"/><Relationship Id="rId6" Type="http://schemas.openxmlformats.org/officeDocument/2006/relationships/image" Target="../media/image22.wmf"/><Relationship Id="rId5" Type="http://schemas.openxmlformats.org/officeDocument/2006/relationships/oleObject" Target="../embeddings/oleObject20.bin"/><Relationship Id="rId4" Type="http://schemas.openxmlformats.org/officeDocument/2006/relationships/image" Target="../media/image21.wmf"/></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5.xml"/><Relationship Id="rId1" Type="http://schemas.openxmlformats.org/officeDocument/2006/relationships/vmlDrawing" Target="../drawings/vmlDrawing9.vml"/><Relationship Id="rId6" Type="http://schemas.openxmlformats.org/officeDocument/2006/relationships/image" Target="../media/image26.emf"/><Relationship Id="rId5" Type="http://schemas.openxmlformats.org/officeDocument/2006/relationships/oleObject" Target="../embeddings/oleObject23.bin"/><Relationship Id="rId4" Type="http://schemas.openxmlformats.org/officeDocument/2006/relationships/image" Target="../media/image2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4.xml"/><Relationship Id="rId1" Type="http://schemas.openxmlformats.org/officeDocument/2006/relationships/vmlDrawing" Target="../drawings/vmlDrawing10.vml"/><Relationship Id="rId4" Type="http://schemas.openxmlformats.org/officeDocument/2006/relationships/image" Target="../media/image31.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33.wmf"/><Relationship Id="rId5" Type="http://schemas.openxmlformats.org/officeDocument/2006/relationships/oleObject" Target="../embeddings/oleObject27.bin"/><Relationship Id="rId4" Type="http://schemas.openxmlformats.org/officeDocument/2006/relationships/image" Target="../media/image32.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4.xml"/><Relationship Id="rId1" Type="http://schemas.openxmlformats.org/officeDocument/2006/relationships/vmlDrawing" Target="../drawings/vmlDrawing12.vml"/><Relationship Id="rId4" Type="http://schemas.openxmlformats.org/officeDocument/2006/relationships/image" Target="../media/image34.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5.xml"/><Relationship Id="rId1" Type="http://schemas.openxmlformats.org/officeDocument/2006/relationships/vmlDrawing" Target="../drawings/vmlDrawing13.vml"/><Relationship Id="rId6" Type="http://schemas.openxmlformats.org/officeDocument/2006/relationships/image" Target="../media/image36.emf"/><Relationship Id="rId5" Type="http://schemas.openxmlformats.org/officeDocument/2006/relationships/oleObject" Target="../embeddings/oleObject30.bin"/><Relationship Id="rId4" Type="http://schemas.openxmlformats.org/officeDocument/2006/relationships/image" Target="../media/image35.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5.xml"/><Relationship Id="rId1" Type="http://schemas.openxmlformats.org/officeDocument/2006/relationships/vmlDrawing" Target="../drawings/vmlDrawing14.vml"/><Relationship Id="rId6" Type="http://schemas.openxmlformats.org/officeDocument/2006/relationships/image" Target="../media/image38.emf"/><Relationship Id="rId5" Type="http://schemas.openxmlformats.org/officeDocument/2006/relationships/oleObject" Target="../embeddings/oleObject32.bin"/><Relationship Id="rId4" Type="http://schemas.openxmlformats.org/officeDocument/2006/relationships/image" Target="../media/image37.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5.xml"/><Relationship Id="rId1" Type="http://schemas.openxmlformats.org/officeDocument/2006/relationships/vmlDrawing" Target="../drawings/vmlDrawing15.vml"/><Relationship Id="rId6" Type="http://schemas.openxmlformats.org/officeDocument/2006/relationships/image" Target="../media/image40.emf"/><Relationship Id="rId5" Type="http://schemas.openxmlformats.org/officeDocument/2006/relationships/oleObject" Target="../embeddings/oleObject34.bin"/><Relationship Id="rId4" Type="http://schemas.openxmlformats.org/officeDocument/2006/relationships/image" Target="../media/image39.emf"/></Relationships>
</file>

<file path=ppt/slides/_rels/slide4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42.emf"/><Relationship Id="rId4" Type="http://schemas.openxmlformats.org/officeDocument/2006/relationships/oleObject" Target="../embeddings/oleObject35.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44.emf"/><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37.bin"/><Relationship Id="rId5" Type="http://schemas.openxmlformats.org/officeDocument/2006/relationships/image" Target="../media/image43.emf"/><Relationship Id="rId4" Type="http://schemas.openxmlformats.org/officeDocument/2006/relationships/oleObject" Target="../embeddings/oleObject36.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notesSlide" Target="../notesSlides/notesSlide10.xml"/><Relationship Id="rId7" Type="http://schemas.openxmlformats.org/officeDocument/2006/relationships/image" Target="../media/image46.wmf"/><Relationship Id="rId2" Type="http://schemas.openxmlformats.org/officeDocument/2006/relationships/slideLayout" Target="../slideLayouts/slideLayout5.xml"/><Relationship Id="rId1" Type="http://schemas.openxmlformats.org/officeDocument/2006/relationships/vmlDrawing" Target="../drawings/vmlDrawing18.vml"/><Relationship Id="rId6" Type="http://schemas.openxmlformats.org/officeDocument/2006/relationships/oleObject" Target="../embeddings/oleObject39.bin"/><Relationship Id="rId5" Type="http://schemas.openxmlformats.org/officeDocument/2006/relationships/image" Target="../media/image45.wmf"/><Relationship Id="rId4" Type="http://schemas.openxmlformats.org/officeDocument/2006/relationships/oleObject" Target="../embeddings/oleObject38.bin"/><Relationship Id="rId9" Type="http://schemas.openxmlformats.org/officeDocument/2006/relationships/image" Target="../media/image47.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image" Target="../media/image49.wmf"/><Relationship Id="rId5" Type="http://schemas.openxmlformats.org/officeDocument/2006/relationships/oleObject" Target="../embeddings/oleObject42.bin"/><Relationship Id="rId4" Type="http://schemas.openxmlformats.org/officeDocument/2006/relationships/image" Target="../media/image48.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image" Target="../media/image49.wmf"/><Relationship Id="rId5" Type="http://schemas.openxmlformats.org/officeDocument/2006/relationships/oleObject" Target="../embeddings/oleObject44.bin"/><Relationship Id="rId4" Type="http://schemas.openxmlformats.org/officeDocument/2006/relationships/image" Target="../media/image48.w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51.emf"/><Relationship Id="rId2" Type="http://schemas.openxmlformats.org/officeDocument/2006/relationships/slideLayout" Target="../slideLayouts/slideLayout5.xml"/><Relationship Id="rId1" Type="http://schemas.openxmlformats.org/officeDocument/2006/relationships/vmlDrawing" Target="../drawings/vmlDrawing21.vml"/><Relationship Id="rId6" Type="http://schemas.openxmlformats.org/officeDocument/2006/relationships/oleObject" Target="../embeddings/oleObject46.bin"/><Relationship Id="rId5" Type="http://schemas.openxmlformats.org/officeDocument/2006/relationships/image" Target="../media/image50.emf"/><Relationship Id="rId4" Type="http://schemas.openxmlformats.org/officeDocument/2006/relationships/oleObject" Target="../embeddings/oleObject45.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notesSlide" Target="../notesSlides/notesSlide12.xml"/><Relationship Id="rId7" Type="http://schemas.openxmlformats.org/officeDocument/2006/relationships/image" Target="../media/image47.wmf"/><Relationship Id="rId2" Type="http://schemas.openxmlformats.org/officeDocument/2006/relationships/slideLayout" Target="../slideLayouts/slideLayout5.xml"/><Relationship Id="rId1" Type="http://schemas.openxmlformats.org/officeDocument/2006/relationships/vmlDrawing" Target="../drawings/vmlDrawing22.vml"/><Relationship Id="rId6" Type="http://schemas.openxmlformats.org/officeDocument/2006/relationships/oleObject" Target="../embeddings/oleObject48.bin"/><Relationship Id="rId5" Type="http://schemas.openxmlformats.org/officeDocument/2006/relationships/image" Target="../media/image52.wmf"/><Relationship Id="rId4" Type="http://schemas.openxmlformats.org/officeDocument/2006/relationships/oleObject" Target="../embeddings/oleObject47.bin"/><Relationship Id="rId9" Type="http://schemas.openxmlformats.org/officeDocument/2006/relationships/image" Target="../media/image53.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a:t>Twelfth</a:t>
            </a:r>
            <a:r>
              <a:rPr lang="en-US">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a:latin typeface="+mn-lt"/>
              </a:rPr>
              <a:t>Chapter 16</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786139"/>
          </a:xfrm>
        </p:spPr>
        <p:txBody>
          <a:bodyPr/>
          <a:lstStyle/>
          <a:p>
            <a:pPr algn="ctr"/>
            <a:r>
              <a:rPr lang="en-US" altLang="en-US">
                <a:latin typeface="Arial (Body)"/>
              </a:rPr>
              <a:t>Price Levels and the Exchange Rate in the Long Run</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Learning Objectives</a:t>
            </a:r>
            <a:endParaRPr lang="en-US"/>
          </a:p>
        </p:txBody>
      </p:sp>
      <p:sp>
        <p:nvSpPr>
          <p:cNvPr id="4" name="Content Placeholder 3"/>
          <p:cNvSpPr>
            <a:spLocks noGrp="1"/>
          </p:cNvSpPr>
          <p:nvPr>
            <p:ph sz="quarter" idx="13"/>
          </p:nvPr>
        </p:nvSpPr>
        <p:spPr>
          <a:xfrm>
            <a:off x="457200" y="1556327"/>
            <a:ext cx="8229600" cy="4370944"/>
          </a:xfrm>
        </p:spPr>
        <p:txBody>
          <a:bodyPr/>
          <a:lstStyle/>
          <a:p>
            <a:pPr marL="0" indent="0">
              <a:buNone/>
              <a:tabLst>
                <a:tab pos="684213" algn="l"/>
              </a:tabLst>
            </a:pPr>
            <a:r>
              <a:rPr lang="en-US" sz="2200" b="1" dirty="0">
                <a:solidFill>
                  <a:srgbClr val="007FA3"/>
                </a:solidFill>
                <a:latin typeface="Arial (Body)"/>
                <a:ea typeface="Verdana" panose="020B0604030504040204" pitchFamily="34" charset="0"/>
                <a:cs typeface="Verdana" panose="020B0604030504040204" pitchFamily="34" charset="0"/>
              </a:rPr>
              <a:t>16.1</a:t>
            </a:r>
            <a:r>
              <a:rPr lang="en-US" sz="2200" b="1" dirty="0">
                <a:solidFill>
                  <a:schemeClr val="accent1"/>
                </a:solidFill>
                <a:latin typeface="Arial (Body)"/>
                <a:ea typeface="Verdana" panose="020B0604030504040204" pitchFamily="34" charset="0"/>
                <a:cs typeface="Verdana" panose="020B0604030504040204" pitchFamily="34" charset="0"/>
              </a:rPr>
              <a:t> </a:t>
            </a:r>
            <a:r>
              <a:rPr lang="en-US" sz="2200" dirty="0">
                <a:latin typeface="Arial (Body)"/>
              </a:rPr>
              <a:t>Explain the purchasing power parity theory of exchange rates and the theory’s relationship to international goods-market integration.</a:t>
            </a:r>
          </a:p>
          <a:p>
            <a:pPr marL="0" indent="0">
              <a:buNone/>
              <a:tabLst>
                <a:tab pos="684213" algn="l"/>
              </a:tabLst>
            </a:pPr>
            <a:r>
              <a:rPr lang="en-US" sz="2200" b="1" dirty="0">
                <a:solidFill>
                  <a:srgbClr val="007FA3"/>
                </a:solidFill>
                <a:latin typeface="Arial (Body)"/>
                <a:ea typeface="Verdana" panose="020B0604030504040204" pitchFamily="34" charset="0"/>
                <a:cs typeface="Verdana" panose="020B0604030504040204" pitchFamily="34" charset="0"/>
              </a:rPr>
              <a:t>16.2</a:t>
            </a:r>
            <a:r>
              <a:rPr lang="en-US" sz="2200" b="1" dirty="0">
                <a:solidFill>
                  <a:schemeClr val="accent1"/>
                </a:solidFill>
                <a:latin typeface="Arial (Body)"/>
                <a:ea typeface="Verdana" panose="020B0604030504040204" pitchFamily="34" charset="0"/>
                <a:cs typeface="Verdana" panose="020B0604030504040204" pitchFamily="34" charset="0"/>
              </a:rPr>
              <a:t> </a:t>
            </a:r>
            <a:r>
              <a:rPr lang="en-US" sz="2200" dirty="0">
                <a:latin typeface="Arial (Body)"/>
              </a:rPr>
              <a:t>Describe how monetary factors such as ongoing price level inflation affect exchange rates in the long run.</a:t>
            </a:r>
          </a:p>
          <a:p>
            <a:pPr marL="0" indent="0">
              <a:buNone/>
              <a:tabLst>
                <a:tab pos="684213" algn="l"/>
              </a:tabLst>
            </a:pPr>
            <a:r>
              <a:rPr lang="en-US" sz="2200" b="1" dirty="0">
                <a:solidFill>
                  <a:srgbClr val="007FA3"/>
                </a:solidFill>
                <a:latin typeface="Arial (Body)"/>
                <a:ea typeface="Verdana" panose="020B0604030504040204" pitchFamily="34" charset="0"/>
                <a:cs typeface="Verdana" panose="020B0604030504040204" pitchFamily="34" charset="0"/>
              </a:rPr>
              <a:t>16.3 </a:t>
            </a:r>
            <a:r>
              <a:rPr lang="en-US" sz="2200" dirty="0">
                <a:solidFill>
                  <a:schemeClr val="tx1"/>
                </a:solidFill>
                <a:latin typeface="Arial (Body)"/>
                <a:ea typeface="Verdana" panose="020B0604030504040204" pitchFamily="34" charset="0"/>
                <a:cs typeface="Verdana" panose="020B0604030504040204" pitchFamily="34" charset="0"/>
              </a:rPr>
              <a:t>Discuss the concept of the real exchange rate.</a:t>
            </a:r>
          </a:p>
          <a:p>
            <a:pPr marL="0" indent="0">
              <a:buNone/>
              <a:tabLst>
                <a:tab pos="684213" algn="l"/>
              </a:tabLst>
            </a:pPr>
            <a:r>
              <a:rPr lang="en-US" sz="2200" b="1" dirty="0">
                <a:solidFill>
                  <a:srgbClr val="007FA3"/>
                </a:solidFill>
                <a:latin typeface="Arial (Body)"/>
                <a:ea typeface="Verdana" panose="020B0604030504040204" pitchFamily="34" charset="0"/>
                <a:cs typeface="Verdana" panose="020B0604030504040204" pitchFamily="34" charset="0"/>
              </a:rPr>
              <a:t>16.4 </a:t>
            </a:r>
            <a:r>
              <a:rPr lang="en-US" sz="2200" dirty="0">
                <a:solidFill>
                  <a:schemeClr val="tx1"/>
                </a:solidFill>
                <a:latin typeface="Arial (Body)"/>
                <a:ea typeface="Verdana" panose="020B0604030504040204" pitchFamily="34" charset="0"/>
                <a:cs typeface="Verdana" panose="020B0604030504040204" pitchFamily="34" charset="0"/>
              </a:rPr>
              <a:t>Understand factors that affect real exchange rates and relative currency prices in the long run.</a:t>
            </a:r>
          </a:p>
          <a:p>
            <a:pPr marL="0" indent="0">
              <a:buNone/>
              <a:tabLst>
                <a:tab pos="684213" algn="l"/>
              </a:tabLst>
            </a:pPr>
            <a:r>
              <a:rPr lang="en-US" sz="2200" b="1" dirty="0">
                <a:solidFill>
                  <a:srgbClr val="007FA3"/>
                </a:solidFill>
                <a:latin typeface="Arial (Body)"/>
                <a:ea typeface="Verdana" panose="020B0604030504040204" pitchFamily="34" charset="0"/>
                <a:cs typeface="Verdana" panose="020B0604030504040204" pitchFamily="34" charset="0"/>
              </a:rPr>
              <a:t>16.5 </a:t>
            </a:r>
            <a:r>
              <a:rPr lang="en-US" sz="2200" dirty="0">
                <a:solidFill>
                  <a:schemeClr val="tx1"/>
                </a:solidFill>
                <a:latin typeface="Arial (Body)"/>
                <a:ea typeface="Verdana" panose="020B0604030504040204" pitchFamily="34" charset="0"/>
                <a:cs typeface="Verdana" panose="020B0604030504040204" pitchFamily="34" charset="0"/>
              </a:rPr>
              <a:t>Explain the relationship between international real interest rate differences and expected changes in real exchange rates.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a:t>Preview</a:t>
            </a:r>
            <a:endParaRPr lang="en-US"/>
          </a:p>
        </p:txBody>
      </p:sp>
      <p:sp>
        <p:nvSpPr>
          <p:cNvPr id="7" name="Content Placeholder 6"/>
          <p:cNvSpPr>
            <a:spLocks noGrp="1"/>
          </p:cNvSpPr>
          <p:nvPr>
            <p:ph sz="quarter" idx="13"/>
          </p:nvPr>
        </p:nvSpPr>
        <p:spPr>
          <a:xfrm>
            <a:off x="457200" y="1556326"/>
            <a:ext cx="8229600" cy="4676307"/>
          </a:xfrm>
        </p:spPr>
        <p:txBody>
          <a:bodyPr/>
          <a:lstStyle/>
          <a:p>
            <a:pPr eaLnBrk="1" hangingPunct="1"/>
            <a:r>
              <a:rPr lang="en-US" altLang="en-US" dirty="0">
                <a:latin typeface="Arial (Body)"/>
              </a:rPr>
              <a:t>Law of one price</a:t>
            </a:r>
          </a:p>
          <a:p>
            <a:pPr eaLnBrk="1" hangingPunct="1"/>
            <a:r>
              <a:rPr lang="en-US" altLang="en-US" dirty="0">
                <a:latin typeface="Arial (Body)"/>
              </a:rPr>
              <a:t>Purchasing power parity</a:t>
            </a:r>
          </a:p>
          <a:p>
            <a:pPr eaLnBrk="1" hangingPunct="1"/>
            <a:r>
              <a:rPr lang="en-US" altLang="en-US" dirty="0">
                <a:latin typeface="Arial (Body)"/>
              </a:rPr>
              <a:t>Long-run model of exchange rates: monetary approach </a:t>
            </a:r>
          </a:p>
          <a:p>
            <a:pPr eaLnBrk="1" hangingPunct="1"/>
            <a:r>
              <a:rPr lang="en-US" altLang="en-US" dirty="0">
                <a:latin typeface="Arial (Body)"/>
              </a:rPr>
              <a:t>Relationship between interest rates and inflation: Fisher effect</a:t>
            </a:r>
          </a:p>
          <a:p>
            <a:pPr eaLnBrk="1" hangingPunct="1"/>
            <a:r>
              <a:rPr lang="en-US" altLang="en-US" dirty="0">
                <a:latin typeface="Arial (Body)"/>
              </a:rPr>
              <a:t>Shortcomings of purchasing power parity</a:t>
            </a:r>
          </a:p>
          <a:p>
            <a:pPr eaLnBrk="1" hangingPunct="1"/>
            <a:r>
              <a:rPr lang="en-US" altLang="en-US" dirty="0">
                <a:latin typeface="Arial (Body)"/>
              </a:rPr>
              <a:t>Long-run model of exchange rates: real exchange rate approach</a:t>
            </a:r>
          </a:p>
          <a:p>
            <a:pPr eaLnBrk="1" hangingPunct="1"/>
            <a:r>
              <a:rPr lang="en-US" altLang="en-US" dirty="0">
                <a:latin typeface="Arial (Body)"/>
              </a:rPr>
              <a:t>Real interest rates</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The Behavior of Exchange Rates </a:t>
            </a:r>
            <a:r>
              <a:rPr lang="en-US" altLang="en-US" sz="2000" b="0"/>
              <a:t>(1 of 2)</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sz="2200" dirty="0">
                <a:latin typeface="Arial (Body)"/>
              </a:rPr>
              <a:t>What models can predict how exchange rates behave?</a:t>
            </a:r>
          </a:p>
          <a:p>
            <a:pPr lvl="1" eaLnBrk="1" hangingPunct="1"/>
            <a:r>
              <a:rPr lang="en-US" altLang="en-US" sz="2200" dirty="0">
                <a:latin typeface="Arial (Body)"/>
              </a:rPr>
              <a:t>In last chapter we developed a short-run model and a long-run model that used movements in the money supply.</a:t>
            </a:r>
          </a:p>
          <a:p>
            <a:pPr lvl="1" eaLnBrk="1" hangingPunct="1"/>
            <a:r>
              <a:rPr lang="en-US" altLang="en-US" sz="2200" dirty="0">
                <a:latin typeface="Arial (Body)"/>
              </a:rPr>
              <a:t>In this chapter, we develop two more models, building on the long-run approach from last chapter.</a:t>
            </a:r>
          </a:p>
          <a:p>
            <a:pPr lvl="1" eaLnBrk="1" hangingPunct="1"/>
            <a:r>
              <a:rPr lang="en-US" altLang="en-US" sz="2200" dirty="0">
                <a:latin typeface="Arial (Body)"/>
              </a:rPr>
              <a:t>Long run means a sufficient amount of time for prices of all goods and services to adjust to market conditions so that their markets and the money market are in equilibrium.</a:t>
            </a:r>
          </a:p>
          <a:p>
            <a:pPr lvl="1" eaLnBrk="1" hangingPunct="1"/>
            <a:r>
              <a:rPr lang="en-US" altLang="en-US" sz="2200" dirty="0">
                <a:latin typeface="Arial (Body)"/>
              </a:rPr>
              <a:t>Because prices are allowed to change, they will influence interest rates and exchange rates in the long-run models.</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The Behavior of Exchange Rates </a:t>
            </a:r>
            <a:r>
              <a:rPr lang="en-US" altLang="en-US" sz="2000" b="0"/>
              <a:t>(2 of 2)</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a:latin typeface="Arial (Body)"/>
              </a:rPr>
              <a:t>The long-run models are not intended to be completely realistic descriptions about how exchange rates behave, but ways of representing how market participants may form expectations about future exchange rates and how exchange rates tend to move over long periods.</a:t>
            </a:r>
          </a:p>
        </p:txBody>
      </p:sp>
    </p:spTree>
    <p:extLst>
      <p:ext uri="{BB962C8B-B14F-4D97-AF65-F5344CB8AC3E}">
        <p14:creationId xmlns:p14="http://schemas.microsoft.com/office/powerpoint/2010/main" val="414681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Law of One Price </a:t>
            </a:r>
            <a:r>
              <a:rPr lang="en-US" altLang="en-US" sz="2000" b="0"/>
              <a:t>(1 of 3)</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The </a:t>
            </a:r>
            <a:r>
              <a:rPr lang="en-US" altLang="en-US" b="1" dirty="0">
                <a:latin typeface="Arial (Body)"/>
              </a:rPr>
              <a:t>law of one price</a:t>
            </a:r>
            <a:r>
              <a:rPr lang="en-US" altLang="en-US" dirty="0">
                <a:latin typeface="Arial (Body)"/>
              </a:rPr>
              <a:t> simply says that the </a:t>
            </a:r>
            <a:r>
              <a:rPr lang="en-US" altLang="en-US" b="1" dirty="0">
                <a:latin typeface="Arial (Body)"/>
              </a:rPr>
              <a:t>same</a:t>
            </a:r>
            <a:r>
              <a:rPr lang="en-US" altLang="en-US" dirty="0">
                <a:latin typeface="Arial (Body)"/>
              </a:rPr>
              <a:t> good in different competitive markets must sell for the same price, when transportation costs and barriers between those markets are not important.</a:t>
            </a:r>
          </a:p>
          <a:p>
            <a:pPr lvl="1" eaLnBrk="1" hangingPunct="1"/>
            <a:r>
              <a:rPr lang="en-US" altLang="en-US" sz="2400" dirty="0">
                <a:latin typeface="Arial (Body)"/>
              </a:rPr>
              <a:t>Why? Suppose the price of pizza at one restaurant is $20, while the price of the </a:t>
            </a:r>
            <a:r>
              <a:rPr lang="en-US" altLang="en-US" sz="2400" b="1" dirty="0">
                <a:latin typeface="Arial (Body)"/>
              </a:rPr>
              <a:t>same</a:t>
            </a:r>
            <a:r>
              <a:rPr lang="en-US" altLang="en-US" sz="2400" dirty="0">
                <a:latin typeface="Arial (Body)"/>
              </a:rPr>
              <a:t> pizza at an identical restaurant across the street is $40.</a:t>
            </a:r>
          </a:p>
          <a:p>
            <a:pPr lvl="1" eaLnBrk="1" hangingPunct="1"/>
            <a:r>
              <a:rPr lang="en-US" altLang="en-US" sz="2400" dirty="0">
                <a:latin typeface="Arial (Body)"/>
              </a:rPr>
              <a:t>What do you predict will happen? Many people will buy the $20 pizza, few will buy the $40 one.</a:t>
            </a:r>
          </a:p>
        </p:txBody>
      </p:sp>
    </p:spTree>
    <p:extLst>
      <p:ext uri="{BB962C8B-B14F-4D97-AF65-F5344CB8AC3E}">
        <p14:creationId xmlns:p14="http://schemas.microsoft.com/office/powerpoint/2010/main" val="2341816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Law of One Price </a:t>
            </a:r>
            <a:r>
              <a:rPr lang="en-US" altLang="en-US" sz="2000" b="0"/>
              <a:t>(2 of 3)</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lvl="1" eaLnBrk="1" hangingPunct="1"/>
            <a:r>
              <a:rPr lang="en-US" altLang="en-US" sz="2400">
                <a:latin typeface="Arial (Body)"/>
              </a:rPr>
              <a:t>Due to the price difference, entrepreneurs would have an incentive to buy pizza at the cheap location and sell it at the expensive location for an easy profit.</a:t>
            </a:r>
          </a:p>
          <a:p>
            <a:pPr lvl="1" eaLnBrk="1" hangingPunct="1"/>
            <a:r>
              <a:rPr lang="en-US" altLang="en-US" sz="2400">
                <a:latin typeface="Arial (Body)"/>
              </a:rPr>
              <a:t>Due to strong demand and decreased supply, the price of the $20 pizza would tend to increase.</a:t>
            </a:r>
          </a:p>
          <a:p>
            <a:pPr lvl="1" eaLnBrk="1" hangingPunct="1"/>
            <a:r>
              <a:rPr lang="en-US" altLang="en-US" sz="2400">
                <a:latin typeface="Arial (Body)"/>
              </a:rPr>
              <a:t>Due to weak demand and increased supply, the price of the $40 pizza would tend to decrease.</a:t>
            </a:r>
          </a:p>
          <a:p>
            <a:pPr lvl="1" eaLnBrk="1" hangingPunct="1"/>
            <a:r>
              <a:rPr lang="en-US" altLang="en-US" sz="2400">
                <a:latin typeface="Arial (Body)"/>
              </a:rPr>
              <a:t>People would have an incentive to adjust their behavior and prices would tend to adjust until one price is achieved across markets (across restaurants).</a:t>
            </a:r>
          </a:p>
        </p:txBody>
      </p:sp>
    </p:spTree>
    <p:extLst>
      <p:ext uri="{BB962C8B-B14F-4D97-AF65-F5344CB8AC3E}">
        <p14:creationId xmlns:p14="http://schemas.microsoft.com/office/powerpoint/2010/main" val="667802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Law of One Price </a:t>
            </a:r>
            <a:r>
              <a:rPr lang="en-US" altLang="en-US" sz="2000" b="0" dirty="0"/>
              <a:t>(3 of 3)</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1986973"/>
          </a:xfrm>
        </p:spPr>
        <p:txBody>
          <a:bodyPr/>
          <a:lstStyle/>
          <a:p>
            <a:pPr eaLnBrk="1" hangingPunct="1"/>
            <a:r>
              <a:rPr lang="en-US" altLang="en-US" sz="1800" dirty="0">
                <a:latin typeface="Arial (Body)"/>
              </a:rPr>
              <a:t>Consider a pizza restaurant in Seattle and one across the border in Vancouver.</a:t>
            </a:r>
          </a:p>
          <a:p>
            <a:pPr eaLnBrk="1" hangingPunct="1"/>
            <a:r>
              <a:rPr lang="en-US" altLang="en-US" sz="1800" dirty="0">
                <a:latin typeface="Arial (Body)"/>
              </a:rPr>
              <a:t>The law of one price says that the price of the same pizza (using a common currency to measure the price) in the two cities must be the same if markets are competitive and transportation costs and barriers between markets are not important.</a:t>
            </a:r>
          </a:p>
        </p:txBody>
      </p:sp>
      <p:graphicFrame>
        <p:nvGraphicFramePr>
          <p:cNvPr id="4" name="Object 3" descr="P super pizza sub U S = E sub start fraction U S$ over C $ end fraction times P super pizza sub Canada">
            <a:extLst>
              <a:ext uri="{FF2B5EF4-FFF2-40B4-BE49-F238E27FC236}">
                <a16:creationId xmlns:a16="http://schemas.microsoft.com/office/drawing/2014/main" id="{966E3BFB-DA2F-4C56-B99D-9572179ADFC2}"/>
              </a:ext>
            </a:extLst>
          </p:cNvPr>
          <p:cNvGraphicFramePr>
            <a:graphicFrameLocks noChangeAspect="1"/>
          </p:cNvGraphicFramePr>
          <p:nvPr>
            <p:extLst>
              <p:ext uri="{D42A27DB-BD31-4B8C-83A1-F6EECF244321}">
                <p14:modId xmlns:p14="http://schemas.microsoft.com/office/powerpoint/2010/main" val="1320041454"/>
              </p:ext>
            </p:extLst>
          </p:nvPr>
        </p:nvGraphicFramePr>
        <p:xfrm>
          <a:off x="2539302" y="3764461"/>
          <a:ext cx="3736398" cy="495012"/>
        </p:xfrm>
        <a:graphic>
          <a:graphicData uri="http://schemas.openxmlformats.org/presentationml/2006/ole">
            <mc:AlternateContent xmlns:mc="http://schemas.openxmlformats.org/markup-compatibility/2006">
              <mc:Choice xmlns:v="urn:schemas-microsoft-com:vml" Requires="v">
                <p:oleObj spid="_x0000_s1034" name="Equation" r:id="rId3" imgW="2108160" imgH="279360" progId="Equation.DSMT4">
                  <p:embed/>
                </p:oleObj>
              </mc:Choice>
              <mc:Fallback>
                <p:oleObj name="Equation" r:id="rId3" imgW="2108160" imgH="279360" progId="Equation.DSMT4">
                  <p:embed/>
                  <p:pic>
                    <p:nvPicPr>
                      <p:cNvPr id="2" name="Object 1"/>
                      <p:cNvPicPr/>
                      <p:nvPr/>
                    </p:nvPicPr>
                    <p:blipFill>
                      <a:blip r:embed="rId4"/>
                      <a:stretch>
                        <a:fillRect/>
                      </a:stretch>
                    </p:blipFill>
                    <p:spPr>
                      <a:xfrm>
                        <a:off x="2539302" y="3764461"/>
                        <a:ext cx="3736398" cy="495012"/>
                      </a:xfrm>
                      <a:prstGeom prst="rect">
                        <a:avLst/>
                      </a:prstGeom>
                    </p:spPr>
                  </p:pic>
                </p:oleObj>
              </mc:Fallback>
            </mc:AlternateContent>
          </a:graphicData>
        </a:graphic>
      </p:graphicFrame>
      <p:graphicFrame>
        <p:nvGraphicFramePr>
          <p:cNvPr id="5" name="Object 4" descr="P super pizza sub U S = price of pizza in Seattle">
            <a:extLst>
              <a:ext uri="{FF2B5EF4-FFF2-40B4-BE49-F238E27FC236}">
                <a16:creationId xmlns:a16="http://schemas.microsoft.com/office/drawing/2014/main" id="{28F6E522-94A3-40BF-8B9B-6E0EA52CD257}"/>
              </a:ext>
            </a:extLst>
          </p:cNvPr>
          <p:cNvGraphicFramePr>
            <a:graphicFrameLocks noChangeAspect="1"/>
          </p:cNvGraphicFramePr>
          <p:nvPr>
            <p:extLst>
              <p:ext uri="{D42A27DB-BD31-4B8C-83A1-F6EECF244321}">
                <p14:modId xmlns:p14="http://schemas.microsoft.com/office/powerpoint/2010/main" val="3422365639"/>
              </p:ext>
            </p:extLst>
          </p:nvPr>
        </p:nvGraphicFramePr>
        <p:xfrm>
          <a:off x="2487353" y="4545950"/>
          <a:ext cx="3456638" cy="388616"/>
        </p:xfrm>
        <a:graphic>
          <a:graphicData uri="http://schemas.openxmlformats.org/presentationml/2006/ole">
            <mc:AlternateContent xmlns:mc="http://schemas.openxmlformats.org/markup-compatibility/2006">
              <mc:Choice xmlns:v="urn:schemas-microsoft-com:vml" Requires="v">
                <p:oleObj spid="_x0000_s1035" name="Equation" r:id="rId5" imgW="2145960" imgH="241200" progId="Equation.DSMT4">
                  <p:embed/>
                </p:oleObj>
              </mc:Choice>
              <mc:Fallback>
                <p:oleObj name="Equation" r:id="rId5" imgW="2145960" imgH="241200" progId="Equation.DSMT4">
                  <p:embed/>
                  <p:pic>
                    <p:nvPicPr>
                      <p:cNvPr id="3" name="Object 2">
                        <a:extLst>
                          <a:ext uri="{FF2B5EF4-FFF2-40B4-BE49-F238E27FC236}">
                            <a16:creationId xmlns:a16="http://schemas.microsoft.com/office/drawing/2014/main" id="{36E206B4-538F-47CF-839E-CE39A10D6B23}"/>
                          </a:ext>
                        </a:extLst>
                      </p:cNvPr>
                      <p:cNvPicPr/>
                      <p:nvPr/>
                    </p:nvPicPr>
                    <p:blipFill>
                      <a:blip r:embed="rId6"/>
                      <a:stretch>
                        <a:fillRect/>
                      </a:stretch>
                    </p:blipFill>
                    <p:spPr>
                      <a:xfrm>
                        <a:off x="2487353" y="4545950"/>
                        <a:ext cx="3456638" cy="388616"/>
                      </a:xfrm>
                      <a:prstGeom prst="rect">
                        <a:avLst/>
                      </a:prstGeom>
                    </p:spPr>
                  </p:pic>
                </p:oleObj>
              </mc:Fallback>
            </mc:AlternateContent>
          </a:graphicData>
        </a:graphic>
      </p:graphicFrame>
      <p:graphicFrame>
        <p:nvGraphicFramePr>
          <p:cNvPr id="6" name="Object 5" descr="P super pizza sub Canada = price of pizza in Vancouver">
            <a:extLst>
              <a:ext uri="{FF2B5EF4-FFF2-40B4-BE49-F238E27FC236}">
                <a16:creationId xmlns:a16="http://schemas.microsoft.com/office/drawing/2014/main" id="{99B83DA2-6D4C-4304-A4EE-BFA6A6E62171}"/>
              </a:ext>
            </a:extLst>
          </p:cNvPr>
          <p:cNvGraphicFramePr>
            <a:graphicFrameLocks noChangeAspect="1"/>
          </p:cNvGraphicFramePr>
          <p:nvPr>
            <p:extLst>
              <p:ext uri="{D42A27DB-BD31-4B8C-83A1-F6EECF244321}">
                <p14:modId xmlns:p14="http://schemas.microsoft.com/office/powerpoint/2010/main" val="3651245564"/>
              </p:ext>
            </p:extLst>
          </p:nvPr>
        </p:nvGraphicFramePr>
        <p:xfrm>
          <a:off x="2259319" y="5221043"/>
          <a:ext cx="4213416" cy="388616"/>
        </p:xfrm>
        <a:graphic>
          <a:graphicData uri="http://schemas.openxmlformats.org/presentationml/2006/ole">
            <mc:AlternateContent xmlns:mc="http://schemas.openxmlformats.org/markup-compatibility/2006">
              <mc:Choice xmlns:v="urn:schemas-microsoft-com:vml" Requires="v">
                <p:oleObj spid="_x0000_s1036" name="Equation" r:id="rId7" imgW="2616120" imgH="241200" progId="Equation.DSMT4">
                  <p:embed/>
                </p:oleObj>
              </mc:Choice>
              <mc:Fallback>
                <p:oleObj name="Equation" r:id="rId7" imgW="2616120" imgH="241200" progId="Equation.DSMT4">
                  <p:embed/>
                  <p:pic>
                    <p:nvPicPr>
                      <p:cNvPr id="4" name="Object 3">
                        <a:extLst>
                          <a:ext uri="{FF2B5EF4-FFF2-40B4-BE49-F238E27FC236}">
                            <a16:creationId xmlns:a16="http://schemas.microsoft.com/office/drawing/2014/main" id="{D1B0BE80-254A-486A-AF57-01B164312D1F}"/>
                          </a:ext>
                        </a:extLst>
                      </p:cNvPr>
                      <p:cNvPicPr/>
                      <p:nvPr/>
                    </p:nvPicPr>
                    <p:blipFill>
                      <a:blip r:embed="rId8"/>
                      <a:stretch>
                        <a:fillRect/>
                      </a:stretch>
                    </p:blipFill>
                    <p:spPr>
                      <a:xfrm>
                        <a:off x="2259319" y="5221043"/>
                        <a:ext cx="4213416" cy="388616"/>
                      </a:xfrm>
                      <a:prstGeom prst="rect">
                        <a:avLst/>
                      </a:prstGeom>
                    </p:spPr>
                  </p:pic>
                </p:oleObj>
              </mc:Fallback>
            </mc:AlternateContent>
          </a:graphicData>
        </a:graphic>
      </p:graphicFrame>
      <p:graphicFrame>
        <p:nvGraphicFramePr>
          <p:cNvPr id="7" name="Object 6" descr="E sub start fraction U S$ over C $ end fraction = U S dollar per Canadian dollar exchange rate ">
            <a:extLst>
              <a:ext uri="{FF2B5EF4-FFF2-40B4-BE49-F238E27FC236}">
                <a16:creationId xmlns:a16="http://schemas.microsoft.com/office/drawing/2014/main" id="{EF96D5EF-D62A-4B88-BE10-0E2CF08D144F}"/>
              </a:ext>
            </a:extLst>
          </p:cNvPr>
          <p:cNvGraphicFramePr>
            <a:graphicFrameLocks noChangeAspect="1"/>
          </p:cNvGraphicFramePr>
          <p:nvPr>
            <p:extLst>
              <p:ext uri="{D42A27DB-BD31-4B8C-83A1-F6EECF244321}">
                <p14:modId xmlns:p14="http://schemas.microsoft.com/office/powerpoint/2010/main" val="578967952"/>
              </p:ext>
            </p:extLst>
          </p:nvPr>
        </p:nvGraphicFramePr>
        <p:xfrm>
          <a:off x="2360626" y="5865224"/>
          <a:ext cx="5563346" cy="368163"/>
        </p:xfrm>
        <a:graphic>
          <a:graphicData uri="http://schemas.openxmlformats.org/presentationml/2006/ole">
            <mc:AlternateContent xmlns:mc="http://schemas.openxmlformats.org/markup-compatibility/2006">
              <mc:Choice xmlns:v="urn:schemas-microsoft-com:vml" Requires="v">
                <p:oleObj spid="_x0000_s1037" name="Equation" r:id="rId9" imgW="3454200" imgH="228600" progId="Equation.DSMT4">
                  <p:embed/>
                </p:oleObj>
              </mc:Choice>
              <mc:Fallback>
                <p:oleObj name="Equation" r:id="rId9" imgW="3454200" imgH="228600" progId="Equation.DSMT4">
                  <p:embed/>
                  <p:pic>
                    <p:nvPicPr>
                      <p:cNvPr id="5" name="Object 4">
                        <a:extLst>
                          <a:ext uri="{FF2B5EF4-FFF2-40B4-BE49-F238E27FC236}">
                            <a16:creationId xmlns:a16="http://schemas.microsoft.com/office/drawing/2014/main" id="{51156553-F1BC-4121-93BD-607E3F6657FD}"/>
                          </a:ext>
                        </a:extLst>
                      </p:cNvPr>
                      <p:cNvPicPr/>
                      <p:nvPr/>
                    </p:nvPicPr>
                    <p:blipFill>
                      <a:blip r:embed="rId10"/>
                      <a:stretch>
                        <a:fillRect/>
                      </a:stretch>
                    </p:blipFill>
                    <p:spPr>
                      <a:xfrm>
                        <a:off x="2360626" y="5865224"/>
                        <a:ext cx="5563346" cy="368163"/>
                      </a:xfrm>
                      <a:prstGeom prst="rect">
                        <a:avLst/>
                      </a:prstGeom>
                    </p:spPr>
                  </p:pic>
                </p:oleObj>
              </mc:Fallback>
            </mc:AlternateContent>
          </a:graphicData>
        </a:graphic>
      </p:graphicFrame>
    </p:spTree>
    <p:extLst>
      <p:ext uri="{BB962C8B-B14F-4D97-AF65-F5344CB8AC3E}">
        <p14:creationId xmlns:p14="http://schemas.microsoft.com/office/powerpoint/2010/main" val="3466579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Purchasing Power Parity </a:t>
            </a:r>
            <a:r>
              <a:rPr lang="en-US" altLang="en-US" sz="2000" b="0"/>
              <a:t>(1 of 3)</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6"/>
            <a:ext cx="8229600" cy="1589189"/>
          </a:xfrm>
        </p:spPr>
        <p:txBody>
          <a:bodyPr/>
          <a:lstStyle/>
          <a:p>
            <a:pPr eaLnBrk="1" hangingPunct="1"/>
            <a:r>
              <a:rPr lang="en-US" altLang="en-US" b="1" dirty="0">
                <a:latin typeface="Arial (Body)"/>
              </a:rPr>
              <a:t>Purchasing power parity </a:t>
            </a:r>
            <a:r>
              <a:rPr lang="en-US" altLang="en-US" dirty="0">
                <a:latin typeface="Arial (Body)"/>
              </a:rPr>
              <a:t>is the application of the law of one price across countries for </a:t>
            </a:r>
            <a:r>
              <a:rPr lang="en-US" altLang="en-US" b="1" dirty="0">
                <a:latin typeface="Arial (Body)"/>
              </a:rPr>
              <a:t>all</a:t>
            </a:r>
            <a:r>
              <a:rPr lang="en-US" altLang="en-US" dirty="0">
                <a:latin typeface="Arial (Body)"/>
              </a:rPr>
              <a:t> goods and services, or for representative groups (“</a:t>
            </a:r>
            <a:r>
              <a:rPr lang="en-US" altLang="ja-JP" dirty="0">
                <a:latin typeface="Arial (Body)"/>
              </a:rPr>
              <a:t>baskets”) of goods and services. </a:t>
            </a:r>
          </a:p>
        </p:txBody>
      </p:sp>
      <p:graphicFrame>
        <p:nvGraphicFramePr>
          <p:cNvPr id="8" name="Object 7" descr="P sub U S = E sub start fraction U S$ over C $ end fraction times P sub Canada">
            <a:extLst>
              <a:ext uri="{FF2B5EF4-FFF2-40B4-BE49-F238E27FC236}">
                <a16:creationId xmlns:a16="http://schemas.microsoft.com/office/drawing/2014/main" id="{AD80C433-3033-4373-82E5-7E56176C01BA}"/>
              </a:ext>
            </a:extLst>
          </p:cNvPr>
          <p:cNvGraphicFramePr>
            <a:graphicFrameLocks noChangeAspect="1"/>
          </p:cNvGraphicFramePr>
          <p:nvPr>
            <p:extLst>
              <p:ext uri="{D42A27DB-BD31-4B8C-83A1-F6EECF244321}">
                <p14:modId xmlns:p14="http://schemas.microsoft.com/office/powerpoint/2010/main" val="2766063766"/>
              </p:ext>
            </p:extLst>
          </p:nvPr>
        </p:nvGraphicFramePr>
        <p:xfrm>
          <a:off x="2246783" y="3590023"/>
          <a:ext cx="2880591" cy="450273"/>
        </p:xfrm>
        <a:graphic>
          <a:graphicData uri="http://schemas.openxmlformats.org/presentationml/2006/ole">
            <mc:AlternateContent xmlns:mc="http://schemas.openxmlformats.org/markup-compatibility/2006">
              <mc:Choice xmlns:v="urn:schemas-microsoft-com:vml" Requires="v">
                <p:oleObj spid="_x0000_s2058" name="Equation" r:id="rId3" imgW="1625400" imgH="253800" progId="Equation.DSMT4">
                  <p:embed/>
                </p:oleObj>
              </mc:Choice>
              <mc:Fallback>
                <p:oleObj name="Equation" r:id="rId3" imgW="1625400" imgH="253800" progId="Equation.DSMT4">
                  <p:embed/>
                  <p:pic>
                    <p:nvPicPr>
                      <p:cNvPr id="2" name="Object 1"/>
                      <p:cNvPicPr/>
                      <p:nvPr/>
                    </p:nvPicPr>
                    <p:blipFill>
                      <a:blip r:embed="rId4"/>
                      <a:stretch>
                        <a:fillRect/>
                      </a:stretch>
                    </p:blipFill>
                    <p:spPr>
                      <a:xfrm>
                        <a:off x="2246783" y="3590023"/>
                        <a:ext cx="2880591" cy="450273"/>
                      </a:xfrm>
                      <a:prstGeom prst="rect">
                        <a:avLst/>
                      </a:prstGeom>
                    </p:spPr>
                  </p:pic>
                </p:oleObj>
              </mc:Fallback>
            </mc:AlternateContent>
          </a:graphicData>
        </a:graphic>
      </p:graphicFrame>
      <p:graphicFrame>
        <p:nvGraphicFramePr>
          <p:cNvPr id="9" name="Object 8" descr="P sub U S = level of average prices in the U S ">
            <a:extLst>
              <a:ext uri="{FF2B5EF4-FFF2-40B4-BE49-F238E27FC236}">
                <a16:creationId xmlns:a16="http://schemas.microsoft.com/office/drawing/2014/main" id="{0D9015D6-6F14-4CF1-836F-30531B55ED5A}"/>
              </a:ext>
            </a:extLst>
          </p:cNvPr>
          <p:cNvGraphicFramePr>
            <a:graphicFrameLocks noChangeAspect="1"/>
          </p:cNvGraphicFramePr>
          <p:nvPr>
            <p:extLst>
              <p:ext uri="{D42A27DB-BD31-4B8C-83A1-F6EECF244321}">
                <p14:modId xmlns:p14="http://schemas.microsoft.com/office/powerpoint/2010/main" val="1021786763"/>
              </p:ext>
            </p:extLst>
          </p:nvPr>
        </p:nvGraphicFramePr>
        <p:xfrm>
          <a:off x="2246783" y="4247070"/>
          <a:ext cx="4837545" cy="404091"/>
        </p:xfrm>
        <a:graphic>
          <a:graphicData uri="http://schemas.openxmlformats.org/presentationml/2006/ole">
            <mc:AlternateContent xmlns:mc="http://schemas.openxmlformats.org/markup-compatibility/2006">
              <mc:Choice xmlns:v="urn:schemas-microsoft-com:vml" Requires="v">
                <p:oleObj spid="_x0000_s2059" name="Equation" r:id="rId5" imgW="2730240" imgH="228600" progId="Equation.DSMT4">
                  <p:embed/>
                </p:oleObj>
              </mc:Choice>
              <mc:Fallback>
                <p:oleObj name="Equation" r:id="rId5" imgW="2730240" imgH="228600" progId="Equation.DSMT4">
                  <p:embed/>
                  <p:pic>
                    <p:nvPicPr>
                      <p:cNvPr id="3" name="Object 2">
                        <a:extLst>
                          <a:ext uri="{FF2B5EF4-FFF2-40B4-BE49-F238E27FC236}">
                            <a16:creationId xmlns:a16="http://schemas.microsoft.com/office/drawing/2014/main" id="{8319D2FE-CDBC-47DA-9DD7-194E83952EDB}"/>
                          </a:ext>
                        </a:extLst>
                      </p:cNvPr>
                      <p:cNvPicPr/>
                      <p:nvPr/>
                    </p:nvPicPr>
                    <p:blipFill>
                      <a:blip r:embed="rId6"/>
                      <a:stretch>
                        <a:fillRect/>
                      </a:stretch>
                    </p:blipFill>
                    <p:spPr>
                      <a:xfrm>
                        <a:off x="2246783" y="4247070"/>
                        <a:ext cx="4837545" cy="404091"/>
                      </a:xfrm>
                      <a:prstGeom prst="rect">
                        <a:avLst/>
                      </a:prstGeom>
                    </p:spPr>
                  </p:pic>
                </p:oleObj>
              </mc:Fallback>
            </mc:AlternateContent>
          </a:graphicData>
        </a:graphic>
      </p:graphicFrame>
      <p:graphicFrame>
        <p:nvGraphicFramePr>
          <p:cNvPr id="10" name="Object 9" descr="P sub Canada = level of average prices in Canada">
            <a:extLst>
              <a:ext uri="{FF2B5EF4-FFF2-40B4-BE49-F238E27FC236}">
                <a16:creationId xmlns:a16="http://schemas.microsoft.com/office/drawing/2014/main" id="{C9545A46-A027-480C-97F8-D1FADFC06BC4}"/>
              </a:ext>
            </a:extLst>
          </p:cNvPr>
          <p:cNvGraphicFramePr>
            <a:graphicFrameLocks noChangeAspect="1"/>
          </p:cNvGraphicFramePr>
          <p:nvPr>
            <p:extLst>
              <p:ext uri="{D42A27DB-BD31-4B8C-83A1-F6EECF244321}">
                <p14:modId xmlns:p14="http://schemas.microsoft.com/office/powerpoint/2010/main" val="1517942932"/>
              </p:ext>
            </p:extLst>
          </p:nvPr>
        </p:nvGraphicFramePr>
        <p:xfrm>
          <a:off x="2012109" y="4961051"/>
          <a:ext cx="5152231" cy="404979"/>
        </p:xfrm>
        <a:graphic>
          <a:graphicData uri="http://schemas.openxmlformats.org/presentationml/2006/ole">
            <mc:AlternateContent xmlns:mc="http://schemas.openxmlformats.org/markup-compatibility/2006">
              <mc:Choice xmlns:v="urn:schemas-microsoft-com:vml" Requires="v">
                <p:oleObj spid="_x0000_s2060" name="Equation" r:id="rId7" imgW="2908080" imgH="228600" progId="Equation.DSMT4">
                  <p:embed/>
                </p:oleObj>
              </mc:Choice>
              <mc:Fallback>
                <p:oleObj name="Equation" r:id="rId7" imgW="2908080" imgH="228600" progId="Equation.DSMT4">
                  <p:embed/>
                  <p:pic>
                    <p:nvPicPr>
                      <p:cNvPr id="7" name="Object 6">
                        <a:extLst>
                          <a:ext uri="{FF2B5EF4-FFF2-40B4-BE49-F238E27FC236}">
                            <a16:creationId xmlns:a16="http://schemas.microsoft.com/office/drawing/2014/main" id="{EB6CB134-687F-4526-9445-A746A43E0AAD}"/>
                          </a:ext>
                        </a:extLst>
                      </p:cNvPr>
                      <p:cNvPicPr/>
                      <p:nvPr/>
                    </p:nvPicPr>
                    <p:blipFill>
                      <a:blip r:embed="rId8"/>
                      <a:stretch>
                        <a:fillRect/>
                      </a:stretch>
                    </p:blipFill>
                    <p:spPr>
                      <a:xfrm>
                        <a:off x="2012109" y="4961051"/>
                        <a:ext cx="5152231" cy="404979"/>
                      </a:xfrm>
                      <a:prstGeom prst="rect">
                        <a:avLst/>
                      </a:prstGeom>
                    </p:spPr>
                  </p:pic>
                </p:oleObj>
              </mc:Fallback>
            </mc:AlternateContent>
          </a:graphicData>
        </a:graphic>
      </p:graphicFrame>
      <p:graphicFrame>
        <p:nvGraphicFramePr>
          <p:cNvPr id="11" name="Object 10" descr="E sub start fraction U S$ over C $ end fraction = U S dollar per Canadian dollar exchange rate ">
            <a:extLst>
              <a:ext uri="{FF2B5EF4-FFF2-40B4-BE49-F238E27FC236}">
                <a16:creationId xmlns:a16="http://schemas.microsoft.com/office/drawing/2014/main" id="{598830D7-B794-4559-8824-EBB4D2D2575E}"/>
              </a:ext>
            </a:extLst>
          </p:cNvPr>
          <p:cNvGraphicFramePr>
            <a:graphicFrameLocks noChangeAspect="1"/>
          </p:cNvGraphicFramePr>
          <p:nvPr>
            <p:extLst>
              <p:ext uri="{D42A27DB-BD31-4B8C-83A1-F6EECF244321}">
                <p14:modId xmlns:p14="http://schemas.microsoft.com/office/powerpoint/2010/main" val="1964241509"/>
              </p:ext>
            </p:extLst>
          </p:nvPr>
        </p:nvGraphicFramePr>
        <p:xfrm>
          <a:off x="1988788" y="5655954"/>
          <a:ext cx="6277172" cy="404979"/>
        </p:xfrm>
        <a:graphic>
          <a:graphicData uri="http://schemas.openxmlformats.org/presentationml/2006/ole">
            <mc:AlternateContent xmlns:mc="http://schemas.openxmlformats.org/markup-compatibility/2006">
              <mc:Choice xmlns:v="urn:schemas-microsoft-com:vml" Requires="v">
                <p:oleObj spid="_x0000_s2061" name="Equation" r:id="rId9" imgW="3543120" imgH="228600" progId="Equation.DSMT4">
                  <p:embed/>
                </p:oleObj>
              </mc:Choice>
              <mc:Fallback>
                <p:oleObj name="Equation" r:id="rId9" imgW="3543120" imgH="228600" progId="Equation.DSMT4">
                  <p:embed/>
                  <p:pic>
                    <p:nvPicPr>
                      <p:cNvPr id="8" name="Object 7">
                        <a:extLst>
                          <a:ext uri="{FF2B5EF4-FFF2-40B4-BE49-F238E27FC236}">
                            <a16:creationId xmlns:a16="http://schemas.microsoft.com/office/drawing/2014/main" id="{C95D5E05-A22A-47BE-AE73-F7514E997929}"/>
                          </a:ext>
                        </a:extLst>
                      </p:cNvPr>
                      <p:cNvPicPr/>
                      <p:nvPr/>
                    </p:nvPicPr>
                    <p:blipFill>
                      <a:blip r:embed="rId10"/>
                      <a:stretch>
                        <a:fillRect/>
                      </a:stretch>
                    </p:blipFill>
                    <p:spPr>
                      <a:xfrm>
                        <a:off x="1988788" y="5655954"/>
                        <a:ext cx="6277172" cy="404979"/>
                      </a:xfrm>
                      <a:prstGeom prst="rect">
                        <a:avLst/>
                      </a:prstGeom>
                    </p:spPr>
                  </p:pic>
                </p:oleObj>
              </mc:Fallback>
            </mc:AlternateContent>
          </a:graphicData>
        </a:graphic>
      </p:graphicFrame>
    </p:spTree>
    <p:extLst>
      <p:ext uri="{BB962C8B-B14F-4D97-AF65-F5344CB8AC3E}">
        <p14:creationId xmlns:p14="http://schemas.microsoft.com/office/powerpoint/2010/main" val="1928609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Purchasing Power Parity </a:t>
            </a:r>
            <a:r>
              <a:rPr lang="en-US" altLang="en-US" sz="2000" b="0"/>
              <a:t>(2 of 3)</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2576"/>
            <a:ext cx="8232128" cy="761999"/>
          </a:xfrm>
        </p:spPr>
        <p:txBody>
          <a:bodyPr/>
          <a:lstStyle/>
          <a:p>
            <a:pPr eaLnBrk="1" hangingPunct="1"/>
            <a:r>
              <a:rPr lang="en-US" altLang="en-US" sz="2000" dirty="0">
                <a:latin typeface="Arial (Body)"/>
              </a:rPr>
              <a:t>Purchasing power parity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a:latin typeface="Arial (Body)"/>
              </a:rPr>
              <a:t>P) implies that the exchange rate is determined by levels of average prices</a:t>
            </a:r>
          </a:p>
        </p:txBody>
      </p:sp>
      <p:graphicFrame>
        <p:nvGraphicFramePr>
          <p:cNvPr id="5" name="Object 4" descr="E sub start fraction U S$ over C $ end fraction = start fraction P sub U S over P sub Canada end fraction">
            <a:extLst>
              <a:ext uri="{FF2B5EF4-FFF2-40B4-BE49-F238E27FC236}">
                <a16:creationId xmlns:a16="http://schemas.microsoft.com/office/drawing/2014/main" id="{76C37888-5276-4B1E-85AA-D1C3DCE43084}"/>
              </a:ext>
            </a:extLst>
          </p:cNvPr>
          <p:cNvGraphicFramePr>
            <a:graphicFrameLocks noChangeAspect="1"/>
          </p:cNvGraphicFramePr>
          <p:nvPr>
            <p:extLst>
              <p:ext uri="{D42A27DB-BD31-4B8C-83A1-F6EECF244321}">
                <p14:modId xmlns:p14="http://schemas.microsoft.com/office/powerpoint/2010/main" val="1860388357"/>
              </p:ext>
            </p:extLst>
          </p:nvPr>
        </p:nvGraphicFramePr>
        <p:xfrm>
          <a:off x="3631406" y="2370360"/>
          <a:ext cx="1881187" cy="890587"/>
        </p:xfrm>
        <a:graphic>
          <a:graphicData uri="http://schemas.openxmlformats.org/presentationml/2006/ole">
            <mc:AlternateContent xmlns:mc="http://schemas.openxmlformats.org/markup-compatibility/2006">
              <mc:Choice xmlns:v="urn:schemas-microsoft-com:vml" Requires="v">
                <p:oleObj spid="_x0000_s3078" name="Equation" r:id="rId3" imgW="1880849" imgH="890114" progId="Equation.DSMT4">
                  <p:embed/>
                </p:oleObj>
              </mc:Choice>
              <mc:Fallback>
                <p:oleObj name="Equation" r:id="rId3" imgW="1880849" imgH="890114" progId="Equation.DSMT4">
                  <p:embed/>
                  <p:pic>
                    <p:nvPicPr>
                      <p:cNvPr id="0" name=""/>
                      <p:cNvPicPr/>
                      <p:nvPr/>
                    </p:nvPicPr>
                    <p:blipFill>
                      <a:blip r:embed="rId4"/>
                      <a:stretch>
                        <a:fillRect/>
                      </a:stretch>
                    </p:blipFill>
                    <p:spPr>
                      <a:xfrm>
                        <a:off x="3631406" y="2370360"/>
                        <a:ext cx="1881187" cy="890587"/>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FCB680F8-EB40-4B94-ACFF-4D4C294D7271}"/>
              </a:ext>
            </a:extLst>
          </p:cNvPr>
          <p:cNvSpPr>
            <a:spLocks noGrp="1"/>
          </p:cNvSpPr>
          <p:nvPr>
            <p:ph sz="quarter" idx="14"/>
          </p:nvPr>
        </p:nvSpPr>
        <p:spPr>
          <a:xfrm>
            <a:off x="457200" y="3321231"/>
            <a:ext cx="8229600" cy="751530"/>
          </a:xfrm>
        </p:spPr>
        <p:txBody>
          <a:bodyPr/>
          <a:lstStyle/>
          <a:p>
            <a:pPr lvl="1" indent="-284400"/>
            <a:r>
              <a:rPr lang="en-US" altLang="en-US" sz="2000" dirty="0">
                <a:latin typeface="Arial (Body)"/>
                <a:ea typeface="ＭＳ Ｐゴシック" pitchFamily="34" charset="-128"/>
              </a:rPr>
              <a:t>If the price level in the United States is US$200 per basket, while the price level in Canada is C$400 per basket, P</a:t>
            </a:r>
            <a:r>
              <a:rPr lang="en-US" altLang="en-US" sz="100" dirty="0">
                <a:latin typeface="Arial (Body)"/>
                <a:ea typeface="ＭＳ Ｐゴシック" pitchFamily="34" charset="-128"/>
              </a:rPr>
              <a:t> </a:t>
            </a:r>
            <a:r>
              <a:rPr lang="en-US" altLang="en-US" sz="2000" dirty="0" err="1">
                <a:latin typeface="Arial (Body)"/>
                <a:ea typeface="ＭＳ Ｐゴシック" pitchFamily="34" charset="-128"/>
              </a:rPr>
              <a:t>P</a:t>
            </a:r>
            <a:r>
              <a:rPr lang="en-US" altLang="en-US" sz="100" dirty="0">
                <a:latin typeface="Arial (Body)"/>
                <a:ea typeface="ＭＳ Ｐゴシック" pitchFamily="34" charset="-128"/>
              </a:rPr>
              <a:t> </a:t>
            </a:r>
            <a:r>
              <a:rPr lang="en-US" altLang="en-US" sz="2000" dirty="0" err="1">
                <a:latin typeface="Arial (Body)"/>
                <a:ea typeface="ＭＳ Ｐゴシック" pitchFamily="34" charset="-128"/>
              </a:rPr>
              <a:t>P</a:t>
            </a:r>
            <a:r>
              <a:rPr lang="en-US" altLang="en-US" sz="2000" dirty="0">
                <a:latin typeface="Arial (Body)"/>
                <a:ea typeface="ＭＳ Ｐゴシック" pitchFamily="34" charset="-128"/>
              </a:rPr>
              <a:t> implies that</a:t>
            </a:r>
          </a:p>
        </p:txBody>
      </p:sp>
      <p:sp>
        <p:nvSpPr>
          <p:cNvPr id="7" name="Content Placeholder 6"/>
          <p:cNvSpPr>
            <a:spLocks noGrp="1"/>
          </p:cNvSpPr>
          <p:nvPr>
            <p:ph sz="quarter" idx="15"/>
          </p:nvPr>
        </p:nvSpPr>
        <p:spPr>
          <a:xfrm>
            <a:off x="457200" y="4151911"/>
            <a:ext cx="5133975" cy="357029"/>
          </a:xfrm>
        </p:spPr>
        <p:txBody>
          <a:bodyPr lIns="90000" tIns="0" rIns="0" bIns="0"/>
          <a:lstStyle/>
          <a:p>
            <a:pPr marL="741600" lvl="1" indent="0">
              <a:spcBef>
                <a:spcPts val="1500"/>
              </a:spcBef>
              <a:buNone/>
            </a:pPr>
            <a:r>
              <a:rPr lang="en-US" altLang="en-US" sz="2000" dirty="0">
                <a:latin typeface="Arial (Body)"/>
                <a:ea typeface="ＭＳ Ｐゴシック" pitchFamily="34" charset="-128"/>
              </a:rPr>
              <a:t>the C$/US$ exchange rate should be</a:t>
            </a:r>
          </a:p>
        </p:txBody>
      </p:sp>
      <p:graphicFrame>
        <p:nvGraphicFramePr>
          <p:cNvPr id="9" name="Object 8" descr="C $400 per U S $200 = C$2 per U S $1."/>
          <p:cNvGraphicFramePr>
            <a:graphicFrameLocks noChangeAspect="1"/>
          </p:cNvGraphicFramePr>
          <p:nvPr>
            <p:extLst>
              <p:ext uri="{D42A27DB-BD31-4B8C-83A1-F6EECF244321}">
                <p14:modId xmlns:p14="http://schemas.microsoft.com/office/powerpoint/2010/main" val="1494533776"/>
              </p:ext>
            </p:extLst>
          </p:nvPr>
        </p:nvGraphicFramePr>
        <p:xfrm>
          <a:off x="1278038" y="4581690"/>
          <a:ext cx="3374824" cy="306803"/>
        </p:xfrm>
        <a:graphic>
          <a:graphicData uri="http://schemas.openxmlformats.org/presentationml/2006/ole">
            <mc:AlternateContent xmlns:mc="http://schemas.openxmlformats.org/markup-compatibility/2006">
              <mc:Choice xmlns:v="urn:schemas-microsoft-com:vml" Requires="v">
                <p:oleObj spid="_x0000_s3079" name="Equation" r:id="rId5" imgW="2095200" imgH="190440" progId="Equation.DSMT4">
                  <p:embed/>
                </p:oleObj>
              </mc:Choice>
              <mc:Fallback>
                <p:oleObj name="Equation" r:id="rId5" imgW="2095200" imgH="190440" progId="Equation.DSMT4">
                  <p:embed/>
                  <p:pic>
                    <p:nvPicPr>
                      <p:cNvPr id="0" name=""/>
                      <p:cNvPicPr/>
                      <p:nvPr/>
                    </p:nvPicPr>
                    <p:blipFill>
                      <a:blip r:embed="rId6"/>
                      <a:stretch>
                        <a:fillRect/>
                      </a:stretch>
                    </p:blipFill>
                    <p:spPr>
                      <a:xfrm>
                        <a:off x="1278038" y="4581690"/>
                        <a:ext cx="3374824" cy="306803"/>
                      </a:xfrm>
                      <a:prstGeom prst="rect">
                        <a:avLst/>
                      </a:prstGeom>
                    </p:spPr>
                  </p:pic>
                </p:oleObj>
              </mc:Fallback>
            </mc:AlternateContent>
          </a:graphicData>
        </a:graphic>
      </p:graphicFrame>
      <p:sp>
        <p:nvSpPr>
          <p:cNvPr id="8" name="Content Placeholder 7"/>
          <p:cNvSpPr>
            <a:spLocks noGrp="1"/>
          </p:cNvSpPr>
          <p:nvPr>
            <p:ph sz="quarter" idx="16"/>
          </p:nvPr>
        </p:nvSpPr>
        <p:spPr>
          <a:xfrm>
            <a:off x="457200" y="4962096"/>
            <a:ext cx="8232128" cy="1383141"/>
          </a:xfrm>
        </p:spPr>
        <p:txBody>
          <a:bodyPr/>
          <a:lstStyle/>
          <a:p>
            <a:pPr marL="741600" lvl="1" indent="-284400">
              <a:spcBef>
                <a:spcPts val="1500"/>
              </a:spcBef>
            </a:pPr>
            <a:r>
              <a:rPr lang="en-US" altLang="en-US" sz="2000" dirty="0">
                <a:latin typeface="Arial (Body)"/>
                <a:ea typeface="ＭＳ Ｐゴシック" pitchFamily="34" charset="-128"/>
              </a:rPr>
              <a:t>Predicts that people in all countries have the same purchasing power with their currencies: 2 Canadian dollars buy the same amount of goods as 1 U.S. dollar, since prices in Canada are twice as high.</a:t>
            </a:r>
            <a:endParaRPr lang="en-US" sz="2000" dirty="0"/>
          </a:p>
        </p:txBody>
      </p:sp>
    </p:spTree>
    <p:extLst>
      <p:ext uri="{BB962C8B-B14F-4D97-AF65-F5344CB8AC3E}">
        <p14:creationId xmlns:p14="http://schemas.microsoft.com/office/powerpoint/2010/main" val="2562060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a:t>Purchasing Power Parity </a:t>
            </a:r>
            <a:r>
              <a:rPr lang="en-US" altLang="en-US" sz="2000" b="0"/>
              <a:t>(3 of 3)</a:t>
            </a:r>
            <a:endParaRPr lang="en-US"/>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26347"/>
            <a:ext cx="8229600" cy="1174812"/>
          </a:xfrm>
        </p:spPr>
        <p:txBody>
          <a:bodyPr/>
          <a:lstStyle/>
          <a:p>
            <a:pPr eaLnBrk="1" hangingPunct="1"/>
            <a:r>
              <a:rPr lang="en-US" altLang="en-US" sz="1800" dirty="0">
                <a:latin typeface="Arial (Body)"/>
              </a:rPr>
              <a:t>Purchasing power parity (P</a:t>
            </a:r>
            <a:r>
              <a:rPr lang="en-US" altLang="en-US" sz="100" dirty="0">
                <a:latin typeface="Arial (Body)"/>
              </a:rPr>
              <a:t> </a:t>
            </a:r>
            <a:r>
              <a:rPr lang="en-US" altLang="en-US" sz="1800" dirty="0" err="1">
                <a:latin typeface="Arial (Body)"/>
              </a:rPr>
              <a:t>P</a:t>
            </a:r>
            <a:r>
              <a:rPr lang="en-US" altLang="en-US" sz="100" dirty="0">
                <a:latin typeface="Arial (Body)"/>
              </a:rPr>
              <a:t> </a:t>
            </a:r>
            <a:r>
              <a:rPr lang="en-US" altLang="en-US" sz="1800" dirty="0">
                <a:latin typeface="Arial (Body)"/>
              </a:rPr>
              <a:t>P) comes in two forms:</a:t>
            </a:r>
          </a:p>
          <a:p>
            <a:pPr eaLnBrk="1" hangingPunct="1">
              <a:spcBef>
                <a:spcPct val="50000"/>
              </a:spcBef>
            </a:pPr>
            <a:r>
              <a:rPr lang="en-US" altLang="en-US" sz="1800" b="1" dirty="0">
                <a:latin typeface="Arial (Body)"/>
              </a:rPr>
              <a:t>Absolute P</a:t>
            </a:r>
            <a:r>
              <a:rPr lang="en-US" altLang="en-US" sz="100" b="1" dirty="0">
                <a:latin typeface="Arial (Body)"/>
              </a:rPr>
              <a:t> </a:t>
            </a:r>
            <a:r>
              <a:rPr lang="en-US" altLang="en-US" sz="1800" b="1" dirty="0" err="1">
                <a:latin typeface="Arial (Body)"/>
              </a:rPr>
              <a:t>P</a:t>
            </a:r>
            <a:r>
              <a:rPr lang="en-US" altLang="en-US" sz="100" b="1" dirty="0">
                <a:latin typeface="Arial (Body)"/>
              </a:rPr>
              <a:t> </a:t>
            </a:r>
            <a:r>
              <a:rPr lang="en-US" altLang="en-US" sz="1800" b="1" dirty="0">
                <a:latin typeface="Arial (Body)"/>
              </a:rPr>
              <a:t>P</a:t>
            </a:r>
            <a:r>
              <a:rPr lang="en-US" altLang="en-US" sz="1800" dirty="0">
                <a:latin typeface="Arial (Body)"/>
              </a:rPr>
              <a:t>: purchasing power parity that has already been discussed. Exchange rates equal the </a:t>
            </a:r>
            <a:r>
              <a:rPr lang="en-US" altLang="en-US" sz="1800" b="1" dirty="0">
                <a:latin typeface="Arial (Body)"/>
              </a:rPr>
              <a:t>level</a:t>
            </a:r>
            <a:r>
              <a:rPr lang="en-US" altLang="en-US" sz="1800" i="1" dirty="0">
                <a:latin typeface="Arial (Body)"/>
              </a:rPr>
              <a:t> </a:t>
            </a:r>
            <a:r>
              <a:rPr lang="en-US" altLang="en-US" sz="1800" dirty="0">
                <a:latin typeface="Arial (Body)"/>
              </a:rPr>
              <a:t>of relative average prices across countries.</a:t>
            </a:r>
          </a:p>
        </p:txBody>
      </p:sp>
      <p:graphicFrame>
        <p:nvGraphicFramePr>
          <p:cNvPr id="12" name="Object 11" descr="E sub start expression dollar per euro end expression = start fraction P sub U S over P sub E U end fraction">
            <a:extLst>
              <a:ext uri="{FF2B5EF4-FFF2-40B4-BE49-F238E27FC236}">
                <a16:creationId xmlns:a16="http://schemas.microsoft.com/office/drawing/2014/main" id="{2EE1269F-CAB8-49FA-A4C2-D9DA899359D1}"/>
              </a:ext>
            </a:extLst>
          </p:cNvPr>
          <p:cNvGraphicFramePr>
            <a:graphicFrameLocks noChangeAspect="1"/>
          </p:cNvGraphicFramePr>
          <p:nvPr>
            <p:extLst>
              <p:ext uri="{D42A27DB-BD31-4B8C-83A1-F6EECF244321}">
                <p14:modId xmlns:p14="http://schemas.microsoft.com/office/powerpoint/2010/main" val="2443546301"/>
              </p:ext>
            </p:extLst>
          </p:nvPr>
        </p:nvGraphicFramePr>
        <p:xfrm>
          <a:off x="3400354" y="2837323"/>
          <a:ext cx="1270582" cy="752682"/>
        </p:xfrm>
        <a:graphic>
          <a:graphicData uri="http://schemas.openxmlformats.org/presentationml/2006/ole">
            <mc:AlternateContent xmlns:mc="http://schemas.openxmlformats.org/markup-compatibility/2006">
              <mc:Choice xmlns:v="urn:schemas-microsoft-com:vml" Requires="v">
                <p:oleObj spid="_x0000_s4104" name="Equation" r:id="rId3" imgW="1460204" imgH="865599" progId="Equation.DSMT4">
                  <p:embed/>
                </p:oleObj>
              </mc:Choice>
              <mc:Fallback>
                <p:oleObj name="Equation" r:id="rId3" imgW="1460204" imgH="865599" progId="Equation.DSMT4">
                  <p:embed/>
                  <p:pic>
                    <p:nvPicPr>
                      <p:cNvPr id="0" name=""/>
                      <p:cNvPicPr/>
                      <p:nvPr/>
                    </p:nvPicPr>
                    <p:blipFill>
                      <a:blip r:embed="rId4"/>
                      <a:stretch>
                        <a:fillRect/>
                      </a:stretch>
                    </p:blipFill>
                    <p:spPr>
                      <a:xfrm>
                        <a:off x="3400354" y="2837323"/>
                        <a:ext cx="1270582" cy="75268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4D923D24-784B-4EF1-B7B9-5B9B9252C66A}"/>
              </a:ext>
            </a:extLst>
          </p:cNvPr>
          <p:cNvSpPr>
            <a:spLocks noGrp="1"/>
          </p:cNvSpPr>
          <p:nvPr>
            <p:ph sz="quarter" idx="16"/>
          </p:nvPr>
        </p:nvSpPr>
        <p:spPr>
          <a:xfrm>
            <a:off x="477894" y="3656506"/>
            <a:ext cx="8208906" cy="684000"/>
          </a:xfrm>
        </p:spPr>
        <p:txBody>
          <a:bodyPr/>
          <a:lstStyle/>
          <a:p>
            <a:pPr indent="-255600"/>
            <a:r>
              <a:rPr lang="en-US" altLang="en-US" sz="1800" b="1" dirty="0">
                <a:latin typeface="+mn-lt"/>
              </a:rPr>
              <a:t>Relative P</a:t>
            </a:r>
            <a:r>
              <a:rPr lang="en-US" altLang="en-US" sz="100" b="1" dirty="0">
                <a:latin typeface="+mn-lt"/>
              </a:rPr>
              <a:t> </a:t>
            </a:r>
            <a:r>
              <a:rPr lang="en-US" altLang="en-US" sz="1800" b="1" dirty="0" err="1">
                <a:latin typeface="+mn-lt"/>
              </a:rPr>
              <a:t>P</a:t>
            </a:r>
            <a:r>
              <a:rPr lang="en-US" altLang="en-US" sz="100" b="1" dirty="0">
                <a:latin typeface="+mn-lt"/>
              </a:rPr>
              <a:t> </a:t>
            </a:r>
            <a:r>
              <a:rPr lang="en-US" altLang="en-US" sz="1800" b="1" dirty="0">
                <a:latin typeface="+mn-lt"/>
              </a:rPr>
              <a:t>P</a:t>
            </a:r>
            <a:r>
              <a:rPr lang="en-US" altLang="en-US" sz="1800" dirty="0">
                <a:latin typeface="+mn-lt"/>
              </a:rPr>
              <a:t>: </a:t>
            </a:r>
            <a:r>
              <a:rPr lang="en-US" altLang="en-US" sz="1800" b="1" dirty="0">
                <a:latin typeface="+mn-lt"/>
              </a:rPr>
              <a:t>changes</a:t>
            </a:r>
            <a:r>
              <a:rPr lang="en-US" altLang="en-US" sz="1800" dirty="0">
                <a:latin typeface="+mn-lt"/>
              </a:rPr>
              <a:t> in exchange rates equal </a:t>
            </a:r>
            <a:r>
              <a:rPr lang="en-US" altLang="en-US" sz="1800" b="1" dirty="0">
                <a:latin typeface="+mn-lt"/>
              </a:rPr>
              <a:t>changes</a:t>
            </a:r>
            <a:r>
              <a:rPr lang="en-US" altLang="en-US" sz="1800" dirty="0">
                <a:latin typeface="+mn-lt"/>
              </a:rPr>
              <a:t> in prices (inflation) between two periods:</a:t>
            </a:r>
            <a:endParaRPr lang="en-US" sz="1800" dirty="0">
              <a:latin typeface="+mn-lt"/>
            </a:endParaRPr>
          </a:p>
        </p:txBody>
      </p:sp>
      <p:graphicFrame>
        <p:nvGraphicFramePr>
          <p:cNvPr id="15" name="Object 14" descr="Start fraction left parenthesis E sub start expression $ per euro comma t end expression minus E sub start expression $ per euro comma t minus 1 end expression right parenthesis over E sub start expression $ per euro comma t minus 1 end expression = pi sub start expression U S comma t end expression minus pi sub start expression E U comma t end expression">
            <a:extLst>
              <a:ext uri="{FF2B5EF4-FFF2-40B4-BE49-F238E27FC236}">
                <a16:creationId xmlns:a16="http://schemas.microsoft.com/office/drawing/2014/main" id="{A7D4D15D-38A7-4427-94CB-1F087756B756}"/>
              </a:ext>
            </a:extLst>
          </p:cNvPr>
          <p:cNvGraphicFramePr>
            <a:graphicFrameLocks noChangeAspect="1"/>
          </p:cNvGraphicFramePr>
          <p:nvPr>
            <p:extLst>
              <p:ext uri="{D42A27DB-BD31-4B8C-83A1-F6EECF244321}">
                <p14:modId xmlns:p14="http://schemas.microsoft.com/office/powerpoint/2010/main" val="3884933744"/>
              </p:ext>
            </p:extLst>
          </p:nvPr>
        </p:nvGraphicFramePr>
        <p:xfrm>
          <a:off x="2855448" y="4647665"/>
          <a:ext cx="3474491" cy="844434"/>
        </p:xfrm>
        <a:graphic>
          <a:graphicData uri="http://schemas.openxmlformats.org/presentationml/2006/ole">
            <mc:AlternateContent xmlns:mc="http://schemas.openxmlformats.org/markup-compatibility/2006">
              <mc:Choice xmlns:v="urn:schemas-microsoft-com:vml" Requires="v">
                <p:oleObj spid="_x0000_s4105" name="Equation" r:id="rId5" imgW="1930320" imgH="469800" progId="Equation.DSMT4">
                  <p:embed/>
                </p:oleObj>
              </mc:Choice>
              <mc:Fallback>
                <p:oleObj name="Equation" r:id="rId5" imgW="1930320" imgH="469800" progId="Equation.DSMT4">
                  <p:embed/>
                  <p:pic>
                    <p:nvPicPr>
                      <p:cNvPr id="11" name="Object 10"/>
                      <p:cNvPicPr/>
                      <p:nvPr/>
                    </p:nvPicPr>
                    <p:blipFill>
                      <a:blip r:embed="rId6"/>
                      <a:stretch>
                        <a:fillRect/>
                      </a:stretch>
                    </p:blipFill>
                    <p:spPr>
                      <a:xfrm>
                        <a:off x="2855448" y="4647665"/>
                        <a:ext cx="3474491" cy="844434"/>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7BE55D09-84B1-4550-AC06-C209DBF5E025}"/>
              </a:ext>
            </a:extLst>
          </p:cNvPr>
          <p:cNvSpPr>
            <a:spLocks noGrp="1"/>
          </p:cNvSpPr>
          <p:nvPr>
            <p:ph sz="quarter" idx="17"/>
          </p:nvPr>
        </p:nvSpPr>
        <p:spPr>
          <a:xfrm>
            <a:off x="457200" y="5606873"/>
            <a:ext cx="900000" cy="468000"/>
          </a:xfrm>
        </p:spPr>
        <p:txBody>
          <a:bodyPr/>
          <a:lstStyle/>
          <a:p>
            <a:pPr marL="0" indent="0">
              <a:buNone/>
            </a:pPr>
            <a:r>
              <a:rPr lang="en-US" altLang="en-US" sz="2000" dirty="0">
                <a:latin typeface="Arial (Body)"/>
              </a:rPr>
              <a:t>where</a:t>
            </a:r>
            <a:endParaRPr lang="en-US" sz="2000" dirty="0"/>
          </a:p>
        </p:txBody>
      </p:sp>
      <p:graphicFrame>
        <p:nvGraphicFramePr>
          <p:cNvPr id="16" name="Object 15" descr="Pi sub t = inflation rate from period t minus 1 to t">
            <a:extLst>
              <a:ext uri="{FF2B5EF4-FFF2-40B4-BE49-F238E27FC236}">
                <a16:creationId xmlns:a16="http://schemas.microsoft.com/office/drawing/2014/main" id="{89B1A9FE-D1B9-40C3-9305-B83EF0278524}"/>
              </a:ext>
            </a:extLst>
          </p:cNvPr>
          <p:cNvGraphicFramePr>
            <a:graphicFrameLocks noChangeAspect="1"/>
          </p:cNvGraphicFramePr>
          <p:nvPr>
            <p:extLst>
              <p:ext uri="{D42A27DB-BD31-4B8C-83A1-F6EECF244321}">
                <p14:modId xmlns:p14="http://schemas.microsoft.com/office/powerpoint/2010/main" val="1117978068"/>
              </p:ext>
            </p:extLst>
          </p:nvPr>
        </p:nvGraphicFramePr>
        <p:xfrm>
          <a:off x="1449717" y="5663192"/>
          <a:ext cx="4322048" cy="397544"/>
        </p:xfrm>
        <a:graphic>
          <a:graphicData uri="http://schemas.openxmlformats.org/presentationml/2006/ole">
            <mc:AlternateContent xmlns:mc="http://schemas.openxmlformats.org/markup-compatibility/2006">
              <mc:Choice xmlns:v="urn:schemas-microsoft-com:vml" Requires="v">
                <p:oleObj spid="_x0000_s4106" name="Equation" r:id="rId7" imgW="2489040" imgH="228600" progId="Equation.DSMT4">
                  <p:embed/>
                </p:oleObj>
              </mc:Choice>
              <mc:Fallback>
                <p:oleObj name="Equation" r:id="rId7" imgW="2489040" imgH="228600" progId="Equation.DSMT4">
                  <p:embed/>
                  <p:pic>
                    <p:nvPicPr>
                      <p:cNvPr id="3" name="Object 2"/>
                      <p:cNvPicPr/>
                      <p:nvPr/>
                    </p:nvPicPr>
                    <p:blipFill>
                      <a:blip r:embed="rId8"/>
                      <a:stretch>
                        <a:fillRect/>
                      </a:stretch>
                    </p:blipFill>
                    <p:spPr>
                      <a:xfrm>
                        <a:off x="1449717" y="5663192"/>
                        <a:ext cx="4322048" cy="397544"/>
                      </a:xfrm>
                      <a:prstGeom prst="rect">
                        <a:avLst/>
                      </a:prstGeom>
                    </p:spPr>
                  </p:pic>
                </p:oleObj>
              </mc:Fallback>
            </mc:AlternateContent>
          </a:graphicData>
        </a:graphic>
      </p:graphicFrame>
    </p:spTree>
    <p:extLst>
      <p:ext uri="{BB962C8B-B14F-4D97-AF65-F5344CB8AC3E}">
        <p14:creationId xmlns:p14="http://schemas.microsoft.com/office/powerpoint/2010/main" val="4137491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a:t>Monetary Approach to Exchange Rates </a:t>
            </a:r>
            <a:r>
              <a:rPr lang="en-US" altLang="en-US" sz="1800" b="0"/>
              <a:t>(1 of 5)</a:t>
            </a:r>
            <a:endParaRPr lang="en-US" sz="180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5"/>
            <a:ext cx="8056179" cy="2605772"/>
          </a:xfrm>
        </p:spPr>
        <p:txBody>
          <a:bodyPr/>
          <a:lstStyle/>
          <a:p>
            <a:pPr eaLnBrk="1" hangingPunct="1"/>
            <a:r>
              <a:rPr lang="en-US" altLang="en-US" sz="2200" b="1" dirty="0">
                <a:latin typeface="Arial (Body)"/>
              </a:rPr>
              <a:t>Monetary approach to the exchange rate</a:t>
            </a:r>
            <a:r>
              <a:rPr lang="en-US" altLang="en-US" sz="2200" i="1" dirty="0">
                <a:latin typeface="Arial (Body)"/>
              </a:rPr>
              <a:t>: </a:t>
            </a:r>
            <a:r>
              <a:rPr lang="en-US" altLang="en-US" sz="2200" dirty="0">
                <a:latin typeface="Arial (Body)"/>
              </a:rPr>
              <a:t>uses monetary factors to predict how exchange rates adjust in the long run, based on the absolute version of P</a:t>
            </a:r>
            <a:r>
              <a:rPr lang="en-US" altLang="en-US" sz="100" dirty="0">
                <a:latin typeface="Arial (Body)"/>
              </a:rPr>
              <a:t> </a:t>
            </a:r>
            <a:r>
              <a:rPr lang="en-US" altLang="en-US" sz="2200" dirty="0" err="1">
                <a:latin typeface="Arial (Body)"/>
              </a:rPr>
              <a:t>P</a:t>
            </a:r>
            <a:r>
              <a:rPr lang="en-US" altLang="en-US" sz="100" dirty="0">
                <a:latin typeface="Arial (Body)"/>
              </a:rPr>
              <a:t> </a:t>
            </a:r>
            <a:r>
              <a:rPr lang="en-US" altLang="en-US" sz="2200" dirty="0" err="1">
                <a:latin typeface="Arial (Body)"/>
              </a:rPr>
              <a:t>P</a:t>
            </a:r>
            <a:r>
              <a:rPr lang="en-US" altLang="en-US" sz="2200" dirty="0">
                <a:latin typeface="Arial (Body)"/>
              </a:rPr>
              <a:t>.</a:t>
            </a:r>
          </a:p>
          <a:p>
            <a:pPr lvl="1" eaLnBrk="1" hangingPunct="1"/>
            <a:r>
              <a:rPr lang="en-US" altLang="en-US" sz="2200" dirty="0">
                <a:latin typeface="Arial (Body)"/>
              </a:rPr>
              <a:t>It predicts that levels of average prices across countries adjust so that the quantity of real monetary assets supplied will equal the quantity of real monetary assets demanded:</a:t>
            </a:r>
          </a:p>
        </p:txBody>
      </p:sp>
      <p:graphicFrame>
        <p:nvGraphicFramePr>
          <p:cNvPr id="12" name="Object 11" descr="P sub U S = start fraction M super S sub U S over L left parenthesis R sub $ comma Y sub U S right parenthesis end fraction">
            <a:extLst>
              <a:ext uri="{FF2B5EF4-FFF2-40B4-BE49-F238E27FC236}">
                <a16:creationId xmlns:a16="http://schemas.microsoft.com/office/drawing/2014/main" id="{0CFB3CF6-41FB-4B2C-86E3-07E5CD45C79B}"/>
              </a:ext>
            </a:extLst>
          </p:cNvPr>
          <p:cNvGraphicFramePr>
            <a:graphicFrameLocks noChangeAspect="1"/>
          </p:cNvGraphicFramePr>
          <p:nvPr>
            <p:extLst>
              <p:ext uri="{D42A27DB-BD31-4B8C-83A1-F6EECF244321}">
                <p14:modId xmlns:p14="http://schemas.microsoft.com/office/powerpoint/2010/main" val="1880738516"/>
              </p:ext>
            </p:extLst>
          </p:nvPr>
        </p:nvGraphicFramePr>
        <p:xfrm>
          <a:off x="3592801" y="4300046"/>
          <a:ext cx="1958398" cy="854365"/>
        </p:xfrm>
        <a:graphic>
          <a:graphicData uri="http://schemas.openxmlformats.org/presentationml/2006/ole">
            <mc:AlternateContent xmlns:mc="http://schemas.openxmlformats.org/markup-compatibility/2006">
              <mc:Choice xmlns:v="urn:schemas-microsoft-com:vml" Requires="v">
                <p:oleObj spid="_x0000_s5126" name="Equation" r:id="rId3" imgW="1104840" imgH="482400" progId="Equation.DSMT4">
                  <p:embed/>
                </p:oleObj>
              </mc:Choice>
              <mc:Fallback>
                <p:oleObj name="Equation" r:id="rId3" imgW="1104840" imgH="482400" progId="Equation.DSMT4">
                  <p:embed/>
                  <p:pic>
                    <p:nvPicPr>
                      <p:cNvPr id="5" name="Object 4"/>
                      <p:cNvPicPr/>
                      <p:nvPr/>
                    </p:nvPicPr>
                    <p:blipFill>
                      <a:blip r:embed="rId4"/>
                      <a:stretch>
                        <a:fillRect/>
                      </a:stretch>
                    </p:blipFill>
                    <p:spPr>
                      <a:xfrm>
                        <a:off x="3592801" y="4300046"/>
                        <a:ext cx="1958398" cy="854365"/>
                      </a:xfrm>
                      <a:prstGeom prst="rect">
                        <a:avLst/>
                      </a:prstGeom>
                    </p:spPr>
                  </p:pic>
                </p:oleObj>
              </mc:Fallback>
            </mc:AlternateContent>
          </a:graphicData>
        </a:graphic>
      </p:graphicFrame>
      <p:graphicFrame>
        <p:nvGraphicFramePr>
          <p:cNvPr id="13" name="Object 12" descr="P sub E U = start fraction M super S sub E U over L left parenthesis R sub euro comma Y sub E U right parenthesis end fraction">
            <a:extLst>
              <a:ext uri="{FF2B5EF4-FFF2-40B4-BE49-F238E27FC236}">
                <a16:creationId xmlns:a16="http://schemas.microsoft.com/office/drawing/2014/main" id="{7F12C4CA-9519-49B1-ABBE-365A5F8BA218}"/>
              </a:ext>
            </a:extLst>
          </p:cNvPr>
          <p:cNvGraphicFramePr>
            <a:graphicFrameLocks noChangeAspect="1"/>
          </p:cNvGraphicFramePr>
          <p:nvPr>
            <p:extLst>
              <p:ext uri="{D42A27DB-BD31-4B8C-83A1-F6EECF244321}">
                <p14:modId xmlns:p14="http://schemas.microsoft.com/office/powerpoint/2010/main" val="2674418304"/>
              </p:ext>
            </p:extLst>
          </p:nvPr>
        </p:nvGraphicFramePr>
        <p:xfrm>
          <a:off x="3592588" y="5311049"/>
          <a:ext cx="1981489" cy="831273"/>
        </p:xfrm>
        <a:graphic>
          <a:graphicData uri="http://schemas.openxmlformats.org/presentationml/2006/ole">
            <mc:AlternateContent xmlns:mc="http://schemas.openxmlformats.org/markup-compatibility/2006">
              <mc:Choice xmlns:v="urn:schemas-microsoft-com:vml" Requires="v">
                <p:oleObj spid="_x0000_s5127" name="Equation" r:id="rId5" imgW="1117440" imgH="469800" progId="Equation.DSMT4">
                  <p:embed/>
                </p:oleObj>
              </mc:Choice>
              <mc:Fallback>
                <p:oleObj name="Equation" r:id="rId5" imgW="1117440" imgH="469800" progId="Equation.DSMT4">
                  <p:embed/>
                  <p:pic>
                    <p:nvPicPr>
                      <p:cNvPr id="6" name="Object 5"/>
                      <p:cNvPicPr/>
                      <p:nvPr/>
                    </p:nvPicPr>
                    <p:blipFill>
                      <a:blip r:embed="rId6"/>
                      <a:stretch>
                        <a:fillRect/>
                      </a:stretch>
                    </p:blipFill>
                    <p:spPr>
                      <a:xfrm>
                        <a:off x="3592588" y="5311049"/>
                        <a:ext cx="1981489" cy="831273"/>
                      </a:xfrm>
                      <a:prstGeom prst="rect">
                        <a:avLst/>
                      </a:prstGeom>
                    </p:spPr>
                  </p:pic>
                </p:oleObj>
              </mc:Fallback>
            </mc:AlternateContent>
          </a:graphicData>
        </a:graphic>
      </p:graphicFrame>
    </p:spTree>
    <p:extLst>
      <p:ext uri="{BB962C8B-B14F-4D97-AF65-F5344CB8AC3E}">
        <p14:creationId xmlns:p14="http://schemas.microsoft.com/office/powerpoint/2010/main" val="3801608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Monetary Approach to Exchange Rates </a:t>
            </a:r>
            <a:r>
              <a:rPr lang="en-US" altLang="en-US" sz="1800" b="0" dirty="0"/>
              <a:t>(2 of 5)</a:t>
            </a:r>
            <a:endParaRPr lang="en-US" sz="1800"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4"/>
            <a:ext cx="8229600" cy="4218833"/>
          </a:xfrm>
        </p:spPr>
        <p:txBody>
          <a:bodyPr/>
          <a:lstStyle/>
          <a:p>
            <a:pPr eaLnBrk="1" hangingPunct="1"/>
            <a:r>
              <a:rPr lang="en-US" altLang="en-US" dirty="0">
                <a:latin typeface="Arial (Body)"/>
              </a:rPr>
              <a:t>To the degree that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 holds and to the degree that prices adjust to equate the quantity of real monetary assets supplied with the quantity of real monetary assets demanded, we have the following prediction: </a:t>
            </a:r>
          </a:p>
          <a:p>
            <a:pPr lvl="1" eaLnBrk="1" hangingPunct="1"/>
            <a:r>
              <a:rPr lang="en-US" altLang="en-US" sz="2400" dirty="0">
                <a:latin typeface="Arial (Body)"/>
              </a:rPr>
              <a:t>The exchange rate is determined in the long run by prices, which are determined by the relative supply and demand of real monetary assets in money markets across countries. </a:t>
            </a:r>
          </a:p>
        </p:txBody>
      </p:sp>
    </p:spTree>
    <p:extLst>
      <p:ext uri="{BB962C8B-B14F-4D97-AF65-F5344CB8AC3E}">
        <p14:creationId xmlns:p14="http://schemas.microsoft.com/office/powerpoint/2010/main" val="3666391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Monetary Approach to Exchange Rates </a:t>
            </a:r>
            <a:r>
              <a:rPr lang="en-US" altLang="en-US" sz="1800" b="0" dirty="0"/>
              <a:t>(3 of 5)</a:t>
            </a:r>
            <a:endParaRPr lang="en-US" sz="1800" dirty="0"/>
          </a:p>
        </p:txBody>
      </p:sp>
      <p:sp>
        <p:nvSpPr>
          <p:cNvPr id="4" name="Content Placeholder 3">
            <a:extLst>
              <a:ext uri="{FF2B5EF4-FFF2-40B4-BE49-F238E27FC236}">
                <a16:creationId xmlns:a16="http://schemas.microsoft.com/office/drawing/2014/main" id="{042917EA-3D2A-4B58-B779-98F30F358156}"/>
              </a:ext>
            </a:extLst>
          </p:cNvPr>
          <p:cNvSpPr>
            <a:spLocks noGrp="1"/>
          </p:cNvSpPr>
          <p:nvPr>
            <p:ph sz="quarter" idx="13"/>
          </p:nvPr>
        </p:nvSpPr>
        <p:spPr>
          <a:xfrm>
            <a:off x="457200" y="1556327"/>
            <a:ext cx="3620814" cy="432000"/>
          </a:xfrm>
        </p:spPr>
        <p:txBody>
          <a:bodyPr/>
          <a:lstStyle/>
          <a:p>
            <a:pPr marL="432" indent="0">
              <a:buNone/>
            </a:pPr>
            <a:r>
              <a:rPr lang="en-US" altLang="en-US" sz="2000" dirty="0">
                <a:latin typeface="Arial (Body)"/>
              </a:rPr>
              <a:t>Predictions about changes in</a:t>
            </a:r>
          </a:p>
        </p:txBody>
      </p:sp>
      <p:sp>
        <p:nvSpPr>
          <p:cNvPr id="5" name="Content Placeholder 4">
            <a:extLst>
              <a:ext uri="{FF2B5EF4-FFF2-40B4-BE49-F238E27FC236}">
                <a16:creationId xmlns:a16="http://schemas.microsoft.com/office/drawing/2014/main" id="{BFF40237-7850-4D03-9A44-7FBA4A7B4DDB}"/>
              </a:ext>
            </a:extLst>
          </p:cNvPr>
          <p:cNvSpPr>
            <a:spLocks noGrp="1"/>
          </p:cNvSpPr>
          <p:nvPr>
            <p:ph sz="quarter" idx="14"/>
          </p:nvPr>
        </p:nvSpPr>
        <p:spPr>
          <a:xfrm>
            <a:off x="457200" y="2157170"/>
            <a:ext cx="7866993" cy="360000"/>
          </a:xfrm>
        </p:spPr>
        <p:txBody>
          <a:bodyPr tIns="0"/>
          <a:lstStyle/>
          <a:p>
            <a:pPr marL="432000" indent="-432000">
              <a:buFont typeface="+mj-lt"/>
              <a:buAutoNum type="arabicPeriod"/>
            </a:pPr>
            <a:r>
              <a:rPr lang="en-US" altLang="en-US" sz="2000" b="1" dirty="0">
                <a:latin typeface="Arial (Body)"/>
              </a:rPr>
              <a:t>Money supply</a:t>
            </a:r>
            <a:r>
              <a:rPr lang="en-US" altLang="en-US" sz="2000" dirty="0">
                <a:latin typeface="Arial (Body)"/>
              </a:rPr>
              <a:t>: a permanent rise in the domestic money supply</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5"/>
          </p:nvPr>
        </p:nvSpPr>
        <p:spPr>
          <a:xfrm>
            <a:off x="457201" y="2607629"/>
            <a:ext cx="7782910" cy="1459874"/>
          </a:xfrm>
        </p:spPr>
        <p:txBody>
          <a:bodyPr tIns="0"/>
          <a:lstStyle/>
          <a:p>
            <a:pPr marL="740664" lvl="1" indent="-283464" eaLnBrk="1" hangingPunct="1"/>
            <a:r>
              <a:rPr lang="en-US" altLang="en-US" sz="2000" dirty="0">
                <a:latin typeface="Arial (Body)"/>
              </a:rPr>
              <a:t>causes a proportional increase in the domestic price level,</a:t>
            </a:r>
          </a:p>
          <a:p>
            <a:pPr marL="740664" lvl="1" indent="-283464" eaLnBrk="1" hangingPunct="1"/>
            <a:r>
              <a:rPr lang="en-US" altLang="en-US" sz="2000" dirty="0">
                <a:latin typeface="Arial (Body)"/>
              </a:rPr>
              <a:t>thus causing a proportional depreciation in the domestic currency (through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a:latin typeface="Arial (Body)"/>
              </a:rPr>
              <a:t>P).</a:t>
            </a:r>
          </a:p>
          <a:p>
            <a:pPr marL="740664" lvl="1" indent="-283464" eaLnBrk="1" hangingPunct="1"/>
            <a:r>
              <a:rPr lang="en-US" altLang="en-US" sz="2000" dirty="0">
                <a:latin typeface="Arial (Body)"/>
              </a:rPr>
              <a:t>This is same prediction as long-run model without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a:t>
            </a:r>
          </a:p>
        </p:txBody>
      </p:sp>
      <p:sp>
        <p:nvSpPr>
          <p:cNvPr id="7" name="Content Placeholder 6">
            <a:extLst>
              <a:ext uri="{FF2B5EF4-FFF2-40B4-BE49-F238E27FC236}">
                <a16:creationId xmlns:a16="http://schemas.microsoft.com/office/drawing/2014/main" id="{3D1B9F3C-130A-493E-8DDB-A550C0271E43}"/>
              </a:ext>
            </a:extLst>
          </p:cNvPr>
          <p:cNvSpPr>
            <a:spLocks noGrp="1"/>
          </p:cNvSpPr>
          <p:nvPr>
            <p:ph sz="quarter" idx="16"/>
          </p:nvPr>
        </p:nvSpPr>
        <p:spPr>
          <a:xfrm>
            <a:off x="457200" y="4199782"/>
            <a:ext cx="5979695" cy="360000"/>
          </a:xfrm>
        </p:spPr>
        <p:txBody>
          <a:bodyPr tIns="0"/>
          <a:lstStyle/>
          <a:p>
            <a:pPr marL="432000" indent="-432000">
              <a:buFont typeface="+mj-lt"/>
              <a:buAutoNum type="arabicPeriod" startAt="2"/>
            </a:pPr>
            <a:r>
              <a:rPr lang="en-US" altLang="en-US" sz="2000" b="1" dirty="0">
                <a:latin typeface="Arial (Body)"/>
              </a:rPr>
              <a:t>Interest rates</a:t>
            </a:r>
            <a:r>
              <a:rPr lang="en-US" altLang="en-US" sz="2000" dirty="0">
                <a:latin typeface="Arial (Body)"/>
              </a:rPr>
              <a:t>: a rise in domestic interest rates</a:t>
            </a:r>
            <a:endParaRPr lang="en-US" sz="2000" dirty="0"/>
          </a:p>
        </p:txBody>
      </p:sp>
      <p:sp>
        <p:nvSpPr>
          <p:cNvPr id="8" name="Content Placeholder 7">
            <a:extLst>
              <a:ext uri="{FF2B5EF4-FFF2-40B4-BE49-F238E27FC236}">
                <a16:creationId xmlns:a16="http://schemas.microsoft.com/office/drawing/2014/main" id="{A525A6F3-DB0E-49CE-9DB9-5C11C24833AD}"/>
              </a:ext>
            </a:extLst>
          </p:cNvPr>
          <p:cNvSpPr>
            <a:spLocks noGrp="1"/>
          </p:cNvSpPr>
          <p:nvPr>
            <p:ph sz="quarter" idx="17"/>
          </p:nvPr>
        </p:nvSpPr>
        <p:spPr>
          <a:xfrm>
            <a:off x="457200" y="4712510"/>
            <a:ext cx="7499131" cy="1446552"/>
          </a:xfrm>
        </p:spPr>
        <p:txBody>
          <a:bodyPr tIns="0"/>
          <a:lstStyle/>
          <a:p>
            <a:pPr marL="740664" lvl="1" indent="-283464" eaLnBrk="1" hangingPunct="1"/>
            <a:r>
              <a:rPr lang="en-US" altLang="en-US" sz="2000" dirty="0">
                <a:latin typeface="Arial (Body)"/>
              </a:rPr>
              <a:t>lowers the demand of real monetary assets,</a:t>
            </a:r>
          </a:p>
          <a:p>
            <a:pPr marL="740664" lvl="1" indent="-283464" eaLnBrk="1" hangingPunct="1"/>
            <a:r>
              <a:rPr lang="en-US" altLang="en-US" sz="2000" dirty="0">
                <a:latin typeface="Arial (Body)"/>
              </a:rPr>
              <a:t>and is associated with a rise in domestic prices, </a:t>
            </a:r>
          </a:p>
          <a:p>
            <a:pPr marL="740664" lvl="1" indent="-283464" eaLnBrk="1" hangingPunct="1"/>
            <a:r>
              <a:rPr lang="en-US" altLang="en-US" sz="2000" dirty="0">
                <a:latin typeface="Arial (Body)"/>
              </a:rPr>
              <a:t>thus causing a proportional depreciation of the domestic currency (through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a:latin typeface="Arial (Body)"/>
              </a:rPr>
              <a:t>P).</a:t>
            </a:r>
            <a:endParaRPr lang="en-US" sz="2000" dirty="0"/>
          </a:p>
        </p:txBody>
      </p:sp>
    </p:spTree>
    <p:extLst>
      <p:ext uri="{BB962C8B-B14F-4D97-AF65-F5344CB8AC3E}">
        <p14:creationId xmlns:p14="http://schemas.microsoft.com/office/powerpoint/2010/main" val="1417585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Monetary Approach to Exchange Rates </a:t>
            </a:r>
            <a:r>
              <a:rPr lang="en-US" altLang="en-US" sz="1800" b="0" dirty="0"/>
              <a:t>(4 of 5)</a:t>
            </a:r>
            <a:endParaRPr lang="en-US" sz="1800" dirty="0"/>
          </a:p>
        </p:txBody>
      </p:sp>
      <p:sp>
        <p:nvSpPr>
          <p:cNvPr id="5" name="Content Placeholder 4">
            <a:extLst>
              <a:ext uri="{FF2B5EF4-FFF2-40B4-BE49-F238E27FC236}">
                <a16:creationId xmlns:a16="http://schemas.microsoft.com/office/drawing/2014/main" id="{BFF40237-7850-4D03-9A44-7FBA4A7B4DDB}"/>
              </a:ext>
            </a:extLst>
          </p:cNvPr>
          <p:cNvSpPr>
            <a:spLocks noGrp="1"/>
          </p:cNvSpPr>
          <p:nvPr>
            <p:ph sz="quarter" idx="14"/>
          </p:nvPr>
        </p:nvSpPr>
        <p:spPr>
          <a:xfrm>
            <a:off x="457200" y="1654282"/>
            <a:ext cx="8229600" cy="720000"/>
          </a:xfrm>
        </p:spPr>
        <p:txBody>
          <a:bodyPr tIns="0"/>
          <a:lstStyle/>
          <a:p>
            <a:pPr marL="432000" indent="-432000" eaLnBrk="1" hangingPunct="1">
              <a:buFont typeface="Times" pitchFamily="-1" charset="0"/>
              <a:buAutoNum type="arabicPeriod" startAt="3"/>
            </a:pPr>
            <a:r>
              <a:rPr lang="en-US" altLang="en-US" sz="2200" b="1" dirty="0">
                <a:latin typeface="Arial (Body)"/>
              </a:rPr>
              <a:t>Output level:</a:t>
            </a:r>
            <a:r>
              <a:rPr lang="en-US" altLang="en-US" sz="2200" dirty="0">
                <a:latin typeface="Arial (Body)"/>
              </a:rPr>
              <a:t> a rise in the domestic level of production and income (output) </a:t>
            </a:r>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5"/>
          </p:nvPr>
        </p:nvSpPr>
        <p:spPr>
          <a:xfrm>
            <a:off x="457200" y="2526215"/>
            <a:ext cx="8073189" cy="3778331"/>
          </a:xfrm>
        </p:spPr>
        <p:txBody>
          <a:bodyPr tIns="0"/>
          <a:lstStyle/>
          <a:p>
            <a:pPr marL="741600" lvl="1" indent="-284400" eaLnBrk="1" hangingPunct="1"/>
            <a:r>
              <a:rPr lang="en-US" altLang="en-US" sz="2200" dirty="0">
                <a:latin typeface="Arial (Body)"/>
              </a:rPr>
              <a:t>raises domestic demand of real monetary assets, </a:t>
            </a:r>
          </a:p>
          <a:p>
            <a:pPr marL="741600" lvl="1" indent="-284400" eaLnBrk="1" hangingPunct="1"/>
            <a:r>
              <a:rPr lang="en-US" altLang="en-US" sz="2200" dirty="0">
                <a:latin typeface="Arial (Body)"/>
              </a:rPr>
              <a:t>and is associated with a decreasing level of average domestic prices (for a fixed quantity of money supplied),</a:t>
            </a:r>
          </a:p>
          <a:p>
            <a:pPr marL="741600" lvl="1" indent="-284400" eaLnBrk="1" hangingPunct="1"/>
            <a:r>
              <a:rPr lang="en-US" altLang="en-US" sz="2200" dirty="0">
                <a:latin typeface="Arial (Body)"/>
              </a:rPr>
              <a:t>thus causing a proportional appreciation of the domestic currency (through P</a:t>
            </a:r>
            <a:r>
              <a:rPr lang="en-US" altLang="en-US" sz="100" dirty="0">
                <a:latin typeface="Arial (Body)"/>
              </a:rPr>
              <a:t> </a:t>
            </a:r>
            <a:r>
              <a:rPr lang="en-US" altLang="en-US" sz="2200" dirty="0" err="1">
                <a:latin typeface="Arial (Body)"/>
              </a:rPr>
              <a:t>P</a:t>
            </a:r>
            <a:r>
              <a:rPr lang="en-US" altLang="en-US" sz="100" dirty="0">
                <a:latin typeface="Arial (Body)"/>
              </a:rPr>
              <a:t> </a:t>
            </a:r>
            <a:r>
              <a:rPr lang="en-US" altLang="en-US" sz="2200" dirty="0">
                <a:latin typeface="Arial (Body)"/>
              </a:rPr>
              <a:t>P).</a:t>
            </a:r>
          </a:p>
          <a:p>
            <a:pPr marL="255600" indent="-255600" eaLnBrk="1" hangingPunct="1"/>
            <a:r>
              <a:rPr lang="en-US" altLang="en-US" sz="2200" dirty="0">
                <a:latin typeface="Arial (Body)"/>
              </a:rPr>
              <a:t>All three changes affect money supply or money demand, and cause prices to adjust so that the quantity of real monetary assets supplied matches the quantity of real monetary assets demanded, and cause exchange rates to adjust according to P</a:t>
            </a:r>
            <a:r>
              <a:rPr lang="en-US" altLang="en-US" sz="100" dirty="0">
                <a:latin typeface="Arial (Body)"/>
              </a:rPr>
              <a:t> </a:t>
            </a:r>
            <a:r>
              <a:rPr lang="en-US" altLang="en-US" sz="2200" dirty="0" err="1">
                <a:latin typeface="Arial (Body)"/>
              </a:rPr>
              <a:t>P</a:t>
            </a:r>
            <a:r>
              <a:rPr lang="en-US" altLang="en-US" sz="100" dirty="0">
                <a:latin typeface="Arial (Body)"/>
              </a:rPr>
              <a:t> </a:t>
            </a:r>
            <a:r>
              <a:rPr lang="en-US" altLang="en-US" sz="2200" dirty="0" err="1">
                <a:latin typeface="Arial (Body)"/>
              </a:rPr>
              <a:t>P</a:t>
            </a:r>
            <a:r>
              <a:rPr lang="en-US" altLang="en-US" sz="2200" dirty="0">
                <a:latin typeface="Arial (Body)"/>
              </a:rPr>
              <a:t>.</a:t>
            </a:r>
          </a:p>
        </p:txBody>
      </p:sp>
    </p:spTree>
    <p:extLst>
      <p:ext uri="{BB962C8B-B14F-4D97-AF65-F5344CB8AC3E}">
        <p14:creationId xmlns:p14="http://schemas.microsoft.com/office/powerpoint/2010/main" val="4259384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Monetary Approach to Exchange Rates </a:t>
            </a:r>
            <a:r>
              <a:rPr lang="en-US" altLang="en-US" sz="1800" b="0" dirty="0"/>
              <a:t>(5 of 5)</a:t>
            </a:r>
            <a:endParaRPr lang="en-US" sz="18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5"/>
          </p:nvPr>
        </p:nvSpPr>
        <p:spPr>
          <a:xfrm>
            <a:off x="457200" y="1579731"/>
            <a:ext cx="8229600" cy="4355848"/>
          </a:xfrm>
        </p:spPr>
        <p:txBody>
          <a:bodyPr tIns="0"/>
          <a:lstStyle/>
          <a:p>
            <a:pPr indent="-255600" eaLnBrk="1" hangingPunct="1"/>
            <a:r>
              <a:rPr lang="en-US" altLang="en-US" sz="2200" dirty="0">
                <a:latin typeface="Arial (Body)"/>
              </a:rPr>
              <a:t>A change in the money supply results in a change in the level of average prices.</a:t>
            </a:r>
          </a:p>
          <a:p>
            <a:pPr indent="-255600" eaLnBrk="1" hangingPunct="1"/>
            <a:r>
              <a:rPr lang="en-US" altLang="en-US" sz="2200" dirty="0">
                <a:latin typeface="Arial (Body)"/>
              </a:rPr>
              <a:t>A change in the </a:t>
            </a:r>
            <a:r>
              <a:rPr lang="en-US" altLang="en-US" sz="2200" b="1" dirty="0">
                <a:latin typeface="Arial (Body)"/>
              </a:rPr>
              <a:t>growth rate</a:t>
            </a:r>
            <a:r>
              <a:rPr lang="en-US" altLang="en-US" sz="2200" i="1" dirty="0">
                <a:latin typeface="Arial (Body)"/>
              </a:rPr>
              <a:t> </a:t>
            </a:r>
            <a:r>
              <a:rPr lang="en-US" altLang="en-US" sz="2200" dirty="0">
                <a:latin typeface="Arial (Body)"/>
              </a:rPr>
              <a:t>of the money supply results in a change in the </a:t>
            </a:r>
            <a:r>
              <a:rPr lang="en-US" altLang="en-US" sz="2200" b="1" dirty="0">
                <a:latin typeface="Arial (Body)"/>
              </a:rPr>
              <a:t>growth rate</a:t>
            </a:r>
            <a:r>
              <a:rPr lang="en-US" altLang="en-US" sz="2200" dirty="0">
                <a:latin typeface="Arial (Body)"/>
              </a:rPr>
              <a:t> of prices (inflation).</a:t>
            </a:r>
          </a:p>
          <a:p>
            <a:pPr lvl="1" indent="-284400" eaLnBrk="1" hangingPunct="1"/>
            <a:r>
              <a:rPr lang="en-US" altLang="en-US" sz="2200" dirty="0">
                <a:latin typeface="Arial (Body)"/>
              </a:rPr>
              <a:t>A constant growth rate in the money supply results in a persistent growth rate in prices (persistent inflation) at the same constant rate, when other factors are constant.</a:t>
            </a:r>
          </a:p>
          <a:p>
            <a:pPr lvl="1" indent="-284400" eaLnBrk="1" hangingPunct="1"/>
            <a:r>
              <a:rPr lang="en-US" altLang="en-US" sz="2200" dirty="0">
                <a:latin typeface="Arial (Body)"/>
              </a:rPr>
              <a:t>Inflation does not affect the productive capacity of the economy and real income from production in the long run.</a:t>
            </a:r>
          </a:p>
          <a:p>
            <a:pPr lvl="1" indent="-284400" eaLnBrk="1" hangingPunct="1"/>
            <a:r>
              <a:rPr lang="en-US" altLang="en-US" sz="2200" dirty="0">
                <a:latin typeface="Arial (Body)"/>
              </a:rPr>
              <a:t>Inflation, however, does affect nominal interest rates. How?</a:t>
            </a:r>
          </a:p>
        </p:txBody>
      </p:sp>
    </p:spTree>
    <p:extLst>
      <p:ext uri="{BB962C8B-B14F-4D97-AF65-F5344CB8AC3E}">
        <p14:creationId xmlns:p14="http://schemas.microsoft.com/office/powerpoint/2010/main" val="152509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The Fisher Effect </a:t>
            </a:r>
            <a:r>
              <a:rPr lang="en-US" altLang="en-US" sz="2000" b="0" dirty="0"/>
              <a:t>(1 of 2)</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556326"/>
            <a:ext cx="8229600" cy="1152000"/>
          </a:xfrm>
        </p:spPr>
        <p:txBody>
          <a:bodyPr tIns="0"/>
          <a:lstStyle/>
          <a:p>
            <a:pPr indent="-255600"/>
            <a:r>
              <a:rPr lang="en-US" altLang="en-US" sz="2000" dirty="0">
                <a:latin typeface="Arial (Body)"/>
              </a:rPr>
              <a:t>The </a:t>
            </a:r>
            <a:r>
              <a:rPr lang="en-US" altLang="en-US" sz="2000" b="1" dirty="0">
                <a:latin typeface="Arial (Body)"/>
              </a:rPr>
              <a:t>Fisher effect</a:t>
            </a:r>
            <a:r>
              <a:rPr lang="en-US" altLang="en-US" sz="2000" dirty="0">
                <a:latin typeface="Arial (Body)"/>
              </a:rPr>
              <a:t> (named affect Irving Fisher) describes the relationship between nominal interest rates and inflation.</a:t>
            </a:r>
          </a:p>
          <a:p>
            <a:pPr lvl="1" indent="-284400"/>
            <a:r>
              <a:rPr lang="en-US" altLang="en-US" sz="2000" dirty="0">
                <a:latin typeface="Arial (Body)"/>
              </a:rPr>
              <a:t>Derive the Fisher effect from the interest parity condition: </a:t>
            </a:r>
            <a:endParaRPr lang="en-US" altLang="en-US" sz="2000" baseline="-25000" dirty="0">
              <a:latin typeface="Arial (Body)"/>
            </a:endParaRPr>
          </a:p>
        </p:txBody>
      </p:sp>
      <p:graphicFrame>
        <p:nvGraphicFramePr>
          <p:cNvPr id="4" name="Object 3" descr="R sub dollar minus R sub euro = start fraction left parenthesis E to the lower e power sub dollar per euro minus E sub dollar per euro right parenthesis over E sub dollar per euro end fraction">
            <a:extLst>
              <a:ext uri="{FF2B5EF4-FFF2-40B4-BE49-F238E27FC236}">
                <a16:creationId xmlns:a16="http://schemas.microsoft.com/office/drawing/2014/main" id="{6FA77ECF-97FE-4D33-B6BB-D2A4F98B1D21}"/>
              </a:ext>
            </a:extLst>
          </p:cNvPr>
          <p:cNvGraphicFramePr>
            <a:graphicFrameLocks noChangeAspect="1"/>
          </p:cNvGraphicFramePr>
          <p:nvPr>
            <p:extLst>
              <p:ext uri="{D42A27DB-BD31-4B8C-83A1-F6EECF244321}">
                <p14:modId xmlns:p14="http://schemas.microsoft.com/office/powerpoint/2010/main" val="2007467735"/>
              </p:ext>
            </p:extLst>
          </p:nvPr>
        </p:nvGraphicFramePr>
        <p:xfrm>
          <a:off x="3108205" y="2918069"/>
          <a:ext cx="2926002" cy="936814"/>
        </p:xfrm>
        <a:graphic>
          <a:graphicData uri="http://schemas.openxmlformats.org/presentationml/2006/ole">
            <mc:AlternateContent xmlns:mc="http://schemas.openxmlformats.org/markup-compatibility/2006">
              <mc:Choice xmlns:v="urn:schemas-microsoft-com:vml" Requires="v">
                <p:oleObj spid="_x0000_s6150" name="Equation" r:id="rId3" imgW="3014684" imgH="964741" progId="Equation.DSMT4">
                  <p:embed/>
                </p:oleObj>
              </mc:Choice>
              <mc:Fallback>
                <p:oleObj name="Equation" r:id="rId3" imgW="3014684" imgH="964741" progId="Equation.DSMT4">
                  <p:embed/>
                  <p:pic>
                    <p:nvPicPr>
                      <p:cNvPr id="0" name=""/>
                      <p:cNvPicPr/>
                      <p:nvPr/>
                    </p:nvPicPr>
                    <p:blipFill>
                      <a:blip r:embed="rId4"/>
                      <a:stretch>
                        <a:fillRect/>
                      </a:stretch>
                    </p:blipFill>
                    <p:spPr>
                      <a:xfrm>
                        <a:off x="3108205" y="2918069"/>
                        <a:ext cx="2926002" cy="936814"/>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3646F7B6-BAD1-4074-B38E-F4C16FC5D8D4}"/>
              </a:ext>
            </a:extLst>
          </p:cNvPr>
          <p:cNvSpPr>
            <a:spLocks noGrp="1"/>
          </p:cNvSpPr>
          <p:nvPr>
            <p:ph sz="quarter" idx="14"/>
          </p:nvPr>
        </p:nvSpPr>
        <p:spPr>
          <a:xfrm>
            <a:off x="457200" y="4068179"/>
            <a:ext cx="8229600" cy="1089117"/>
          </a:xfrm>
        </p:spPr>
        <p:txBody>
          <a:bodyPr/>
          <a:lstStyle/>
          <a:p>
            <a:pPr lvl="1"/>
            <a:r>
              <a:rPr lang="en-US" altLang="en-US" sz="2000" dirty="0">
                <a:latin typeface="Arial (Body)"/>
              </a:rPr>
              <a:t>If financial markets expect (relative)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to hold, then expected exchange rate changes will equal expected inflation between countries:</a:t>
            </a:r>
            <a:endParaRPr lang="en-US" sz="2000" dirty="0">
              <a:latin typeface="Arial (Body)"/>
            </a:endParaRPr>
          </a:p>
        </p:txBody>
      </p:sp>
      <p:graphicFrame>
        <p:nvGraphicFramePr>
          <p:cNvPr id="5" name="Object 4" descr="R sub dollar minus R sub euro = start fraction left parenthesis E to the lower e power sub dollar per euro minus E sub dollar per euro right parenthesis over E sub dollar per euro end fraction = pi to the lower e power sub U S minus pi to the lower e power sub E U">
            <a:extLst>
              <a:ext uri="{FF2B5EF4-FFF2-40B4-BE49-F238E27FC236}">
                <a16:creationId xmlns:a16="http://schemas.microsoft.com/office/drawing/2014/main" id="{EC97F5FD-C505-4C95-A8C6-231056FB3042}"/>
              </a:ext>
            </a:extLst>
          </p:cNvPr>
          <p:cNvGraphicFramePr>
            <a:graphicFrameLocks noChangeAspect="1"/>
          </p:cNvGraphicFramePr>
          <p:nvPr>
            <p:extLst>
              <p:ext uri="{D42A27DB-BD31-4B8C-83A1-F6EECF244321}">
                <p14:modId xmlns:p14="http://schemas.microsoft.com/office/powerpoint/2010/main" val="2978059212"/>
              </p:ext>
            </p:extLst>
          </p:nvPr>
        </p:nvGraphicFramePr>
        <p:xfrm>
          <a:off x="2180102" y="5312282"/>
          <a:ext cx="4783796" cy="998544"/>
        </p:xfrm>
        <a:graphic>
          <a:graphicData uri="http://schemas.openxmlformats.org/presentationml/2006/ole">
            <mc:AlternateContent xmlns:mc="http://schemas.openxmlformats.org/markup-compatibility/2006">
              <mc:Choice xmlns:v="urn:schemas-microsoft-com:vml" Requires="v">
                <p:oleObj spid="_x0000_s6151" name="Equation" r:id="rId5" imgW="4616302" imgH="963299" progId="Equation.DSMT4">
                  <p:embed/>
                </p:oleObj>
              </mc:Choice>
              <mc:Fallback>
                <p:oleObj name="Equation" r:id="rId5" imgW="4616302" imgH="963299" progId="Equation.DSMT4">
                  <p:embed/>
                  <p:pic>
                    <p:nvPicPr>
                      <p:cNvPr id="0" name=""/>
                      <p:cNvPicPr/>
                      <p:nvPr/>
                    </p:nvPicPr>
                    <p:blipFill>
                      <a:blip r:embed="rId6"/>
                      <a:stretch>
                        <a:fillRect/>
                      </a:stretch>
                    </p:blipFill>
                    <p:spPr>
                      <a:xfrm>
                        <a:off x="2180102" y="5312282"/>
                        <a:ext cx="4783796" cy="998544"/>
                      </a:xfrm>
                      <a:prstGeom prst="rect">
                        <a:avLst/>
                      </a:prstGeom>
                    </p:spPr>
                  </p:pic>
                </p:oleObj>
              </mc:Fallback>
            </mc:AlternateContent>
          </a:graphicData>
        </a:graphic>
      </p:graphicFrame>
    </p:spTree>
    <p:extLst>
      <p:ext uri="{BB962C8B-B14F-4D97-AF65-F5344CB8AC3E}">
        <p14:creationId xmlns:p14="http://schemas.microsoft.com/office/powerpoint/2010/main" val="2037336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The Fisher Effect </a:t>
            </a:r>
            <a:r>
              <a:rPr lang="en-US" altLang="en-US" sz="2000" b="0" dirty="0"/>
              <a:t>(2 of 2)</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636536"/>
            <a:ext cx="2124000" cy="360000"/>
          </a:xfrm>
        </p:spPr>
        <p:txBody>
          <a:bodyPr tIns="0"/>
          <a:lstStyle/>
          <a:p>
            <a:pPr lvl="1"/>
            <a:r>
              <a:rPr lang="en-US" altLang="en-US" sz="2000" dirty="0">
                <a:latin typeface="Arial (Body)"/>
              </a:rPr>
              <a:t>Therefore,</a:t>
            </a:r>
            <a:endParaRPr lang="en-US" altLang="en-US" sz="2000" baseline="-25000" dirty="0">
              <a:latin typeface="Arial (Body)"/>
            </a:endParaRPr>
          </a:p>
        </p:txBody>
      </p:sp>
      <p:graphicFrame>
        <p:nvGraphicFramePr>
          <p:cNvPr id="7" name="Object 6" descr="R sub $ minus R sub euro = pi to the lower e power sub U S minus pi to the lower e power sub E U">
            <a:extLst>
              <a:ext uri="{FF2B5EF4-FFF2-40B4-BE49-F238E27FC236}">
                <a16:creationId xmlns:a16="http://schemas.microsoft.com/office/drawing/2014/main" id="{4783729E-367B-4546-848E-7C7D1C2A68C7}"/>
              </a:ext>
            </a:extLst>
          </p:cNvPr>
          <p:cNvGraphicFramePr>
            <a:graphicFrameLocks noChangeAspect="1"/>
          </p:cNvGraphicFramePr>
          <p:nvPr>
            <p:extLst>
              <p:ext uri="{D42A27DB-BD31-4B8C-83A1-F6EECF244321}">
                <p14:modId xmlns:p14="http://schemas.microsoft.com/office/powerpoint/2010/main" val="1814416979"/>
              </p:ext>
            </p:extLst>
          </p:nvPr>
        </p:nvGraphicFramePr>
        <p:xfrm>
          <a:off x="2695073" y="1578048"/>
          <a:ext cx="2773363" cy="469900"/>
        </p:xfrm>
        <a:graphic>
          <a:graphicData uri="http://schemas.openxmlformats.org/presentationml/2006/ole">
            <mc:AlternateContent xmlns:mc="http://schemas.openxmlformats.org/markup-compatibility/2006">
              <mc:Choice xmlns:v="urn:schemas-microsoft-com:vml" Requires="v">
                <p:oleObj spid="_x0000_s7172" name="Equation" r:id="rId3" imgW="2773955" imgH="469392" progId="Equation.DSMT4">
                  <p:embed/>
                </p:oleObj>
              </mc:Choice>
              <mc:Fallback>
                <p:oleObj name="Equation" r:id="rId3" imgW="2773955" imgH="469392" progId="Equation.DSMT4">
                  <p:embed/>
                  <p:pic>
                    <p:nvPicPr>
                      <p:cNvPr id="0" name=""/>
                      <p:cNvPicPr/>
                      <p:nvPr/>
                    </p:nvPicPr>
                    <p:blipFill>
                      <a:blip r:embed="rId4"/>
                      <a:stretch>
                        <a:fillRect/>
                      </a:stretch>
                    </p:blipFill>
                    <p:spPr>
                      <a:xfrm>
                        <a:off x="2695073" y="1578048"/>
                        <a:ext cx="2773363" cy="46990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3646F7B6-BAD1-4074-B38E-F4C16FC5D8D4}"/>
              </a:ext>
            </a:extLst>
          </p:cNvPr>
          <p:cNvSpPr>
            <a:spLocks noGrp="1"/>
          </p:cNvSpPr>
          <p:nvPr>
            <p:ph sz="quarter" idx="14"/>
          </p:nvPr>
        </p:nvSpPr>
        <p:spPr>
          <a:xfrm>
            <a:off x="457200" y="2211414"/>
            <a:ext cx="8229600" cy="1246489"/>
          </a:xfrm>
        </p:spPr>
        <p:txBody>
          <a:bodyPr/>
          <a:lstStyle/>
          <a:p>
            <a:pPr lvl="1"/>
            <a:r>
              <a:rPr lang="en-US" altLang="en-US" sz="2000" dirty="0">
                <a:latin typeface="Arial (Body)"/>
              </a:rPr>
              <a:t>The Fisher effect: a rise in the domestic inflation rate causes an equal rise in the interest rate on deposits of domestic currency in the long run, when other factors remain constant.</a:t>
            </a:r>
          </a:p>
        </p:txBody>
      </p:sp>
    </p:spTree>
    <p:extLst>
      <p:ext uri="{BB962C8B-B14F-4D97-AF65-F5344CB8AC3E}">
        <p14:creationId xmlns:p14="http://schemas.microsoft.com/office/powerpoint/2010/main" val="3812554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Monetary Approach to Exchange Rates </a:t>
            </a:r>
            <a:r>
              <a:rPr lang="en-US" altLang="en-US" sz="1800" b="0" dirty="0"/>
              <a:t>(1 of 2)</a:t>
            </a:r>
            <a:endParaRPr lang="en-US" sz="1800" dirty="0"/>
          </a:p>
        </p:txBody>
      </p:sp>
      <p:sp>
        <p:nvSpPr>
          <p:cNvPr id="8" name="Content Placeholder 7"/>
          <p:cNvSpPr>
            <a:spLocks noGrp="1"/>
          </p:cNvSpPr>
          <p:nvPr>
            <p:ph sz="quarter" idx="13"/>
          </p:nvPr>
        </p:nvSpPr>
        <p:spPr>
          <a:xfrm>
            <a:off x="457200" y="1552575"/>
            <a:ext cx="8229600" cy="469408"/>
          </a:xfrm>
        </p:spPr>
        <p:txBody>
          <a:bodyPr/>
          <a:lstStyle/>
          <a:p>
            <a:r>
              <a:rPr lang="en-US" altLang="en-US" sz="2000" dirty="0">
                <a:latin typeface="Arial (Body)"/>
              </a:rPr>
              <a:t>Suppose that the U.S. central bank unexpectedly increases</a:t>
            </a:r>
            <a:endParaRPr lang="en-US" sz="2000" dirty="0"/>
          </a:p>
        </p:txBody>
      </p:sp>
      <p:sp>
        <p:nvSpPr>
          <p:cNvPr id="9" name="Content Placeholder 8"/>
          <p:cNvSpPr>
            <a:spLocks noGrp="1"/>
          </p:cNvSpPr>
          <p:nvPr>
            <p:ph sz="quarter" idx="14"/>
          </p:nvPr>
        </p:nvSpPr>
        <p:spPr>
          <a:xfrm>
            <a:off x="457200" y="2083422"/>
            <a:ext cx="5314950" cy="440703"/>
          </a:xfrm>
        </p:spPr>
        <p:txBody>
          <a:bodyPr/>
          <a:lstStyle/>
          <a:p>
            <a:pPr marL="255600" indent="0">
              <a:buNone/>
            </a:pPr>
            <a:r>
              <a:rPr lang="en-US" altLang="en-US" sz="2000" dirty="0">
                <a:latin typeface="Arial (Body)"/>
              </a:rPr>
              <a:t>the growth rate of the money supply at time</a:t>
            </a:r>
            <a:endParaRPr lang="en-US" sz="2000" dirty="0"/>
          </a:p>
        </p:txBody>
      </p:sp>
      <p:graphicFrame>
        <p:nvGraphicFramePr>
          <p:cNvPr id="22" name="Object 21" descr="t sub 0."/>
          <p:cNvGraphicFramePr>
            <a:graphicFrameLocks noChangeAspect="1"/>
          </p:cNvGraphicFramePr>
          <p:nvPr>
            <p:extLst>
              <p:ext uri="{D42A27DB-BD31-4B8C-83A1-F6EECF244321}">
                <p14:modId xmlns:p14="http://schemas.microsoft.com/office/powerpoint/2010/main" val="2379518196"/>
              </p:ext>
            </p:extLst>
          </p:nvPr>
        </p:nvGraphicFramePr>
        <p:xfrm>
          <a:off x="5835351" y="2137410"/>
          <a:ext cx="316071" cy="405130"/>
        </p:xfrm>
        <a:graphic>
          <a:graphicData uri="http://schemas.openxmlformats.org/presentationml/2006/ole">
            <mc:AlternateContent xmlns:mc="http://schemas.openxmlformats.org/markup-compatibility/2006">
              <mc:Choice xmlns:v="urn:schemas-microsoft-com:vml" Requires="v">
                <p:oleObj spid="_x0000_s8200" name="Equation" r:id="rId3" imgW="177480" imgH="228600" progId="Equation.DSMT4">
                  <p:embed/>
                </p:oleObj>
              </mc:Choice>
              <mc:Fallback>
                <p:oleObj name="Equation" r:id="rId3" imgW="177480" imgH="228600" progId="Equation.DSMT4">
                  <p:embed/>
                  <p:pic>
                    <p:nvPicPr>
                      <p:cNvPr id="0" name=""/>
                      <p:cNvPicPr/>
                      <p:nvPr/>
                    </p:nvPicPr>
                    <p:blipFill>
                      <a:blip r:embed="rId4"/>
                      <a:stretch>
                        <a:fillRect/>
                      </a:stretch>
                    </p:blipFill>
                    <p:spPr>
                      <a:xfrm>
                        <a:off x="5835351" y="2137410"/>
                        <a:ext cx="316071" cy="405130"/>
                      </a:xfrm>
                      <a:prstGeom prst="rect">
                        <a:avLst/>
                      </a:prstGeom>
                    </p:spPr>
                  </p:pic>
                </p:oleObj>
              </mc:Fallback>
            </mc:AlternateContent>
          </a:graphicData>
        </a:graphic>
      </p:graphicFrame>
      <p:sp>
        <p:nvSpPr>
          <p:cNvPr id="10" name="Content Placeholder 9"/>
          <p:cNvSpPr>
            <a:spLocks noGrp="1"/>
          </p:cNvSpPr>
          <p:nvPr>
            <p:ph sz="quarter" idx="15"/>
          </p:nvPr>
        </p:nvSpPr>
        <p:spPr>
          <a:xfrm>
            <a:off x="457200" y="2608542"/>
            <a:ext cx="4629150" cy="434188"/>
          </a:xfrm>
        </p:spPr>
        <p:txBody>
          <a:bodyPr/>
          <a:lstStyle/>
          <a:p>
            <a:r>
              <a:rPr lang="en-US" altLang="en-US" sz="2000" dirty="0">
                <a:latin typeface="Arial (Body)"/>
              </a:rPr>
              <a:t>Suppose also that the inflation rate is</a:t>
            </a:r>
          </a:p>
        </p:txBody>
      </p:sp>
      <p:graphicFrame>
        <p:nvGraphicFramePr>
          <p:cNvPr id="23" name="Object 22" descr="Pi"/>
          <p:cNvGraphicFramePr>
            <a:graphicFrameLocks noChangeAspect="1"/>
          </p:cNvGraphicFramePr>
          <p:nvPr>
            <p:extLst>
              <p:ext uri="{D42A27DB-BD31-4B8C-83A1-F6EECF244321}">
                <p14:modId xmlns:p14="http://schemas.microsoft.com/office/powerpoint/2010/main" val="1333396026"/>
              </p:ext>
            </p:extLst>
          </p:nvPr>
        </p:nvGraphicFramePr>
        <p:xfrm>
          <a:off x="5133975" y="2713913"/>
          <a:ext cx="299461" cy="299461"/>
        </p:xfrm>
        <a:graphic>
          <a:graphicData uri="http://schemas.openxmlformats.org/presentationml/2006/ole">
            <mc:AlternateContent xmlns:mc="http://schemas.openxmlformats.org/markup-compatibility/2006">
              <mc:Choice xmlns:v="urn:schemas-microsoft-com:vml" Requires="v">
                <p:oleObj spid="_x0000_s8201" name="Equation" r:id="rId5" imgW="139680" imgH="139680" progId="Equation.DSMT4">
                  <p:embed/>
                </p:oleObj>
              </mc:Choice>
              <mc:Fallback>
                <p:oleObj name="Equation" r:id="rId5" imgW="139680" imgH="139680" progId="Equation.DSMT4">
                  <p:embed/>
                  <p:pic>
                    <p:nvPicPr>
                      <p:cNvPr id="0" name=""/>
                      <p:cNvPicPr/>
                      <p:nvPr/>
                    </p:nvPicPr>
                    <p:blipFill>
                      <a:blip r:embed="rId6"/>
                      <a:stretch>
                        <a:fillRect/>
                      </a:stretch>
                    </p:blipFill>
                    <p:spPr>
                      <a:xfrm>
                        <a:off x="5133975" y="2713913"/>
                        <a:ext cx="299461" cy="299461"/>
                      </a:xfrm>
                      <a:prstGeom prst="rect">
                        <a:avLst/>
                      </a:prstGeom>
                    </p:spPr>
                  </p:pic>
                </p:oleObj>
              </mc:Fallback>
            </mc:AlternateContent>
          </a:graphicData>
        </a:graphic>
      </p:graphicFrame>
      <p:sp>
        <p:nvSpPr>
          <p:cNvPr id="11" name="Content Placeholder 10"/>
          <p:cNvSpPr>
            <a:spLocks noGrp="1"/>
          </p:cNvSpPr>
          <p:nvPr>
            <p:ph sz="quarter" idx="16"/>
          </p:nvPr>
        </p:nvSpPr>
        <p:spPr>
          <a:xfrm>
            <a:off x="5519162" y="2654375"/>
            <a:ext cx="2374108" cy="330561"/>
          </a:xfrm>
        </p:spPr>
        <p:txBody>
          <a:bodyPr lIns="0" tIns="0" rIns="0" bIns="0"/>
          <a:lstStyle/>
          <a:p>
            <a:pPr marL="0" lvl="1" indent="0">
              <a:buNone/>
            </a:pPr>
            <a:r>
              <a:rPr lang="en-US" altLang="en-US" sz="2000" dirty="0">
                <a:latin typeface="Arial (Body)"/>
              </a:rPr>
              <a:t>in the United States</a:t>
            </a:r>
            <a:endParaRPr lang="en-US" sz="2000" dirty="0"/>
          </a:p>
        </p:txBody>
      </p:sp>
      <p:sp>
        <p:nvSpPr>
          <p:cNvPr id="12" name="Content Placeholder 11"/>
          <p:cNvSpPr>
            <a:spLocks noGrp="1"/>
          </p:cNvSpPr>
          <p:nvPr>
            <p:ph sz="quarter" idx="17"/>
          </p:nvPr>
        </p:nvSpPr>
        <p:spPr>
          <a:xfrm>
            <a:off x="457201" y="3098195"/>
            <a:ext cx="1181100" cy="393595"/>
          </a:xfrm>
        </p:spPr>
        <p:txBody>
          <a:bodyPr/>
          <a:lstStyle/>
          <a:p>
            <a:pPr marL="255600" indent="0">
              <a:buNone/>
            </a:pPr>
            <a:r>
              <a:rPr lang="en-US" altLang="en-US" sz="2000" dirty="0">
                <a:latin typeface="Arial (Body)"/>
              </a:rPr>
              <a:t>before</a:t>
            </a:r>
            <a:endParaRPr lang="en-US" sz="2000" dirty="0"/>
          </a:p>
        </p:txBody>
      </p:sp>
      <p:graphicFrame>
        <p:nvGraphicFramePr>
          <p:cNvPr id="25" name="Object 24" descr="t sub 0  and Pi + delta pi"/>
          <p:cNvGraphicFramePr>
            <a:graphicFrameLocks noChangeAspect="1"/>
          </p:cNvGraphicFramePr>
          <p:nvPr>
            <p:extLst>
              <p:ext uri="{D42A27DB-BD31-4B8C-83A1-F6EECF244321}">
                <p14:modId xmlns:p14="http://schemas.microsoft.com/office/powerpoint/2010/main" val="2717992608"/>
              </p:ext>
            </p:extLst>
          </p:nvPr>
        </p:nvGraphicFramePr>
        <p:xfrm>
          <a:off x="1711874" y="3155950"/>
          <a:ext cx="1593850" cy="409575"/>
        </p:xfrm>
        <a:graphic>
          <a:graphicData uri="http://schemas.openxmlformats.org/presentationml/2006/ole">
            <mc:AlternateContent xmlns:mc="http://schemas.openxmlformats.org/markup-compatibility/2006">
              <mc:Choice xmlns:v="urn:schemas-microsoft-com:vml" Requires="v">
                <p:oleObj spid="_x0000_s8202" name="Equation" r:id="rId7" imgW="888840" imgH="228600" progId="Equation.DSMT4">
                  <p:embed/>
                </p:oleObj>
              </mc:Choice>
              <mc:Fallback>
                <p:oleObj name="Equation" r:id="rId7" imgW="888840" imgH="228600" progId="Equation.DSMT4">
                  <p:embed/>
                  <p:pic>
                    <p:nvPicPr>
                      <p:cNvPr id="22" name="Object 21"/>
                      <p:cNvPicPr/>
                      <p:nvPr/>
                    </p:nvPicPr>
                    <p:blipFill>
                      <a:blip r:embed="rId8"/>
                      <a:stretch>
                        <a:fillRect/>
                      </a:stretch>
                    </p:blipFill>
                    <p:spPr>
                      <a:xfrm>
                        <a:off x="1711874" y="3155950"/>
                        <a:ext cx="1593850" cy="409575"/>
                      </a:xfrm>
                      <a:prstGeom prst="rect">
                        <a:avLst/>
                      </a:prstGeom>
                    </p:spPr>
                  </p:pic>
                </p:oleObj>
              </mc:Fallback>
            </mc:AlternateContent>
          </a:graphicData>
        </a:graphic>
      </p:graphicFrame>
      <p:sp>
        <p:nvSpPr>
          <p:cNvPr id="14" name="Content Placeholder 13"/>
          <p:cNvSpPr>
            <a:spLocks noGrp="1"/>
          </p:cNvSpPr>
          <p:nvPr>
            <p:ph sz="quarter" idx="19"/>
          </p:nvPr>
        </p:nvSpPr>
        <p:spPr>
          <a:xfrm>
            <a:off x="3440714" y="3158545"/>
            <a:ext cx="4210819" cy="396305"/>
          </a:xfrm>
        </p:spPr>
        <p:txBody>
          <a:bodyPr lIns="0" tIns="0" rIns="0" bIns="0"/>
          <a:lstStyle/>
          <a:p>
            <a:pPr marL="0" lvl="1" indent="0">
              <a:buNone/>
            </a:pPr>
            <a:r>
              <a:rPr lang="en-US" altLang="en-US" sz="2000" dirty="0">
                <a:latin typeface="Arial (Body)"/>
              </a:rPr>
              <a:t>after this time, but that the European</a:t>
            </a:r>
            <a:endParaRPr lang="en-US" sz="2000" dirty="0"/>
          </a:p>
        </p:txBody>
      </p:sp>
      <p:sp>
        <p:nvSpPr>
          <p:cNvPr id="15" name="Content Placeholder 14"/>
          <p:cNvSpPr>
            <a:spLocks noGrp="1"/>
          </p:cNvSpPr>
          <p:nvPr>
            <p:ph sz="quarter" idx="20"/>
          </p:nvPr>
        </p:nvSpPr>
        <p:spPr>
          <a:xfrm>
            <a:off x="457200" y="3662133"/>
            <a:ext cx="4246643" cy="422852"/>
          </a:xfrm>
        </p:spPr>
        <p:txBody>
          <a:bodyPr/>
          <a:lstStyle/>
          <a:p>
            <a:pPr marL="255600" indent="0">
              <a:buNone/>
            </a:pPr>
            <a:r>
              <a:rPr lang="en-US" altLang="en-US" sz="2000" dirty="0">
                <a:latin typeface="Arial (Body)"/>
              </a:rPr>
              <a:t>inflation rate remains at 0%.</a:t>
            </a:r>
            <a:endParaRPr lang="en-US" sz="2000" dirty="0"/>
          </a:p>
        </p:txBody>
      </p:sp>
      <p:sp>
        <p:nvSpPr>
          <p:cNvPr id="16" name="Content Placeholder 15"/>
          <p:cNvSpPr>
            <a:spLocks noGrp="1"/>
          </p:cNvSpPr>
          <p:nvPr>
            <p:ph sz="quarter" idx="21"/>
          </p:nvPr>
        </p:nvSpPr>
        <p:spPr>
          <a:xfrm>
            <a:off x="457201" y="4181757"/>
            <a:ext cx="8075767" cy="894739"/>
          </a:xfrm>
        </p:spPr>
        <p:txBody>
          <a:bodyPr/>
          <a:lstStyle/>
          <a:p>
            <a:r>
              <a:rPr lang="en-US" altLang="en-US" sz="2000" dirty="0">
                <a:latin typeface="Arial (Body)"/>
              </a:rPr>
              <a:t>According to the Fisher effect, the interest rate in the United States will adjust to the higher inflation rate.</a:t>
            </a:r>
            <a:endParaRPr lang="en-US" sz="2000" dirty="0"/>
          </a:p>
        </p:txBody>
      </p:sp>
    </p:spTree>
    <p:extLst>
      <p:ext uri="{BB962C8B-B14F-4D97-AF65-F5344CB8AC3E}">
        <p14:creationId xmlns:p14="http://schemas.microsoft.com/office/powerpoint/2010/main" val="2888074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a:xfrm>
            <a:off x="457200" y="94593"/>
            <a:ext cx="8229600" cy="1218057"/>
          </a:xfrm>
        </p:spPr>
        <p:txBody>
          <a:bodyPr/>
          <a:lstStyle/>
          <a:p>
            <a:r>
              <a:rPr lang="en-US" altLang="en-US" sz="2200" dirty="0"/>
              <a:t>Figure 16.1 Long-Run Time Paths of U.S. Economic Variables After a Permanent Increase in the Growth Rate of the U.S. Money Supply</a:t>
            </a:r>
            <a:endParaRPr lang="en-US" sz="2200" dirty="0"/>
          </a:p>
        </p:txBody>
      </p:sp>
      <p:pic>
        <p:nvPicPr>
          <p:cNvPr id="11" name="Content Placeholder 10" descr="Following a permanent increase in the growth rate of the U S money supply, 4 economic variables are graphed. For long description in Notes pane, press F6.">
            <a:extLst>
              <a:ext uri="{FF2B5EF4-FFF2-40B4-BE49-F238E27FC236}">
                <a16:creationId xmlns:a16="http://schemas.microsoft.com/office/drawing/2014/main" id="{2094DAA8-A357-49D7-9A42-AD457717F7E2}"/>
              </a:ext>
            </a:extLst>
          </p:cNvPr>
          <p:cNvPicPr>
            <a:picLocks noGrp="1" noChangeAspect="1"/>
          </p:cNvPicPr>
          <p:nvPr>
            <p:ph sz="quarter" idx="13"/>
          </p:nvPr>
        </p:nvPicPr>
        <p:blipFill>
          <a:blip r:embed="rId3"/>
          <a:stretch>
            <a:fillRect/>
          </a:stretch>
        </p:blipFill>
        <p:spPr>
          <a:xfrm>
            <a:off x="1983264" y="1636713"/>
            <a:ext cx="5177472" cy="4443412"/>
          </a:xfrm>
        </p:spPr>
      </p:pic>
    </p:spTree>
    <p:extLst>
      <p:ext uri="{BB962C8B-B14F-4D97-AF65-F5344CB8AC3E}">
        <p14:creationId xmlns:p14="http://schemas.microsoft.com/office/powerpoint/2010/main" val="1694249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Monetary Approach to Exchange Rates </a:t>
            </a:r>
            <a:r>
              <a:rPr lang="en-US" altLang="en-US" sz="1800" b="0" dirty="0"/>
              <a:t>(2 of 2)</a:t>
            </a:r>
            <a:endParaRPr lang="en-US" sz="1800" dirty="0"/>
          </a:p>
        </p:txBody>
      </p:sp>
      <p:sp>
        <p:nvSpPr>
          <p:cNvPr id="8" name="Content Placeholder 7">
            <a:extLst>
              <a:ext uri="{FF2B5EF4-FFF2-40B4-BE49-F238E27FC236}">
                <a16:creationId xmlns:a16="http://schemas.microsoft.com/office/drawing/2014/main" id="{937313D2-9587-43A0-AC16-D59FA94BE1E9}"/>
              </a:ext>
            </a:extLst>
          </p:cNvPr>
          <p:cNvSpPr>
            <a:spLocks noGrp="1"/>
          </p:cNvSpPr>
          <p:nvPr>
            <p:ph sz="quarter" idx="13"/>
          </p:nvPr>
        </p:nvSpPr>
        <p:spPr>
          <a:xfrm>
            <a:off x="457200" y="1556327"/>
            <a:ext cx="8229600" cy="1044000"/>
          </a:xfrm>
        </p:spPr>
        <p:txBody>
          <a:bodyPr/>
          <a:lstStyle/>
          <a:p>
            <a:r>
              <a:rPr lang="en-US" altLang="en-US" sz="1600" dirty="0">
                <a:latin typeface="Arial (Body)"/>
              </a:rPr>
              <a:t>The increase in nominal interest rates decreases the demand of real monetary assets.</a:t>
            </a:r>
          </a:p>
          <a:p>
            <a:r>
              <a:rPr lang="en-US" altLang="en-US" sz="1600" dirty="0">
                <a:latin typeface="Arial (Body)"/>
              </a:rPr>
              <a:t>In order for the money market to maintain equilibrium in the long run, prices must jump so that</a:t>
            </a:r>
            <a:endParaRPr lang="en-US" sz="1600" dirty="0"/>
          </a:p>
        </p:txBody>
      </p:sp>
      <p:graphicFrame>
        <p:nvGraphicFramePr>
          <p:cNvPr id="15" name="Object 14" descr="P sub U S = start fraction M super s sub U S over L left parenthesis R sub $ comma Y sub U S right parenthesis end fraction">
            <a:extLst>
              <a:ext uri="{FF2B5EF4-FFF2-40B4-BE49-F238E27FC236}">
                <a16:creationId xmlns:a16="http://schemas.microsoft.com/office/drawing/2014/main" id="{73892BF8-F63C-4F52-B266-E997779BD602}"/>
              </a:ext>
            </a:extLst>
          </p:cNvPr>
          <p:cNvGraphicFramePr>
            <a:graphicFrameLocks noChangeAspect="1"/>
          </p:cNvGraphicFramePr>
          <p:nvPr>
            <p:extLst>
              <p:ext uri="{D42A27DB-BD31-4B8C-83A1-F6EECF244321}">
                <p14:modId xmlns:p14="http://schemas.microsoft.com/office/powerpoint/2010/main" val="985971807"/>
              </p:ext>
            </p:extLst>
          </p:nvPr>
        </p:nvGraphicFramePr>
        <p:xfrm>
          <a:off x="3880443" y="2679144"/>
          <a:ext cx="1607705" cy="686956"/>
        </p:xfrm>
        <a:graphic>
          <a:graphicData uri="http://schemas.openxmlformats.org/presentationml/2006/ole">
            <mc:AlternateContent xmlns:mc="http://schemas.openxmlformats.org/markup-compatibility/2006">
              <mc:Choice xmlns:v="urn:schemas-microsoft-com:vml" Requires="v">
                <p:oleObj spid="_x0000_s9224" name="Equation" r:id="rId3" imgW="1767861" imgH="756002" progId="Equation.DSMT4">
                  <p:embed/>
                </p:oleObj>
              </mc:Choice>
              <mc:Fallback>
                <p:oleObj name="Equation" r:id="rId3" imgW="1767861" imgH="756002" progId="Equation.DSMT4">
                  <p:embed/>
                  <p:pic>
                    <p:nvPicPr>
                      <p:cNvPr id="0" name=""/>
                      <p:cNvPicPr/>
                      <p:nvPr/>
                    </p:nvPicPr>
                    <p:blipFill>
                      <a:blip r:embed="rId4"/>
                      <a:stretch>
                        <a:fillRect/>
                      </a:stretch>
                    </p:blipFill>
                    <p:spPr>
                      <a:xfrm>
                        <a:off x="3880443" y="2679144"/>
                        <a:ext cx="1607705" cy="686956"/>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32670728-4C79-4B78-8DD3-1AF6D9AB7078}"/>
              </a:ext>
            </a:extLst>
          </p:cNvPr>
          <p:cNvSpPr>
            <a:spLocks noGrp="1"/>
          </p:cNvSpPr>
          <p:nvPr>
            <p:ph sz="quarter" idx="15"/>
          </p:nvPr>
        </p:nvSpPr>
        <p:spPr>
          <a:xfrm>
            <a:off x="457201" y="3483789"/>
            <a:ext cx="8229600" cy="612000"/>
          </a:xfrm>
        </p:spPr>
        <p:txBody>
          <a:bodyPr/>
          <a:lstStyle/>
          <a:p>
            <a:pPr indent="-255600"/>
            <a:r>
              <a:rPr lang="en-US" altLang="en-US" dirty="0">
                <a:latin typeface="Arial (Body)"/>
              </a:rPr>
              <a:t>In order to maintain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 the exchange rate must jump (the dollar must depreciate) so that</a:t>
            </a:r>
            <a:endParaRPr lang="en-US" dirty="0"/>
          </a:p>
        </p:txBody>
      </p:sp>
      <p:graphicFrame>
        <p:nvGraphicFramePr>
          <p:cNvPr id="17" name="Object 16" descr="E sub start expression dollar per euro end expression = start fraction P sub U S over P sub E U end fraction">
            <a:extLst>
              <a:ext uri="{FF2B5EF4-FFF2-40B4-BE49-F238E27FC236}">
                <a16:creationId xmlns:a16="http://schemas.microsoft.com/office/drawing/2014/main" id="{9D74757F-DDBC-4802-84E9-49B391799C06}"/>
              </a:ext>
            </a:extLst>
          </p:cNvPr>
          <p:cNvGraphicFramePr>
            <a:graphicFrameLocks noChangeAspect="1"/>
          </p:cNvGraphicFramePr>
          <p:nvPr>
            <p:extLst>
              <p:ext uri="{D42A27DB-BD31-4B8C-83A1-F6EECF244321}">
                <p14:modId xmlns:p14="http://schemas.microsoft.com/office/powerpoint/2010/main" val="2782147520"/>
              </p:ext>
            </p:extLst>
          </p:nvPr>
        </p:nvGraphicFramePr>
        <p:xfrm>
          <a:off x="4066757" y="4219376"/>
          <a:ext cx="1235075" cy="730250"/>
        </p:xfrm>
        <a:graphic>
          <a:graphicData uri="http://schemas.openxmlformats.org/presentationml/2006/ole">
            <mc:AlternateContent xmlns:mc="http://schemas.openxmlformats.org/markup-compatibility/2006">
              <mc:Choice xmlns:v="urn:schemas-microsoft-com:vml" Requires="v">
                <p:oleObj spid="_x0000_s9225" name="Equation" r:id="rId5" imgW="1234588" imgH="730045" progId="Equation.DSMT4">
                  <p:embed/>
                </p:oleObj>
              </mc:Choice>
              <mc:Fallback>
                <p:oleObj name="Equation" r:id="rId5" imgW="1234588" imgH="730045" progId="Equation.DSMT4">
                  <p:embed/>
                  <p:pic>
                    <p:nvPicPr>
                      <p:cNvPr id="0" name=""/>
                      <p:cNvPicPr/>
                      <p:nvPr/>
                    </p:nvPicPr>
                    <p:blipFill>
                      <a:blip r:embed="rId6"/>
                      <a:stretch>
                        <a:fillRect/>
                      </a:stretch>
                    </p:blipFill>
                    <p:spPr>
                      <a:xfrm>
                        <a:off x="4066757" y="4219376"/>
                        <a:ext cx="1235075" cy="73025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EF1332D9-5552-4801-B2F5-71FF81E7C2D4}"/>
              </a:ext>
            </a:extLst>
          </p:cNvPr>
          <p:cNvSpPr>
            <a:spLocks noGrp="1"/>
          </p:cNvSpPr>
          <p:nvPr>
            <p:ph sz="quarter" idx="16"/>
          </p:nvPr>
        </p:nvSpPr>
        <p:spPr>
          <a:xfrm>
            <a:off x="457200" y="5144013"/>
            <a:ext cx="6713621" cy="288000"/>
          </a:xfrm>
        </p:spPr>
        <p:txBody>
          <a:bodyPr tIns="0" bIns="90000"/>
          <a:lstStyle/>
          <a:p>
            <a:pPr indent="-255600"/>
            <a:r>
              <a:rPr lang="en-US" altLang="en-US" dirty="0">
                <a:latin typeface="Arial (Body)"/>
              </a:rPr>
              <a:t>Thereafter, the money supply and prices are predicted to grow at rate </a:t>
            </a:r>
            <a:endParaRPr lang="en-US" dirty="0"/>
          </a:p>
        </p:txBody>
      </p:sp>
      <p:graphicFrame>
        <p:nvGraphicFramePr>
          <p:cNvPr id="16" name="Object 15" descr="Pi + delta pi">
            <a:extLst>
              <a:ext uri="{FF2B5EF4-FFF2-40B4-BE49-F238E27FC236}">
                <a16:creationId xmlns:a16="http://schemas.microsoft.com/office/drawing/2014/main" id="{CDDECF32-1E7B-430B-963A-775B666F95FF}"/>
              </a:ext>
            </a:extLst>
          </p:cNvPr>
          <p:cNvGraphicFramePr>
            <a:graphicFrameLocks noChangeAspect="1"/>
          </p:cNvGraphicFramePr>
          <p:nvPr>
            <p:extLst>
              <p:ext uri="{D42A27DB-BD31-4B8C-83A1-F6EECF244321}">
                <p14:modId xmlns:p14="http://schemas.microsoft.com/office/powerpoint/2010/main" val="596816677"/>
              </p:ext>
            </p:extLst>
          </p:nvPr>
        </p:nvGraphicFramePr>
        <p:xfrm>
          <a:off x="7245960" y="5123419"/>
          <a:ext cx="758565" cy="329188"/>
        </p:xfrm>
        <a:graphic>
          <a:graphicData uri="http://schemas.openxmlformats.org/presentationml/2006/ole">
            <mc:AlternateContent xmlns:mc="http://schemas.openxmlformats.org/markup-compatibility/2006">
              <mc:Choice xmlns:v="urn:schemas-microsoft-com:vml" Requires="v">
                <p:oleObj spid="_x0000_s9226" name="Equation" r:id="rId7" imgW="1008973" imgH="437667" progId="Equation.DSMT4">
                  <p:embed/>
                </p:oleObj>
              </mc:Choice>
              <mc:Fallback>
                <p:oleObj name="Equation" r:id="rId7" imgW="1008973" imgH="437667" progId="Equation.DSMT4">
                  <p:embed/>
                  <p:pic>
                    <p:nvPicPr>
                      <p:cNvPr id="0" name=""/>
                      <p:cNvPicPr/>
                      <p:nvPr/>
                    </p:nvPicPr>
                    <p:blipFill>
                      <a:blip r:embed="rId8"/>
                      <a:stretch>
                        <a:fillRect/>
                      </a:stretch>
                    </p:blipFill>
                    <p:spPr>
                      <a:xfrm>
                        <a:off x="7245960" y="5123419"/>
                        <a:ext cx="758565" cy="329188"/>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C6F2947B-B901-458D-B8CA-A606D54184DC}"/>
              </a:ext>
            </a:extLst>
          </p:cNvPr>
          <p:cNvSpPr>
            <a:spLocks noGrp="1"/>
          </p:cNvSpPr>
          <p:nvPr>
            <p:ph sz="quarter" idx="17"/>
          </p:nvPr>
        </p:nvSpPr>
        <p:spPr>
          <a:xfrm>
            <a:off x="457201" y="5559464"/>
            <a:ext cx="6994633" cy="288000"/>
          </a:xfrm>
        </p:spPr>
        <p:txBody>
          <a:bodyPr tIns="0"/>
          <a:lstStyle/>
          <a:p>
            <a:pPr marL="255600" indent="0">
              <a:buNone/>
            </a:pPr>
            <a:r>
              <a:rPr lang="en-US" altLang="en-US" sz="1600" dirty="0">
                <a:latin typeface="Arial (Body)"/>
              </a:rPr>
              <a:t>and the domestic currency is predicted to depreciate at the same rate.</a:t>
            </a:r>
            <a:endParaRPr lang="en-US" dirty="0"/>
          </a:p>
        </p:txBody>
      </p:sp>
    </p:spTree>
    <p:extLst>
      <p:ext uri="{BB962C8B-B14F-4D97-AF65-F5344CB8AC3E}">
        <p14:creationId xmlns:p14="http://schemas.microsoft.com/office/powerpoint/2010/main" val="3013897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The Role of Inflation and Expectations </a:t>
            </a:r>
            <a:r>
              <a:rPr lang="en-US" altLang="en-US" sz="2000" b="0" dirty="0"/>
              <a:t>(1 of 3)</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636535"/>
            <a:ext cx="8229600" cy="4283001"/>
          </a:xfrm>
        </p:spPr>
        <p:txBody>
          <a:bodyPr tIns="0"/>
          <a:lstStyle/>
          <a:p>
            <a:pPr eaLnBrk="1" hangingPunct="1">
              <a:spcBef>
                <a:spcPct val="50000"/>
              </a:spcBef>
              <a:buFontTx/>
              <a:buNone/>
            </a:pPr>
            <a:r>
              <a:rPr lang="en-US" altLang="en-US" sz="2000" dirty="0">
                <a:latin typeface="Arial (Body)"/>
              </a:rPr>
              <a:t>In the long-run model without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a:latin typeface="Arial (Body)"/>
              </a:rPr>
              <a:t>P: </a:t>
            </a:r>
          </a:p>
          <a:p>
            <a:pPr eaLnBrk="1" hangingPunct="1"/>
            <a:r>
              <a:rPr lang="en-US" altLang="en-US" sz="2000" dirty="0">
                <a:latin typeface="Arial (Body)"/>
              </a:rPr>
              <a:t>Changes in money supply</a:t>
            </a:r>
            <a:r>
              <a:rPr lang="en-US" altLang="en-US" sz="2000" i="1" dirty="0">
                <a:latin typeface="Arial (Body)"/>
              </a:rPr>
              <a:t> </a:t>
            </a:r>
            <a:r>
              <a:rPr lang="en-US" altLang="en-US" sz="2000" dirty="0">
                <a:latin typeface="Arial (Body)"/>
              </a:rPr>
              <a:t>lead to changes in the </a:t>
            </a:r>
            <a:r>
              <a:rPr lang="en-US" altLang="en-US" sz="2000" b="1" dirty="0">
                <a:latin typeface="Arial (Body)"/>
              </a:rPr>
              <a:t>level</a:t>
            </a:r>
            <a:r>
              <a:rPr lang="en-US" altLang="en-US" sz="2000" dirty="0">
                <a:latin typeface="Arial (Body)"/>
              </a:rPr>
              <a:t> of average prices.</a:t>
            </a:r>
          </a:p>
          <a:p>
            <a:pPr eaLnBrk="1" hangingPunct="1"/>
            <a:r>
              <a:rPr lang="en-US" altLang="en-US" sz="2000" dirty="0">
                <a:latin typeface="Arial (Body)"/>
              </a:rPr>
              <a:t>No inflation is predict to occur in the long run, but only during the transition to the long-run equilibrium.</a:t>
            </a:r>
          </a:p>
          <a:p>
            <a:pPr eaLnBrk="1" hangingPunct="1"/>
            <a:r>
              <a:rPr lang="en-US" altLang="en-US" sz="2000" dirty="0">
                <a:latin typeface="Arial (Body)"/>
              </a:rPr>
              <a:t>During the transition, inflation causes the nominal interest rate to increase to its long-run value.</a:t>
            </a:r>
          </a:p>
          <a:p>
            <a:pPr eaLnBrk="1" hangingPunct="1"/>
            <a:r>
              <a:rPr lang="en-US" altLang="en-US" sz="2000" b="1" dirty="0">
                <a:latin typeface="Arial (Body)"/>
              </a:rPr>
              <a:t>Expectations of higher domestic inflation</a:t>
            </a:r>
            <a:r>
              <a:rPr lang="en-US" altLang="en-US" sz="2000" dirty="0">
                <a:latin typeface="Arial (Body)"/>
              </a:rPr>
              <a:t> cause the expected return on foreign currency deposits to increase, making the domestic currency </a:t>
            </a:r>
            <a:r>
              <a:rPr lang="en-US" altLang="en-US" sz="2000" b="1" dirty="0">
                <a:latin typeface="Arial (Body)"/>
              </a:rPr>
              <a:t>depreciate before</a:t>
            </a:r>
            <a:r>
              <a:rPr lang="en-US" altLang="en-US" sz="2000" dirty="0">
                <a:latin typeface="Arial (Body)"/>
              </a:rPr>
              <a:t> the transition period.</a:t>
            </a:r>
          </a:p>
        </p:txBody>
      </p:sp>
    </p:spTree>
    <p:extLst>
      <p:ext uri="{BB962C8B-B14F-4D97-AF65-F5344CB8AC3E}">
        <p14:creationId xmlns:p14="http://schemas.microsoft.com/office/powerpoint/2010/main" val="1863258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The Role of Inflation and Expectations </a:t>
            </a:r>
            <a:r>
              <a:rPr lang="en-US" altLang="en-US" sz="2000" b="0" dirty="0"/>
              <a:t>(2 of 3)</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636535"/>
            <a:ext cx="8229600" cy="4283001"/>
          </a:xfrm>
        </p:spPr>
        <p:txBody>
          <a:bodyPr tIns="0"/>
          <a:lstStyle/>
          <a:p>
            <a:pPr eaLnBrk="1" hangingPunct="1"/>
            <a:r>
              <a:rPr lang="en-US" altLang="en-US" sz="2000" dirty="0">
                <a:latin typeface="Arial (Body)"/>
              </a:rPr>
              <a:t>In the monetary approach (with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a:latin typeface="Arial (Body)"/>
              </a:rPr>
              <a:t>P), the rate of inflation increases permanently when the </a:t>
            </a:r>
            <a:r>
              <a:rPr lang="en-US" altLang="en-US" sz="2000" b="1" dirty="0">
                <a:latin typeface="Arial (Body)"/>
              </a:rPr>
              <a:t>growth rate</a:t>
            </a:r>
            <a:r>
              <a:rPr lang="en-US" altLang="en-US" sz="2000" i="1" dirty="0">
                <a:latin typeface="Arial (Body)"/>
              </a:rPr>
              <a:t> </a:t>
            </a:r>
            <a:r>
              <a:rPr lang="en-US" altLang="en-US" sz="2000" dirty="0">
                <a:latin typeface="Arial (Body)"/>
              </a:rPr>
              <a:t>of the money supply increases permanently. </a:t>
            </a:r>
          </a:p>
          <a:p>
            <a:pPr eaLnBrk="1" hangingPunct="1"/>
            <a:r>
              <a:rPr lang="en-US" altLang="en-US" sz="2000" dirty="0">
                <a:latin typeface="Arial (Body)"/>
              </a:rPr>
              <a:t>With persistent domestic inflation (above foreign inflation), the monetary approach also predicts an increase in the domestic nominal interest rate.</a:t>
            </a:r>
          </a:p>
          <a:p>
            <a:pPr eaLnBrk="1" hangingPunct="1"/>
            <a:r>
              <a:rPr lang="en-US" altLang="en-US" sz="2000" b="1" dirty="0">
                <a:latin typeface="Arial (Body)"/>
              </a:rPr>
              <a:t>Expectations of higher domestic inflation</a:t>
            </a:r>
            <a:r>
              <a:rPr lang="en-US" altLang="en-US" sz="2000" dirty="0">
                <a:latin typeface="Arial (Body)"/>
              </a:rPr>
              <a:t> cause the expected purchasing power of domestic currency to decrease relative to the expected purchasing power of foreign currency, thereby making the domestic currency </a:t>
            </a:r>
            <a:r>
              <a:rPr lang="en-US" altLang="en-US" sz="2000" b="1" dirty="0">
                <a:latin typeface="Arial (Body)"/>
              </a:rPr>
              <a:t>depreciate</a:t>
            </a:r>
            <a:r>
              <a:rPr lang="en-US" altLang="en-US" sz="2000" dirty="0">
                <a:latin typeface="Arial (Body)"/>
              </a:rPr>
              <a:t>.</a:t>
            </a:r>
          </a:p>
        </p:txBody>
      </p:sp>
    </p:spTree>
    <p:extLst>
      <p:ext uri="{BB962C8B-B14F-4D97-AF65-F5344CB8AC3E}">
        <p14:creationId xmlns:p14="http://schemas.microsoft.com/office/powerpoint/2010/main" val="3159616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The Role of Inflation and Expectations </a:t>
            </a:r>
            <a:r>
              <a:rPr lang="en-US" altLang="en-US" sz="2000" b="0" dirty="0"/>
              <a:t>(3 of 3)</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636535"/>
            <a:ext cx="8229600" cy="4283001"/>
          </a:xfrm>
        </p:spPr>
        <p:txBody>
          <a:bodyPr tIns="0"/>
          <a:lstStyle/>
          <a:p>
            <a:pPr eaLnBrk="1" hangingPunct="1"/>
            <a:r>
              <a:rPr lang="en-US" altLang="en-US" dirty="0">
                <a:latin typeface="Arial (Body)"/>
              </a:rPr>
              <a:t>In the long-run model without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 the level of average prices does not immediately adjust even if expectations of inflation adjust,</a:t>
            </a:r>
          </a:p>
          <a:p>
            <a:pPr lvl="1" eaLnBrk="1" hangingPunct="1"/>
            <a:r>
              <a:rPr lang="en-US" altLang="en-US" sz="2400" dirty="0">
                <a:latin typeface="Arial (Body)"/>
              </a:rPr>
              <a:t>causing the exchange rate to overshoot (causing the domestic currency to depreciate more than) its long-run value.</a:t>
            </a:r>
          </a:p>
          <a:p>
            <a:pPr eaLnBrk="1" hangingPunct="1"/>
            <a:r>
              <a:rPr lang="en-US" altLang="en-US" dirty="0">
                <a:latin typeface="Arial (Body)"/>
              </a:rPr>
              <a:t>In the monetary approach (with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a:latin typeface="Arial (Body)"/>
              </a:rPr>
              <a:t>P), the level of average prices adjusts with expectations of inflation, </a:t>
            </a:r>
          </a:p>
          <a:p>
            <a:pPr lvl="1" eaLnBrk="1" hangingPunct="1"/>
            <a:r>
              <a:rPr lang="en-US" altLang="en-US" sz="2400" dirty="0">
                <a:latin typeface="Arial (Body)"/>
              </a:rPr>
              <a:t>causing the domestic currency to depreciate, but with no overshooting.</a:t>
            </a:r>
          </a:p>
        </p:txBody>
      </p:sp>
    </p:spTree>
    <p:extLst>
      <p:ext uri="{BB962C8B-B14F-4D97-AF65-F5344CB8AC3E}">
        <p14:creationId xmlns:p14="http://schemas.microsoft.com/office/powerpoint/2010/main" val="4143254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Shortcomings of P</a:t>
            </a:r>
            <a:r>
              <a:rPr lang="en-US" altLang="en-US" sz="100" dirty="0"/>
              <a:t> </a:t>
            </a:r>
            <a:r>
              <a:rPr lang="en-US" altLang="en-US" dirty="0" err="1"/>
              <a:t>P</a:t>
            </a:r>
            <a:r>
              <a:rPr lang="en-US" altLang="en-US" sz="100" dirty="0"/>
              <a:t> </a:t>
            </a:r>
            <a:r>
              <a:rPr lang="en-US" altLang="en-US" dirty="0" err="1"/>
              <a:t>P</a:t>
            </a:r>
            <a:r>
              <a:rPr lang="en-US" altLang="en-US" dirty="0"/>
              <a:t> </a:t>
            </a:r>
            <a:r>
              <a:rPr lang="en-US" altLang="en-US" sz="2000" b="0" dirty="0"/>
              <a:t>(1 of 5)</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636535"/>
            <a:ext cx="8229600" cy="3376899"/>
          </a:xfrm>
        </p:spPr>
        <p:txBody>
          <a:bodyPr tIns="0"/>
          <a:lstStyle/>
          <a:p>
            <a:pPr eaLnBrk="1" hangingPunct="1"/>
            <a:r>
              <a:rPr lang="en-US" altLang="en-US" dirty="0">
                <a:latin typeface="Arial (Body)"/>
              </a:rPr>
              <a:t>There is little empirical support for absolute purchasing power parity.</a:t>
            </a:r>
          </a:p>
          <a:p>
            <a:pPr lvl="1" eaLnBrk="1" hangingPunct="1"/>
            <a:r>
              <a:rPr lang="en-US" altLang="en-US" sz="2400" dirty="0">
                <a:latin typeface="Arial (Body)"/>
              </a:rPr>
              <a:t>The prices of identical commodity baskets, when converted to a single currency, differ substantially across countries.</a:t>
            </a:r>
          </a:p>
          <a:p>
            <a:pPr eaLnBrk="1" hangingPunct="1"/>
            <a:r>
              <a:rPr lang="en-US" altLang="en-US" dirty="0">
                <a:latin typeface="Arial (Body)"/>
              </a:rPr>
              <a:t>Relative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 is more consistent with data, but it also performs poorly to predict exchange rates.</a:t>
            </a:r>
          </a:p>
        </p:txBody>
      </p:sp>
    </p:spTree>
    <p:extLst>
      <p:ext uri="{BB962C8B-B14F-4D97-AF65-F5344CB8AC3E}">
        <p14:creationId xmlns:p14="http://schemas.microsoft.com/office/powerpoint/2010/main" val="365775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800" dirty="0"/>
              <a:t>Figure 16.2 The Yen/Dollar Exchange Rate and Relative Japan–U.S. Price Levels, 1980–2019</a:t>
            </a:r>
            <a:endParaRPr lang="en-US" sz="2800" dirty="0"/>
          </a:p>
        </p:txBody>
      </p:sp>
      <p:pic>
        <p:nvPicPr>
          <p:cNvPr id="7" name="Content Placeholder 6" descr="A graph plots the yen per dollar exchange rate and Japan to U S price level ratio. For long description in Notes pane, press F6.">
            <a:extLst>
              <a:ext uri="{FF2B5EF4-FFF2-40B4-BE49-F238E27FC236}">
                <a16:creationId xmlns:a16="http://schemas.microsoft.com/office/drawing/2014/main" id="{3EE6CF5C-050E-44F8-8AFD-1EB9506A1268}"/>
              </a:ext>
            </a:extLst>
          </p:cNvPr>
          <p:cNvPicPr>
            <a:picLocks noGrp="1" noChangeAspect="1"/>
          </p:cNvPicPr>
          <p:nvPr>
            <p:ph sz="quarter" idx="13"/>
          </p:nvPr>
        </p:nvPicPr>
        <p:blipFill>
          <a:blip r:embed="rId3"/>
          <a:stretch>
            <a:fillRect/>
          </a:stretch>
        </p:blipFill>
        <p:spPr>
          <a:xfrm>
            <a:off x="1862127" y="1479369"/>
            <a:ext cx="5419745" cy="3690038"/>
          </a:xfrm>
        </p:spPr>
      </p:pic>
      <p:sp>
        <p:nvSpPr>
          <p:cNvPr id="3" name="Content Placeholder 2">
            <a:extLst>
              <a:ext uri="{FF2B5EF4-FFF2-40B4-BE49-F238E27FC236}">
                <a16:creationId xmlns:a16="http://schemas.microsoft.com/office/drawing/2014/main" id="{1883FB42-4471-4982-8E32-A8A8B8406AAB}"/>
              </a:ext>
            </a:extLst>
          </p:cNvPr>
          <p:cNvSpPr>
            <a:spLocks noGrp="1"/>
          </p:cNvSpPr>
          <p:nvPr>
            <p:ph sz="quarter" idx="14"/>
          </p:nvPr>
        </p:nvSpPr>
        <p:spPr>
          <a:xfrm>
            <a:off x="441158" y="5252047"/>
            <a:ext cx="8077200" cy="1097279"/>
          </a:xfrm>
        </p:spPr>
        <p:txBody>
          <a:bodyPr/>
          <a:lstStyle/>
          <a:p>
            <a:pPr marL="0" indent="0">
              <a:buNone/>
            </a:pPr>
            <a:r>
              <a:rPr lang="en-US" sz="2000" dirty="0">
                <a:latin typeface="Arial (Body)"/>
              </a:rPr>
              <a:t>Relative P</a:t>
            </a:r>
            <a:r>
              <a:rPr lang="en-US" sz="100" dirty="0">
                <a:latin typeface="Arial (Body)"/>
              </a:rPr>
              <a:t> </a:t>
            </a:r>
            <a:r>
              <a:rPr lang="en-US" sz="2000" dirty="0" err="1">
                <a:latin typeface="Arial (Body)"/>
              </a:rPr>
              <a:t>P</a:t>
            </a:r>
            <a:r>
              <a:rPr lang="en-US" sz="100" dirty="0">
                <a:latin typeface="Arial (Body)"/>
              </a:rPr>
              <a:t> </a:t>
            </a:r>
            <a:r>
              <a:rPr lang="en-US" sz="2000" dirty="0" err="1">
                <a:latin typeface="Arial (Body)"/>
              </a:rPr>
              <a:t>P</a:t>
            </a:r>
            <a:r>
              <a:rPr lang="en-US" sz="2000" dirty="0">
                <a:latin typeface="Arial (Body)"/>
              </a:rPr>
              <a:t> does not track the yen/dollar exchange rate 1980-2015.</a:t>
            </a:r>
          </a:p>
          <a:p>
            <a:pPr marL="0" indent="0">
              <a:spcBef>
                <a:spcPts val="600"/>
              </a:spcBef>
              <a:buNone/>
            </a:pPr>
            <a:r>
              <a:rPr lang="en-US" sz="2000" b="1" dirty="0">
                <a:latin typeface="Arial (Body)"/>
              </a:rPr>
              <a:t>Source: </a:t>
            </a:r>
            <a:r>
              <a:rPr lang="en-US" sz="2000" dirty="0">
                <a:latin typeface="Arial (Body)"/>
              </a:rPr>
              <a:t>I</a:t>
            </a:r>
            <a:r>
              <a:rPr lang="en-US" sz="100" dirty="0">
                <a:latin typeface="Arial (Body)"/>
              </a:rPr>
              <a:t> </a:t>
            </a:r>
            <a:r>
              <a:rPr lang="en-US" sz="2000" dirty="0">
                <a:latin typeface="Arial (Body)"/>
              </a:rPr>
              <a:t>M</a:t>
            </a:r>
            <a:r>
              <a:rPr lang="en-US" sz="100" dirty="0">
                <a:latin typeface="Arial (Body)"/>
              </a:rPr>
              <a:t> </a:t>
            </a:r>
            <a:r>
              <a:rPr lang="en-US" sz="2000" dirty="0">
                <a:latin typeface="Arial (Body)"/>
              </a:rPr>
              <a:t>F, </a:t>
            </a:r>
            <a:r>
              <a:rPr lang="en-US" sz="2000" b="1" dirty="0">
                <a:latin typeface="Arial (Body)"/>
              </a:rPr>
              <a:t>International Financial Statistics</a:t>
            </a:r>
            <a:r>
              <a:rPr lang="en-US" sz="2000" dirty="0">
                <a:latin typeface="Arial (Body)"/>
              </a:rPr>
              <a:t>. Exchange rates and price levels are end of the year data,.</a:t>
            </a:r>
            <a:endParaRPr lang="en-US" sz="2000" dirty="0"/>
          </a:p>
        </p:txBody>
      </p:sp>
    </p:spTree>
    <p:extLst>
      <p:ext uri="{BB962C8B-B14F-4D97-AF65-F5344CB8AC3E}">
        <p14:creationId xmlns:p14="http://schemas.microsoft.com/office/powerpoint/2010/main" val="2634465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Shortcomings of P</a:t>
            </a:r>
            <a:r>
              <a:rPr lang="en-US" altLang="en-US" sz="100" dirty="0"/>
              <a:t> </a:t>
            </a:r>
            <a:r>
              <a:rPr lang="en-US" altLang="en-US" dirty="0" err="1"/>
              <a:t>P</a:t>
            </a:r>
            <a:r>
              <a:rPr lang="en-US" altLang="en-US" sz="100" dirty="0"/>
              <a:t> </a:t>
            </a:r>
            <a:r>
              <a:rPr lang="en-US" altLang="en-US" dirty="0" err="1"/>
              <a:t>P</a:t>
            </a:r>
            <a:r>
              <a:rPr lang="en-US" altLang="en-US" dirty="0"/>
              <a:t> </a:t>
            </a:r>
            <a:r>
              <a:rPr lang="en-US" altLang="en-US" sz="2000" b="0" dirty="0"/>
              <a:t>(2 of 5)</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556327"/>
            <a:ext cx="8229600" cy="849989"/>
          </a:xfrm>
        </p:spPr>
        <p:txBody>
          <a:bodyPr tIns="0"/>
          <a:lstStyle/>
          <a:p>
            <a:pPr marL="0" indent="0" eaLnBrk="1" hangingPunct="1">
              <a:buFontTx/>
              <a:buNone/>
            </a:pPr>
            <a:r>
              <a:rPr lang="en-US" altLang="en-US" sz="2400" dirty="0">
                <a:latin typeface="Arial (Body)"/>
              </a:rPr>
              <a:t>Reasons why P</a:t>
            </a:r>
            <a:r>
              <a:rPr lang="en-US" altLang="en-US" sz="100" dirty="0">
                <a:latin typeface="Arial (Body)"/>
              </a:rPr>
              <a:t> </a:t>
            </a:r>
            <a:r>
              <a:rPr lang="en-US" altLang="en-US" sz="2400" dirty="0" err="1">
                <a:latin typeface="Arial (Body)"/>
              </a:rPr>
              <a:t>P</a:t>
            </a:r>
            <a:r>
              <a:rPr lang="en-US" altLang="en-US" sz="100" dirty="0">
                <a:latin typeface="Arial (Body)"/>
              </a:rPr>
              <a:t> </a:t>
            </a:r>
            <a:r>
              <a:rPr lang="en-US" altLang="en-US" sz="2400" dirty="0" err="1">
                <a:latin typeface="Arial (Body)"/>
              </a:rPr>
              <a:t>P</a:t>
            </a:r>
            <a:r>
              <a:rPr lang="en-US" altLang="en-US" sz="2400" dirty="0">
                <a:latin typeface="Arial (Body)"/>
              </a:rPr>
              <a:t> may not be accurate: the law of one price may not hold because of </a:t>
            </a:r>
          </a:p>
        </p:txBody>
      </p:sp>
      <p:sp>
        <p:nvSpPr>
          <p:cNvPr id="4" name="Content Placeholder 3">
            <a:extLst>
              <a:ext uri="{FF2B5EF4-FFF2-40B4-BE49-F238E27FC236}">
                <a16:creationId xmlns:a16="http://schemas.microsoft.com/office/drawing/2014/main" id="{9A19F61C-C235-40B3-94C8-702F6630B995}"/>
              </a:ext>
            </a:extLst>
          </p:cNvPr>
          <p:cNvSpPr>
            <a:spLocks noGrp="1"/>
          </p:cNvSpPr>
          <p:nvPr>
            <p:ph sz="quarter" idx="14"/>
          </p:nvPr>
        </p:nvSpPr>
        <p:spPr>
          <a:xfrm>
            <a:off x="457200" y="2497635"/>
            <a:ext cx="8229600" cy="2042323"/>
          </a:xfrm>
        </p:spPr>
        <p:txBody>
          <a:bodyPr/>
          <a:lstStyle/>
          <a:p>
            <a:pPr marL="432000" indent="-432000" eaLnBrk="1" hangingPunct="1">
              <a:buFont typeface="Times" pitchFamily="-1" charset="0"/>
              <a:buAutoNum type="arabicPeriod"/>
            </a:pPr>
            <a:r>
              <a:rPr lang="en-US" altLang="en-US" sz="2400" dirty="0">
                <a:latin typeface="Arial (Body)"/>
              </a:rPr>
              <a:t>Trade barriers and </a:t>
            </a:r>
            <a:r>
              <a:rPr lang="en-US" altLang="en-US" sz="2400" dirty="0" err="1">
                <a:latin typeface="Arial (Body)"/>
              </a:rPr>
              <a:t>nontradable</a:t>
            </a:r>
            <a:r>
              <a:rPr lang="en-US" altLang="en-US" sz="2400" dirty="0">
                <a:latin typeface="Arial (Body)"/>
              </a:rPr>
              <a:t> products </a:t>
            </a:r>
          </a:p>
          <a:p>
            <a:pPr marL="432000" indent="-432000" eaLnBrk="1" hangingPunct="1">
              <a:buFont typeface="Times" pitchFamily="-1" charset="0"/>
              <a:buAutoNum type="arabicPeriod"/>
            </a:pPr>
            <a:r>
              <a:rPr lang="en-US" altLang="en-US" sz="2400" dirty="0">
                <a:latin typeface="Arial (Body)"/>
              </a:rPr>
              <a:t>Imperfect competition</a:t>
            </a:r>
          </a:p>
          <a:p>
            <a:pPr marL="432000" indent="-432000" eaLnBrk="1" hangingPunct="1">
              <a:buFont typeface="Times" pitchFamily="-1" charset="0"/>
              <a:buAutoNum type="arabicPeriod"/>
            </a:pPr>
            <a:r>
              <a:rPr lang="en-US" altLang="en-US" sz="2400" dirty="0">
                <a:latin typeface="Arial (Body)"/>
              </a:rPr>
              <a:t>Differences in measures of average prices for baskets of goods and services</a:t>
            </a:r>
          </a:p>
        </p:txBody>
      </p:sp>
    </p:spTree>
    <p:extLst>
      <p:ext uri="{BB962C8B-B14F-4D97-AF65-F5344CB8AC3E}">
        <p14:creationId xmlns:p14="http://schemas.microsoft.com/office/powerpoint/2010/main" val="1110390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Shortcomings of P</a:t>
            </a:r>
            <a:r>
              <a:rPr lang="en-US" altLang="en-US" sz="100" dirty="0"/>
              <a:t> </a:t>
            </a:r>
            <a:r>
              <a:rPr lang="en-US" altLang="en-US" dirty="0" err="1"/>
              <a:t>P</a:t>
            </a:r>
            <a:r>
              <a:rPr lang="en-US" altLang="en-US" sz="100" dirty="0"/>
              <a:t> </a:t>
            </a:r>
            <a:r>
              <a:rPr lang="en-US" altLang="en-US" dirty="0" err="1"/>
              <a:t>P</a:t>
            </a:r>
            <a:r>
              <a:rPr lang="en-US" altLang="en-US" dirty="0"/>
              <a:t> </a:t>
            </a:r>
            <a:r>
              <a:rPr lang="en-US" altLang="en-US" sz="2000" b="0" dirty="0"/>
              <a:t>(3 of 5)</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556327"/>
            <a:ext cx="8035159" cy="4491547"/>
          </a:xfrm>
        </p:spPr>
        <p:txBody>
          <a:bodyPr tIns="0"/>
          <a:lstStyle/>
          <a:p>
            <a:pPr eaLnBrk="1" hangingPunct="1"/>
            <a:r>
              <a:rPr lang="en-US" altLang="en-US" b="1" dirty="0">
                <a:latin typeface="Arial (Body)"/>
              </a:rPr>
              <a:t>Trade barriers and </a:t>
            </a:r>
            <a:r>
              <a:rPr lang="en-US" altLang="en-US" b="1" dirty="0" err="1">
                <a:latin typeface="Arial (Body)"/>
              </a:rPr>
              <a:t>nontradable</a:t>
            </a:r>
            <a:r>
              <a:rPr lang="en-US" altLang="en-US" b="1" dirty="0">
                <a:latin typeface="Arial (Body)"/>
              </a:rPr>
              <a:t> products</a:t>
            </a:r>
          </a:p>
          <a:p>
            <a:pPr lvl="1" eaLnBrk="1" hangingPunct="1"/>
            <a:r>
              <a:rPr lang="en-US" altLang="en-US" sz="2400" dirty="0">
                <a:latin typeface="Arial (Body)"/>
              </a:rPr>
              <a:t>Transport costs and governmental trade restrictions make trade expensive and in some cases create </a:t>
            </a:r>
            <a:r>
              <a:rPr lang="en-US" altLang="en-US" sz="2400" dirty="0" err="1">
                <a:latin typeface="Arial (Body)"/>
              </a:rPr>
              <a:t>nontradable</a:t>
            </a:r>
            <a:r>
              <a:rPr lang="en-US" altLang="en-US" sz="2400" dirty="0">
                <a:latin typeface="Arial (Body)"/>
              </a:rPr>
              <a:t> goods or services.</a:t>
            </a:r>
          </a:p>
          <a:p>
            <a:pPr lvl="1" eaLnBrk="1" hangingPunct="1"/>
            <a:r>
              <a:rPr lang="en-US" altLang="en-US" sz="2400" dirty="0">
                <a:latin typeface="Arial (Body)"/>
              </a:rPr>
              <a:t>Services are often not tradable: services are generally offered within a limited geographic region (e.g., haircuts). </a:t>
            </a:r>
          </a:p>
          <a:p>
            <a:pPr lvl="1" eaLnBrk="1" hangingPunct="1"/>
            <a:r>
              <a:rPr lang="en-US" altLang="en-US" sz="2400" dirty="0">
                <a:latin typeface="Arial (Body)"/>
              </a:rPr>
              <a:t>The greater the transport costs, the greater the range over which the exchange rate can deviate from its P</a:t>
            </a:r>
            <a:r>
              <a:rPr lang="en-US" altLang="en-US" sz="100" dirty="0">
                <a:latin typeface="Arial (Body)"/>
              </a:rPr>
              <a:t> </a:t>
            </a:r>
            <a:r>
              <a:rPr lang="en-US" altLang="en-US" sz="2400" dirty="0" err="1">
                <a:latin typeface="Arial (Body)"/>
              </a:rPr>
              <a:t>P</a:t>
            </a:r>
            <a:r>
              <a:rPr lang="en-US" altLang="en-US" sz="100" dirty="0">
                <a:latin typeface="Arial (Body)"/>
              </a:rPr>
              <a:t> </a:t>
            </a:r>
            <a:r>
              <a:rPr lang="en-US" altLang="en-US" sz="2400" dirty="0" err="1">
                <a:latin typeface="Arial (Body)"/>
              </a:rPr>
              <a:t>P</a:t>
            </a:r>
            <a:r>
              <a:rPr lang="en-US" altLang="en-US" sz="2400" dirty="0">
                <a:latin typeface="Arial (Body)"/>
              </a:rPr>
              <a:t> value.</a:t>
            </a:r>
          </a:p>
          <a:p>
            <a:pPr lvl="1" eaLnBrk="1" hangingPunct="1"/>
            <a:r>
              <a:rPr lang="en-US" altLang="en-US" sz="2400" dirty="0">
                <a:latin typeface="Arial (Body)"/>
              </a:rPr>
              <a:t>One price need not hold in two markets.</a:t>
            </a:r>
          </a:p>
        </p:txBody>
      </p:sp>
    </p:spTree>
    <p:extLst>
      <p:ext uri="{BB962C8B-B14F-4D97-AF65-F5344CB8AC3E}">
        <p14:creationId xmlns:p14="http://schemas.microsoft.com/office/powerpoint/2010/main" val="3494104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Shortcomings of P</a:t>
            </a:r>
            <a:r>
              <a:rPr lang="en-US" altLang="en-US" sz="100" dirty="0"/>
              <a:t> </a:t>
            </a:r>
            <a:r>
              <a:rPr lang="en-US" altLang="en-US" dirty="0" err="1"/>
              <a:t>P</a:t>
            </a:r>
            <a:r>
              <a:rPr lang="en-US" altLang="en-US" sz="100" dirty="0"/>
              <a:t> </a:t>
            </a:r>
            <a:r>
              <a:rPr lang="en-US" altLang="en-US" dirty="0" err="1"/>
              <a:t>P</a:t>
            </a:r>
            <a:r>
              <a:rPr lang="en-US" altLang="en-US" dirty="0"/>
              <a:t> </a:t>
            </a:r>
            <a:r>
              <a:rPr lang="en-US" altLang="en-US" sz="2000" b="0" dirty="0"/>
              <a:t>(4 of 5)</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556327"/>
            <a:ext cx="8229600" cy="3078735"/>
          </a:xfrm>
        </p:spPr>
        <p:txBody>
          <a:bodyPr tIns="0"/>
          <a:lstStyle/>
          <a:p>
            <a:pPr eaLnBrk="1" hangingPunct="1"/>
            <a:r>
              <a:rPr lang="en-US" altLang="en-US" b="1" dirty="0">
                <a:latin typeface="Arial (Body)"/>
              </a:rPr>
              <a:t>Imperfect competition</a:t>
            </a:r>
            <a:r>
              <a:rPr lang="en-US" altLang="en-US" dirty="0">
                <a:latin typeface="Arial (Body)"/>
              </a:rPr>
              <a:t> may result in price discrimination: “</a:t>
            </a:r>
            <a:r>
              <a:rPr lang="en-US" altLang="ja-JP" dirty="0">
                <a:latin typeface="Arial (Body)"/>
              </a:rPr>
              <a:t>pricing to market.” </a:t>
            </a:r>
          </a:p>
          <a:p>
            <a:pPr lvl="1" eaLnBrk="1" hangingPunct="1"/>
            <a:r>
              <a:rPr lang="en-US" altLang="en-US" sz="2400" dirty="0">
                <a:latin typeface="Arial (Body)"/>
              </a:rPr>
              <a:t>A firm sells the same product for different prices in different markets to maximize profits, based on expectations about what consumers are willing to pay.</a:t>
            </a:r>
          </a:p>
          <a:p>
            <a:pPr lvl="1" eaLnBrk="1" hangingPunct="1"/>
            <a:r>
              <a:rPr lang="en-US" altLang="en-US" sz="2400" dirty="0">
                <a:latin typeface="Arial (Body)"/>
              </a:rPr>
              <a:t>One price need not hold in two markets.</a:t>
            </a:r>
          </a:p>
        </p:txBody>
      </p:sp>
    </p:spTree>
    <p:extLst>
      <p:ext uri="{BB962C8B-B14F-4D97-AF65-F5344CB8AC3E}">
        <p14:creationId xmlns:p14="http://schemas.microsoft.com/office/powerpoint/2010/main" val="3324105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Shortcomings of P</a:t>
            </a:r>
            <a:r>
              <a:rPr lang="en-US" altLang="en-US" sz="100" dirty="0"/>
              <a:t> </a:t>
            </a:r>
            <a:r>
              <a:rPr lang="en-US" altLang="en-US" dirty="0" err="1"/>
              <a:t>P</a:t>
            </a:r>
            <a:r>
              <a:rPr lang="en-US" altLang="en-US" sz="100" dirty="0"/>
              <a:t> </a:t>
            </a:r>
            <a:r>
              <a:rPr lang="en-US" altLang="en-US" dirty="0" err="1"/>
              <a:t>P</a:t>
            </a:r>
            <a:r>
              <a:rPr lang="en-US" altLang="en-US" dirty="0"/>
              <a:t> </a:t>
            </a:r>
            <a:r>
              <a:rPr lang="en-US" altLang="en-US" sz="2000" b="0" dirty="0"/>
              <a:t>(5 of 5)</a:t>
            </a:r>
            <a:endParaRPr lang="en-US" sz="2000" dirty="0"/>
          </a:p>
        </p:txBody>
      </p:sp>
      <p:sp>
        <p:nvSpPr>
          <p:cNvPr id="6" name="Content Placeholder 5">
            <a:extLst>
              <a:ext uri="{FF2B5EF4-FFF2-40B4-BE49-F238E27FC236}">
                <a16:creationId xmlns:a16="http://schemas.microsoft.com/office/drawing/2014/main" id="{48089E69-684E-4D27-9F5F-332F3A74F0E2}"/>
              </a:ext>
            </a:extLst>
          </p:cNvPr>
          <p:cNvSpPr>
            <a:spLocks noGrp="1"/>
          </p:cNvSpPr>
          <p:nvPr>
            <p:ph sz="quarter" idx="13"/>
          </p:nvPr>
        </p:nvSpPr>
        <p:spPr>
          <a:xfrm>
            <a:off x="457200" y="1556327"/>
            <a:ext cx="8229600" cy="4491547"/>
          </a:xfrm>
        </p:spPr>
        <p:txBody>
          <a:bodyPr tIns="0"/>
          <a:lstStyle/>
          <a:p>
            <a:pPr eaLnBrk="1" hangingPunct="1"/>
            <a:r>
              <a:rPr lang="en-US" altLang="en-US" b="1" dirty="0">
                <a:latin typeface="Arial (Body)"/>
              </a:rPr>
              <a:t>Differences in the measure of average prices for goods and services</a:t>
            </a:r>
          </a:p>
          <a:p>
            <a:pPr lvl="1" eaLnBrk="1" hangingPunct="1"/>
            <a:r>
              <a:rPr lang="en-US" altLang="en-US" sz="2400" dirty="0">
                <a:latin typeface="Arial (Body)"/>
              </a:rPr>
              <a:t>Levels of average prices differ across countries because of differences in how representative groups (“</a:t>
            </a:r>
            <a:r>
              <a:rPr lang="en-US" altLang="ja-JP" sz="2400" dirty="0">
                <a:latin typeface="Arial (Body)"/>
              </a:rPr>
              <a:t>baskets”) of goods and services are measured.</a:t>
            </a:r>
          </a:p>
          <a:p>
            <a:pPr lvl="1" eaLnBrk="1" hangingPunct="1"/>
            <a:r>
              <a:rPr lang="en-US" altLang="en-US" sz="2400" dirty="0">
                <a:latin typeface="Arial (Body)"/>
              </a:rPr>
              <a:t>Because measures of groups of goods and services are different, the measure of their average prices need not be the same.</a:t>
            </a:r>
          </a:p>
          <a:p>
            <a:pPr lvl="1" eaLnBrk="1" hangingPunct="1"/>
            <a:r>
              <a:rPr lang="en-US" altLang="en-US" sz="2400" dirty="0">
                <a:latin typeface="Arial (Body)"/>
              </a:rPr>
              <a:t>One price need not hold in two markets.</a:t>
            </a:r>
          </a:p>
        </p:txBody>
      </p:sp>
    </p:spTree>
    <p:extLst>
      <p:ext uri="{BB962C8B-B14F-4D97-AF65-F5344CB8AC3E}">
        <p14:creationId xmlns:p14="http://schemas.microsoft.com/office/powerpoint/2010/main" val="478477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Law of One Price for Hamburgers?</a:t>
            </a:r>
            <a:endParaRPr lang="en-US" sz="2000" dirty="0"/>
          </a:p>
        </p:txBody>
      </p:sp>
      <p:pic>
        <p:nvPicPr>
          <p:cNvPr id="4" name="Content Placeholder 3" descr="A Japanese McDonald’s restaurant.">
            <a:extLst>
              <a:ext uri="{FF2B5EF4-FFF2-40B4-BE49-F238E27FC236}">
                <a16:creationId xmlns:a16="http://schemas.microsoft.com/office/drawing/2014/main" id="{CBC6637E-018F-45A6-A4BF-18CB11E735CF}"/>
              </a:ext>
            </a:extLst>
          </p:cNvPr>
          <p:cNvPicPr>
            <a:picLocks noGrp="1" noChangeAspect="1"/>
          </p:cNvPicPr>
          <p:nvPr>
            <p:ph sz="quarter" idx="13"/>
          </p:nvPr>
        </p:nvPicPr>
        <p:blipFill>
          <a:blip r:embed="rId2"/>
          <a:stretch>
            <a:fillRect/>
          </a:stretch>
        </p:blipFill>
        <p:spPr>
          <a:xfrm>
            <a:off x="2863387" y="1700213"/>
            <a:ext cx="3249059" cy="4492625"/>
          </a:xfrm>
        </p:spPr>
      </p:pic>
    </p:spTree>
    <p:extLst>
      <p:ext uri="{BB962C8B-B14F-4D97-AF65-F5344CB8AC3E}">
        <p14:creationId xmlns:p14="http://schemas.microsoft.com/office/powerpoint/2010/main" val="2242765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sz="3200" dirty="0">
                <a:latin typeface="+mj-lt"/>
              </a:rPr>
              <a:t>Why Price Levels Are Lower in Poorer Countries </a:t>
            </a:r>
            <a:r>
              <a:rPr lang="en-US" altLang="en-US" sz="1800" b="0" dirty="0">
                <a:latin typeface="+mj-lt"/>
              </a:rPr>
              <a:t>(1 of 3)</a:t>
            </a:r>
            <a:endParaRPr lang="en-US" sz="1800" dirty="0"/>
          </a:p>
        </p:txBody>
      </p:sp>
      <p:sp>
        <p:nvSpPr>
          <p:cNvPr id="5" name="Content Placeholder 4">
            <a:extLst>
              <a:ext uri="{FF2B5EF4-FFF2-40B4-BE49-F238E27FC236}">
                <a16:creationId xmlns:a16="http://schemas.microsoft.com/office/drawing/2014/main" id="{EB6AEB01-68CE-45CF-908B-62DFB80E4062}"/>
              </a:ext>
            </a:extLst>
          </p:cNvPr>
          <p:cNvSpPr>
            <a:spLocks noGrp="1"/>
          </p:cNvSpPr>
          <p:nvPr>
            <p:ph sz="quarter" idx="13"/>
          </p:nvPr>
        </p:nvSpPr>
        <p:spPr>
          <a:xfrm>
            <a:off x="457200" y="1556327"/>
            <a:ext cx="8382000" cy="4748220"/>
          </a:xfrm>
        </p:spPr>
        <p:txBody>
          <a:bodyPr/>
          <a:lstStyle/>
          <a:p>
            <a:r>
              <a:rPr lang="en-US" dirty="0">
                <a:latin typeface="Arial (Body)"/>
              </a:rPr>
              <a:t>When expressed in terms of a single currency, countries’ price levels are positively related to the level of real income per capita. </a:t>
            </a:r>
          </a:p>
          <a:p>
            <a:pPr lvl="1"/>
            <a:r>
              <a:rPr lang="en-US" dirty="0">
                <a:latin typeface="Arial (Body)"/>
              </a:rPr>
              <a:t>A dollar, when converted to local currency at the market exchange rate, generally goes much further in a poor country than in a rich one. </a:t>
            </a:r>
          </a:p>
          <a:p>
            <a:pPr lvl="1"/>
            <a:r>
              <a:rPr lang="en-US" dirty="0">
                <a:latin typeface="Arial (Body)"/>
              </a:rPr>
              <a:t>Figure 16-3 illustrates the relation between price levels and income, with each dot representing a different country.</a:t>
            </a:r>
          </a:p>
          <a:p>
            <a:r>
              <a:rPr lang="en-US" dirty="0">
                <a:latin typeface="Arial (Body)"/>
              </a:rPr>
              <a:t>Non-</a:t>
            </a:r>
            <a:r>
              <a:rPr lang="en-US" dirty="0" err="1">
                <a:latin typeface="Arial (Body)"/>
              </a:rPr>
              <a:t>tradables</a:t>
            </a:r>
            <a:r>
              <a:rPr lang="en-US" dirty="0">
                <a:latin typeface="Arial (Body)"/>
              </a:rPr>
              <a:t> tend to be more expensive (relative to </a:t>
            </a:r>
            <a:r>
              <a:rPr lang="en-US" dirty="0" err="1">
                <a:latin typeface="Arial (Body)"/>
              </a:rPr>
              <a:t>tradables</a:t>
            </a:r>
            <a:r>
              <a:rPr lang="en-US" dirty="0">
                <a:latin typeface="Arial (Body)"/>
              </a:rPr>
              <a:t>) in richer countries.</a:t>
            </a:r>
            <a:endParaRPr lang="en-US" dirty="0"/>
          </a:p>
        </p:txBody>
      </p:sp>
    </p:spTree>
    <p:extLst>
      <p:ext uri="{BB962C8B-B14F-4D97-AF65-F5344CB8AC3E}">
        <p14:creationId xmlns:p14="http://schemas.microsoft.com/office/powerpoint/2010/main" val="3732906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sz="3200" dirty="0">
                <a:latin typeface="+mj-lt"/>
              </a:rPr>
              <a:t>Why Price Levels Are Lower in Poorer Countries </a:t>
            </a:r>
            <a:r>
              <a:rPr lang="en-US" altLang="en-US" sz="1800" b="0" dirty="0">
                <a:latin typeface="+mj-lt"/>
              </a:rPr>
              <a:t>(2 of 3)</a:t>
            </a:r>
            <a:endParaRPr lang="en-US" sz="1800" dirty="0"/>
          </a:p>
        </p:txBody>
      </p:sp>
      <p:sp>
        <p:nvSpPr>
          <p:cNvPr id="5" name="Content Placeholder 4">
            <a:extLst>
              <a:ext uri="{FF2B5EF4-FFF2-40B4-BE49-F238E27FC236}">
                <a16:creationId xmlns:a16="http://schemas.microsoft.com/office/drawing/2014/main" id="{EB6AEB01-68CE-45CF-908B-62DFB80E4062}"/>
              </a:ext>
            </a:extLst>
          </p:cNvPr>
          <p:cNvSpPr>
            <a:spLocks noGrp="1"/>
          </p:cNvSpPr>
          <p:nvPr>
            <p:ph sz="quarter" idx="13"/>
          </p:nvPr>
        </p:nvSpPr>
        <p:spPr>
          <a:xfrm>
            <a:off x="457200" y="1556327"/>
            <a:ext cx="8382000" cy="4748220"/>
          </a:xfrm>
        </p:spPr>
        <p:txBody>
          <a:bodyPr/>
          <a:lstStyle/>
          <a:p>
            <a:r>
              <a:rPr lang="en-US" dirty="0">
                <a:latin typeface="Arial (Body)"/>
              </a:rPr>
              <a:t>The Balassa-Samuelson theory assumes labor productivity in poor countries is than in rich countries for </a:t>
            </a:r>
            <a:r>
              <a:rPr lang="en-US" dirty="0" err="1">
                <a:latin typeface="Arial (Body)"/>
              </a:rPr>
              <a:t>tradables</a:t>
            </a:r>
            <a:r>
              <a:rPr lang="en-US" dirty="0">
                <a:latin typeface="Arial (Body)"/>
              </a:rPr>
              <a:t> but not for non-</a:t>
            </a:r>
            <a:r>
              <a:rPr lang="en-US" dirty="0" err="1">
                <a:latin typeface="Arial (Body)"/>
              </a:rPr>
              <a:t>tradables</a:t>
            </a:r>
            <a:r>
              <a:rPr lang="en-US" dirty="0">
                <a:latin typeface="Arial (Body)"/>
              </a:rPr>
              <a:t>. </a:t>
            </a:r>
          </a:p>
          <a:p>
            <a:r>
              <a:rPr lang="en-US" dirty="0">
                <a:latin typeface="Arial (Body)"/>
              </a:rPr>
              <a:t>If the prices of traded goods are roughly equal across countries, the lower labor productivity in the </a:t>
            </a:r>
            <a:r>
              <a:rPr lang="en-US" dirty="0" err="1">
                <a:latin typeface="Arial (Body)"/>
              </a:rPr>
              <a:t>tradables</a:t>
            </a:r>
            <a:r>
              <a:rPr lang="en-US" dirty="0">
                <a:latin typeface="Arial (Body)"/>
              </a:rPr>
              <a:t> industries of poor countries implies lower wages, lower production costs in non-</a:t>
            </a:r>
            <a:r>
              <a:rPr lang="en-US" dirty="0" err="1">
                <a:latin typeface="Arial (Body)"/>
              </a:rPr>
              <a:t>tradables</a:t>
            </a:r>
            <a:r>
              <a:rPr lang="en-US" dirty="0">
                <a:latin typeface="Arial (Body)"/>
              </a:rPr>
              <a:t>, and thus lower prices of non-</a:t>
            </a:r>
            <a:r>
              <a:rPr lang="en-US" dirty="0" err="1">
                <a:latin typeface="Arial (Body)"/>
              </a:rPr>
              <a:t>tradables</a:t>
            </a:r>
            <a:r>
              <a:rPr lang="en-US" dirty="0">
                <a:latin typeface="Arial (Body)"/>
              </a:rPr>
              <a:t> than rich countries. </a:t>
            </a:r>
          </a:p>
          <a:p>
            <a:r>
              <a:rPr lang="en-US" dirty="0">
                <a:latin typeface="Arial (Body)"/>
              </a:rPr>
              <a:t>Productivity statistics support the Balassa-Samuelson differential productivity explanation.</a:t>
            </a:r>
            <a:endParaRPr lang="en-US" altLang="en-US" dirty="0">
              <a:latin typeface="Arial (Body)"/>
            </a:endParaRPr>
          </a:p>
        </p:txBody>
      </p:sp>
    </p:spTree>
    <p:extLst>
      <p:ext uri="{BB962C8B-B14F-4D97-AF65-F5344CB8AC3E}">
        <p14:creationId xmlns:p14="http://schemas.microsoft.com/office/powerpoint/2010/main" val="464205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sz="3200" dirty="0">
                <a:latin typeface="+mj-lt"/>
              </a:rPr>
              <a:t>Why Price Levels Are Lower in Poorer Countries </a:t>
            </a:r>
            <a:r>
              <a:rPr lang="en-US" altLang="en-US" sz="1800" b="0" dirty="0">
                <a:latin typeface="+mj-lt"/>
              </a:rPr>
              <a:t>(3 of 3)</a:t>
            </a:r>
            <a:endParaRPr lang="en-US" sz="1800" dirty="0"/>
          </a:p>
        </p:txBody>
      </p:sp>
      <p:sp>
        <p:nvSpPr>
          <p:cNvPr id="5" name="Content Placeholder 4">
            <a:extLst>
              <a:ext uri="{FF2B5EF4-FFF2-40B4-BE49-F238E27FC236}">
                <a16:creationId xmlns:a16="http://schemas.microsoft.com/office/drawing/2014/main" id="{EB6AEB01-68CE-45CF-908B-62DFB80E4062}"/>
              </a:ext>
            </a:extLst>
          </p:cNvPr>
          <p:cNvSpPr>
            <a:spLocks noGrp="1"/>
          </p:cNvSpPr>
          <p:nvPr>
            <p:ph sz="quarter" idx="13"/>
          </p:nvPr>
        </p:nvSpPr>
        <p:spPr>
          <a:xfrm>
            <a:off x="457200" y="1556327"/>
            <a:ext cx="8382000" cy="4748220"/>
          </a:xfrm>
        </p:spPr>
        <p:txBody>
          <a:bodyPr/>
          <a:lstStyle/>
          <a:p>
            <a:r>
              <a:rPr lang="en-US" altLang="en-US" dirty="0">
                <a:latin typeface="Arial (Body)"/>
              </a:rPr>
              <a:t>An alternative theory (by </a:t>
            </a:r>
            <a:r>
              <a:rPr lang="en-US" dirty="0">
                <a:latin typeface="Arial (Body)"/>
              </a:rPr>
              <a:t>Bhagwati, Kravis, and Lipsey) relies on differences in the endowments of capital and labor, rather than productivity differences. </a:t>
            </a:r>
          </a:p>
          <a:p>
            <a:r>
              <a:rPr lang="en-US" dirty="0">
                <a:latin typeface="Arial (Body)"/>
              </a:rPr>
              <a:t>The higher capital-labor ratios in rich countries compared to poor countries makes the marginal productivity of labor and hence the wage level higher in rich countries.</a:t>
            </a:r>
          </a:p>
          <a:p>
            <a:r>
              <a:rPr lang="en-US" dirty="0">
                <a:latin typeface="Arial (Body)"/>
              </a:rPr>
              <a:t>Non-</a:t>
            </a:r>
            <a:r>
              <a:rPr lang="en-US" dirty="0" err="1">
                <a:latin typeface="Arial (Body)"/>
              </a:rPr>
              <a:t>tradables</a:t>
            </a:r>
            <a:r>
              <a:rPr lang="en-US" dirty="0">
                <a:latin typeface="Arial (Body)"/>
              </a:rPr>
              <a:t> are labor-intensive (use a higher ratio of labor to capital) relative to </a:t>
            </a:r>
            <a:r>
              <a:rPr lang="en-US" dirty="0" err="1">
                <a:latin typeface="Arial (Body)"/>
              </a:rPr>
              <a:t>tradables</a:t>
            </a:r>
            <a:r>
              <a:rPr lang="en-US" dirty="0">
                <a:latin typeface="Arial (Body)"/>
              </a:rPr>
              <a:t>, making non-</a:t>
            </a:r>
            <a:r>
              <a:rPr lang="en-US" dirty="0" err="1">
                <a:latin typeface="Arial (Body)"/>
              </a:rPr>
              <a:t>tradables</a:t>
            </a:r>
            <a:r>
              <a:rPr lang="en-US" dirty="0">
                <a:latin typeface="Arial (Body)"/>
              </a:rPr>
              <a:t> cheaper in poor, low-wage countries than they are in rich, high-wage countries. </a:t>
            </a:r>
          </a:p>
          <a:p>
            <a:r>
              <a:rPr lang="en-US" dirty="0">
                <a:latin typeface="Arial (Body)"/>
              </a:rPr>
              <a:t>Rich countries thus have higher overall price levels.</a:t>
            </a:r>
            <a:endParaRPr lang="en-US" altLang="en-US" dirty="0">
              <a:latin typeface="Arial (Body)"/>
            </a:endParaRPr>
          </a:p>
        </p:txBody>
      </p:sp>
    </p:spTree>
    <p:extLst>
      <p:ext uri="{BB962C8B-B14F-4D97-AF65-F5344CB8AC3E}">
        <p14:creationId xmlns:p14="http://schemas.microsoft.com/office/powerpoint/2010/main" val="1928324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16.3 Price Levels and Real Incomes, 2017</a:t>
            </a:r>
            <a:endParaRPr lang="en-US" sz="2000" dirty="0"/>
          </a:p>
        </p:txBody>
      </p:sp>
      <p:pic>
        <p:nvPicPr>
          <p:cNvPr id="7" name="Content Placeholder 6" descr="A scatter diagram plots the price level relative to the United States, U S = 100, versus Real G D P per capita at current P P Ps. For long description in Notes pane, press F6.">
            <a:extLst>
              <a:ext uri="{FF2B5EF4-FFF2-40B4-BE49-F238E27FC236}">
                <a16:creationId xmlns:a16="http://schemas.microsoft.com/office/drawing/2014/main" id="{F21C92FA-C0C1-4E65-9BC4-340607179BC7}"/>
              </a:ext>
            </a:extLst>
          </p:cNvPr>
          <p:cNvPicPr>
            <a:picLocks noGrp="1" noChangeAspect="1"/>
          </p:cNvPicPr>
          <p:nvPr>
            <p:ph sz="quarter" idx="13"/>
          </p:nvPr>
        </p:nvPicPr>
        <p:blipFill>
          <a:blip r:embed="rId3"/>
          <a:stretch>
            <a:fillRect/>
          </a:stretch>
        </p:blipFill>
        <p:spPr>
          <a:xfrm>
            <a:off x="2310215" y="1546307"/>
            <a:ext cx="4555653" cy="3146944"/>
          </a:xfrm>
        </p:spPr>
      </p:pic>
      <p:sp>
        <p:nvSpPr>
          <p:cNvPr id="4" name="Content Placeholder 3">
            <a:extLst>
              <a:ext uri="{FF2B5EF4-FFF2-40B4-BE49-F238E27FC236}">
                <a16:creationId xmlns:a16="http://schemas.microsoft.com/office/drawing/2014/main" id="{6C04671E-D421-4FEA-876F-54B92FFCE4E6}"/>
              </a:ext>
            </a:extLst>
          </p:cNvPr>
          <p:cNvSpPr>
            <a:spLocks noGrp="1"/>
          </p:cNvSpPr>
          <p:nvPr>
            <p:ph sz="quarter" idx="14"/>
          </p:nvPr>
        </p:nvSpPr>
        <p:spPr>
          <a:xfrm>
            <a:off x="457200" y="4744029"/>
            <a:ext cx="8229600" cy="1584000"/>
          </a:xfrm>
        </p:spPr>
        <p:txBody>
          <a:bodyPr/>
          <a:lstStyle/>
          <a:p>
            <a:pPr marL="0" indent="0">
              <a:buNone/>
            </a:pPr>
            <a:r>
              <a:rPr lang="en-US" sz="1800" dirty="0">
                <a:latin typeface="Arial (Body)"/>
              </a:rPr>
              <a:t>Consumer price levels tend to rise as their real income rises. Each dot represents a country. The straight line represents a statistician’s best prediction of a country’s price level relative to that of the United States based on its real per capita income.</a:t>
            </a:r>
          </a:p>
          <a:p>
            <a:pPr marL="0" indent="0">
              <a:spcBef>
                <a:spcPts val="600"/>
              </a:spcBef>
              <a:buNone/>
            </a:pPr>
            <a:r>
              <a:rPr lang="en-US" sz="1800" b="1" dirty="0">
                <a:latin typeface="Arial (Body)"/>
              </a:rPr>
              <a:t>Source: </a:t>
            </a:r>
            <a:r>
              <a:rPr lang="en-US" sz="1800" dirty="0">
                <a:latin typeface="Arial (Body)"/>
              </a:rPr>
              <a:t>Penn World Table, version 9.1.</a:t>
            </a:r>
            <a:endParaRPr lang="en-US" sz="1800" dirty="0"/>
          </a:p>
        </p:txBody>
      </p:sp>
    </p:spTree>
    <p:extLst>
      <p:ext uri="{BB962C8B-B14F-4D97-AF65-F5344CB8AC3E}">
        <p14:creationId xmlns:p14="http://schemas.microsoft.com/office/powerpoint/2010/main" val="3992438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2000" b="0" dirty="0"/>
              <a:t>(1 of 10)</a:t>
            </a:r>
            <a:endParaRPr lang="en-US" sz="2000" dirty="0"/>
          </a:p>
        </p:txBody>
      </p:sp>
      <p:sp>
        <p:nvSpPr>
          <p:cNvPr id="5" name="Content Placeholder 4">
            <a:extLst>
              <a:ext uri="{FF2B5EF4-FFF2-40B4-BE49-F238E27FC236}">
                <a16:creationId xmlns:a16="http://schemas.microsoft.com/office/drawing/2014/main" id="{7A54745C-375A-4D18-ABAF-9A6DC0579BE5}"/>
              </a:ext>
            </a:extLst>
          </p:cNvPr>
          <p:cNvSpPr>
            <a:spLocks noGrp="1"/>
          </p:cNvSpPr>
          <p:nvPr>
            <p:ph sz="quarter" idx="13"/>
          </p:nvPr>
        </p:nvSpPr>
        <p:spPr>
          <a:xfrm>
            <a:off x="457200" y="1556327"/>
            <a:ext cx="8229600" cy="3240262"/>
          </a:xfrm>
        </p:spPr>
        <p:txBody>
          <a:bodyPr/>
          <a:lstStyle/>
          <a:p>
            <a:pPr eaLnBrk="1" hangingPunct="1"/>
            <a:r>
              <a:rPr lang="en-US" altLang="en-US" sz="2000" dirty="0">
                <a:latin typeface="Arial (Body)"/>
              </a:rPr>
              <a:t>Because of the shortcomings of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economists have tried to generalize the monetary approach to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to make a better theory.</a:t>
            </a:r>
          </a:p>
          <a:p>
            <a:pPr eaLnBrk="1" hangingPunct="1"/>
            <a:r>
              <a:rPr lang="en-US" altLang="en-US" sz="2000" dirty="0">
                <a:latin typeface="Arial (Body)"/>
              </a:rPr>
              <a:t>The </a:t>
            </a:r>
            <a:r>
              <a:rPr lang="en-US" altLang="en-US" sz="2000" b="1" dirty="0">
                <a:latin typeface="Arial (Body)"/>
              </a:rPr>
              <a:t>real exchange rate</a:t>
            </a:r>
            <a:r>
              <a:rPr lang="en-US" altLang="en-US" sz="2000" dirty="0">
                <a:latin typeface="Arial (Body)"/>
              </a:rPr>
              <a:t> is the </a:t>
            </a:r>
            <a:r>
              <a:rPr lang="en-US" altLang="en-US" sz="2000" b="1" dirty="0">
                <a:latin typeface="Arial (Body)"/>
              </a:rPr>
              <a:t>rate of exchange for goods and services</a:t>
            </a:r>
            <a:r>
              <a:rPr lang="en-US" altLang="en-US" sz="2000" dirty="0">
                <a:latin typeface="Arial (Body)"/>
              </a:rPr>
              <a:t> across countries. </a:t>
            </a:r>
          </a:p>
          <a:p>
            <a:pPr lvl="1" eaLnBrk="1" hangingPunct="1"/>
            <a:r>
              <a:rPr lang="en-US" altLang="en-US" sz="2000" dirty="0">
                <a:latin typeface="Arial (Body)"/>
              </a:rPr>
              <a:t>In other words, it is the relative value/price/cost of goods and services across countries.</a:t>
            </a:r>
          </a:p>
          <a:p>
            <a:pPr lvl="1" eaLnBrk="1" hangingPunct="1"/>
            <a:r>
              <a:rPr lang="en-US" altLang="en-US" sz="2000" dirty="0">
                <a:latin typeface="Arial (Body)"/>
              </a:rPr>
              <a:t>For example, it is the dollar price of a European group of goods and services relative to the dollar price of an American group of goods and services:</a:t>
            </a:r>
            <a:endParaRPr lang="en-US" altLang="en-US" sz="2000" baseline="-25000" dirty="0">
              <a:latin typeface="Arial (Body)"/>
            </a:endParaRPr>
          </a:p>
        </p:txBody>
      </p:sp>
      <p:graphicFrame>
        <p:nvGraphicFramePr>
          <p:cNvPr id="6" name="Object 5" descr="q sub start fraction U S over E U end fraction = start fraction left parenthesis E sub start expression $ per euro end expression times P sub E U right parenthesis over P sub U S end fraction ">
            <a:extLst>
              <a:ext uri="{FF2B5EF4-FFF2-40B4-BE49-F238E27FC236}">
                <a16:creationId xmlns:a16="http://schemas.microsoft.com/office/drawing/2014/main" id="{65E7B581-F3D7-4D93-BFFA-A0352A04A400}"/>
              </a:ext>
            </a:extLst>
          </p:cNvPr>
          <p:cNvGraphicFramePr>
            <a:graphicFrameLocks noChangeAspect="1"/>
          </p:cNvGraphicFramePr>
          <p:nvPr>
            <p:extLst>
              <p:ext uri="{D42A27DB-BD31-4B8C-83A1-F6EECF244321}">
                <p14:modId xmlns:p14="http://schemas.microsoft.com/office/powerpoint/2010/main" val="2299296111"/>
              </p:ext>
            </p:extLst>
          </p:nvPr>
        </p:nvGraphicFramePr>
        <p:xfrm>
          <a:off x="3753435" y="5188452"/>
          <a:ext cx="2054225" cy="842963"/>
        </p:xfrm>
        <a:graphic>
          <a:graphicData uri="http://schemas.openxmlformats.org/presentationml/2006/ole">
            <mc:AlternateContent xmlns:mc="http://schemas.openxmlformats.org/markup-compatibility/2006">
              <mc:Choice xmlns:v="urn:schemas-microsoft-com:vml" Requires="v">
                <p:oleObj spid="_x0000_s10244" name="Equation" r:id="rId3" imgW="2054648" imgH="842887" progId="Equation.DSMT4">
                  <p:embed/>
                </p:oleObj>
              </mc:Choice>
              <mc:Fallback>
                <p:oleObj name="Equation" r:id="rId3" imgW="2054648" imgH="842887" progId="Equation.DSMT4">
                  <p:embed/>
                  <p:pic>
                    <p:nvPicPr>
                      <p:cNvPr id="0" name=""/>
                      <p:cNvPicPr/>
                      <p:nvPr/>
                    </p:nvPicPr>
                    <p:blipFill>
                      <a:blip r:embed="rId4"/>
                      <a:stretch>
                        <a:fillRect/>
                      </a:stretch>
                    </p:blipFill>
                    <p:spPr>
                      <a:xfrm>
                        <a:off x="3753435" y="5188452"/>
                        <a:ext cx="2054225" cy="842963"/>
                      </a:xfrm>
                      <a:prstGeom prst="rect">
                        <a:avLst/>
                      </a:prstGeom>
                    </p:spPr>
                  </p:pic>
                </p:oleObj>
              </mc:Fallback>
            </mc:AlternateContent>
          </a:graphicData>
        </a:graphic>
      </p:graphicFrame>
    </p:spTree>
    <p:extLst>
      <p:ext uri="{BB962C8B-B14F-4D97-AF65-F5344CB8AC3E}">
        <p14:creationId xmlns:p14="http://schemas.microsoft.com/office/powerpoint/2010/main" val="3189512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EA18E93-5729-4249-984E-F421EE94D5B5}"/>
              </a:ext>
            </a:extLst>
          </p:cNvPr>
          <p:cNvSpPr>
            <a:spLocks noGrp="1"/>
          </p:cNvSpPr>
          <p:nvPr>
            <p:ph type="title"/>
          </p:nvPr>
        </p:nvSpPr>
        <p:spPr/>
        <p:txBody>
          <a:bodyPr/>
          <a:lstStyle/>
          <a:p>
            <a:r>
              <a:rPr lang="en-US" altLang="en-US" sz="3200" dirty="0"/>
              <a:t>The Real Exchange Rate Approach to Exchange Rates </a:t>
            </a:r>
            <a:r>
              <a:rPr lang="en-US" altLang="en-US" sz="2000" b="0" dirty="0"/>
              <a:t>(2 of 10)</a:t>
            </a:r>
            <a:endParaRPr lang="en-IN" sz="2000" dirty="0"/>
          </a:p>
        </p:txBody>
      </p:sp>
      <p:graphicFrame>
        <p:nvGraphicFramePr>
          <p:cNvPr id="23" name="Object 22" descr="q sub start fraction U S over E U end fraction = start fraction left parenthesis E sub start expression $ per euro end expression times P sub E U right parenthesis over P sub U S end fraction">
            <a:extLst>
              <a:ext uri="{FF2B5EF4-FFF2-40B4-BE49-F238E27FC236}">
                <a16:creationId xmlns:a16="http://schemas.microsoft.com/office/drawing/2014/main" id="{698B1B51-A595-45AF-801C-DD45C2F55288}"/>
              </a:ext>
            </a:extLst>
          </p:cNvPr>
          <p:cNvGraphicFramePr>
            <a:graphicFrameLocks noChangeAspect="1"/>
          </p:cNvGraphicFramePr>
          <p:nvPr>
            <p:extLst>
              <p:ext uri="{D42A27DB-BD31-4B8C-83A1-F6EECF244321}">
                <p14:modId xmlns:p14="http://schemas.microsoft.com/office/powerpoint/2010/main" val="203919614"/>
              </p:ext>
            </p:extLst>
          </p:nvPr>
        </p:nvGraphicFramePr>
        <p:xfrm>
          <a:off x="3439445" y="1700213"/>
          <a:ext cx="2136775" cy="877887"/>
        </p:xfrm>
        <a:graphic>
          <a:graphicData uri="http://schemas.openxmlformats.org/presentationml/2006/ole">
            <mc:AlternateContent xmlns:mc="http://schemas.openxmlformats.org/markup-compatibility/2006">
              <mc:Choice xmlns:v="urn:schemas-microsoft-com:vml" Requires="v">
                <p:oleObj spid="_x0000_s11270" name="Equation" r:id="rId3" imgW="2136690" imgH="877857" progId="Equation.DSMT4">
                  <p:embed/>
                </p:oleObj>
              </mc:Choice>
              <mc:Fallback>
                <p:oleObj name="Equation" r:id="rId3" imgW="2136690" imgH="877857" progId="Equation.DSMT4">
                  <p:embed/>
                  <p:pic>
                    <p:nvPicPr>
                      <p:cNvPr id="3" name="Object 2" descr="q sub start fraction U S over E U end fraction = start fraction left parenthesis E sub start expression $ per euro end expression times P sub E U right parenthesis over P sub U S end fraction">
                        <a:extLst>
                          <a:ext uri="{FF2B5EF4-FFF2-40B4-BE49-F238E27FC236}">
                            <a16:creationId xmlns:a16="http://schemas.microsoft.com/office/drawing/2014/main" id="{13992341-572C-4EC3-AADF-048F900A5081}"/>
                          </a:ext>
                        </a:extLst>
                      </p:cNvPr>
                      <p:cNvPicPr/>
                      <p:nvPr/>
                    </p:nvPicPr>
                    <p:blipFill>
                      <a:blip r:embed="rId4"/>
                      <a:stretch>
                        <a:fillRect/>
                      </a:stretch>
                    </p:blipFill>
                    <p:spPr>
                      <a:xfrm>
                        <a:off x="3439445" y="1700213"/>
                        <a:ext cx="2136775" cy="877887"/>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FFEEA983-7FD4-4CD5-AFC5-4FF5CF5A86D8}"/>
              </a:ext>
            </a:extLst>
          </p:cNvPr>
          <p:cNvSpPr>
            <a:spLocks noGrp="1"/>
          </p:cNvSpPr>
          <p:nvPr>
            <p:ph sz="quarter" idx="13"/>
          </p:nvPr>
        </p:nvSpPr>
        <p:spPr>
          <a:xfrm>
            <a:off x="457201" y="2828076"/>
            <a:ext cx="3185886" cy="394095"/>
          </a:xfrm>
        </p:spPr>
        <p:txBody>
          <a:bodyPr/>
          <a:lstStyle/>
          <a:p>
            <a:pPr lvl="1"/>
            <a:r>
              <a:rPr lang="en-US" altLang="en-US" sz="1800" dirty="0">
                <a:latin typeface="Arial (Body)"/>
              </a:rPr>
              <a:t>If the E</a:t>
            </a:r>
            <a:r>
              <a:rPr lang="en-US" altLang="en-US" sz="100" dirty="0">
                <a:latin typeface="Arial (Body)"/>
              </a:rPr>
              <a:t> </a:t>
            </a:r>
            <a:r>
              <a:rPr lang="en-US" altLang="en-US" sz="1800" dirty="0">
                <a:latin typeface="Arial (Body)"/>
              </a:rPr>
              <a:t>U basket costs</a:t>
            </a:r>
            <a:endParaRPr lang="en-IN" sz="1800" dirty="0"/>
          </a:p>
        </p:txBody>
      </p:sp>
      <p:graphicFrame>
        <p:nvGraphicFramePr>
          <p:cNvPr id="25" name="Object 24" descr="euro 100">
            <a:extLst>
              <a:ext uri="{FF2B5EF4-FFF2-40B4-BE49-F238E27FC236}">
                <a16:creationId xmlns:a16="http://schemas.microsoft.com/office/drawing/2014/main" id="{3E7A6F44-CCD2-49D7-ACC0-A2E14A39743D}"/>
              </a:ext>
            </a:extLst>
          </p:cNvPr>
          <p:cNvGraphicFramePr>
            <a:graphicFrameLocks noChangeAspect="1"/>
          </p:cNvGraphicFramePr>
          <p:nvPr>
            <p:extLst>
              <p:ext uri="{D42A27DB-BD31-4B8C-83A1-F6EECF244321}">
                <p14:modId xmlns:p14="http://schemas.microsoft.com/office/powerpoint/2010/main" val="3054489476"/>
              </p:ext>
            </p:extLst>
          </p:nvPr>
        </p:nvGraphicFramePr>
        <p:xfrm>
          <a:off x="3727677" y="2915932"/>
          <a:ext cx="698500" cy="316071"/>
        </p:xfrm>
        <a:graphic>
          <a:graphicData uri="http://schemas.openxmlformats.org/presentationml/2006/ole">
            <mc:AlternateContent xmlns:mc="http://schemas.openxmlformats.org/markup-compatibility/2006">
              <mc:Choice xmlns:v="urn:schemas-microsoft-com:vml" Requires="v">
                <p:oleObj spid="_x0000_s11271" name="Equation" r:id="rId5" imgW="393480" imgH="177480" progId="Equation.DSMT4">
                  <p:embed/>
                </p:oleObj>
              </mc:Choice>
              <mc:Fallback>
                <p:oleObj name="Equation" r:id="rId5" imgW="393480" imgH="177480" progId="Equation.DSMT4">
                  <p:embed/>
                  <p:pic>
                    <p:nvPicPr>
                      <p:cNvPr id="0" name=""/>
                      <p:cNvPicPr/>
                      <p:nvPr/>
                    </p:nvPicPr>
                    <p:blipFill>
                      <a:blip r:embed="rId6"/>
                      <a:stretch>
                        <a:fillRect/>
                      </a:stretch>
                    </p:blipFill>
                    <p:spPr>
                      <a:xfrm>
                        <a:off x="3727677" y="2915932"/>
                        <a:ext cx="698500" cy="316071"/>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267FDC85-9404-4A84-BDD0-11901C8686D5}"/>
              </a:ext>
            </a:extLst>
          </p:cNvPr>
          <p:cNvSpPr>
            <a:spLocks noGrp="1"/>
          </p:cNvSpPr>
          <p:nvPr>
            <p:ph sz="quarter" idx="14"/>
          </p:nvPr>
        </p:nvSpPr>
        <p:spPr>
          <a:xfrm>
            <a:off x="4526954" y="2920727"/>
            <a:ext cx="4114800" cy="315959"/>
          </a:xfrm>
        </p:spPr>
        <p:txBody>
          <a:bodyPr lIns="0" tIns="0" rIns="0" bIns="0"/>
          <a:lstStyle/>
          <a:p>
            <a:pPr marL="0" lvl="1" indent="0">
              <a:buNone/>
            </a:pPr>
            <a:r>
              <a:rPr lang="en-US" altLang="en-US" sz="1800" dirty="0">
                <a:latin typeface="Arial (Body)"/>
              </a:rPr>
              <a:t>the U.S. basket costs $120, and the</a:t>
            </a:r>
            <a:endParaRPr lang="en-IN" sz="1800" dirty="0"/>
          </a:p>
        </p:txBody>
      </p:sp>
      <p:sp>
        <p:nvSpPr>
          <p:cNvPr id="16" name="Content Placeholder 15">
            <a:extLst>
              <a:ext uri="{FF2B5EF4-FFF2-40B4-BE49-F238E27FC236}">
                <a16:creationId xmlns:a16="http://schemas.microsoft.com/office/drawing/2014/main" id="{7359E02E-4FAA-4E86-A4DC-493C8C13B1B8}"/>
              </a:ext>
            </a:extLst>
          </p:cNvPr>
          <p:cNvSpPr>
            <a:spLocks noGrp="1"/>
          </p:cNvSpPr>
          <p:nvPr>
            <p:ph sz="quarter" idx="15"/>
          </p:nvPr>
        </p:nvSpPr>
        <p:spPr>
          <a:xfrm>
            <a:off x="457200" y="3287451"/>
            <a:ext cx="8229600" cy="615574"/>
          </a:xfrm>
        </p:spPr>
        <p:txBody>
          <a:bodyPr lIns="0" tIns="0" rIns="0" bIns="0"/>
          <a:lstStyle/>
          <a:p>
            <a:pPr marL="741600" lvl="1" indent="0">
              <a:buNone/>
            </a:pPr>
            <a:r>
              <a:rPr lang="en-US" altLang="en-US" sz="1800" dirty="0">
                <a:latin typeface="Arial (Body)"/>
              </a:rPr>
              <a:t>nominal exchange rate is $1.20 per euro, then the real exchange rate is 1 U.S. basket per 1 E</a:t>
            </a:r>
            <a:r>
              <a:rPr lang="en-US" altLang="en-US" sz="100" dirty="0">
                <a:latin typeface="Arial (Body)"/>
              </a:rPr>
              <a:t> </a:t>
            </a:r>
            <a:r>
              <a:rPr lang="en-US" altLang="en-US" sz="1800" dirty="0">
                <a:latin typeface="Arial (Body)"/>
              </a:rPr>
              <a:t>U basket.</a:t>
            </a:r>
          </a:p>
        </p:txBody>
      </p:sp>
      <p:sp>
        <p:nvSpPr>
          <p:cNvPr id="17" name="Content Placeholder 16">
            <a:extLst>
              <a:ext uri="{FF2B5EF4-FFF2-40B4-BE49-F238E27FC236}">
                <a16:creationId xmlns:a16="http://schemas.microsoft.com/office/drawing/2014/main" id="{75F3D155-8B48-4617-A4CC-0DF1BEBB6D92}"/>
              </a:ext>
            </a:extLst>
          </p:cNvPr>
          <p:cNvSpPr>
            <a:spLocks noGrp="1"/>
          </p:cNvSpPr>
          <p:nvPr>
            <p:ph sz="quarter" idx="16"/>
          </p:nvPr>
        </p:nvSpPr>
        <p:spPr>
          <a:xfrm>
            <a:off x="457200" y="4007413"/>
            <a:ext cx="8129752" cy="2177171"/>
          </a:xfrm>
        </p:spPr>
        <p:txBody>
          <a:bodyPr lIns="90000" tIns="0" rIns="0" bIns="0"/>
          <a:lstStyle/>
          <a:p>
            <a:pPr lvl="1" indent="-284400"/>
            <a:r>
              <a:rPr lang="en-US" altLang="en-US" sz="1800" dirty="0">
                <a:latin typeface="Arial (Body)"/>
              </a:rPr>
              <a:t>A real depreciation</a:t>
            </a:r>
            <a:r>
              <a:rPr lang="en-US" altLang="en-US" sz="1800" b="1" dirty="0">
                <a:latin typeface="Arial (Body)"/>
              </a:rPr>
              <a:t> </a:t>
            </a:r>
            <a:r>
              <a:rPr lang="en-US" altLang="en-US" sz="1800" dirty="0">
                <a:latin typeface="Arial (Body)"/>
              </a:rPr>
              <a:t>of the value of U.S. products means a fall in a dollar</a:t>
            </a:r>
            <a:r>
              <a:rPr lang="en-IN" altLang="ja-JP" sz="1800" dirty="0">
                <a:latin typeface="Arial (Body)"/>
                <a:cs typeface="Arial" panose="020B0604020202020204" pitchFamily="34" charset="0"/>
              </a:rPr>
              <a:t>′</a:t>
            </a:r>
            <a:r>
              <a:rPr lang="en-US" altLang="ja-JP" sz="1800" dirty="0">
                <a:latin typeface="Arial (Body)"/>
              </a:rPr>
              <a:t>s purchasing power of EU products relative to a dollar</a:t>
            </a:r>
            <a:r>
              <a:rPr lang="en-IN" altLang="ja-JP" sz="1800" dirty="0">
                <a:latin typeface="Arial (Body)"/>
                <a:cs typeface="Arial" panose="020B0604020202020204" pitchFamily="34" charset="0"/>
              </a:rPr>
              <a:t>′</a:t>
            </a:r>
            <a:r>
              <a:rPr lang="en-US" altLang="ja-JP" sz="1800" dirty="0">
                <a:latin typeface="Arial (Body)"/>
              </a:rPr>
              <a:t>s purchasing power of U.S. products.</a:t>
            </a:r>
          </a:p>
          <a:p>
            <a:pPr lvl="2" indent="-230400">
              <a:buFontTx/>
              <a:buChar char="▪"/>
            </a:pPr>
            <a:r>
              <a:rPr lang="en-US" altLang="en-US" sz="1800" dirty="0">
                <a:latin typeface="Arial (Body)"/>
              </a:rPr>
              <a:t>This implies that U.S. goods become less expensive and less valuable relative to EU goods.</a:t>
            </a:r>
          </a:p>
          <a:p>
            <a:pPr lvl="2" indent="-230400">
              <a:buFontTx/>
              <a:buChar char="▪"/>
            </a:pPr>
            <a:r>
              <a:rPr lang="en-US" altLang="en-US" sz="1800" dirty="0">
                <a:latin typeface="Arial (Body)"/>
              </a:rPr>
              <a:t>This implies that the value of U.S. goods relative to value of EU goods falls.</a:t>
            </a:r>
          </a:p>
        </p:txBody>
      </p:sp>
    </p:spTree>
    <p:extLst>
      <p:ext uri="{BB962C8B-B14F-4D97-AF65-F5344CB8AC3E}">
        <p14:creationId xmlns:p14="http://schemas.microsoft.com/office/powerpoint/2010/main" val="3167159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2000" b="0" dirty="0"/>
              <a:t>(3 of 10)</a:t>
            </a:r>
            <a:endParaRPr lang="en-US" sz="2000" dirty="0"/>
          </a:p>
        </p:txBody>
      </p:sp>
      <p:graphicFrame>
        <p:nvGraphicFramePr>
          <p:cNvPr id="4" name="Object 3" descr="q sub start fraction U S over E U end fraction = start fraction left parenthesis E sub start expression $ per euro end expression times P sub E U right parenthesis over P sub U S end fraction">
            <a:extLst>
              <a:ext uri="{FF2B5EF4-FFF2-40B4-BE49-F238E27FC236}">
                <a16:creationId xmlns:a16="http://schemas.microsoft.com/office/drawing/2014/main" id="{58DE047F-8517-4D0F-9761-6B5D42CF818B}"/>
              </a:ext>
            </a:extLst>
          </p:cNvPr>
          <p:cNvGraphicFramePr>
            <a:graphicFrameLocks noChangeAspect="1"/>
          </p:cNvGraphicFramePr>
          <p:nvPr>
            <p:extLst>
              <p:ext uri="{D42A27DB-BD31-4B8C-83A1-F6EECF244321}">
                <p14:modId xmlns:p14="http://schemas.microsoft.com/office/powerpoint/2010/main" val="661618545"/>
              </p:ext>
            </p:extLst>
          </p:nvPr>
        </p:nvGraphicFramePr>
        <p:xfrm>
          <a:off x="3481388" y="1639054"/>
          <a:ext cx="2179637" cy="896937"/>
        </p:xfrm>
        <a:graphic>
          <a:graphicData uri="http://schemas.openxmlformats.org/presentationml/2006/ole">
            <mc:AlternateContent xmlns:mc="http://schemas.openxmlformats.org/markup-compatibility/2006">
              <mc:Choice xmlns:v="urn:schemas-microsoft-com:vml" Requires="v">
                <p:oleObj spid="_x0000_s12292" name="Equation" r:id="rId3" imgW="2179510" imgH="896243" progId="Equation.DSMT4">
                  <p:embed/>
                </p:oleObj>
              </mc:Choice>
              <mc:Fallback>
                <p:oleObj name="Equation" r:id="rId3" imgW="2179510" imgH="896243" progId="Equation.DSMT4">
                  <p:embed/>
                  <p:pic>
                    <p:nvPicPr>
                      <p:cNvPr id="0" name=""/>
                      <p:cNvPicPr/>
                      <p:nvPr/>
                    </p:nvPicPr>
                    <p:blipFill>
                      <a:blip r:embed="rId4"/>
                      <a:stretch>
                        <a:fillRect/>
                      </a:stretch>
                    </p:blipFill>
                    <p:spPr>
                      <a:xfrm>
                        <a:off x="3481388" y="1639054"/>
                        <a:ext cx="2179637" cy="896937"/>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A54745C-375A-4D18-ABAF-9A6DC0579BE5}"/>
              </a:ext>
            </a:extLst>
          </p:cNvPr>
          <p:cNvSpPr>
            <a:spLocks noGrp="1"/>
          </p:cNvSpPr>
          <p:nvPr>
            <p:ph sz="quarter" idx="13"/>
          </p:nvPr>
        </p:nvSpPr>
        <p:spPr>
          <a:xfrm>
            <a:off x="457200" y="2933202"/>
            <a:ext cx="8229600" cy="3217564"/>
          </a:xfrm>
        </p:spPr>
        <p:txBody>
          <a:bodyPr/>
          <a:lstStyle/>
          <a:p>
            <a:pPr lvl="1" eaLnBrk="1" hangingPunct="1"/>
            <a:r>
              <a:rPr lang="en-US" altLang="en-US" dirty="0">
                <a:latin typeface="Arial (Body)"/>
              </a:rPr>
              <a:t>A real appreciation</a:t>
            </a:r>
            <a:r>
              <a:rPr lang="en-US" altLang="en-US" b="1" dirty="0">
                <a:latin typeface="Arial (Body)"/>
              </a:rPr>
              <a:t> </a:t>
            </a:r>
            <a:r>
              <a:rPr lang="en-US" altLang="en-US" dirty="0">
                <a:latin typeface="Arial (Body)"/>
              </a:rPr>
              <a:t>of the value of U.S. products means a rise in a dollar’</a:t>
            </a:r>
            <a:r>
              <a:rPr lang="en-US" altLang="ja-JP" dirty="0">
                <a:latin typeface="Arial (Body)"/>
              </a:rPr>
              <a:t>s purchasing power of E</a:t>
            </a:r>
            <a:r>
              <a:rPr lang="en-US" altLang="ja-JP" sz="100" dirty="0">
                <a:latin typeface="Arial (Body)"/>
              </a:rPr>
              <a:t> </a:t>
            </a:r>
            <a:r>
              <a:rPr lang="en-US" altLang="ja-JP" dirty="0">
                <a:latin typeface="Arial (Body)"/>
              </a:rPr>
              <a:t>U products relative to a dollar’s purchasing power of U.S. products.</a:t>
            </a:r>
          </a:p>
          <a:p>
            <a:pPr lvl="2" eaLnBrk="1" hangingPunct="1"/>
            <a:r>
              <a:rPr lang="en-US" altLang="en-US" dirty="0">
                <a:latin typeface="Arial (Body)"/>
              </a:rPr>
              <a:t>This implies that U.S. goods become more expensive and more valuable relative to E</a:t>
            </a:r>
            <a:r>
              <a:rPr lang="en-US" altLang="en-US" sz="100" dirty="0">
                <a:latin typeface="Arial (Body)"/>
              </a:rPr>
              <a:t> </a:t>
            </a:r>
            <a:r>
              <a:rPr lang="en-US" altLang="en-US" dirty="0">
                <a:latin typeface="Arial (Body)"/>
              </a:rPr>
              <a:t>U goods.</a:t>
            </a:r>
          </a:p>
          <a:p>
            <a:pPr lvl="2" eaLnBrk="1" hangingPunct="1"/>
            <a:r>
              <a:rPr lang="en-US" altLang="en-US" dirty="0">
                <a:latin typeface="Arial (Body)"/>
              </a:rPr>
              <a:t>This implies that the value of U.S. goods relative to value of E</a:t>
            </a:r>
            <a:r>
              <a:rPr lang="en-US" altLang="en-US" sz="100" dirty="0">
                <a:latin typeface="Arial (Body)"/>
              </a:rPr>
              <a:t> </a:t>
            </a:r>
            <a:r>
              <a:rPr lang="en-US" altLang="en-US" dirty="0">
                <a:latin typeface="Arial (Body)"/>
              </a:rPr>
              <a:t>U goods rises. </a:t>
            </a:r>
          </a:p>
        </p:txBody>
      </p:sp>
    </p:spTree>
    <p:extLst>
      <p:ext uri="{BB962C8B-B14F-4D97-AF65-F5344CB8AC3E}">
        <p14:creationId xmlns:p14="http://schemas.microsoft.com/office/powerpoint/2010/main" val="3993292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2000" b="0" dirty="0"/>
              <a:t>(4 of 10)</a:t>
            </a:r>
            <a:endParaRPr lang="en-US" sz="2000" dirty="0"/>
          </a:p>
        </p:txBody>
      </p:sp>
      <p:sp>
        <p:nvSpPr>
          <p:cNvPr id="5" name="Content Placeholder 4">
            <a:extLst>
              <a:ext uri="{FF2B5EF4-FFF2-40B4-BE49-F238E27FC236}">
                <a16:creationId xmlns:a16="http://schemas.microsoft.com/office/drawing/2014/main" id="{7A54745C-375A-4D18-ABAF-9A6DC0579BE5}"/>
              </a:ext>
            </a:extLst>
          </p:cNvPr>
          <p:cNvSpPr>
            <a:spLocks noGrp="1"/>
          </p:cNvSpPr>
          <p:nvPr>
            <p:ph sz="quarter" idx="13"/>
          </p:nvPr>
        </p:nvSpPr>
        <p:spPr/>
        <p:txBody>
          <a:bodyPr/>
          <a:lstStyle/>
          <a:p>
            <a:pPr eaLnBrk="1" hangingPunct="1"/>
            <a:r>
              <a:rPr lang="en-US" altLang="en-US" sz="2000" dirty="0">
                <a:latin typeface="Arial (Body)"/>
              </a:rPr>
              <a:t>According to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exchange rates are determined by relative average prices:</a:t>
            </a:r>
          </a:p>
        </p:txBody>
      </p:sp>
      <p:graphicFrame>
        <p:nvGraphicFramePr>
          <p:cNvPr id="12" name="Object 11" descr="E sub start expression $ per euro end expression = start fraction P sub U S over P sub E U end fraction">
            <a:extLst>
              <a:ext uri="{FF2B5EF4-FFF2-40B4-BE49-F238E27FC236}">
                <a16:creationId xmlns:a16="http://schemas.microsoft.com/office/drawing/2014/main" id="{2D95B3FC-35A0-4E5A-88E4-8F49745BF704}"/>
              </a:ext>
            </a:extLst>
          </p:cNvPr>
          <p:cNvGraphicFramePr>
            <a:graphicFrameLocks noChangeAspect="1"/>
          </p:cNvGraphicFramePr>
          <p:nvPr>
            <p:extLst>
              <p:ext uri="{D42A27DB-BD31-4B8C-83A1-F6EECF244321}">
                <p14:modId xmlns:p14="http://schemas.microsoft.com/office/powerpoint/2010/main" val="1840230946"/>
              </p:ext>
            </p:extLst>
          </p:nvPr>
        </p:nvGraphicFramePr>
        <p:xfrm>
          <a:off x="3783848" y="2579108"/>
          <a:ext cx="1460500" cy="865187"/>
        </p:xfrm>
        <a:graphic>
          <a:graphicData uri="http://schemas.openxmlformats.org/presentationml/2006/ole">
            <mc:AlternateContent xmlns:mc="http://schemas.openxmlformats.org/markup-compatibility/2006">
              <mc:Choice xmlns:v="urn:schemas-microsoft-com:vml" Requires="v">
                <p:oleObj spid="_x0000_s13318" name="Equation" r:id="rId3" imgW="1460204" imgH="865599" progId="Equation.DSMT4">
                  <p:embed/>
                </p:oleObj>
              </mc:Choice>
              <mc:Fallback>
                <p:oleObj name="Equation" r:id="rId3" imgW="1460204" imgH="865599" progId="Equation.DSMT4">
                  <p:embed/>
                  <p:pic>
                    <p:nvPicPr>
                      <p:cNvPr id="0" name=""/>
                      <p:cNvPicPr/>
                      <p:nvPr/>
                    </p:nvPicPr>
                    <p:blipFill>
                      <a:blip r:embed="rId4"/>
                      <a:stretch>
                        <a:fillRect/>
                      </a:stretch>
                    </p:blipFill>
                    <p:spPr>
                      <a:xfrm>
                        <a:off x="3783848" y="2579108"/>
                        <a:ext cx="1460500" cy="865187"/>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C48C119-7E6D-459C-9301-86087F3273C8}"/>
              </a:ext>
            </a:extLst>
          </p:cNvPr>
          <p:cNvSpPr>
            <a:spLocks noGrp="1"/>
          </p:cNvSpPr>
          <p:nvPr>
            <p:ph sz="quarter" idx="17"/>
          </p:nvPr>
        </p:nvSpPr>
        <p:spPr>
          <a:xfrm>
            <a:off x="466230" y="3575428"/>
            <a:ext cx="8091487" cy="882073"/>
          </a:xfrm>
        </p:spPr>
        <p:txBody>
          <a:bodyPr/>
          <a:lstStyle/>
          <a:p>
            <a:pPr indent="-255600"/>
            <a:r>
              <a:rPr lang="en-US" altLang="en-US" sz="2000" dirty="0">
                <a:latin typeface="+mj-lt"/>
              </a:rPr>
              <a:t>According to the more general real exchange rate approach, exchange rates may also be influenced by the real exchange rate:</a:t>
            </a:r>
            <a:endParaRPr lang="en-US" sz="2000" dirty="0">
              <a:latin typeface="+mj-lt"/>
            </a:endParaRPr>
          </a:p>
        </p:txBody>
      </p:sp>
      <p:graphicFrame>
        <p:nvGraphicFramePr>
          <p:cNvPr id="11" name="Object 10" descr="E sub start expression $ per euro end expression = q sub start fraction U S over E U end fraction times start fraction P sub U S over P sub E U end fraction">
            <a:extLst>
              <a:ext uri="{FF2B5EF4-FFF2-40B4-BE49-F238E27FC236}">
                <a16:creationId xmlns:a16="http://schemas.microsoft.com/office/drawing/2014/main" id="{D319DBD6-8685-4598-995F-A214769766E3}"/>
              </a:ext>
            </a:extLst>
          </p:cNvPr>
          <p:cNvGraphicFramePr>
            <a:graphicFrameLocks noChangeAspect="1"/>
          </p:cNvGraphicFramePr>
          <p:nvPr>
            <p:extLst>
              <p:ext uri="{D42A27DB-BD31-4B8C-83A1-F6EECF244321}">
                <p14:modId xmlns:p14="http://schemas.microsoft.com/office/powerpoint/2010/main" val="4040108308"/>
              </p:ext>
            </p:extLst>
          </p:nvPr>
        </p:nvGraphicFramePr>
        <p:xfrm>
          <a:off x="3425073" y="4564850"/>
          <a:ext cx="2178050" cy="890587"/>
        </p:xfrm>
        <a:graphic>
          <a:graphicData uri="http://schemas.openxmlformats.org/presentationml/2006/ole">
            <mc:AlternateContent xmlns:mc="http://schemas.openxmlformats.org/markup-compatibility/2006">
              <mc:Choice xmlns:v="urn:schemas-microsoft-com:vml" Requires="v">
                <p:oleObj spid="_x0000_s13319" name="Equation" r:id="rId5" imgW="2178071" imgH="890114" progId="Equation.DSMT4">
                  <p:embed/>
                </p:oleObj>
              </mc:Choice>
              <mc:Fallback>
                <p:oleObj name="Equation" r:id="rId5" imgW="2178071" imgH="890114" progId="Equation.DSMT4">
                  <p:embed/>
                  <p:pic>
                    <p:nvPicPr>
                      <p:cNvPr id="0" name=""/>
                      <p:cNvPicPr/>
                      <p:nvPr/>
                    </p:nvPicPr>
                    <p:blipFill>
                      <a:blip r:embed="rId6"/>
                      <a:stretch>
                        <a:fillRect/>
                      </a:stretch>
                    </p:blipFill>
                    <p:spPr>
                      <a:xfrm>
                        <a:off x="3425073" y="4564850"/>
                        <a:ext cx="2178050" cy="890587"/>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BC8FF47-5F1A-40EF-8AAC-69AB619EC23A}"/>
              </a:ext>
            </a:extLst>
          </p:cNvPr>
          <p:cNvSpPr>
            <a:spLocks noGrp="1"/>
          </p:cNvSpPr>
          <p:nvPr>
            <p:ph sz="quarter" idx="18"/>
          </p:nvPr>
        </p:nvSpPr>
        <p:spPr>
          <a:xfrm>
            <a:off x="468313" y="5677841"/>
            <a:ext cx="5417480" cy="468000"/>
          </a:xfrm>
        </p:spPr>
        <p:txBody>
          <a:bodyPr/>
          <a:lstStyle/>
          <a:p>
            <a:pPr indent="-255600"/>
            <a:r>
              <a:rPr lang="en-US" altLang="en-US" sz="2000" dirty="0">
                <a:latin typeface="Arial (Body)"/>
              </a:rPr>
              <a:t>What influences the real exchange rate?</a:t>
            </a:r>
            <a:endParaRPr lang="en-US" sz="2000" dirty="0"/>
          </a:p>
        </p:txBody>
      </p:sp>
    </p:spTree>
    <p:extLst>
      <p:ext uri="{BB962C8B-B14F-4D97-AF65-F5344CB8AC3E}">
        <p14:creationId xmlns:p14="http://schemas.microsoft.com/office/powerpoint/2010/main" val="2901289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2000" b="0" dirty="0"/>
              <a:t>(5 of 10)</a:t>
            </a:r>
            <a:endParaRPr lang="en-US" sz="2000" dirty="0"/>
          </a:p>
        </p:txBody>
      </p:sp>
      <p:sp>
        <p:nvSpPr>
          <p:cNvPr id="5" name="Content Placeholder 4">
            <a:extLst>
              <a:ext uri="{FF2B5EF4-FFF2-40B4-BE49-F238E27FC236}">
                <a16:creationId xmlns:a16="http://schemas.microsoft.com/office/drawing/2014/main" id="{7A54745C-375A-4D18-ABAF-9A6DC0579BE5}"/>
              </a:ext>
            </a:extLst>
          </p:cNvPr>
          <p:cNvSpPr>
            <a:spLocks noGrp="1"/>
          </p:cNvSpPr>
          <p:nvPr>
            <p:ph sz="quarter" idx="13"/>
          </p:nvPr>
        </p:nvSpPr>
        <p:spPr>
          <a:xfrm>
            <a:off x="457200" y="1572369"/>
            <a:ext cx="8229599" cy="1097279"/>
          </a:xfrm>
        </p:spPr>
        <p:txBody>
          <a:bodyPr/>
          <a:lstStyle/>
          <a:p>
            <a:pPr eaLnBrk="1" hangingPunct="1"/>
            <a:r>
              <a:rPr lang="en-US" altLang="en-US" sz="1800" dirty="0">
                <a:latin typeface="Arial (Body)"/>
              </a:rPr>
              <a:t>A </a:t>
            </a:r>
            <a:r>
              <a:rPr lang="en-US" altLang="en-US" sz="1800" b="1" dirty="0">
                <a:latin typeface="Arial (Body)"/>
              </a:rPr>
              <a:t>change in relative demand</a:t>
            </a:r>
            <a:r>
              <a:rPr lang="en-US" altLang="en-US" sz="1800" dirty="0">
                <a:latin typeface="Arial (Body)"/>
              </a:rPr>
              <a:t> of U.S. products</a:t>
            </a:r>
          </a:p>
          <a:p>
            <a:pPr lvl="1" eaLnBrk="1" hangingPunct="1"/>
            <a:r>
              <a:rPr lang="en-US" altLang="en-US" sz="1800" dirty="0">
                <a:latin typeface="Arial (Body)"/>
              </a:rPr>
              <a:t>An increase in relative demand of U.S. products causes the value (price) of U.S. goods relative to the value (price) of foreign goods to rise.</a:t>
            </a:r>
          </a:p>
        </p:txBody>
      </p:sp>
      <p:sp>
        <p:nvSpPr>
          <p:cNvPr id="6" name="Content Placeholder 5">
            <a:extLst>
              <a:ext uri="{FF2B5EF4-FFF2-40B4-BE49-F238E27FC236}">
                <a16:creationId xmlns:a16="http://schemas.microsoft.com/office/drawing/2014/main" id="{4BB22896-30D3-4775-AC40-4E20B11562E3}"/>
              </a:ext>
            </a:extLst>
          </p:cNvPr>
          <p:cNvSpPr>
            <a:spLocks noGrp="1"/>
          </p:cNvSpPr>
          <p:nvPr>
            <p:ph sz="quarter" idx="16"/>
          </p:nvPr>
        </p:nvSpPr>
        <p:spPr>
          <a:xfrm>
            <a:off x="457201" y="2847195"/>
            <a:ext cx="5606715" cy="417811"/>
          </a:xfrm>
        </p:spPr>
        <p:txBody>
          <a:bodyPr/>
          <a:lstStyle/>
          <a:p>
            <a:pPr lvl="1" indent="-284400"/>
            <a:r>
              <a:rPr lang="en-US" altLang="en-US" sz="1800" dirty="0">
                <a:latin typeface="Arial (Body)"/>
              </a:rPr>
              <a:t>A real appreciation of the value of U.S. goods:</a:t>
            </a:r>
            <a:endParaRPr lang="en-US" sz="1800" dirty="0">
              <a:latin typeface="Arial (Body)"/>
            </a:endParaRPr>
          </a:p>
        </p:txBody>
      </p:sp>
      <p:graphicFrame>
        <p:nvGraphicFramePr>
          <p:cNvPr id="10" name="Object 9" descr="P sub U S">
            <a:extLst>
              <a:ext uri="{FF2B5EF4-FFF2-40B4-BE49-F238E27FC236}">
                <a16:creationId xmlns:a16="http://schemas.microsoft.com/office/drawing/2014/main" id="{8EC25AC3-F9C4-4B14-A512-D72D2FAE21E8}"/>
              </a:ext>
            </a:extLst>
          </p:cNvPr>
          <p:cNvGraphicFramePr>
            <a:graphicFrameLocks noChangeAspect="1"/>
          </p:cNvGraphicFramePr>
          <p:nvPr>
            <p:extLst>
              <p:ext uri="{D42A27DB-BD31-4B8C-83A1-F6EECF244321}">
                <p14:modId xmlns:p14="http://schemas.microsoft.com/office/powerpoint/2010/main" val="227048699"/>
              </p:ext>
            </p:extLst>
          </p:nvPr>
        </p:nvGraphicFramePr>
        <p:xfrm>
          <a:off x="6168881" y="2909676"/>
          <a:ext cx="408354" cy="365044"/>
        </p:xfrm>
        <a:graphic>
          <a:graphicData uri="http://schemas.openxmlformats.org/presentationml/2006/ole">
            <mc:AlternateContent xmlns:mc="http://schemas.openxmlformats.org/markup-compatibility/2006">
              <mc:Choice xmlns:v="urn:schemas-microsoft-com:vml" Requires="v">
                <p:oleObj spid="_x0000_s14342" name="Equation" r:id="rId3" imgW="253800" imgH="228600" progId="Equation.DSMT4">
                  <p:embed/>
                </p:oleObj>
              </mc:Choice>
              <mc:Fallback>
                <p:oleObj name="Equation" r:id="rId3" imgW="253800" imgH="228600" progId="Equation.DSMT4">
                  <p:embed/>
                  <p:pic>
                    <p:nvPicPr>
                      <p:cNvPr id="0" name=""/>
                      <p:cNvPicPr/>
                      <p:nvPr/>
                    </p:nvPicPr>
                    <p:blipFill>
                      <a:blip r:embed="rId4"/>
                      <a:stretch>
                        <a:fillRect/>
                      </a:stretch>
                    </p:blipFill>
                    <p:spPr>
                      <a:xfrm>
                        <a:off x="6168881" y="2909676"/>
                        <a:ext cx="408354" cy="365044"/>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C48C119-7E6D-459C-9301-86087F3273C8}"/>
              </a:ext>
            </a:extLst>
          </p:cNvPr>
          <p:cNvSpPr>
            <a:spLocks noGrp="1"/>
          </p:cNvSpPr>
          <p:nvPr>
            <p:ph sz="quarter" idx="17"/>
          </p:nvPr>
        </p:nvSpPr>
        <p:spPr>
          <a:xfrm>
            <a:off x="6682200" y="2952982"/>
            <a:ext cx="1732547" cy="308412"/>
          </a:xfrm>
        </p:spPr>
        <p:txBody>
          <a:bodyPr lIns="0" tIns="0" rIns="0" bIns="0"/>
          <a:lstStyle/>
          <a:p>
            <a:pPr marL="0" lvl="1" indent="0">
              <a:buNone/>
            </a:pPr>
            <a:r>
              <a:rPr lang="en-US" altLang="en-US" sz="1800" dirty="0">
                <a:latin typeface="Arial (Body)"/>
              </a:rPr>
              <a:t>rises relative to</a:t>
            </a:r>
            <a:endParaRPr lang="en-US" sz="1800" dirty="0">
              <a:latin typeface="Arial (Body)"/>
            </a:endParaRPr>
          </a:p>
        </p:txBody>
      </p:sp>
      <p:graphicFrame>
        <p:nvGraphicFramePr>
          <p:cNvPr id="13" name="Object 12" descr="E sub start expression $ per euro end expression times P sub E U">
            <a:extLst>
              <a:ext uri="{FF2B5EF4-FFF2-40B4-BE49-F238E27FC236}">
                <a16:creationId xmlns:a16="http://schemas.microsoft.com/office/drawing/2014/main" id="{89920830-FE11-4591-AB4B-1A8DA2DAAA15}"/>
              </a:ext>
            </a:extLst>
          </p:cNvPr>
          <p:cNvGraphicFramePr>
            <a:graphicFrameLocks noChangeAspect="1"/>
          </p:cNvGraphicFramePr>
          <p:nvPr>
            <p:extLst>
              <p:ext uri="{D42A27DB-BD31-4B8C-83A1-F6EECF244321}">
                <p14:modId xmlns:p14="http://schemas.microsoft.com/office/powerpoint/2010/main" val="123537737"/>
              </p:ext>
            </p:extLst>
          </p:nvPr>
        </p:nvGraphicFramePr>
        <p:xfrm>
          <a:off x="4221704" y="3464778"/>
          <a:ext cx="1262063" cy="444500"/>
        </p:xfrm>
        <a:graphic>
          <a:graphicData uri="http://schemas.openxmlformats.org/presentationml/2006/ole">
            <mc:AlternateContent xmlns:mc="http://schemas.openxmlformats.org/markup-compatibility/2006">
              <mc:Choice xmlns:v="urn:schemas-microsoft-com:vml" Requires="v">
                <p:oleObj spid="_x0000_s14343" name="Equation" r:id="rId5" imgW="1261936" imgH="445237" progId="Equation.DSMT4">
                  <p:embed/>
                </p:oleObj>
              </mc:Choice>
              <mc:Fallback>
                <p:oleObj name="Equation" r:id="rId5" imgW="1261936" imgH="445237" progId="Equation.DSMT4">
                  <p:embed/>
                  <p:pic>
                    <p:nvPicPr>
                      <p:cNvPr id="0" name=""/>
                      <p:cNvPicPr/>
                      <p:nvPr/>
                    </p:nvPicPr>
                    <p:blipFill>
                      <a:blip r:embed="rId6"/>
                      <a:stretch>
                        <a:fillRect/>
                      </a:stretch>
                    </p:blipFill>
                    <p:spPr>
                      <a:xfrm>
                        <a:off x="4221704" y="3464778"/>
                        <a:ext cx="1262063" cy="4445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BC8FF47-5F1A-40EF-8AAC-69AB619EC23A}"/>
              </a:ext>
            </a:extLst>
          </p:cNvPr>
          <p:cNvSpPr>
            <a:spLocks noGrp="1"/>
          </p:cNvSpPr>
          <p:nvPr>
            <p:ph sz="quarter" idx="18"/>
          </p:nvPr>
        </p:nvSpPr>
        <p:spPr>
          <a:xfrm>
            <a:off x="457201" y="4109050"/>
            <a:ext cx="8229600" cy="1745212"/>
          </a:xfrm>
        </p:spPr>
        <p:txBody>
          <a:bodyPr/>
          <a:lstStyle/>
          <a:p>
            <a:pPr lvl="1" indent="-284400"/>
            <a:r>
              <a:rPr lang="en-US" altLang="en-US" sz="1800" dirty="0">
                <a:latin typeface="Arial (Body)"/>
              </a:rPr>
              <a:t>The real appreciation of the value of U.S. goods makes U.S. exports more expensive and imports into the U.S. less expensive (thereby reducing the relative quantity demanded of U.S. products).</a:t>
            </a:r>
          </a:p>
          <a:p>
            <a:pPr lvl="1" indent="-284400"/>
            <a:r>
              <a:rPr lang="en-US" altLang="en-US" sz="1800" dirty="0">
                <a:latin typeface="Arial (Body)"/>
              </a:rPr>
              <a:t>A decrease in relative demand of U.S. products causes a real depreciation of the value of U.S. goods.</a:t>
            </a:r>
          </a:p>
        </p:txBody>
      </p:sp>
    </p:spTree>
    <p:extLst>
      <p:ext uri="{BB962C8B-B14F-4D97-AF65-F5344CB8AC3E}">
        <p14:creationId xmlns:p14="http://schemas.microsoft.com/office/powerpoint/2010/main" val="1212575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2000" b="0" dirty="0"/>
              <a:t>(6 of 10)</a:t>
            </a:r>
            <a:endParaRPr lang="en-US" sz="2000" dirty="0"/>
          </a:p>
        </p:txBody>
      </p:sp>
      <p:sp>
        <p:nvSpPr>
          <p:cNvPr id="5" name="Content Placeholder 4">
            <a:extLst>
              <a:ext uri="{FF2B5EF4-FFF2-40B4-BE49-F238E27FC236}">
                <a16:creationId xmlns:a16="http://schemas.microsoft.com/office/drawing/2014/main" id="{7A54745C-375A-4D18-ABAF-9A6DC0579BE5}"/>
              </a:ext>
            </a:extLst>
          </p:cNvPr>
          <p:cNvSpPr>
            <a:spLocks noGrp="1"/>
          </p:cNvSpPr>
          <p:nvPr>
            <p:ph sz="quarter" idx="13"/>
          </p:nvPr>
        </p:nvSpPr>
        <p:spPr>
          <a:xfrm>
            <a:off x="457200" y="1572369"/>
            <a:ext cx="8229600" cy="1367641"/>
          </a:xfrm>
        </p:spPr>
        <p:txBody>
          <a:bodyPr/>
          <a:lstStyle/>
          <a:p>
            <a:pPr eaLnBrk="1" hangingPunct="1">
              <a:lnSpc>
                <a:spcPct val="90000"/>
              </a:lnSpc>
              <a:spcBef>
                <a:spcPts val="600"/>
              </a:spcBef>
            </a:pPr>
            <a:r>
              <a:rPr lang="en-US" altLang="en-US" sz="1800" dirty="0">
                <a:latin typeface="Arial (Body)"/>
              </a:rPr>
              <a:t>A </a:t>
            </a:r>
            <a:r>
              <a:rPr lang="en-US" altLang="en-US" sz="1800" b="1" dirty="0">
                <a:latin typeface="Arial (Body)"/>
              </a:rPr>
              <a:t>change in relative supply</a:t>
            </a:r>
            <a:r>
              <a:rPr lang="en-US" altLang="en-US" sz="1800" dirty="0">
                <a:latin typeface="Arial (Body)"/>
              </a:rPr>
              <a:t> of U.S. products</a:t>
            </a:r>
          </a:p>
          <a:p>
            <a:pPr lvl="1" eaLnBrk="1" hangingPunct="1"/>
            <a:r>
              <a:rPr lang="en-US" altLang="en-US" sz="1800" dirty="0">
                <a:latin typeface="Arial (Body)"/>
              </a:rPr>
              <a:t>An increase in relative supply of U.S. products (caused by an increase in U.S. productivity) causes the price/cost of U.S. goods relative to the price/cost of foreign goods to fall.</a:t>
            </a:r>
          </a:p>
        </p:txBody>
      </p:sp>
      <p:sp>
        <p:nvSpPr>
          <p:cNvPr id="6" name="Content Placeholder 5">
            <a:extLst>
              <a:ext uri="{FF2B5EF4-FFF2-40B4-BE49-F238E27FC236}">
                <a16:creationId xmlns:a16="http://schemas.microsoft.com/office/drawing/2014/main" id="{4BB22896-30D3-4775-AC40-4E20B11562E3}"/>
              </a:ext>
            </a:extLst>
          </p:cNvPr>
          <p:cNvSpPr>
            <a:spLocks noGrp="1"/>
          </p:cNvSpPr>
          <p:nvPr>
            <p:ph sz="quarter" idx="16"/>
          </p:nvPr>
        </p:nvSpPr>
        <p:spPr>
          <a:xfrm>
            <a:off x="457201" y="3028528"/>
            <a:ext cx="5606715" cy="417811"/>
          </a:xfrm>
        </p:spPr>
        <p:txBody>
          <a:bodyPr/>
          <a:lstStyle/>
          <a:p>
            <a:pPr lvl="1" indent="-284400"/>
            <a:r>
              <a:rPr lang="en-US" altLang="en-US" sz="1800" dirty="0">
                <a:latin typeface="Arial (Body)"/>
              </a:rPr>
              <a:t>A real depreciation of the value of U.S. goods:</a:t>
            </a:r>
            <a:endParaRPr lang="en-US" sz="1800" dirty="0">
              <a:latin typeface="Arial (Body)"/>
            </a:endParaRPr>
          </a:p>
        </p:txBody>
      </p:sp>
      <p:graphicFrame>
        <p:nvGraphicFramePr>
          <p:cNvPr id="4" name="Object 3" descr="P sub U S"/>
          <p:cNvGraphicFramePr>
            <a:graphicFrameLocks noChangeAspect="1"/>
          </p:cNvGraphicFramePr>
          <p:nvPr>
            <p:extLst>
              <p:ext uri="{D42A27DB-BD31-4B8C-83A1-F6EECF244321}">
                <p14:modId xmlns:p14="http://schemas.microsoft.com/office/powerpoint/2010/main" val="511803244"/>
              </p:ext>
            </p:extLst>
          </p:nvPr>
        </p:nvGraphicFramePr>
        <p:xfrm>
          <a:off x="6186860" y="3066292"/>
          <a:ext cx="440055" cy="398145"/>
        </p:xfrm>
        <a:graphic>
          <a:graphicData uri="http://schemas.openxmlformats.org/presentationml/2006/ole">
            <mc:AlternateContent xmlns:mc="http://schemas.openxmlformats.org/markup-compatibility/2006">
              <mc:Choice xmlns:v="urn:schemas-microsoft-com:vml" Requires="v">
                <p:oleObj spid="_x0000_s15366" name="Equation" r:id="rId3" imgW="399882" imgH="361964" progId="Equation.DSMT4">
                  <p:embed/>
                </p:oleObj>
              </mc:Choice>
              <mc:Fallback>
                <p:oleObj name="Equation" r:id="rId3" imgW="399882" imgH="361964" progId="Equation.DSMT4">
                  <p:embed/>
                  <p:pic>
                    <p:nvPicPr>
                      <p:cNvPr id="0" name=""/>
                      <p:cNvPicPr/>
                      <p:nvPr/>
                    </p:nvPicPr>
                    <p:blipFill>
                      <a:blip r:embed="rId4"/>
                      <a:stretch>
                        <a:fillRect/>
                      </a:stretch>
                    </p:blipFill>
                    <p:spPr>
                      <a:xfrm>
                        <a:off x="6186860" y="3066292"/>
                        <a:ext cx="440055" cy="39814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C48C119-7E6D-459C-9301-86087F3273C8}"/>
              </a:ext>
            </a:extLst>
          </p:cNvPr>
          <p:cNvSpPr>
            <a:spLocks noGrp="1"/>
          </p:cNvSpPr>
          <p:nvPr>
            <p:ph sz="quarter" idx="17"/>
          </p:nvPr>
        </p:nvSpPr>
        <p:spPr>
          <a:xfrm>
            <a:off x="6739349" y="3085907"/>
            <a:ext cx="1626890" cy="381452"/>
          </a:xfrm>
        </p:spPr>
        <p:txBody>
          <a:bodyPr lIns="0" tIns="0" rIns="0" bIns="0"/>
          <a:lstStyle/>
          <a:p>
            <a:pPr marL="0" lvl="1" indent="0">
              <a:buNone/>
            </a:pPr>
            <a:r>
              <a:rPr lang="en-US" altLang="en-US" sz="1800" dirty="0">
                <a:latin typeface="Arial (Body)"/>
              </a:rPr>
              <a:t>falls relative to</a:t>
            </a:r>
            <a:endParaRPr lang="en-US" sz="1800" dirty="0">
              <a:latin typeface="Arial (Body)"/>
            </a:endParaRPr>
          </a:p>
        </p:txBody>
      </p:sp>
      <p:graphicFrame>
        <p:nvGraphicFramePr>
          <p:cNvPr id="3" name="Object 2" descr="E sub start expression $ per euro end expression times P sub E U">
            <a:extLst>
              <a:ext uri="{FF2B5EF4-FFF2-40B4-BE49-F238E27FC236}">
                <a16:creationId xmlns:a16="http://schemas.microsoft.com/office/drawing/2014/main" id="{C0675737-465F-418A-BF52-F6D42752E4F0}"/>
              </a:ext>
            </a:extLst>
          </p:cNvPr>
          <p:cNvGraphicFramePr>
            <a:graphicFrameLocks noChangeAspect="1"/>
          </p:cNvGraphicFramePr>
          <p:nvPr>
            <p:extLst>
              <p:ext uri="{D42A27DB-BD31-4B8C-83A1-F6EECF244321}">
                <p14:modId xmlns:p14="http://schemas.microsoft.com/office/powerpoint/2010/main" val="1091922124"/>
              </p:ext>
            </p:extLst>
          </p:nvPr>
        </p:nvGraphicFramePr>
        <p:xfrm>
          <a:off x="4132683" y="3534857"/>
          <a:ext cx="1262063" cy="444500"/>
        </p:xfrm>
        <a:graphic>
          <a:graphicData uri="http://schemas.openxmlformats.org/presentationml/2006/ole">
            <mc:AlternateContent xmlns:mc="http://schemas.openxmlformats.org/markup-compatibility/2006">
              <mc:Choice xmlns:v="urn:schemas-microsoft-com:vml" Requires="v">
                <p:oleObj spid="_x0000_s15367" name="Equation" r:id="rId5" imgW="1261936" imgH="445237" progId="Equation.DSMT4">
                  <p:embed/>
                </p:oleObj>
              </mc:Choice>
              <mc:Fallback>
                <p:oleObj name="Equation" r:id="rId5" imgW="1261936" imgH="445237" progId="Equation.DSMT4">
                  <p:embed/>
                  <p:pic>
                    <p:nvPicPr>
                      <p:cNvPr id="0" name=""/>
                      <p:cNvPicPr/>
                      <p:nvPr/>
                    </p:nvPicPr>
                    <p:blipFill>
                      <a:blip r:embed="rId6"/>
                      <a:stretch>
                        <a:fillRect/>
                      </a:stretch>
                    </p:blipFill>
                    <p:spPr>
                      <a:xfrm>
                        <a:off x="4132683" y="3534857"/>
                        <a:ext cx="1262063" cy="4445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BC8FF47-5F1A-40EF-8AAC-69AB619EC23A}"/>
              </a:ext>
            </a:extLst>
          </p:cNvPr>
          <p:cNvSpPr>
            <a:spLocks noGrp="1"/>
          </p:cNvSpPr>
          <p:nvPr>
            <p:ph sz="quarter" idx="18"/>
          </p:nvPr>
        </p:nvSpPr>
        <p:spPr>
          <a:xfrm>
            <a:off x="457201" y="4092215"/>
            <a:ext cx="8229601" cy="1871719"/>
          </a:xfrm>
        </p:spPr>
        <p:txBody>
          <a:bodyPr/>
          <a:lstStyle/>
          <a:p>
            <a:pPr lvl="1"/>
            <a:r>
              <a:rPr lang="en-US" altLang="en-US" sz="1800" dirty="0">
                <a:latin typeface="Arial (Body)"/>
              </a:rPr>
              <a:t>The real depreciation of the value of U.S. goods makes U.S. exports less expensive and imports into the United States more expensive (thereby increasing relative quantity demanded to match increased relative quantity supplied).</a:t>
            </a:r>
          </a:p>
          <a:p>
            <a:pPr lvl="1"/>
            <a:r>
              <a:rPr lang="en-US" altLang="en-US" sz="1800" dirty="0">
                <a:latin typeface="Arial (Body)"/>
              </a:rPr>
              <a:t>A decrease in relative supply of U.S. products causes a real appreciation of the value of U.S. goods.</a:t>
            </a:r>
          </a:p>
        </p:txBody>
      </p:sp>
    </p:spTree>
    <p:extLst>
      <p:ext uri="{BB962C8B-B14F-4D97-AF65-F5344CB8AC3E}">
        <p14:creationId xmlns:p14="http://schemas.microsoft.com/office/powerpoint/2010/main" val="2428362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Figure 16.4 Determination of the Long-Run Real Exchange Rate</a:t>
            </a:r>
            <a:endParaRPr lang="en-US" sz="2000" dirty="0"/>
          </a:p>
        </p:txBody>
      </p:sp>
      <p:pic>
        <p:nvPicPr>
          <p:cNvPr id="9" name="Content Placeholder 8" descr="The graph of the determination of the long-run real exchange rate plots real exchange rate versus ratio of U S to European real output, Y sub U S over Y sub E. For long description in Notes pane, press F6.">
            <a:extLst>
              <a:ext uri="{FF2B5EF4-FFF2-40B4-BE49-F238E27FC236}">
                <a16:creationId xmlns:a16="http://schemas.microsoft.com/office/drawing/2014/main" id="{457855E3-0F23-4EE2-8E5B-0EB16FE1B1E6}"/>
              </a:ext>
            </a:extLst>
          </p:cNvPr>
          <p:cNvPicPr>
            <a:picLocks noGrp="1" noChangeAspect="1"/>
          </p:cNvPicPr>
          <p:nvPr>
            <p:ph sz="quarter" idx="13"/>
          </p:nvPr>
        </p:nvPicPr>
        <p:blipFill>
          <a:blip r:embed="rId3"/>
          <a:stretch>
            <a:fillRect/>
          </a:stretch>
        </p:blipFill>
        <p:spPr>
          <a:xfrm>
            <a:off x="2358566" y="1475759"/>
            <a:ext cx="4683542" cy="3962411"/>
          </a:xfrm>
        </p:spPr>
      </p:pic>
      <p:sp>
        <p:nvSpPr>
          <p:cNvPr id="4" name="Content Placeholder 3">
            <a:extLst>
              <a:ext uri="{FF2B5EF4-FFF2-40B4-BE49-F238E27FC236}">
                <a16:creationId xmlns:a16="http://schemas.microsoft.com/office/drawing/2014/main" id="{6C04671E-D421-4FEA-876F-54B92FFCE4E6}"/>
              </a:ext>
            </a:extLst>
          </p:cNvPr>
          <p:cNvSpPr>
            <a:spLocks noGrp="1"/>
          </p:cNvSpPr>
          <p:nvPr>
            <p:ph sz="quarter" idx="14"/>
          </p:nvPr>
        </p:nvSpPr>
        <p:spPr>
          <a:xfrm>
            <a:off x="457200" y="5606715"/>
            <a:ext cx="8229600" cy="721313"/>
          </a:xfrm>
        </p:spPr>
        <p:txBody>
          <a:bodyPr/>
          <a:lstStyle/>
          <a:p>
            <a:pPr marL="0" indent="0">
              <a:buNone/>
            </a:pPr>
            <a:r>
              <a:rPr lang="en-US" sz="1800" dirty="0">
                <a:latin typeface="Arial (Body)"/>
              </a:rPr>
              <a:t>The long-run equilibrium real exchange rate equates world relative demand to the full-employment level of relative supply.</a:t>
            </a:r>
          </a:p>
        </p:txBody>
      </p:sp>
    </p:spTree>
    <p:extLst>
      <p:ext uri="{BB962C8B-B14F-4D97-AF65-F5344CB8AC3E}">
        <p14:creationId xmlns:p14="http://schemas.microsoft.com/office/powerpoint/2010/main" val="8693418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1800" b="0" dirty="0"/>
              <a:t>(7 of 10)</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7"/>
            <a:ext cx="8229600" cy="1097279"/>
          </a:xfrm>
        </p:spPr>
        <p:txBody>
          <a:bodyPr/>
          <a:lstStyle/>
          <a:p>
            <a:r>
              <a:rPr lang="en-US" altLang="en-US" sz="2000" dirty="0">
                <a:latin typeface="Arial (Body)"/>
              </a:rPr>
              <a:t>The real exchange rate is a more general approach to explain exchange rates. Both monetary factors and real factors influence nominal exchange rates:</a:t>
            </a:r>
          </a:p>
        </p:txBody>
      </p:sp>
      <p:sp>
        <p:nvSpPr>
          <p:cNvPr id="4" name="Content Placeholder 3">
            <a:extLst>
              <a:ext uri="{FF2B5EF4-FFF2-40B4-BE49-F238E27FC236}">
                <a16:creationId xmlns:a16="http://schemas.microsoft.com/office/drawing/2014/main" id="{6C04671E-D421-4FEA-876F-54B92FFCE4E6}"/>
              </a:ext>
            </a:extLst>
          </p:cNvPr>
          <p:cNvSpPr>
            <a:spLocks noGrp="1"/>
          </p:cNvSpPr>
          <p:nvPr>
            <p:ph sz="quarter" idx="14"/>
          </p:nvPr>
        </p:nvSpPr>
        <p:spPr>
          <a:xfrm>
            <a:off x="457200" y="2740898"/>
            <a:ext cx="8229600" cy="3244899"/>
          </a:xfrm>
        </p:spPr>
        <p:txBody>
          <a:bodyPr/>
          <a:lstStyle/>
          <a:p>
            <a:pPr marL="741600" lvl="1" indent="-428400" eaLnBrk="1" hangingPunct="1">
              <a:buFontTx/>
              <a:buNone/>
              <a:tabLst>
                <a:tab pos="974725" algn="l"/>
              </a:tabLst>
            </a:pPr>
            <a:r>
              <a:rPr lang="en-US" altLang="en-US" sz="2000" dirty="0">
                <a:solidFill>
                  <a:srgbClr val="007FA3"/>
                </a:solidFill>
                <a:latin typeface="Arial (Body)"/>
              </a:rPr>
              <a:t>1a.</a:t>
            </a:r>
            <a:r>
              <a:rPr lang="en-US" altLang="en-US" sz="2000" baseline="0" dirty="0">
                <a:latin typeface="Arial (Body)"/>
              </a:rPr>
              <a:t> </a:t>
            </a:r>
            <a:r>
              <a:rPr lang="en-US" altLang="en-US" sz="2000" dirty="0">
                <a:latin typeface="Arial (Body)"/>
              </a:rPr>
              <a:t>Increases in </a:t>
            </a:r>
            <a:r>
              <a:rPr lang="en-US" altLang="en-US" sz="2000" b="1" dirty="0">
                <a:latin typeface="Arial (Body)"/>
              </a:rPr>
              <a:t>monetary levels</a:t>
            </a:r>
            <a:r>
              <a:rPr lang="en-US" altLang="en-US" sz="2000" dirty="0">
                <a:latin typeface="Arial (Body)"/>
              </a:rPr>
              <a:t> lead to temporary inflation and changes in expectations about inflation.</a:t>
            </a:r>
          </a:p>
          <a:p>
            <a:pPr marL="741600" lvl="1" indent="-428400" eaLnBrk="1" hangingPunct="1">
              <a:buFontTx/>
              <a:buNone/>
              <a:tabLst>
                <a:tab pos="1033463" algn="l"/>
              </a:tabLst>
            </a:pPr>
            <a:r>
              <a:rPr lang="en-US" altLang="en-US" sz="2000" dirty="0">
                <a:solidFill>
                  <a:srgbClr val="007FA3"/>
                </a:solidFill>
                <a:latin typeface="Arial (Body)"/>
              </a:rPr>
              <a:t>1b.</a:t>
            </a:r>
            <a:r>
              <a:rPr lang="en-US" altLang="en-US" sz="2000" baseline="0" dirty="0">
                <a:latin typeface="Arial (Body)"/>
              </a:rPr>
              <a:t> </a:t>
            </a:r>
            <a:r>
              <a:rPr lang="en-US" altLang="en-US" sz="2000" dirty="0">
                <a:latin typeface="Arial (Body)"/>
              </a:rPr>
              <a:t>Increases in </a:t>
            </a:r>
            <a:r>
              <a:rPr lang="en-US" altLang="en-US" sz="2000" b="1" dirty="0">
                <a:latin typeface="Arial (Body)"/>
              </a:rPr>
              <a:t>monetary growth rates</a:t>
            </a:r>
            <a:r>
              <a:rPr lang="en-US" altLang="en-US" sz="2000" dirty="0">
                <a:latin typeface="Arial (Body)"/>
              </a:rPr>
              <a:t> lead to persistent inflation and changes in expectations about inflation.</a:t>
            </a:r>
          </a:p>
          <a:p>
            <a:pPr marL="741600" lvl="1" indent="-428400" eaLnBrk="1" hangingPunct="1">
              <a:buFontTx/>
              <a:buNone/>
            </a:pPr>
            <a:r>
              <a:rPr lang="en-US" altLang="en-US" sz="2000" dirty="0">
                <a:solidFill>
                  <a:srgbClr val="007FA3"/>
                </a:solidFill>
                <a:latin typeface="Arial (Body)"/>
              </a:rPr>
              <a:t>2a.</a:t>
            </a:r>
            <a:r>
              <a:rPr lang="en-US" altLang="en-US" sz="2000" baseline="0" dirty="0">
                <a:solidFill>
                  <a:schemeClr val="tx1"/>
                </a:solidFill>
                <a:latin typeface="Arial (Body)"/>
              </a:rPr>
              <a:t> </a:t>
            </a:r>
            <a:r>
              <a:rPr lang="en-US" altLang="en-US" sz="2000" dirty="0">
                <a:latin typeface="Arial (Body)"/>
              </a:rPr>
              <a:t>Increases in </a:t>
            </a:r>
            <a:r>
              <a:rPr lang="en-US" altLang="en-US" sz="2000" b="1" dirty="0">
                <a:latin typeface="Arial (Body)"/>
              </a:rPr>
              <a:t>relative demand</a:t>
            </a:r>
            <a:r>
              <a:rPr lang="en-US" altLang="en-US" sz="2000" dirty="0">
                <a:latin typeface="Arial (Body)"/>
              </a:rPr>
              <a:t> of domestic products lead to a real appreciation.</a:t>
            </a:r>
          </a:p>
          <a:p>
            <a:pPr marL="741600" lvl="1" indent="-428400" eaLnBrk="1" hangingPunct="1">
              <a:buFontTx/>
              <a:buNone/>
              <a:tabLst>
                <a:tab pos="974725" algn="l"/>
              </a:tabLst>
            </a:pPr>
            <a:r>
              <a:rPr lang="en-US" altLang="en-US" sz="2000" dirty="0">
                <a:solidFill>
                  <a:srgbClr val="007FA3"/>
                </a:solidFill>
                <a:latin typeface="Arial (Body)"/>
              </a:rPr>
              <a:t>2b.</a:t>
            </a:r>
            <a:r>
              <a:rPr lang="en-US" altLang="en-US" sz="2000" baseline="0" dirty="0">
                <a:solidFill>
                  <a:schemeClr val="tx1"/>
                </a:solidFill>
                <a:latin typeface="Arial (Body)"/>
              </a:rPr>
              <a:t> </a:t>
            </a:r>
            <a:r>
              <a:rPr lang="en-US" altLang="en-US" sz="2000" dirty="0">
                <a:latin typeface="Arial (Body)"/>
              </a:rPr>
              <a:t>Increases in </a:t>
            </a:r>
            <a:r>
              <a:rPr lang="en-US" altLang="en-US" sz="2000" b="1" dirty="0">
                <a:latin typeface="Arial (Body)"/>
              </a:rPr>
              <a:t>relative supply</a:t>
            </a:r>
            <a:r>
              <a:rPr lang="en-US" altLang="en-US" sz="2000" i="1" dirty="0">
                <a:latin typeface="Arial (Body)"/>
              </a:rPr>
              <a:t> </a:t>
            </a:r>
            <a:r>
              <a:rPr lang="en-US" altLang="en-US" sz="2000" dirty="0">
                <a:latin typeface="Arial (Body)"/>
              </a:rPr>
              <a:t>of domestic products lead to a real depreciation.</a:t>
            </a:r>
          </a:p>
        </p:txBody>
      </p:sp>
    </p:spTree>
    <p:extLst>
      <p:ext uri="{BB962C8B-B14F-4D97-AF65-F5344CB8AC3E}">
        <p14:creationId xmlns:p14="http://schemas.microsoft.com/office/powerpoint/2010/main" val="2703670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1800" b="0" dirty="0"/>
              <a:t>(8 of 10)</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24244"/>
            <a:ext cx="8229600" cy="432000"/>
          </a:xfrm>
        </p:spPr>
        <p:txBody>
          <a:bodyPr/>
          <a:lstStyle/>
          <a:p>
            <a:pPr eaLnBrk="1" hangingPunct="1"/>
            <a:r>
              <a:rPr lang="en-US" altLang="en-US" sz="2000" dirty="0">
                <a:latin typeface="Arial (Body)"/>
              </a:rPr>
              <a:t>What are the effects on the nominal exchange rate?</a:t>
            </a:r>
          </a:p>
        </p:txBody>
      </p:sp>
      <p:graphicFrame>
        <p:nvGraphicFramePr>
          <p:cNvPr id="3" name="Object 2" descr="E sub start expression $ per euro end expression = q sub start fraction U S over E U end fraction times start fraction P sub U S over P sub E U end fraction">
            <a:extLst>
              <a:ext uri="{FF2B5EF4-FFF2-40B4-BE49-F238E27FC236}">
                <a16:creationId xmlns:a16="http://schemas.microsoft.com/office/drawing/2014/main" id="{101B6780-A0E6-4683-A7FE-9317352DCE72}"/>
              </a:ext>
            </a:extLst>
          </p:cNvPr>
          <p:cNvGraphicFramePr>
            <a:graphicFrameLocks noChangeAspect="1"/>
          </p:cNvGraphicFramePr>
          <p:nvPr>
            <p:extLst>
              <p:ext uri="{D42A27DB-BD31-4B8C-83A1-F6EECF244321}">
                <p14:modId xmlns:p14="http://schemas.microsoft.com/office/powerpoint/2010/main" val="4034667381"/>
              </p:ext>
            </p:extLst>
          </p:nvPr>
        </p:nvGraphicFramePr>
        <p:xfrm>
          <a:off x="3698360" y="2135754"/>
          <a:ext cx="1747280" cy="713397"/>
        </p:xfrm>
        <a:graphic>
          <a:graphicData uri="http://schemas.openxmlformats.org/presentationml/2006/ole">
            <mc:AlternateContent xmlns:mc="http://schemas.openxmlformats.org/markup-compatibility/2006">
              <mc:Choice xmlns:v="urn:schemas-microsoft-com:vml" Requires="v">
                <p:oleObj spid="_x0000_s16388" name="Equation" r:id="rId4" imgW="1799886" imgH="734732" progId="Equation.DSMT4">
                  <p:embed/>
                </p:oleObj>
              </mc:Choice>
              <mc:Fallback>
                <p:oleObj name="Equation" r:id="rId4" imgW="1799886" imgH="734732" progId="Equation.DSMT4">
                  <p:embed/>
                  <p:pic>
                    <p:nvPicPr>
                      <p:cNvPr id="0" name=""/>
                      <p:cNvPicPr/>
                      <p:nvPr/>
                    </p:nvPicPr>
                    <p:blipFill>
                      <a:blip r:embed="rId5"/>
                      <a:stretch>
                        <a:fillRect/>
                      </a:stretch>
                    </p:blipFill>
                    <p:spPr>
                      <a:xfrm>
                        <a:off x="3698360" y="2135754"/>
                        <a:ext cx="1747280" cy="713397"/>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6C04671E-D421-4FEA-876F-54B92FFCE4E6}"/>
              </a:ext>
            </a:extLst>
          </p:cNvPr>
          <p:cNvSpPr>
            <a:spLocks noGrp="1"/>
          </p:cNvSpPr>
          <p:nvPr>
            <p:ph sz="quarter" idx="14"/>
          </p:nvPr>
        </p:nvSpPr>
        <p:spPr>
          <a:xfrm>
            <a:off x="457200" y="2950924"/>
            <a:ext cx="8229600" cy="3394313"/>
          </a:xfrm>
        </p:spPr>
        <p:txBody>
          <a:bodyPr/>
          <a:lstStyle/>
          <a:p>
            <a:r>
              <a:rPr lang="en-US" altLang="en-US" sz="2000" dirty="0">
                <a:latin typeface="Arial (Body)"/>
              </a:rPr>
              <a:t>When only monetary factors change and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holds, we have the same predictions as before.</a:t>
            </a:r>
          </a:p>
          <a:p>
            <a:pPr lvl="1"/>
            <a:r>
              <a:rPr lang="en-US" altLang="en-US" sz="2000" dirty="0">
                <a:latin typeface="Arial (Body)"/>
                <a:ea typeface="ＭＳ Ｐゴシック" pitchFamily="34" charset="-128"/>
              </a:rPr>
              <a:t>No changes in the real exchange rate occurs.</a:t>
            </a:r>
          </a:p>
          <a:p>
            <a:r>
              <a:rPr lang="en-US" altLang="en-US" sz="2000" dirty="0">
                <a:latin typeface="Arial (Body)"/>
              </a:rPr>
              <a:t>When factors influencing real output change, the real exchange rate changes.</a:t>
            </a:r>
          </a:p>
          <a:p>
            <a:pPr lvl="1"/>
            <a:r>
              <a:rPr lang="en-US" altLang="en-US" sz="2000" dirty="0">
                <a:latin typeface="Arial (Body)"/>
                <a:ea typeface="ＭＳ Ｐゴシック" pitchFamily="34" charset="-128"/>
              </a:rPr>
              <a:t>With an increase in relative demand of domestic products, the real exchange rate adjusts to determine nominal exchange rates.</a:t>
            </a:r>
          </a:p>
          <a:p>
            <a:pPr lvl="1"/>
            <a:r>
              <a:rPr lang="en-US" altLang="en-US" sz="2000" dirty="0">
                <a:latin typeface="Arial (Body)"/>
                <a:ea typeface="ＭＳ Ｐゴシック" pitchFamily="34" charset="-128"/>
              </a:rPr>
              <a:t>With an increase in relative supply of domestic products, the situation is more complex.</a:t>
            </a:r>
            <a:endParaRPr lang="en-US" altLang="en-US" sz="2000" dirty="0">
              <a:latin typeface="Arial (Body)"/>
            </a:endParaRPr>
          </a:p>
        </p:txBody>
      </p:sp>
    </p:spTree>
    <p:extLst>
      <p:ext uri="{BB962C8B-B14F-4D97-AF65-F5344CB8AC3E}">
        <p14:creationId xmlns:p14="http://schemas.microsoft.com/office/powerpoint/2010/main" val="1710590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1800" b="0" dirty="0"/>
              <a:t>(9 of 10)</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24244"/>
            <a:ext cx="8229599" cy="1684178"/>
          </a:xfrm>
        </p:spPr>
        <p:txBody>
          <a:bodyPr/>
          <a:lstStyle/>
          <a:p>
            <a:pPr eaLnBrk="1" hangingPunct="1"/>
            <a:r>
              <a:rPr lang="en-US" altLang="en-US" sz="1800" dirty="0">
                <a:latin typeface="Arial (Body)"/>
              </a:rPr>
              <a:t>With an increase in the relative supply of domestic products, the real exchange rate adjusts to make the price/cost of domestic goods depreciate, but the relative amount of domestic output also increases.</a:t>
            </a:r>
          </a:p>
          <a:p>
            <a:pPr lvl="1" eaLnBrk="1" hangingPunct="1">
              <a:spcBef>
                <a:spcPct val="40000"/>
              </a:spcBef>
            </a:pPr>
            <a:r>
              <a:rPr lang="en-US" altLang="en-US" sz="1800" dirty="0">
                <a:latin typeface="Arial (Body)"/>
              </a:rPr>
              <a:t>This second effect increases the demand of real monetary assets in the domestic economy:</a:t>
            </a:r>
          </a:p>
        </p:txBody>
      </p:sp>
      <p:graphicFrame>
        <p:nvGraphicFramePr>
          <p:cNvPr id="7" name="Object 6" descr="P sub U S = start fraction M super S sub U S over L left parenthesis R sub dollar comma Y sub U S right parenthesis end fraction">
            <a:extLst>
              <a:ext uri="{FF2B5EF4-FFF2-40B4-BE49-F238E27FC236}">
                <a16:creationId xmlns:a16="http://schemas.microsoft.com/office/drawing/2014/main" id="{40AC1A3A-4537-441F-80D5-5E8182B86CCE}"/>
              </a:ext>
            </a:extLst>
          </p:cNvPr>
          <p:cNvGraphicFramePr>
            <a:graphicFrameLocks noChangeAspect="1"/>
          </p:cNvGraphicFramePr>
          <p:nvPr>
            <p:extLst>
              <p:ext uri="{D42A27DB-BD31-4B8C-83A1-F6EECF244321}">
                <p14:modId xmlns:p14="http://schemas.microsoft.com/office/powerpoint/2010/main" val="1221110694"/>
              </p:ext>
            </p:extLst>
          </p:nvPr>
        </p:nvGraphicFramePr>
        <p:xfrm>
          <a:off x="3671092" y="3348079"/>
          <a:ext cx="1801813" cy="779463"/>
        </p:xfrm>
        <a:graphic>
          <a:graphicData uri="http://schemas.openxmlformats.org/presentationml/2006/ole">
            <mc:AlternateContent xmlns:mc="http://schemas.openxmlformats.org/markup-compatibility/2006">
              <mc:Choice xmlns:v="urn:schemas-microsoft-com:vml" Requires="v">
                <p:oleObj spid="_x0000_s17414" name="Equation" r:id="rId4" imgW="1801326" imgH="779075" progId="Equation.DSMT4">
                  <p:embed/>
                </p:oleObj>
              </mc:Choice>
              <mc:Fallback>
                <p:oleObj name="Equation" r:id="rId4" imgW="1801326" imgH="779075" progId="Equation.DSMT4">
                  <p:embed/>
                  <p:pic>
                    <p:nvPicPr>
                      <p:cNvPr id="0" name=""/>
                      <p:cNvPicPr/>
                      <p:nvPr/>
                    </p:nvPicPr>
                    <p:blipFill>
                      <a:blip r:embed="rId5"/>
                      <a:stretch>
                        <a:fillRect/>
                      </a:stretch>
                    </p:blipFill>
                    <p:spPr>
                      <a:xfrm>
                        <a:off x="3671092" y="3348079"/>
                        <a:ext cx="1801813" cy="77946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6C04671E-D421-4FEA-876F-54B92FFCE4E6}"/>
              </a:ext>
            </a:extLst>
          </p:cNvPr>
          <p:cNvSpPr>
            <a:spLocks noGrp="1"/>
          </p:cNvSpPr>
          <p:nvPr>
            <p:ph sz="quarter" idx="14"/>
          </p:nvPr>
        </p:nvSpPr>
        <p:spPr>
          <a:xfrm>
            <a:off x="457198" y="4267199"/>
            <a:ext cx="8229601" cy="972000"/>
          </a:xfrm>
        </p:spPr>
        <p:txBody>
          <a:bodyPr tIns="0"/>
          <a:lstStyle/>
          <a:p>
            <a:pPr lvl="1">
              <a:spcBef>
                <a:spcPct val="40000"/>
              </a:spcBef>
            </a:pPr>
            <a:r>
              <a:rPr lang="en-US" altLang="en-US" sz="1800" dirty="0">
                <a:latin typeface="Arial (Body)"/>
              </a:rPr>
              <a:t>Thus the level of average domestic prices is predicted to decrease relative to the level of average foreign prices.</a:t>
            </a:r>
          </a:p>
          <a:p>
            <a:pPr lvl="1">
              <a:spcBef>
                <a:spcPct val="40000"/>
              </a:spcBef>
            </a:pPr>
            <a:r>
              <a:rPr lang="en-US" altLang="en-US" sz="1800" dirty="0">
                <a:latin typeface="Arial (Body)"/>
              </a:rPr>
              <a:t>The effect on the nominal exchange rate is ambiguous:</a:t>
            </a:r>
          </a:p>
        </p:txBody>
      </p:sp>
      <p:graphicFrame>
        <p:nvGraphicFramePr>
          <p:cNvPr id="6" name="Object 5" descr="E sub start expression $ per euro end expression, question mark = q sub start fraction U S over E U end fraction, upward arrow, times start fraction P sub U S over P sub E U end fraction, downward arrow">
            <a:extLst>
              <a:ext uri="{FF2B5EF4-FFF2-40B4-BE49-F238E27FC236}">
                <a16:creationId xmlns:a16="http://schemas.microsoft.com/office/drawing/2014/main" id="{638228D4-80B9-4534-89A2-CAB35A641702}"/>
              </a:ext>
            </a:extLst>
          </p:cNvPr>
          <p:cNvGraphicFramePr>
            <a:graphicFrameLocks noChangeAspect="1"/>
          </p:cNvGraphicFramePr>
          <p:nvPr>
            <p:extLst>
              <p:ext uri="{D42A27DB-BD31-4B8C-83A1-F6EECF244321}">
                <p14:modId xmlns:p14="http://schemas.microsoft.com/office/powerpoint/2010/main" val="3953335288"/>
              </p:ext>
            </p:extLst>
          </p:nvPr>
        </p:nvGraphicFramePr>
        <p:xfrm>
          <a:off x="3867109" y="5345686"/>
          <a:ext cx="1409781" cy="832740"/>
        </p:xfrm>
        <a:graphic>
          <a:graphicData uri="http://schemas.openxmlformats.org/presentationml/2006/ole">
            <mc:AlternateContent xmlns:mc="http://schemas.openxmlformats.org/markup-compatibility/2006">
              <mc:Choice xmlns:v="urn:schemas-microsoft-com:vml" Requires="v">
                <p:oleObj spid="_x0000_s17415" name="Equation" r:id="rId6" imgW="1636882" imgH="966183" progId="Equation.DSMT4">
                  <p:embed/>
                </p:oleObj>
              </mc:Choice>
              <mc:Fallback>
                <p:oleObj name="Equation" r:id="rId6" imgW="1636882" imgH="966183" progId="Equation.DSMT4">
                  <p:embed/>
                  <p:pic>
                    <p:nvPicPr>
                      <p:cNvPr id="0" name=""/>
                      <p:cNvPicPr/>
                      <p:nvPr/>
                    </p:nvPicPr>
                    <p:blipFill>
                      <a:blip r:embed="rId7"/>
                      <a:stretch>
                        <a:fillRect/>
                      </a:stretch>
                    </p:blipFill>
                    <p:spPr>
                      <a:xfrm>
                        <a:off x="3867109" y="5345686"/>
                        <a:ext cx="1409781" cy="832740"/>
                      </a:xfrm>
                      <a:prstGeom prst="rect">
                        <a:avLst/>
                      </a:prstGeom>
                    </p:spPr>
                  </p:pic>
                </p:oleObj>
              </mc:Fallback>
            </mc:AlternateContent>
          </a:graphicData>
        </a:graphic>
      </p:graphicFrame>
    </p:spTree>
    <p:extLst>
      <p:ext uri="{BB962C8B-B14F-4D97-AF65-F5344CB8AC3E}">
        <p14:creationId xmlns:p14="http://schemas.microsoft.com/office/powerpoint/2010/main" val="33130737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The Real Exchange Rate Approach to Exchange Rates </a:t>
            </a:r>
            <a:r>
              <a:rPr lang="en-US" altLang="en-US" sz="1800" b="0" dirty="0"/>
              <a:t>(10 of 10)</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24244"/>
            <a:ext cx="8229600" cy="4026324"/>
          </a:xfrm>
        </p:spPr>
        <p:txBody>
          <a:bodyPr/>
          <a:lstStyle/>
          <a:p>
            <a:pPr eaLnBrk="1" hangingPunct="1"/>
            <a:r>
              <a:rPr lang="en-US" altLang="en-US" dirty="0">
                <a:latin typeface="Arial (Body)"/>
              </a:rPr>
              <a:t>When economic changes are influenced only by monetary factors, and when the assumptions of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 hold, nominal exchange rates are determined by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a:t>
            </a:r>
          </a:p>
          <a:p>
            <a:pPr eaLnBrk="1" hangingPunct="1"/>
            <a:r>
              <a:rPr lang="en-US" altLang="en-US" dirty="0">
                <a:latin typeface="Arial (Body)"/>
              </a:rPr>
              <a:t>When economic changes are caused by factors that affect real output, exchange rates are not determined by P</a:t>
            </a:r>
            <a:r>
              <a:rPr lang="en-US" altLang="en-US" sz="100" dirty="0">
                <a:latin typeface="Arial (Body)"/>
              </a:rPr>
              <a:t> </a:t>
            </a:r>
            <a:r>
              <a:rPr lang="en-US" altLang="en-US" dirty="0" err="1">
                <a:latin typeface="Arial (Body)"/>
              </a:rPr>
              <a:t>P</a:t>
            </a:r>
            <a:r>
              <a:rPr lang="en-US" altLang="en-US" sz="100" dirty="0">
                <a:latin typeface="Arial (Body)"/>
              </a:rPr>
              <a:t> </a:t>
            </a:r>
            <a:r>
              <a:rPr lang="en-US" altLang="en-US" dirty="0" err="1">
                <a:latin typeface="Arial (Body)"/>
              </a:rPr>
              <a:t>P</a:t>
            </a:r>
            <a:r>
              <a:rPr lang="en-US" altLang="en-US" dirty="0">
                <a:latin typeface="Arial (Body)"/>
              </a:rPr>
              <a:t> only, but are also influenced by the real exchange rate.</a:t>
            </a:r>
          </a:p>
        </p:txBody>
      </p:sp>
    </p:spTree>
    <p:extLst>
      <p:ext uri="{BB962C8B-B14F-4D97-AF65-F5344CB8AC3E}">
        <p14:creationId xmlns:p14="http://schemas.microsoft.com/office/powerpoint/2010/main" val="21005738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latin typeface="+mn-lt"/>
              </a:rPr>
              <a:t>Interest Rate Differences</a:t>
            </a:r>
            <a:endParaRPr lang="en-US" dirty="0">
              <a:latin typeface="+mn-lt"/>
            </a:endParaRPr>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7"/>
            <a:ext cx="8185150" cy="593315"/>
          </a:xfrm>
        </p:spPr>
        <p:txBody>
          <a:bodyPr/>
          <a:lstStyle/>
          <a:p>
            <a:pPr eaLnBrk="1" hangingPunct="1"/>
            <a:r>
              <a:rPr lang="en-US" altLang="en-US" sz="1600" dirty="0">
                <a:latin typeface="Arial (Body)"/>
              </a:rPr>
              <a:t>A more general equation of differences in nominal interest rates across countries can be derived from</a:t>
            </a:r>
          </a:p>
        </p:txBody>
      </p:sp>
      <p:graphicFrame>
        <p:nvGraphicFramePr>
          <p:cNvPr id="4" name="Object 3" descr="start fraction left parenthesis q to the lower e power sub start fraction U S over E U minus q sub start fraction U S over E U right parenthesis over q sub start fraction U S over E U end fraction = left bracket start fraction left parenthesis E to the lower e power sub dollar per euro minus E sub dollar per euro right parenthesis over E sub dollar per euro end fraction right bracket minus left parenthesis pi to the lower e power sub U S minus pi to the lower e power sub E U right parenthesis">
            <a:extLst>
              <a:ext uri="{FF2B5EF4-FFF2-40B4-BE49-F238E27FC236}">
                <a16:creationId xmlns:a16="http://schemas.microsoft.com/office/drawing/2014/main" id="{4A785540-DF51-473A-80C6-F29DCD38962A}"/>
              </a:ext>
            </a:extLst>
          </p:cNvPr>
          <p:cNvGraphicFramePr>
            <a:graphicFrameLocks noChangeAspect="1"/>
          </p:cNvGraphicFramePr>
          <p:nvPr>
            <p:extLst>
              <p:ext uri="{D42A27DB-BD31-4B8C-83A1-F6EECF244321}">
                <p14:modId xmlns:p14="http://schemas.microsoft.com/office/powerpoint/2010/main" val="2108469720"/>
              </p:ext>
            </p:extLst>
          </p:nvPr>
        </p:nvGraphicFramePr>
        <p:xfrm>
          <a:off x="2033003" y="2273022"/>
          <a:ext cx="4728371" cy="830171"/>
        </p:xfrm>
        <a:graphic>
          <a:graphicData uri="http://schemas.openxmlformats.org/presentationml/2006/ole">
            <mc:AlternateContent xmlns:mc="http://schemas.openxmlformats.org/markup-compatibility/2006">
              <mc:Choice xmlns:v="urn:schemas-microsoft-com:vml" Requires="v">
                <p:oleObj spid="_x0000_s18440" name="Equation" r:id="rId4" imgW="3327120" imgH="583920" progId="Equation.DSMT4">
                  <p:embed/>
                </p:oleObj>
              </mc:Choice>
              <mc:Fallback>
                <p:oleObj name="Equation" r:id="rId4" imgW="3327120" imgH="583920" progId="Equation.DSMT4">
                  <p:embed/>
                  <p:pic>
                    <p:nvPicPr>
                      <p:cNvPr id="3" name="Object 2"/>
                      <p:cNvPicPr/>
                      <p:nvPr/>
                    </p:nvPicPr>
                    <p:blipFill>
                      <a:blip r:embed="rId5"/>
                      <a:stretch>
                        <a:fillRect/>
                      </a:stretch>
                    </p:blipFill>
                    <p:spPr>
                      <a:xfrm>
                        <a:off x="2033003" y="2273022"/>
                        <a:ext cx="4728371" cy="830171"/>
                      </a:xfrm>
                      <a:prstGeom prst="rect">
                        <a:avLst/>
                      </a:prstGeom>
                    </p:spPr>
                  </p:pic>
                </p:oleObj>
              </mc:Fallback>
            </mc:AlternateContent>
          </a:graphicData>
        </a:graphic>
      </p:graphicFrame>
      <p:graphicFrame>
        <p:nvGraphicFramePr>
          <p:cNvPr id="6" name="Object 5" descr="R sub dollar minus R sub euro = start fraction left parenthesis E to the lower e power sub dollar per euro minus E sub dollar per euro right parenthesis over E sub dollar per euro end fraction">
            <a:extLst>
              <a:ext uri="{FF2B5EF4-FFF2-40B4-BE49-F238E27FC236}">
                <a16:creationId xmlns:a16="http://schemas.microsoft.com/office/drawing/2014/main" id="{388BEC1D-0E59-4F69-B64C-95F51446CD63}"/>
              </a:ext>
            </a:extLst>
          </p:cNvPr>
          <p:cNvGraphicFramePr>
            <a:graphicFrameLocks noChangeAspect="1"/>
          </p:cNvGraphicFramePr>
          <p:nvPr>
            <p:extLst>
              <p:ext uri="{D42A27DB-BD31-4B8C-83A1-F6EECF244321}">
                <p14:modId xmlns:p14="http://schemas.microsoft.com/office/powerpoint/2010/main" val="1194078043"/>
              </p:ext>
            </p:extLst>
          </p:nvPr>
        </p:nvGraphicFramePr>
        <p:xfrm>
          <a:off x="3413700" y="3238062"/>
          <a:ext cx="1966976" cy="630047"/>
        </p:xfrm>
        <a:graphic>
          <a:graphicData uri="http://schemas.openxmlformats.org/presentationml/2006/ole">
            <mc:AlternateContent xmlns:mc="http://schemas.openxmlformats.org/markup-compatibility/2006">
              <mc:Choice xmlns:v="urn:schemas-microsoft-com:vml" Requires="v">
                <p:oleObj spid="_x0000_s18441" name="Equation" r:id="rId6" imgW="1625400" imgH="520560" progId="Equation.DSMT4">
                  <p:embed/>
                </p:oleObj>
              </mc:Choice>
              <mc:Fallback>
                <p:oleObj name="Equation" r:id="rId6" imgW="1625400" imgH="520560" progId="Equation.DSMT4">
                  <p:embed/>
                  <p:pic>
                    <p:nvPicPr>
                      <p:cNvPr id="4" name="Object 3"/>
                      <p:cNvPicPr/>
                      <p:nvPr/>
                    </p:nvPicPr>
                    <p:blipFill>
                      <a:blip r:embed="rId7"/>
                      <a:stretch>
                        <a:fillRect/>
                      </a:stretch>
                    </p:blipFill>
                    <p:spPr>
                      <a:xfrm>
                        <a:off x="3413700" y="3238062"/>
                        <a:ext cx="1966976" cy="630047"/>
                      </a:xfrm>
                      <a:prstGeom prst="rect">
                        <a:avLst/>
                      </a:prstGeom>
                    </p:spPr>
                  </p:pic>
                </p:oleObj>
              </mc:Fallback>
            </mc:AlternateContent>
          </a:graphicData>
        </a:graphic>
      </p:graphicFrame>
      <p:graphicFrame>
        <p:nvGraphicFramePr>
          <p:cNvPr id="7" name="Object 6" descr="R sub dollar minus R sub euro = start fraction left parenthesis q to the lower e power sub start fraction U S over E U minus q sub start fraction U S over E U right parenthesis over q sub start fraction U S over E U end fraction + left parenthesis pi to the lower e power sub U S minus pi to the lower e power sub E U right parenthesis">
            <a:extLst>
              <a:ext uri="{FF2B5EF4-FFF2-40B4-BE49-F238E27FC236}">
                <a16:creationId xmlns:a16="http://schemas.microsoft.com/office/drawing/2014/main" id="{3DE3E995-9272-4EA2-8021-8010D27C9AA3}"/>
              </a:ext>
            </a:extLst>
          </p:cNvPr>
          <p:cNvGraphicFramePr>
            <a:graphicFrameLocks noChangeAspect="1"/>
          </p:cNvGraphicFramePr>
          <p:nvPr>
            <p:extLst>
              <p:ext uri="{D42A27DB-BD31-4B8C-83A1-F6EECF244321}">
                <p14:modId xmlns:p14="http://schemas.microsoft.com/office/powerpoint/2010/main" val="1422006787"/>
              </p:ext>
            </p:extLst>
          </p:nvPr>
        </p:nvGraphicFramePr>
        <p:xfrm>
          <a:off x="2495918" y="3944722"/>
          <a:ext cx="4152165" cy="757884"/>
        </p:xfrm>
        <a:graphic>
          <a:graphicData uri="http://schemas.openxmlformats.org/presentationml/2006/ole">
            <mc:AlternateContent xmlns:mc="http://schemas.openxmlformats.org/markup-compatibility/2006">
              <mc:Choice xmlns:v="urn:schemas-microsoft-com:vml" Requires="v">
                <p:oleObj spid="_x0000_s18442" name="Equation" r:id="rId8" imgW="2781000" imgH="507960" progId="Equation.DSMT4">
                  <p:embed/>
                </p:oleObj>
              </mc:Choice>
              <mc:Fallback>
                <p:oleObj name="Equation" r:id="rId8" imgW="2781000" imgH="507960" progId="Equation.DSMT4">
                  <p:embed/>
                  <p:pic>
                    <p:nvPicPr>
                      <p:cNvPr id="8" name="Object 7"/>
                      <p:cNvPicPr/>
                      <p:nvPr/>
                    </p:nvPicPr>
                    <p:blipFill>
                      <a:blip r:embed="rId9"/>
                      <a:stretch>
                        <a:fillRect/>
                      </a:stretch>
                    </p:blipFill>
                    <p:spPr>
                      <a:xfrm>
                        <a:off x="2495918" y="3944722"/>
                        <a:ext cx="4152165" cy="757884"/>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4D3ED3D4-5DBC-4440-8919-99E2DD227319}"/>
              </a:ext>
            </a:extLst>
          </p:cNvPr>
          <p:cNvSpPr>
            <a:spLocks noGrp="1"/>
          </p:cNvSpPr>
          <p:nvPr>
            <p:ph sz="quarter" idx="19"/>
          </p:nvPr>
        </p:nvSpPr>
        <p:spPr>
          <a:xfrm>
            <a:off x="457200" y="4840224"/>
            <a:ext cx="8229600" cy="1512000"/>
          </a:xfrm>
        </p:spPr>
        <p:txBody>
          <a:bodyPr/>
          <a:lstStyle/>
          <a:p>
            <a:pPr indent="-255600"/>
            <a:r>
              <a:rPr lang="en-US" altLang="en-US" dirty="0">
                <a:latin typeface="Arial (Body)"/>
              </a:rPr>
              <a:t>The difference in nominal interest rates across two countries is now the sum of</a:t>
            </a:r>
          </a:p>
          <a:p>
            <a:pPr lvl="1" indent="-284400"/>
            <a:r>
              <a:rPr lang="en-US" altLang="en-US" dirty="0">
                <a:latin typeface="Arial (Body)"/>
              </a:rPr>
              <a:t>the expected rate of depreciation in the value of domestic goods relative to foreign goods, and</a:t>
            </a:r>
          </a:p>
          <a:p>
            <a:pPr lvl="1" indent="-284400"/>
            <a:r>
              <a:rPr lang="en-US" altLang="en-US" dirty="0">
                <a:latin typeface="Arial (Body)"/>
              </a:rPr>
              <a:t>the difference in expected inflation rates between the domestic economy and the foreign economy.</a:t>
            </a:r>
            <a:endParaRPr lang="en-US" dirty="0"/>
          </a:p>
        </p:txBody>
      </p:sp>
    </p:spTree>
    <p:extLst>
      <p:ext uri="{BB962C8B-B14F-4D97-AF65-F5344CB8AC3E}">
        <p14:creationId xmlns:p14="http://schemas.microsoft.com/office/powerpoint/2010/main" val="3383106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Title 1"/>
          <p:cNvSpPr>
            <a:spLocks noGrp="1" noChangeArrowheads="1"/>
          </p:cNvSpPr>
          <p:nvPr>
            <p:ph type="title"/>
          </p:nvPr>
        </p:nvSpPr>
        <p:spPr/>
        <p:txBody>
          <a:bodyPr/>
          <a:lstStyle/>
          <a:p>
            <a:pPr eaLnBrk="1" hangingPunct="1"/>
            <a:r>
              <a:rPr lang="en-US" altLang="en-US" sz="2200" dirty="0">
                <a:latin typeface="+mj-lt"/>
              </a:rPr>
              <a:t>Table 16.1 Effects of Money Market and Output Market Changes on the Long-Run Nominal Dollar/Euro Exchange Rate, </a:t>
            </a:r>
            <a:r>
              <a:rPr lang="en-US" sz="400" dirty="0">
                <a:effectLst/>
                <a:latin typeface="+mj-lt"/>
                <a:ea typeface="Calibri" panose="020F0502020204030204" pitchFamily="34" charset="0"/>
                <a:cs typeface="Times New Roman" panose="02020603050405020304" pitchFamily="18" charset="0"/>
              </a:rPr>
              <a:t>E sub dollar per euro</a:t>
            </a:r>
            <a:r>
              <a:rPr lang="en-US" sz="600" dirty="0">
                <a:effectLst/>
                <a:latin typeface="+mj-lt"/>
                <a:ea typeface="Calibri" panose="020F0502020204030204" pitchFamily="34" charset="0"/>
                <a:cs typeface="Times New Roman" panose="02020603050405020304" pitchFamily="18" charset="0"/>
              </a:rPr>
              <a:t> </a:t>
            </a:r>
            <a:r>
              <a:rPr lang="en-US" sz="100" dirty="0">
                <a:effectLst/>
                <a:latin typeface="+mj-lt"/>
                <a:ea typeface="Calibri" panose="020F0502020204030204" pitchFamily="34" charset="0"/>
                <a:cs typeface="Times New Roman" panose="02020603050405020304" pitchFamily="18" charset="0"/>
              </a:rPr>
              <a:t>                                </a:t>
            </a:r>
            <a:r>
              <a:rPr lang="en-US" sz="2000" b="0" dirty="0">
                <a:effectLst/>
                <a:latin typeface="+mj-lt"/>
                <a:ea typeface="Calibri" panose="020F0502020204030204" pitchFamily="34" charset="0"/>
                <a:cs typeface="Times New Roman" panose="02020603050405020304" pitchFamily="18" charset="0"/>
              </a:rPr>
              <a:t>(1 of 2)</a:t>
            </a:r>
            <a:endParaRPr lang="en-US" altLang="en-US" sz="2000" b="0" dirty="0">
              <a:latin typeface="+mj-lt"/>
            </a:endParaRPr>
          </a:p>
        </p:txBody>
      </p:sp>
      <p:graphicFrame>
        <p:nvGraphicFramePr>
          <p:cNvPr id="2" name="Object 1">
            <a:extLst>
              <a:ext uri="{FF2B5EF4-FFF2-40B4-BE49-F238E27FC236}">
                <a16:creationId xmlns:a16="http://schemas.microsoft.com/office/drawing/2014/main" id="{7E21CBFC-D63B-4A52-AD68-16EF5D5470E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18802057"/>
              </p:ext>
            </p:extLst>
          </p:nvPr>
        </p:nvGraphicFramePr>
        <p:xfrm>
          <a:off x="1300722" y="873125"/>
          <a:ext cx="527050" cy="433388"/>
        </p:xfrm>
        <a:graphic>
          <a:graphicData uri="http://schemas.openxmlformats.org/presentationml/2006/ole">
            <mc:AlternateContent xmlns:mc="http://schemas.openxmlformats.org/markup-compatibility/2006">
              <mc:Choice xmlns:v="urn:schemas-microsoft-com:vml" Requires="v">
                <p:oleObj spid="_x0000_s19462" name="Equation" r:id="rId3" imgW="291960" imgH="241200" progId="Equation.DSMT4">
                  <p:embed/>
                </p:oleObj>
              </mc:Choice>
              <mc:Fallback>
                <p:oleObj name="Equation" r:id="rId3" imgW="291960" imgH="241200" progId="Equation.DSMT4">
                  <p:embed/>
                  <p:pic>
                    <p:nvPicPr>
                      <p:cNvPr id="0" name=""/>
                      <p:cNvPicPr/>
                      <p:nvPr/>
                    </p:nvPicPr>
                    <p:blipFill>
                      <a:blip r:embed="rId4"/>
                      <a:stretch>
                        <a:fillRect/>
                      </a:stretch>
                    </p:blipFill>
                    <p:spPr>
                      <a:xfrm>
                        <a:off x="1300722" y="873125"/>
                        <a:ext cx="527050" cy="433388"/>
                      </a:xfrm>
                      <a:prstGeom prst="rect">
                        <a:avLst/>
                      </a:prstGeom>
                      <a:solidFill>
                        <a:schemeClr val="bg1"/>
                      </a:solidFill>
                    </p:spPr>
                  </p:pic>
                </p:oleObj>
              </mc:Fallback>
            </mc:AlternateContent>
          </a:graphicData>
        </a:graphic>
      </p:graphicFrame>
      <p:sp>
        <p:nvSpPr>
          <p:cNvPr id="5" name="Content Placeholder 4">
            <a:extLst>
              <a:ext uri="{FF2B5EF4-FFF2-40B4-BE49-F238E27FC236}">
                <a16:creationId xmlns:a16="http://schemas.microsoft.com/office/drawing/2014/main" id="{2AFE7F0D-F6ED-4FB9-B2DB-6658FB163E23}"/>
              </a:ext>
            </a:extLst>
          </p:cNvPr>
          <p:cNvSpPr>
            <a:spLocks noGrp="1"/>
          </p:cNvSpPr>
          <p:nvPr>
            <p:ph sz="quarter" idx="14"/>
          </p:nvPr>
        </p:nvSpPr>
        <p:spPr>
          <a:xfrm>
            <a:off x="457200" y="1544040"/>
            <a:ext cx="8229600" cy="431905"/>
          </a:xfrm>
        </p:spPr>
        <p:txBody>
          <a:bodyPr/>
          <a:lstStyle/>
          <a:p>
            <a:pPr marL="432" indent="0">
              <a:buNone/>
            </a:pPr>
            <a:r>
              <a:rPr lang="en-US" sz="1600" b="1" dirty="0">
                <a:solidFill>
                  <a:schemeClr val="tx1"/>
                </a:solidFill>
                <a:latin typeface="Arial (Body)"/>
              </a:rPr>
              <a:t>Money market</a:t>
            </a:r>
          </a:p>
        </p:txBody>
      </p:sp>
      <p:graphicFrame>
        <p:nvGraphicFramePr>
          <p:cNvPr id="3" name="Table 3">
            <a:extLst>
              <a:ext uri="{FF2B5EF4-FFF2-40B4-BE49-F238E27FC236}">
                <a16:creationId xmlns:a16="http://schemas.microsoft.com/office/drawing/2014/main" id="{2A7FC6E8-955C-42EF-A3FE-3D1E1642FBBA}"/>
              </a:ext>
            </a:extLst>
          </p:cNvPr>
          <p:cNvGraphicFramePr>
            <a:graphicFrameLocks noGrp="1"/>
          </p:cNvGraphicFramePr>
          <p:nvPr>
            <p:ph sz="quarter" idx="13"/>
            <p:extLst>
              <p:ext uri="{D42A27DB-BD31-4B8C-83A1-F6EECF244321}">
                <p14:modId xmlns:p14="http://schemas.microsoft.com/office/powerpoint/2010/main" val="386540637"/>
              </p:ext>
            </p:extLst>
          </p:nvPr>
        </p:nvGraphicFramePr>
        <p:xfrm>
          <a:off x="457200" y="2112799"/>
          <a:ext cx="8229600" cy="2291035"/>
        </p:xfrm>
        <a:graphic>
          <a:graphicData uri="http://schemas.openxmlformats.org/drawingml/2006/table">
            <a:tbl>
              <a:tblPr firstRow="1" bandRow="1">
                <a:tableStyleId>{40F9630F-82C1-40B7-BC3A-925EFCFF5E92}</a:tableStyleId>
              </a:tblPr>
              <a:tblGrid>
                <a:gridCol w="4515853">
                  <a:extLst>
                    <a:ext uri="{9D8B030D-6E8A-4147-A177-3AD203B41FA5}">
                      <a16:colId xmlns:a16="http://schemas.microsoft.com/office/drawing/2014/main" val="3569857077"/>
                    </a:ext>
                  </a:extLst>
                </a:gridCol>
                <a:gridCol w="3713747">
                  <a:extLst>
                    <a:ext uri="{9D8B030D-6E8A-4147-A177-3AD203B41FA5}">
                      <a16:colId xmlns:a16="http://schemas.microsoft.com/office/drawing/2014/main" val="3209908672"/>
                    </a:ext>
                  </a:extLst>
                </a:gridCol>
              </a:tblGrid>
              <a:tr h="586510">
                <a:tc>
                  <a:txBody>
                    <a:bodyPr/>
                    <a:lstStyle/>
                    <a:p>
                      <a:pPr algn="ctr"/>
                      <a:r>
                        <a:rPr lang="en-US" sz="1400" dirty="0">
                          <a:solidFill>
                            <a:schemeClr val="tx1"/>
                          </a:solidFill>
                          <a:latin typeface="Arial (Body)"/>
                        </a:rPr>
                        <a:t>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latin typeface="Arial (Body)"/>
                        </a:rPr>
                        <a:t>Effect on the Long-Run Nominal Dollar/Euro Exchange Rate, </a:t>
                      </a:r>
                      <a:r>
                        <a:rPr lang="en-US" sz="100" b="1" i="0" u="none" strike="noStrike" cap="none" dirty="0">
                          <a:solidFill>
                            <a:schemeClr val="dk1"/>
                          </a:solidFill>
                          <a:effectLst/>
                          <a:latin typeface="Arial"/>
                          <a:ea typeface="Arial"/>
                          <a:cs typeface="Arial"/>
                          <a:sym typeface="Arial"/>
                        </a:rPr>
                        <a:t>E sub dollar per euro</a:t>
                      </a:r>
                      <a:r>
                        <a:rPr lang="en-US" sz="100" dirty="0">
                          <a:solidFill>
                            <a:schemeClr val="tx1"/>
                          </a:solidFill>
                          <a:latin typeface="Arial (Body)"/>
                        </a:rPr>
                        <a:t> </a:t>
                      </a:r>
                      <a:r>
                        <a:rPr lang="en-US" sz="1400" dirty="0">
                          <a:solidFill>
                            <a:schemeClr val="tx1"/>
                          </a:solidFill>
                          <a:latin typeface="Arial (Body)"/>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0949899"/>
                  </a:ext>
                </a:extLst>
              </a:tr>
              <a:tr h="516310">
                <a:tc>
                  <a:txBody>
                    <a:bodyPr/>
                    <a:lstStyle/>
                    <a:p>
                      <a:pPr algn="l"/>
                      <a:r>
                        <a:rPr lang="en-US" sz="1400" dirty="0">
                          <a:solidFill>
                            <a:schemeClr val="tx1"/>
                          </a:solidFill>
                          <a:latin typeface="Arial (Body)"/>
                        </a:rPr>
                        <a:t>1. Increase in U.S. money supply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Proportional increase (nominal</a:t>
                      </a:r>
                    </a:p>
                    <a:p>
                      <a:pPr algn="l"/>
                      <a:r>
                        <a:rPr lang="en-US" sz="1400" dirty="0">
                          <a:solidFill>
                            <a:schemeClr val="tx1"/>
                          </a:solidFill>
                          <a:latin typeface="Arial (Body)"/>
                        </a:rPr>
                        <a:t>depreciation of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8583190"/>
                  </a:ext>
                </a:extLst>
              </a:tr>
              <a:tr h="516310">
                <a:tc>
                  <a:txBody>
                    <a:bodyPr/>
                    <a:lstStyle/>
                    <a:p>
                      <a:pPr algn="l"/>
                      <a:r>
                        <a:rPr lang="en-US" sz="1400" dirty="0">
                          <a:solidFill>
                            <a:schemeClr val="tx1"/>
                          </a:solidFill>
                          <a:latin typeface="Arial (Body)"/>
                        </a:rPr>
                        <a:t>2. Increase in European money supply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Proportional decrease (nominal</a:t>
                      </a:r>
                      <a:r>
                        <a:rPr lang="en-US" sz="1400" baseline="0" dirty="0">
                          <a:solidFill>
                            <a:schemeClr val="tx1"/>
                          </a:solidFill>
                          <a:latin typeface="Arial (Body)"/>
                        </a:rPr>
                        <a:t> </a:t>
                      </a:r>
                      <a:r>
                        <a:rPr lang="en-US" sz="1400" dirty="0">
                          <a:solidFill>
                            <a:schemeClr val="tx1"/>
                          </a:solidFill>
                          <a:latin typeface="Arial (Body)"/>
                        </a:rPr>
                        <a:t>depreciation of euro)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42193672"/>
                  </a:ext>
                </a:extLst>
              </a:tr>
              <a:tr h="332198">
                <a:tc>
                  <a:txBody>
                    <a:bodyPr/>
                    <a:lstStyle/>
                    <a:p>
                      <a:pPr algn="l"/>
                      <a:r>
                        <a:rPr lang="en-US" sz="1400" dirty="0">
                          <a:solidFill>
                            <a:schemeClr val="tx1"/>
                          </a:solidFill>
                          <a:latin typeface="Arial (Body)"/>
                        </a:rPr>
                        <a:t>3. Increase in U.S. money supply growth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Increase (nominal depreciation of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4746347"/>
                  </a:ext>
                </a:extLst>
              </a:tr>
              <a:tr h="336007">
                <a:tc>
                  <a:txBody>
                    <a:bodyPr/>
                    <a:lstStyle/>
                    <a:p>
                      <a:pPr algn="l"/>
                      <a:r>
                        <a:rPr lang="en-US" sz="1400" dirty="0">
                          <a:solidFill>
                            <a:schemeClr val="tx1"/>
                          </a:solidFill>
                          <a:latin typeface="Arial (Body)"/>
                        </a:rPr>
                        <a:t>4. Increase in European money supply growth</a:t>
                      </a:r>
                      <a:r>
                        <a:rPr lang="en-US" sz="1400" baseline="0" dirty="0">
                          <a:solidFill>
                            <a:schemeClr val="tx1"/>
                          </a:solidFill>
                          <a:latin typeface="Arial (Body)"/>
                        </a:rPr>
                        <a:t> </a:t>
                      </a:r>
                      <a:r>
                        <a:rPr lang="en-US" sz="1400" dirty="0">
                          <a:solidFill>
                            <a:schemeClr val="tx1"/>
                          </a:solidFill>
                          <a:latin typeface="Arial (Body)"/>
                        </a:rPr>
                        <a:t>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Decrease (nominal depreciation</a:t>
                      </a:r>
                      <a:r>
                        <a:rPr lang="en-US" sz="1400" baseline="0" dirty="0">
                          <a:solidFill>
                            <a:schemeClr val="tx1"/>
                          </a:solidFill>
                          <a:latin typeface="Arial (Body)"/>
                        </a:rPr>
                        <a:t> </a:t>
                      </a:r>
                      <a:r>
                        <a:rPr lang="en-US" sz="1400" dirty="0">
                          <a:solidFill>
                            <a:schemeClr val="tx1"/>
                          </a:solidFill>
                          <a:latin typeface="Arial (Body)"/>
                        </a:rPr>
                        <a:t>of</a:t>
                      </a:r>
                      <a:r>
                        <a:rPr lang="en-US" sz="1400" baseline="0" dirty="0">
                          <a:solidFill>
                            <a:schemeClr val="tx1"/>
                          </a:solidFill>
                          <a:latin typeface="Arial (Body)"/>
                        </a:rPr>
                        <a:t> </a:t>
                      </a:r>
                      <a:r>
                        <a:rPr lang="en-US" sz="1400" dirty="0">
                          <a:solidFill>
                            <a:schemeClr val="tx1"/>
                          </a:solidFill>
                          <a:latin typeface="Arial (Body)"/>
                        </a:rPr>
                        <a:t>euro)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2988336"/>
                  </a:ext>
                </a:extLst>
              </a:tr>
            </a:tbl>
          </a:graphicData>
        </a:graphic>
      </p:graphicFrame>
      <p:graphicFrame>
        <p:nvGraphicFramePr>
          <p:cNvPr id="4" name="Object 3">
            <a:extLst>
              <a:ext uri="{FF2B5EF4-FFF2-40B4-BE49-F238E27FC236}">
                <a16:creationId xmlns:a16="http://schemas.microsoft.com/office/drawing/2014/main" id="{A84C8790-1B04-4559-AF76-3B027802C9E2}"/>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292348264"/>
              </p:ext>
            </p:extLst>
          </p:nvPr>
        </p:nvGraphicFramePr>
        <p:xfrm>
          <a:off x="7960110" y="2395896"/>
          <a:ext cx="421798" cy="271155"/>
        </p:xfrm>
        <a:graphic>
          <a:graphicData uri="http://schemas.openxmlformats.org/presentationml/2006/ole">
            <mc:AlternateContent xmlns:mc="http://schemas.openxmlformats.org/markup-compatibility/2006">
              <mc:Choice xmlns:v="urn:schemas-microsoft-com:vml" Requires="v">
                <p:oleObj spid="_x0000_s19463" name="Equation" r:id="rId5" imgW="355320" imgH="228600" progId="Equation.DSMT4">
                  <p:embed/>
                </p:oleObj>
              </mc:Choice>
              <mc:Fallback>
                <p:oleObj name="Equation" r:id="rId5" imgW="355320" imgH="228600" progId="Equation.DSMT4">
                  <p:embed/>
                  <p:pic>
                    <p:nvPicPr>
                      <p:cNvPr id="0" name=""/>
                      <p:cNvPicPr/>
                      <p:nvPr/>
                    </p:nvPicPr>
                    <p:blipFill>
                      <a:blip r:embed="rId6"/>
                      <a:stretch>
                        <a:fillRect/>
                      </a:stretch>
                    </p:blipFill>
                    <p:spPr>
                      <a:xfrm>
                        <a:off x="7960110" y="2395896"/>
                        <a:ext cx="421798" cy="27115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037845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Title 1"/>
          <p:cNvSpPr>
            <a:spLocks noGrp="1" noChangeArrowheads="1"/>
          </p:cNvSpPr>
          <p:nvPr>
            <p:ph type="title"/>
          </p:nvPr>
        </p:nvSpPr>
        <p:spPr/>
        <p:txBody>
          <a:bodyPr/>
          <a:lstStyle/>
          <a:p>
            <a:pPr eaLnBrk="1" hangingPunct="1"/>
            <a:r>
              <a:rPr lang="en-US" altLang="en-US" sz="2200" dirty="0">
                <a:latin typeface="+mj-lt"/>
              </a:rPr>
              <a:t>Table 16.1 Effects of Money Market and Output Market Changes on the Long-Run Nominal Dollar/Euro Exchange Rate, </a:t>
            </a:r>
            <a:r>
              <a:rPr lang="en-US" sz="400" dirty="0">
                <a:effectLst/>
                <a:latin typeface="+mj-lt"/>
                <a:ea typeface="Calibri" panose="020F0502020204030204" pitchFamily="34" charset="0"/>
                <a:cs typeface="Times New Roman" panose="02020603050405020304" pitchFamily="18" charset="0"/>
              </a:rPr>
              <a:t>E sub dollar per euro</a:t>
            </a:r>
            <a:r>
              <a:rPr lang="en-US" sz="600" dirty="0">
                <a:effectLst/>
                <a:latin typeface="+mj-lt"/>
                <a:ea typeface="Calibri" panose="020F0502020204030204" pitchFamily="34" charset="0"/>
                <a:cs typeface="Times New Roman" panose="02020603050405020304" pitchFamily="18" charset="0"/>
              </a:rPr>
              <a:t> </a:t>
            </a:r>
            <a:r>
              <a:rPr lang="en-US" sz="100" dirty="0">
                <a:effectLst/>
                <a:latin typeface="+mj-lt"/>
                <a:ea typeface="Calibri" panose="020F0502020204030204" pitchFamily="34" charset="0"/>
                <a:cs typeface="Times New Roman" panose="02020603050405020304" pitchFamily="18" charset="0"/>
              </a:rPr>
              <a:t>                                </a:t>
            </a:r>
            <a:r>
              <a:rPr lang="en-US" sz="2000" b="0" dirty="0">
                <a:effectLst/>
                <a:latin typeface="+mj-lt"/>
                <a:ea typeface="Calibri" panose="020F0502020204030204" pitchFamily="34" charset="0"/>
                <a:cs typeface="Times New Roman" panose="02020603050405020304" pitchFamily="18" charset="0"/>
              </a:rPr>
              <a:t>(2 of 2)</a:t>
            </a:r>
            <a:endParaRPr lang="en-US" altLang="en-US" sz="2000" b="0" dirty="0">
              <a:latin typeface="+mj-lt"/>
            </a:endParaRPr>
          </a:p>
        </p:txBody>
      </p:sp>
      <p:graphicFrame>
        <p:nvGraphicFramePr>
          <p:cNvPr id="2" name="Object 1">
            <a:extLst>
              <a:ext uri="{FF2B5EF4-FFF2-40B4-BE49-F238E27FC236}">
                <a16:creationId xmlns:a16="http://schemas.microsoft.com/office/drawing/2014/main" id="{7E21CBFC-D63B-4A52-AD68-16EF5D5470EA}"/>
              </a:ext>
              <a:ext uri="{C183D7F6-B498-43B3-948B-1728B52AA6E4}">
                <adec:decorative xmlns:adec="http://schemas.microsoft.com/office/drawing/2017/decorative" xmlns="" val="1"/>
              </a:ext>
            </a:extLst>
          </p:cNvPr>
          <p:cNvGraphicFramePr>
            <a:graphicFrameLocks noChangeAspect="1"/>
          </p:cNvGraphicFramePr>
          <p:nvPr/>
        </p:nvGraphicFramePr>
        <p:xfrm>
          <a:off x="1300722" y="873125"/>
          <a:ext cx="527050" cy="433388"/>
        </p:xfrm>
        <a:graphic>
          <a:graphicData uri="http://schemas.openxmlformats.org/presentationml/2006/ole">
            <mc:AlternateContent xmlns:mc="http://schemas.openxmlformats.org/markup-compatibility/2006">
              <mc:Choice xmlns:v="urn:schemas-microsoft-com:vml" Requires="v">
                <p:oleObj spid="_x0000_s20486" name="Equation" r:id="rId3" imgW="291960" imgH="241200" progId="Equation.DSMT4">
                  <p:embed/>
                </p:oleObj>
              </mc:Choice>
              <mc:Fallback>
                <p:oleObj name="Equation" r:id="rId3" imgW="291960" imgH="241200" progId="Equation.DSMT4">
                  <p:embed/>
                  <p:pic>
                    <p:nvPicPr>
                      <p:cNvPr id="2" name="Object 1">
                        <a:extLst>
                          <a:ext uri="{FF2B5EF4-FFF2-40B4-BE49-F238E27FC236}">
                            <a16:creationId xmlns:a16="http://schemas.microsoft.com/office/drawing/2014/main" id="{7E21CBFC-D63B-4A52-AD68-16EF5D5470EA}"/>
                          </a:ext>
                          <a:ext uri="{C183D7F6-B498-43B3-948B-1728B52AA6E4}">
                            <adec:decorative xmlns:adec="http://schemas.microsoft.com/office/drawing/2017/decorative" xmlns="" val="1"/>
                          </a:ext>
                        </a:extLst>
                      </p:cNvPr>
                      <p:cNvPicPr/>
                      <p:nvPr/>
                    </p:nvPicPr>
                    <p:blipFill>
                      <a:blip r:embed="rId4"/>
                      <a:stretch>
                        <a:fillRect/>
                      </a:stretch>
                    </p:blipFill>
                    <p:spPr>
                      <a:xfrm>
                        <a:off x="1300722" y="873125"/>
                        <a:ext cx="527050" cy="433388"/>
                      </a:xfrm>
                      <a:prstGeom prst="rect">
                        <a:avLst/>
                      </a:prstGeom>
                      <a:solidFill>
                        <a:schemeClr val="bg1"/>
                      </a:solidFill>
                    </p:spPr>
                  </p:pic>
                </p:oleObj>
              </mc:Fallback>
            </mc:AlternateContent>
          </a:graphicData>
        </a:graphic>
      </p:graphicFrame>
      <p:sp>
        <p:nvSpPr>
          <p:cNvPr id="5" name="Content Placeholder 4">
            <a:extLst>
              <a:ext uri="{FF2B5EF4-FFF2-40B4-BE49-F238E27FC236}">
                <a16:creationId xmlns:a16="http://schemas.microsoft.com/office/drawing/2014/main" id="{2AFE7F0D-F6ED-4FB9-B2DB-6658FB163E23}"/>
              </a:ext>
            </a:extLst>
          </p:cNvPr>
          <p:cNvSpPr>
            <a:spLocks noGrp="1"/>
          </p:cNvSpPr>
          <p:nvPr>
            <p:ph sz="quarter" idx="14"/>
          </p:nvPr>
        </p:nvSpPr>
        <p:spPr>
          <a:xfrm>
            <a:off x="457200" y="1544040"/>
            <a:ext cx="2801007" cy="904869"/>
          </a:xfrm>
        </p:spPr>
        <p:txBody>
          <a:bodyPr/>
          <a:lstStyle/>
          <a:p>
            <a:pPr marL="432" indent="0" algn="l">
              <a:buNone/>
            </a:pPr>
            <a:r>
              <a:rPr lang="en-US" sz="1600" b="1" dirty="0">
                <a:solidFill>
                  <a:schemeClr val="tx1"/>
                </a:solidFill>
                <a:latin typeface="Arial (Body)"/>
              </a:rPr>
              <a:t>Table 16.1 [Continued]</a:t>
            </a:r>
          </a:p>
          <a:p>
            <a:pPr marL="432" indent="0" algn="l">
              <a:buNone/>
            </a:pPr>
            <a:r>
              <a:rPr lang="en-US" sz="1600" b="1" dirty="0">
                <a:solidFill>
                  <a:schemeClr val="tx1"/>
                </a:solidFill>
                <a:latin typeface="Arial (Body)"/>
              </a:rPr>
              <a:t>Output market</a:t>
            </a:r>
          </a:p>
        </p:txBody>
      </p:sp>
      <p:graphicFrame>
        <p:nvGraphicFramePr>
          <p:cNvPr id="3" name="Table 3">
            <a:extLst>
              <a:ext uri="{FF2B5EF4-FFF2-40B4-BE49-F238E27FC236}">
                <a16:creationId xmlns:a16="http://schemas.microsoft.com/office/drawing/2014/main" id="{2A7FC6E8-955C-42EF-A3FE-3D1E1642FBBA}"/>
              </a:ext>
            </a:extLst>
          </p:cNvPr>
          <p:cNvGraphicFramePr>
            <a:graphicFrameLocks noGrp="1"/>
          </p:cNvGraphicFramePr>
          <p:nvPr>
            <p:ph sz="quarter" idx="13"/>
            <p:extLst>
              <p:ext uri="{D42A27DB-BD31-4B8C-83A1-F6EECF244321}">
                <p14:modId xmlns:p14="http://schemas.microsoft.com/office/powerpoint/2010/main" val="2063471316"/>
              </p:ext>
            </p:extLst>
          </p:nvPr>
        </p:nvGraphicFramePr>
        <p:xfrm>
          <a:off x="457200" y="2638314"/>
          <a:ext cx="8229600" cy="1902153"/>
        </p:xfrm>
        <a:graphic>
          <a:graphicData uri="http://schemas.openxmlformats.org/drawingml/2006/table">
            <a:tbl>
              <a:tblPr firstRow="1" bandRow="1">
                <a:tableStyleId>{40F9630F-82C1-40B7-BC3A-925EFCFF5E92}</a:tableStyleId>
              </a:tblPr>
              <a:tblGrid>
                <a:gridCol w="4515853">
                  <a:extLst>
                    <a:ext uri="{9D8B030D-6E8A-4147-A177-3AD203B41FA5}">
                      <a16:colId xmlns:a16="http://schemas.microsoft.com/office/drawing/2014/main" val="3569857077"/>
                    </a:ext>
                  </a:extLst>
                </a:gridCol>
                <a:gridCol w="3713747">
                  <a:extLst>
                    <a:ext uri="{9D8B030D-6E8A-4147-A177-3AD203B41FA5}">
                      <a16:colId xmlns:a16="http://schemas.microsoft.com/office/drawing/2014/main" val="3209908672"/>
                    </a:ext>
                  </a:extLst>
                </a:gridCol>
              </a:tblGrid>
              <a:tr h="586510">
                <a:tc>
                  <a:txBody>
                    <a:bodyPr/>
                    <a:lstStyle/>
                    <a:p>
                      <a:pPr algn="ctr"/>
                      <a:r>
                        <a:rPr lang="en-US" sz="1400" dirty="0">
                          <a:solidFill>
                            <a:schemeClr val="tx1"/>
                          </a:solidFill>
                          <a:latin typeface="Arial (Body)"/>
                        </a:rPr>
                        <a:t>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solidFill>
                            <a:schemeClr val="tx1"/>
                          </a:solidFill>
                          <a:latin typeface="Arial (Body)"/>
                        </a:rPr>
                        <a:t>Effect on the Long-Run Nominal Dollar/Euro Exchange Rate, </a:t>
                      </a:r>
                      <a:r>
                        <a:rPr lang="en-US" sz="100" b="1" i="0" u="none" strike="noStrike" cap="none" dirty="0">
                          <a:solidFill>
                            <a:schemeClr val="dk1"/>
                          </a:solidFill>
                          <a:effectLst/>
                          <a:latin typeface="Arial"/>
                          <a:ea typeface="Arial"/>
                          <a:cs typeface="Arial"/>
                          <a:sym typeface="Arial"/>
                        </a:rPr>
                        <a:t>E sub dollar per euro</a:t>
                      </a:r>
                      <a:r>
                        <a:rPr lang="en-US" sz="100" dirty="0">
                          <a:solidFill>
                            <a:schemeClr val="tx1"/>
                          </a:solidFill>
                          <a:latin typeface="Arial (Body)"/>
                        </a:rPr>
                        <a:t> </a:t>
                      </a:r>
                      <a:r>
                        <a:rPr lang="en-US" sz="1400" dirty="0">
                          <a:solidFill>
                            <a:schemeClr val="tx1"/>
                          </a:solidFill>
                          <a:latin typeface="Arial (Body)"/>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0949899"/>
                  </a:ext>
                </a:extLst>
              </a:tr>
              <a:tr h="338181">
                <a:tc>
                  <a:txBody>
                    <a:bodyPr/>
                    <a:lstStyle/>
                    <a:p>
                      <a:pPr algn="l"/>
                      <a:r>
                        <a:rPr lang="en-US" sz="1400" dirty="0">
                          <a:solidFill>
                            <a:schemeClr val="tx1"/>
                          </a:solidFill>
                          <a:latin typeface="Arial (Body)"/>
                        </a:rPr>
                        <a:t>1. Increase in demand for U.S.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Decrease (nominal appreciation of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8583190"/>
                  </a:ext>
                </a:extLst>
              </a:tr>
              <a:tr h="367862">
                <a:tc>
                  <a:txBody>
                    <a:bodyPr/>
                    <a:lstStyle/>
                    <a:p>
                      <a:pPr algn="l"/>
                      <a:r>
                        <a:rPr lang="en-US" sz="1400" dirty="0">
                          <a:solidFill>
                            <a:schemeClr val="tx1"/>
                          </a:solidFill>
                          <a:latin typeface="Arial (Body)"/>
                        </a:rPr>
                        <a:t>2. Increase in demand for European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Increase (nominal appreciation of</a:t>
                      </a:r>
                      <a:r>
                        <a:rPr lang="en-US" sz="1400" baseline="0" dirty="0">
                          <a:solidFill>
                            <a:schemeClr val="tx1"/>
                          </a:solidFill>
                          <a:latin typeface="Arial (Body)"/>
                        </a:rPr>
                        <a:t> </a:t>
                      </a:r>
                      <a:r>
                        <a:rPr lang="en-US" sz="1400" dirty="0">
                          <a:solidFill>
                            <a:schemeClr val="tx1"/>
                          </a:solidFill>
                          <a:latin typeface="Arial (Body)"/>
                        </a:rPr>
                        <a:t>euro)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42193672"/>
                  </a:ext>
                </a:extLst>
              </a:tr>
              <a:tr h="273269">
                <a:tc>
                  <a:txBody>
                    <a:bodyPr/>
                    <a:lstStyle/>
                    <a:p>
                      <a:pPr algn="l"/>
                      <a:r>
                        <a:rPr lang="en-US" sz="1400" dirty="0">
                          <a:solidFill>
                            <a:schemeClr val="tx1"/>
                          </a:solidFill>
                          <a:latin typeface="Arial (Body)"/>
                        </a:rPr>
                        <a:t>3. Output supply increase in the United States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Ambiguous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4746347"/>
                  </a:ext>
                </a:extLst>
              </a:tr>
              <a:tr h="273269">
                <a:tc>
                  <a:txBody>
                    <a:bodyPr/>
                    <a:lstStyle/>
                    <a:p>
                      <a:pPr algn="l"/>
                      <a:r>
                        <a:rPr lang="en-US" sz="1400" dirty="0">
                          <a:solidFill>
                            <a:schemeClr val="tx1"/>
                          </a:solidFill>
                          <a:latin typeface="Arial (Body)"/>
                        </a:rPr>
                        <a:t>4. Output supply increase in Europe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400" dirty="0">
                          <a:solidFill>
                            <a:schemeClr val="tx1"/>
                          </a:solidFill>
                          <a:latin typeface="Arial (Body)"/>
                        </a:rPr>
                        <a:t>Ambiguous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2988336"/>
                  </a:ext>
                </a:extLst>
              </a:tr>
            </a:tbl>
          </a:graphicData>
        </a:graphic>
      </p:graphicFrame>
      <p:graphicFrame>
        <p:nvGraphicFramePr>
          <p:cNvPr id="4" name="Object 3">
            <a:extLst>
              <a:ext uri="{FF2B5EF4-FFF2-40B4-BE49-F238E27FC236}">
                <a16:creationId xmlns:a16="http://schemas.microsoft.com/office/drawing/2014/main" id="{A84C8790-1B04-4559-AF76-3B027802C9E2}"/>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25898905"/>
              </p:ext>
            </p:extLst>
          </p:nvPr>
        </p:nvGraphicFramePr>
        <p:xfrm>
          <a:off x="7960110" y="2921411"/>
          <a:ext cx="421798" cy="271155"/>
        </p:xfrm>
        <a:graphic>
          <a:graphicData uri="http://schemas.openxmlformats.org/presentationml/2006/ole">
            <mc:AlternateContent xmlns:mc="http://schemas.openxmlformats.org/markup-compatibility/2006">
              <mc:Choice xmlns:v="urn:schemas-microsoft-com:vml" Requires="v">
                <p:oleObj spid="_x0000_s20487" name="Equation" r:id="rId5" imgW="355320" imgH="228600" progId="Equation.DSMT4">
                  <p:embed/>
                </p:oleObj>
              </mc:Choice>
              <mc:Fallback>
                <p:oleObj name="Equation" r:id="rId5" imgW="355320" imgH="228600" progId="Equation.DSMT4">
                  <p:embed/>
                  <p:pic>
                    <p:nvPicPr>
                      <p:cNvPr id="4" name="Object 3">
                        <a:extLst>
                          <a:ext uri="{FF2B5EF4-FFF2-40B4-BE49-F238E27FC236}">
                            <a16:creationId xmlns:a16="http://schemas.microsoft.com/office/drawing/2014/main" id="{A84C8790-1B04-4559-AF76-3B027802C9E2}"/>
                          </a:ext>
                          <a:ext uri="{C183D7F6-B498-43B3-948B-1728B52AA6E4}">
                            <adec:decorative xmlns:adec="http://schemas.microsoft.com/office/drawing/2017/decorative" xmlns="" val="1"/>
                          </a:ext>
                        </a:extLst>
                      </p:cNvPr>
                      <p:cNvPicPr/>
                      <p:nvPr/>
                    </p:nvPicPr>
                    <p:blipFill>
                      <a:blip r:embed="rId6"/>
                      <a:stretch>
                        <a:fillRect/>
                      </a:stretch>
                    </p:blipFill>
                    <p:spPr>
                      <a:xfrm>
                        <a:off x="7960110" y="2921411"/>
                        <a:ext cx="421798" cy="27115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6134339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 uri="{C183D7F6-B498-43B3-948B-1728B52AA6E4}">
                <adec:decorative xmlns:adec="http://schemas.microsoft.com/office/drawing/2017/decorative" xmlns="" val="1"/>
              </a:ext>
            </a:extLst>
          </p:cNvPr>
          <p:cNvSpPr>
            <a:spLocks noGrp="1"/>
          </p:cNvSpPr>
          <p:nvPr>
            <p:ph type="title"/>
          </p:nvPr>
        </p:nvSpPr>
        <p:spPr/>
        <p:txBody>
          <a:bodyPr/>
          <a:lstStyle/>
          <a:p>
            <a:r>
              <a:rPr lang="en-US" altLang="en-US" sz="3600" dirty="0"/>
              <a:t>Real Interest Rates </a:t>
            </a:r>
            <a:r>
              <a:rPr lang="en-US" altLang="en-US" sz="2000" b="0" dirty="0"/>
              <a:t>(1 of 2)</a:t>
            </a:r>
            <a:endParaRPr lang="en-US" dirty="0"/>
          </a:p>
        </p:txBody>
      </p:sp>
      <p:sp>
        <p:nvSpPr>
          <p:cNvPr id="5" name="Content Placeholder 4">
            <a:extLst>
              <a:ext uri="{FF2B5EF4-FFF2-40B4-BE49-F238E27FC236}">
                <a16:creationId xmlns:a16="http://schemas.microsoft.com/office/drawing/2014/main" id="{B72FBAD5-2592-4713-8EFB-DB2C5C943D8F}"/>
              </a:ext>
              <a:ext uri="{C183D7F6-B498-43B3-948B-1728B52AA6E4}">
                <adec:decorative xmlns:adec="http://schemas.microsoft.com/office/drawing/2017/decorative" xmlns="" val="1"/>
              </a:ext>
            </a:extLst>
          </p:cNvPr>
          <p:cNvSpPr>
            <a:spLocks noGrp="1"/>
          </p:cNvSpPr>
          <p:nvPr>
            <p:ph sz="quarter" idx="13"/>
          </p:nvPr>
        </p:nvSpPr>
        <p:spPr>
          <a:xfrm>
            <a:off x="457200" y="1556328"/>
            <a:ext cx="8229600" cy="488950"/>
          </a:xfrm>
        </p:spPr>
        <p:txBody>
          <a:bodyPr/>
          <a:lstStyle/>
          <a:p>
            <a:r>
              <a:rPr lang="en-US" altLang="en-US" sz="2000" dirty="0">
                <a:latin typeface="Arial (Body)"/>
              </a:rPr>
              <a:t>Real interest rates are inflation-adjusted interest rates:</a:t>
            </a:r>
            <a:endParaRPr lang="en-US" sz="2000" dirty="0">
              <a:latin typeface="Arial (Body)"/>
            </a:endParaRPr>
          </a:p>
        </p:txBody>
      </p:sp>
      <p:graphicFrame>
        <p:nvGraphicFramePr>
          <p:cNvPr id="3" name="Object 2" descr="Lower r to the lower e power = R minus pi to the lower e power">
            <a:extLst>
              <a:ext uri="{FF2B5EF4-FFF2-40B4-BE49-F238E27FC236}">
                <a16:creationId xmlns:a16="http://schemas.microsoft.com/office/drawing/2014/main" id="{42113ADC-1051-4E8E-9BA7-36C64904E7A7}"/>
              </a:ext>
            </a:extLst>
          </p:cNvPr>
          <p:cNvGraphicFramePr>
            <a:graphicFrameLocks noChangeAspect="1"/>
          </p:cNvGraphicFramePr>
          <p:nvPr>
            <p:extLst>
              <p:ext uri="{D42A27DB-BD31-4B8C-83A1-F6EECF244321}">
                <p14:modId xmlns:p14="http://schemas.microsoft.com/office/powerpoint/2010/main" val="4188876999"/>
              </p:ext>
            </p:extLst>
          </p:nvPr>
        </p:nvGraphicFramePr>
        <p:xfrm>
          <a:off x="3809444" y="2165608"/>
          <a:ext cx="1525111" cy="456052"/>
        </p:xfrm>
        <a:graphic>
          <a:graphicData uri="http://schemas.openxmlformats.org/presentationml/2006/ole">
            <mc:AlternateContent xmlns:mc="http://schemas.openxmlformats.org/markup-compatibility/2006">
              <mc:Choice xmlns:v="urn:schemas-microsoft-com:vml" Requires="v">
                <p:oleObj spid="_x0000_s21510" name="Equation" r:id="rId4" imgW="1635442" imgH="489220" progId="Equation.DSMT4">
                  <p:embed/>
                </p:oleObj>
              </mc:Choice>
              <mc:Fallback>
                <p:oleObj name="Equation" r:id="rId4" imgW="1635442" imgH="489220" progId="Equation.DSMT4">
                  <p:embed/>
                  <p:pic>
                    <p:nvPicPr>
                      <p:cNvPr id="0" name=""/>
                      <p:cNvPicPr/>
                      <p:nvPr/>
                    </p:nvPicPr>
                    <p:blipFill>
                      <a:blip r:embed="rId5"/>
                      <a:stretch>
                        <a:fillRect/>
                      </a:stretch>
                    </p:blipFill>
                    <p:spPr>
                      <a:xfrm>
                        <a:off x="3809444" y="2165608"/>
                        <a:ext cx="1525111" cy="45605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5A42955E-9FFE-4774-8ADE-CE9B1428ADC2}"/>
              </a:ext>
              <a:ext uri="{C183D7F6-B498-43B3-948B-1728B52AA6E4}">
                <adec:decorative xmlns:adec="http://schemas.microsoft.com/office/drawing/2017/decorative" xmlns="" val="1"/>
              </a:ext>
            </a:extLst>
          </p:cNvPr>
          <p:cNvSpPr>
            <a:spLocks noGrp="1"/>
          </p:cNvSpPr>
          <p:nvPr>
            <p:ph sz="quarter" idx="14"/>
          </p:nvPr>
        </p:nvSpPr>
        <p:spPr>
          <a:xfrm>
            <a:off x="457201" y="2606627"/>
            <a:ext cx="1140371" cy="468000"/>
          </a:xfrm>
        </p:spPr>
        <p:txBody>
          <a:bodyPr/>
          <a:lstStyle/>
          <a:p>
            <a:pPr marL="255600" indent="0">
              <a:buNone/>
            </a:pPr>
            <a:r>
              <a:rPr lang="en-US" altLang="en-US" sz="2000" dirty="0">
                <a:latin typeface="Arial (Body)"/>
              </a:rPr>
              <a:t>where</a:t>
            </a:r>
            <a:endParaRPr lang="en-US" sz="2000" dirty="0"/>
          </a:p>
        </p:txBody>
      </p:sp>
      <p:graphicFrame>
        <p:nvGraphicFramePr>
          <p:cNvPr id="14" name="Object 13" descr="pi to the lower e power">
            <a:extLst>
              <a:ext uri="{FF2B5EF4-FFF2-40B4-BE49-F238E27FC236}">
                <a16:creationId xmlns:a16="http://schemas.microsoft.com/office/drawing/2014/main" id="{B8E19197-6875-45EE-BB68-F892DC227C77}"/>
              </a:ext>
            </a:extLst>
          </p:cNvPr>
          <p:cNvGraphicFramePr>
            <a:graphicFrameLocks noChangeAspect="1"/>
          </p:cNvGraphicFramePr>
          <p:nvPr>
            <p:extLst>
              <p:ext uri="{D42A27DB-BD31-4B8C-83A1-F6EECF244321}">
                <p14:modId xmlns:p14="http://schemas.microsoft.com/office/powerpoint/2010/main" val="3663233250"/>
              </p:ext>
            </p:extLst>
          </p:nvPr>
        </p:nvGraphicFramePr>
        <p:xfrm>
          <a:off x="1732055" y="2649104"/>
          <a:ext cx="377614" cy="377614"/>
        </p:xfrm>
        <a:graphic>
          <a:graphicData uri="http://schemas.openxmlformats.org/presentationml/2006/ole">
            <mc:AlternateContent xmlns:mc="http://schemas.openxmlformats.org/markup-compatibility/2006">
              <mc:Choice xmlns:v="urn:schemas-microsoft-com:vml" Requires="v">
                <p:oleObj spid="_x0000_s21511" name="Equation" r:id="rId6" imgW="436118" imgH="435864" progId="Equation.DSMT4">
                  <p:embed/>
                </p:oleObj>
              </mc:Choice>
              <mc:Fallback>
                <p:oleObj name="Equation" r:id="rId6" imgW="436118" imgH="435864" progId="Equation.DSMT4">
                  <p:embed/>
                  <p:pic>
                    <p:nvPicPr>
                      <p:cNvPr id="0" name=""/>
                      <p:cNvPicPr/>
                      <p:nvPr/>
                    </p:nvPicPr>
                    <p:blipFill>
                      <a:blip r:embed="rId7"/>
                      <a:stretch>
                        <a:fillRect/>
                      </a:stretch>
                    </p:blipFill>
                    <p:spPr>
                      <a:xfrm>
                        <a:off x="1732055" y="2649104"/>
                        <a:ext cx="377614" cy="377614"/>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B657C5A2-C153-4182-BDC1-1EDCC3095303}"/>
              </a:ext>
              <a:ext uri="{C183D7F6-B498-43B3-948B-1728B52AA6E4}">
                <adec:decorative xmlns:adec="http://schemas.microsoft.com/office/drawing/2017/decorative" xmlns="" val="1"/>
              </a:ext>
            </a:extLst>
          </p:cNvPr>
          <p:cNvSpPr>
            <a:spLocks noGrp="1"/>
          </p:cNvSpPr>
          <p:nvPr>
            <p:ph sz="quarter" idx="15"/>
          </p:nvPr>
        </p:nvSpPr>
        <p:spPr>
          <a:xfrm>
            <a:off x="2227560" y="2704117"/>
            <a:ext cx="4814371" cy="360000"/>
          </a:xfrm>
        </p:spPr>
        <p:txBody>
          <a:bodyPr lIns="0" tIns="0" rIns="0" bIns="0"/>
          <a:lstStyle/>
          <a:p>
            <a:pPr marL="0" lvl="1" indent="0">
              <a:buNone/>
            </a:pPr>
            <a:r>
              <a:rPr lang="en-US" altLang="en-US" sz="2000" dirty="0">
                <a:latin typeface="Arial (Body)"/>
              </a:rPr>
              <a:t>represents the expected inflation rate and</a:t>
            </a:r>
            <a:endParaRPr lang="en-US" sz="2000" dirty="0"/>
          </a:p>
        </p:txBody>
      </p:sp>
      <p:sp>
        <p:nvSpPr>
          <p:cNvPr id="10" name="Content Placeholder 9">
            <a:extLst>
              <a:ext uri="{FF2B5EF4-FFF2-40B4-BE49-F238E27FC236}">
                <a16:creationId xmlns:a16="http://schemas.microsoft.com/office/drawing/2014/main" id="{D1FE11A2-E2F0-41FD-849F-9973A350399F}"/>
              </a:ext>
              <a:ext uri="{C183D7F6-B498-43B3-948B-1728B52AA6E4}">
                <adec:decorative xmlns:adec="http://schemas.microsoft.com/office/drawing/2017/decorative" xmlns="" val="1"/>
              </a:ext>
            </a:extLst>
          </p:cNvPr>
          <p:cNvSpPr>
            <a:spLocks noGrp="1"/>
          </p:cNvSpPr>
          <p:nvPr>
            <p:ph sz="quarter" idx="16"/>
          </p:nvPr>
        </p:nvSpPr>
        <p:spPr>
          <a:xfrm>
            <a:off x="457201" y="3176890"/>
            <a:ext cx="6132785" cy="340527"/>
          </a:xfrm>
        </p:spPr>
        <p:txBody>
          <a:bodyPr tIns="0"/>
          <a:lstStyle/>
          <a:p>
            <a:pPr marL="255600" indent="0">
              <a:buNone/>
            </a:pPr>
            <a:r>
              <a:rPr lang="en-US" altLang="en-US" sz="2000" i="1" dirty="0">
                <a:latin typeface="+mj-lt"/>
              </a:rPr>
              <a:t>R</a:t>
            </a:r>
            <a:r>
              <a:rPr lang="en-US" altLang="en-US" sz="2000" dirty="0">
                <a:latin typeface="+mj-lt"/>
              </a:rPr>
              <a:t> represents a measure of nominal interest rates.</a:t>
            </a:r>
            <a:endParaRPr lang="en-US" sz="2000" dirty="0">
              <a:latin typeface="+mj-lt"/>
            </a:endParaRPr>
          </a:p>
        </p:txBody>
      </p:sp>
      <p:sp>
        <p:nvSpPr>
          <p:cNvPr id="11" name="Content Placeholder 10">
            <a:extLst>
              <a:ext uri="{FF2B5EF4-FFF2-40B4-BE49-F238E27FC236}">
                <a16:creationId xmlns:a16="http://schemas.microsoft.com/office/drawing/2014/main" id="{CDE5ED4D-D7B6-46C4-8F21-9D8EA351A62B}"/>
              </a:ext>
              <a:ext uri="{C183D7F6-B498-43B3-948B-1728B52AA6E4}">
                <adec:decorative xmlns:adec="http://schemas.microsoft.com/office/drawing/2017/decorative" xmlns="" val="1"/>
              </a:ext>
            </a:extLst>
          </p:cNvPr>
          <p:cNvSpPr>
            <a:spLocks noGrp="1"/>
          </p:cNvSpPr>
          <p:nvPr>
            <p:ph sz="quarter" idx="17"/>
          </p:nvPr>
        </p:nvSpPr>
        <p:spPr>
          <a:xfrm>
            <a:off x="457198" y="3584952"/>
            <a:ext cx="8229602" cy="2665696"/>
          </a:xfrm>
        </p:spPr>
        <p:txBody>
          <a:bodyPr/>
          <a:lstStyle/>
          <a:p>
            <a:pPr indent="-255600"/>
            <a:r>
              <a:rPr lang="en-US" altLang="en-US" sz="2000" dirty="0">
                <a:latin typeface="Arial (Body)"/>
              </a:rPr>
              <a:t>Real interest rates are measured in terms of real output: </a:t>
            </a:r>
          </a:p>
          <a:p>
            <a:pPr lvl="1" indent="-284400"/>
            <a:r>
              <a:rPr lang="en-US" altLang="en-US" sz="2000" dirty="0">
                <a:latin typeface="Arial (Body)"/>
              </a:rPr>
              <a:t>the quantity of goods and services that savers can purchase when their assets pay interest</a:t>
            </a:r>
          </a:p>
          <a:p>
            <a:pPr lvl="1" indent="-284400"/>
            <a:r>
              <a:rPr lang="en-US" altLang="en-US" sz="2000" dirty="0">
                <a:latin typeface="Arial (Body)"/>
              </a:rPr>
              <a:t>the quantity of goods and services that borrowers cannot purchase when they must pay interest on their loans</a:t>
            </a:r>
          </a:p>
          <a:p>
            <a:pPr indent="-255600"/>
            <a:r>
              <a:rPr lang="en-US" altLang="en-US" sz="2000" dirty="0">
                <a:latin typeface="Arial (Body)"/>
              </a:rPr>
              <a:t>What are the predicted differences in real interest rates across countries?</a:t>
            </a:r>
            <a:endParaRPr lang="en-US" sz="2000" dirty="0"/>
          </a:p>
        </p:txBody>
      </p:sp>
    </p:spTree>
    <p:extLst>
      <p:ext uri="{BB962C8B-B14F-4D97-AF65-F5344CB8AC3E}">
        <p14:creationId xmlns:p14="http://schemas.microsoft.com/office/powerpoint/2010/main" val="3794064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Real Interest Rates </a:t>
            </a:r>
            <a:r>
              <a:rPr lang="en-US" altLang="en-US" sz="2000" b="0" dirty="0"/>
              <a:t>(2 of 2)</a:t>
            </a:r>
            <a:endParaRPr lang="en-US" dirty="0">
              <a:latin typeface="+mn-lt"/>
            </a:endParaRPr>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7"/>
            <a:ext cx="8185150" cy="450533"/>
          </a:xfrm>
        </p:spPr>
        <p:txBody>
          <a:bodyPr/>
          <a:lstStyle/>
          <a:p>
            <a:pPr eaLnBrk="1" hangingPunct="1"/>
            <a:r>
              <a:rPr lang="en-US" altLang="en-US" sz="2000" dirty="0">
                <a:latin typeface="Arial (Body)"/>
              </a:rPr>
              <a:t>Real interest rate differentials are derived from</a:t>
            </a:r>
          </a:p>
        </p:txBody>
      </p:sp>
      <p:graphicFrame>
        <p:nvGraphicFramePr>
          <p:cNvPr id="8" name="Object 7" descr="Lower r to the lower e power sub U S minus Lower r to the lower e power sub E U = left parenthesis R sub $ minus pi to the lower e power sub U S right parenthesis minus left parenthesis R sub euro minus pi to the lower e power sub E U right parenthesis">
            <a:extLst>
              <a:ext uri="{FF2B5EF4-FFF2-40B4-BE49-F238E27FC236}">
                <a16:creationId xmlns:a16="http://schemas.microsoft.com/office/drawing/2014/main" id="{04599FD7-9FB5-4805-A761-4BBC377F79BA}"/>
              </a:ext>
            </a:extLst>
          </p:cNvPr>
          <p:cNvGraphicFramePr>
            <a:graphicFrameLocks noChangeAspect="1"/>
          </p:cNvGraphicFramePr>
          <p:nvPr>
            <p:extLst>
              <p:ext uri="{D42A27DB-BD31-4B8C-83A1-F6EECF244321}">
                <p14:modId xmlns:p14="http://schemas.microsoft.com/office/powerpoint/2010/main" val="3069521230"/>
              </p:ext>
            </p:extLst>
          </p:nvPr>
        </p:nvGraphicFramePr>
        <p:xfrm>
          <a:off x="2323624" y="2136647"/>
          <a:ext cx="4007644" cy="450533"/>
        </p:xfrm>
        <a:graphic>
          <a:graphicData uri="http://schemas.openxmlformats.org/presentationml/2006/ole">
            <mc:AlternateContent xmlns:mc="http://schemas.openxmlformats.org/markup-compatibility/2006">
              <mc:Choice xmlns:v="urn:schemas-microsoft-com:vml" Requires="v">
                <p:oleObj spid="_x0000_s22536" name="Equation" r:id="rId4" imgW="2489040" imgH="279360" progId="Equation.DSMT4">
                  <p:embed/>
                </p:oleObj>
              </mc:Choice>
              <mc:Fallback>
                <p:oleObj name="Equation" r:id="rId4" imgW="2489040" imgH="279360" progId="Equation.DSMT4">
                  <p:embed/>
                  <p:pic>
                    <p:nvPicPr>
                      <p:cNvPr id="6" name="Object 5"/>
                      <p:cNvPicPr/>
                      <p:nvPr/>
                    </p:nvPicPr>
                    <p:blipFill>
                      <a:blip r:embed="rId5"/>
                      <a:stretch>
                        <a:fillRect/>
                      </a:stretch>
                    </p:blipFill>
                    <p:spPr>
                      <a:xfrm>
                        <a:off x="2323624" y="2136647"/>
                        <a:ext cx="4007644" cy="450533"/>
                      </a:xfrm>
                      <a:prstGeom prst="rect">
                        <a:avLst/>
                      </a:prstGeom>
                    </p:spPr>
                  </p:pic>
                </p:oleObj>
              </mc:Fallback>
            </mc:AlternateContent>
          </a:graphicData>
        </a:graphic>
      </p:graphicFrame>
      <p:graphicFrame>
        <p:nvGraphicFramePr>
          <p:cNvPr id="9" name="Object 8" descr="R sub U S minus R sub E U = start fraction left parenthesis q to the lower e power sub start fraction U S over E U end fraction minus q sub start fraction U S over E U end fraction right parenthesis over q sub start fraction U S over E U end fraction end fraction + left parenthesis pi to the lower e power sub U S minus pi to the lower e power sub E U right parenthesis">
            <a:extLst>
              <a:ext uri="{FF2B5EF4-FFF2-40B4-BE49-F238E27FC236}">
                <a16:creationId xmlns:a16="http://schemas.microsoft.com/office/drawing/2014/main" id="{A42B8E99-6302-47C6-B109-2B28CA94A357}"/>
              </a:ext>
            </a:extLst>
          </p:cNvPr>
          <p:cNvGraphicFramePr>
            <a:graphicFrameLocks noChangeAspect="1"/>
          </p:cNvGraphicFramePr>
          <p:nvPr>
            <p:extLst>
              <p:ext uri="{D42A27DB-BD31-4B8C-83A1-F6EECF244321}">
                <p14:modId xmlns:p14="http://schemas.microsoft.com/office/powerpoint/2010/main" val="920460929"/>
              </p:ext>
            </p:extLst>
          </p:nvPr>
        </p:nvGraphicFramePr>
        <p:xfrm>
          <a:off x="2577307" y="2721042"/>
          <a:ext cx="4477385" cy="817245"/>
        </p:xfrm>
        <a:graphic>
          <a:graphicData uri="http://schemas.openxmlformats.org/presentationml/2006/ole">
            <mc:AlternateContent xmlns:mc="http://schemas.openxmlformats.org/markup-compatibility/2006">
              <mc:Choice xmlns:v="urn:schemas-microsoft-com:vml" Requires="v">
                <p:oleObj spid="_x0000_s22537" name="Equation" r:id="rId6" imgW="2781000" imgH="507960" progId="Equation.DSMT4">
                  <p:embed/>
                </p:oleObj>
              </mc:Choice>
              <mc:Fallback>
                <p:oleObj name="Equation" r:id="rId6" imgW="2781000" imgH="507960" progId="Equation.DSMT4">
                  <p:embed/>
                  <p:pic>
                    <p:nvPicPr>
                      <p:cNvPr id="7" name="Object 6"/>
                      <p:cNvPicPr/>
                      <p:nvPr/>
                    </p:nvPicPr>
                    <p:blipFill>
                      <a:blip r:embed="rId7"/>
                      <a:stretch>
                        <a:fillRect/>
                      </a:stretch>
                    </p:blipFill>
                    <p:spPr>
                      <a:xfrm>
                        <a:off x="2577307" y="2721042"/>
                        <a:ext cx="4477385" cy="817245"/>
                      </a:xfrm>
                      <a:prstGeom prst="rect">
                        <a:avLst/>
                      </a:prstGeom>
                    </p:spPr>
                  </p:pic>
                </p:oleObj>
              </mc:Fallback>
            </mc:AlternateContent>
          </a:graphicData>
        </a:graphic>
      </p:graphicFrame>
      <p:graphicFrame>
        <p:nvGraphicFramePr>
          <p:cNvPr id="10" name="Object 9" descr="Lower r to the lower e power sub U S minus Lower r to the lower e power sub E U = start fraction left parenthesis q to the lower e power sub start fraction U S over E U end fraction minus q sub start fraction U S over E U end fraction right parenthesis over q sub start fraction U S over E U end fraction end fraction">
            <a:extLst>
              <a:ext uri="{FF2B5EF4-FFF2-40B4-BE49-F238E27FC236}">
                <a16:creationId xmlns:a16="http://schemas.microsoft.com/office/drawing/2014/main" id="{5C72EBEE-0636-4764-8A58-425C8F35748A}"/>
              </a:ext>
            </a:extLst>
          </p:cNvPr>
          <p:cNvGraphicFramePr>
            <a:graphicFrameLocks noChangeAspect="1"/>
          </p:cNvGraphicFramePr>
          <p:nvPr>
            <p:extLst>
              <p:ext uri="{D42A27DB-BD31-4B8C-83A1-F6EECF244321}">
                <p14:modId xmlns:p14="http://schemas.microsoft.com/office/powerpoint/2010/main" val="2443553387"/>
              </p:ext>
            </p:extLst>
          </p:nvPr>
        </p:nvGraphicFramePr>
        <p:xfrm>
          <a:off x="2408159" y="3674201"/>
          <a:ext cx="3169443" cy="818992"/>
        </p:xfrm>
        <a:graphic>
          <a:graphicData uri="http://schemas.openxmlformats.org/presentationml/2006/ole">
            <mc:AlternateContent xmlns:mc="http://schemas.openxmlformats.org/markup-compatibility/2006">
              <mc:Choice xmlns:v="urn:schemas-microsoft-com:vml" Requires="v">
                <p:oleObj spid="_x0000_s22538" name="Equation" r:id="rId8" imgW="1968480" imgH="507960" progId="Equation.DSMT4">
                  <p:embed/>
                </p:oleObj>
              </mc:Choice>
              <mc:Fallback>
                <p:oleObj name="Equation" r:id="rId8" imgW="1968480" imgH="507960" progId="Equation.DSMT4">
                  <p:embed/>
                  <p:pic>
                    <p:nvPicPr>
                      <p:cNvPr id="8" name="Object 7"/>
                      <p:cNvPicPr/>
                      <p:nvPr/>
                    </p:nvPicPr>
                    <p:blipFill>
                      <a:blip r:embed="rId9"/>
                      <a:stretch>
                        <a:fillRect/>
                      </a:stretch>
                    </p:blipFill>
                    <p:spPr>
                      <a:xfrm>
                        <a:off x="2408159" y="3674201"/>
                        <a:ext cx="3169443" cy="818992"/>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4D3ED3D4-5DBC-4440-8919-99E2DD227319}"/>
              </a:ext>
            </a:extLst>
          </p:cNvPr>
          <p:cNvSpPr>
            <a:spLocks noGrp="1"/>
          </p:cNvSpPr>
          <p:nvPr>
            <p:ph sz="quarter" idx="19"/>
          </p:nvPr>
        </p:nvSpPr>
        <p:spPr>
          <a:xfrm>
            <a:off x="457200" y="4636930"/>
            <a:ext cx="8229600" cy="1690298"/>
          </a:xfrm>
        </p:spPr>
        <p:txBody>
          <a:bodyPr tIns="0" rIns="90000"/>
          <a:lstStyle/>
          <a:p>
            <a:pPr indent="-255600"/>
            <a:r>
              <a:rPr lang="en-US" altLang="en-US" sz="2000" dirty="0">
                <a:latin typeface="Arial (Body)"/>
              </a:rPr>
              <a:t>The last equation is called </a:t>
            </a:r>
            <a:r>
              <a:rPr lang="en-US" altLang="en-US" sz="2000" b="1" dirty="0">
                <a:latin typeface="Arial (Body)"/>
              </a:rPr>
              <a:t>real interest parity</a:t>
            </a:r>
            <a:r>
              <a:rPr lang="en-US" altLang="en-US" sz="2000" dirty="0">
                <a:latin typeface="Arial (Body)"/>
              </a:rPr>
              <a:t>.</a:t>
            </a:r>
          </a:p>
          <a:p>
            <a:pPr lvl="1" indent="-284400"/>
            <a:r>
              <a:rPr lang="en-US" altLang="en-US" sz="2000" dirty="0">
                <a:latin typeface="Arial (Body)"/>
              </a:rPr>
              <a:t>It says that differences in real interest rates (in terms of goods and services that are earned or forgone when lending or borrowing) between countries are equal to the expected change in the value/price/cost of goods and services between countries.</a:t>
            </a:r>
            <a:endParaRPr lang="en-US" sz="2000" dirty="0">
              <a:latin typeface="Arial (Body)"/>
            </a:endParaRPr>
          </a:p>
        </p:txBody>
      </p:sp>
    </p:spTree>
    <p:extLst>
      <p:ext uri="{BB962C8B-B14F-4D97-AF65-F5344CB8AC3E}">
        <p14:creationId xmlns:p14="http://schemas.microsoft.com/office/powerpoint/2010/main" val="37955279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Summary </a:t>
            </a:r>
            <a:r>
              <a:rPr lang="en-US" altLang="en-US" sz="2000" b="0" dirty="0"/>
              <a:t>(1 of 4)</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6"/>
            <a:ext cx="8229600" cy="2395563"/>
          </a:xfrm>
        </p:spPr>
        <p:txBody>
          <a:bodyPr/>
          <a:lstStyle/>
          <a:p>
            <a:pPr marL="432000" indent="-432000" eaLnBrk="1" hangingPunct="1">
              <a:buFont typeface="Times" pitchFamily="-1" charset="0"/>
              <a:buAutoNum type="arabicPeriod"/>
            </a:pPr>
            <a:r>
              <a:rPr lang="en-US" altLang="en-US" sz="2200" dirty="0">
                <a:latin typeface="Arial (Body)"/>
              </a:rPr>
              <a:t>The law of one price says that the same good in different competitive markets must sell for the same price, when transportation costs and barriers between markets are not important.</a:t>
            </a:r>
          </a:p>
          <a:p>
            <a:pPr marL="432000" indent="-432000" eaLnBrk="1" hangingPunct="1">
              <a:buFont typeface="Times" pitchFamily="-1" charset="0"/>
              <a:buAutoNum type="arabicPeriod"/>
            </a:pPr>
            <a:r>
              <a:rPr lang="en-US" altLang="en-US" sz="2200" dirty="0">
                <a:latin typeface="Arial (Body)"/>
              </a:rPr>
              <a:t>Purchasing power parity applies the law of one price for all goods and services among all countries.</a:t>
            </a:r>
          </a:p>
        </p:txBody>
      </p:sp>
      <p:sp>
        <p:nvSpPr>
          <p:cNvPr id="10" name="Content Placeholder 9">
            <a:extLst>
              <a:ext uri="{FF2B5EF4-FFF2-40B4-BE49-F238E27FC236}">
                <a16:creationId xmlns:a16="http://schemas.microsoft.com/office/drawing/2014/main" id="{F3E24D2E-A129-4B6C-972D-C49493C338E5}"/>
              </a:ext>
            </a:extLst>
          </p:cNvPr>
          <p:cNvSpPr>
            <a:spLocks noGrp="1"/>
          </p:cNvSpPr>
          <p:nvPr>
            <p:ph sz="quarter" idx="14"/>
          </p:nvPr>
        </p:nvSpPr>
        <p:spPr>
          <a:xfrm>
            <a:off x="457200" y="4026163"/>
            <a:ext cx="8229600" cy="2022291"/>
          </a:xfrm>
        </p:spPr>
        <p:txBody>
          <a:bodyPr/>
          <a:lstStyle/>
          <a:p>
            <a:pPr marL="740664" lvl="1" indent="-283464" eaLnBrk="1" hangingPunct="1"/>
            <a:r>
              <a:rPr lang="en-US" altLang="en-US" sz="2200" dirty="0">
                <a:latin typeface="Arial (Body)"/>
              </a:rPr>
              <a:t>Absolute P</a:t>
            </a:r>
            <a:r>
              <a:rPr lang="en-US" altLang="en-US" sz="100" dirty="0">
                <a:latin typeface="Arial (Body)"/>
              </a:rPr>
              <a:t> </a:t>
            </a:r>
            <a:r>
              <a:rPr lang="en-US" altLang="en-US" sz="2200" dirty="0" err="1">
                <a:latin typeface="Arial (Body)"/>
              </a:rPr>
              <a:t>P</a:t>
            </a:r>
            <a:r>
              <a:rPr lang="en-US" altLang="en-US" sz="100" dirty="0">
                <a:latin typeface="Arial (Body)"/>
              </a:rPr>
              <a:t> </a:t>
            </a:r>
            <a:r>
              <a:rPr lang="en-US" altLang="en-US" sz="2200" dirty="0" err="1">
                <a:latin typeface="Arial (Body)"/>
              </a:rPr>
              <a:t>P</a:t>
            </a:r>
            <a:r>
              <a:rPr lang="en-US" altLang="en-US" sz="2200" dirty="0">
                <a:latin typeface="Arial (Body)"/>
              </a:rPr>
              <a:t> says that currencies of two countries have the same purchasing power. </a:t>
            </a:r>
          </a:p>
          <a:p>
            <a:pPr marL="740664" lvl="1" indent="-283464" eaLnBrk="1" hangingPunct="1"/>
            <a:r>
              <a:rPr lang="en-US" altLang="en-US" sz="2200" dirty="0">
                <a:latin typeface="Arial (Body)"/>
              </a:rPr>
              <a:t>Relative P</a:t>
            </a:r>
            <a:r>
              <a:rPr lang="en-US" altLang="en-US" sz="100" dirty="0">
                <a:latin typeface="Arial (Body)"/>
              </a:rPr>
              <a:t> </a:t>
            </a:r>
            <a:r>
              <a:rPr lang="en-US" altLang="en-US" sz="2200" dirty="0" err="1">
                <a:latin typeface="Arial (Body)"/>
              </a:rPr>
              <a:t>P</a:t>
            </a:r>
            <a:r>
              <a:rPr lang="en-US" altLang="en-US" sz="100" dirty="0">
                <a:latin typeface="Arial (Body)"/>
              </a:rPr>
              <a:t> </a:t>
            </a:r>
            <a:r>
              <a:rPr lang="en-US" altLang="en-US" sz="2200" dirty="0" err="1">
                <a:latin typeface="Arial (Body)"/>
              </a:rPr>
              <a:t>P</a:t>
            </a:r>
            <a:r>
              <a:rPr lang="en-US" altLang="en-US" sz="2200" dirty="0">
                <a:latin typeface="Arial (Body)"/>
              </a:rPr>
              <a:t> says that changes in the nominal exchange rate between two countries equals the difference in the inflation rates between the two countries.</a:t>
            </a:r>
            <a:endParaRPr lang="en-US" sz="2200" dirty="0"/>
          </a:p>
        </p:txBody>
      </p:sp>
    </p:spTree>
    <p:extLst>
      <p:ext uri="{BB962C8B-B14F-4D97-AF65-F5344CB8AC3E}">
        <p14:creationId xmlns:p14="http://schemas.microsoft.com/office/powerpoint/2010/main" val="2458853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Summary </a:t>
            </a:r>
            <a:r>
              <a:rPr lang="en-US" altLang="en-US" sz="2000" b="0" dirty="0"/>
              <a:t>(2 of 4)</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8"/>
            <a:ext cx="8229600" cy="787480"/>
          </a:xfrm>
        </p:spPr>
        <p:txBody>
          <a:bodyPr/>
          <a:lstStyle/>
          <a:p>
            <a:pPr marL="457200" indent="-457200">
              <a:buFont typeface="+mj-lt"/>
              <a:buAutoNum type="arabicPeriod" startAt="3"/>
            </a:pPr>
            <a:r>
              <a:rPr lang="en-US" altLang="en-US" sz="2000" dirty="0">
                <a:latin typeface="Arial (Body)"/>
              </a:rPr>
              <a:t>The monetary approach to exchange rates uses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and the supply and demand of real monetary assets.</a:t>
            </a:r>
            <a:endParaRPr lang="en-US" altLang="en-US" sz="2200" dirty="0">
              <a:latin typeface="Arial (Body)"/>
            </a:endParaRPr>
          </a:p>
        </p:txBody>
      </p:sp>
      <p:sp>
        <p:nvSpPr>
          <p:cNvPr id="10" name="Content Placeholder 9">
            <a:extLst>
              <a:ext uri="{FF2B5EF4-FFF2-40B4-BE49-F238E27FC236}">
                <a16:creationId xmlns:a16="http://schemas.microsoft.com/office/drawing/2014/main" id="{F3E24D2E-A129-4B6C-972D-C49493C338E5}"/>
              </a:ext>
            </a:extLst>
          </p:cNvPr>
          <p:cNvSpPr>
            <a:spLocks noGrp="1"/>
          </p:cNvSpPr>
          <p:nvPr>
            <p:ph sz="quarter" idx="14"/>
          </p:nvPr>
        </p:nvSpPr>
        <p:spPr>
          <a:xfrm>
            <a:off x="457200" y="2416288"/>
            <a:ext cx="8077200" cy="1871934"/>
          </a:xfrm>
        </p:spPr>
        <p:txBody>
          <a:bodyPr/>
          <a:lstStyle/>
          <a:p>
            <a:pPr marL="740664" lvl="1" indent="-283464" eaLnBrk="1" hangingPunct="1"/>
            <a:r>
              <a:rPr lang="en-US" altLang="en-US" sz="2000" dirty="0">
                <a:latin typeface="Arial (Body)"/>
              </a:rPr>
              <a:t>Changes in the growth rate of the money supply influence inflation and exchange rates.</a:t>
            </a:r>
          </a:p>
          <a:p>
            <a:pPr marL="740664" lvl="1" indent="-283464" eaLnBrk="1" hangingPunct="1"/>
            <a:r>
              <a:rPr lang="en-US" altLang="en-US" sz="2000" dirty="0">
                <a:latin typeface="Arial (Body)"/>
              </a:rPr>
              <a:t>Expectations about inflation influence the exchange rate.</a:t>
            </a:r>
          </a:p>
          <a:p>
            <a:pPr marL="740664" lvl="1" indent="-283464" eaLnBrk="1" hangingPunct="1"/>
            <a:r>
              <a:rPr lang="en-US" altLang="en-US" sz="2000" dirty="0">
                <a:latin typeface="Arial (Body)"/>
              </a:rPr>
              <a:t>The Fisher effect shows that differences in nominal interest rates are equal to differences in inflation rates.</a:t>
            </a:r>
          </a:p>
        </p:txBody>
      </p:sp>
      <p:sp>
        <p:nvSpPr>
          <p:cNvPr id="7" name="Content Placeholder 6">
            <a:extLst>
              <a:ext uri="{FF2B5EF4-FFF2-40B4-BE49-F238E27FC236}">
                <a16:creationId xmlns:a16="http://schemas.microsoft.com/office/drawing/2014/main" id="{DFBBDF22-CFBD-43EE-9A11-EB7061CC5FC9}"/>
              </a:ext>
            </a:extLst>
          </p:cNvPr>
          <p:cNvSpPr>
            <a:spLocks noGrp="1"/>
          </p:cNvSpPr>
          <p:nvPr>
            <p:ph sz="quarter" idx="18"/>
          </p:nvPr>
        </p:nvSpPr>
        <p:spPr>
          <a:xfrm>
            <a:off x="457200" y="4355446"/>
            <a:ext cx="4882055" cy="432293"/>
          </a:xfrm>
        </p:spPr>
        <p:txBody>
          <a:bodyPr/>
          <a:lstStyle/>
          <a:p>
            <a:pPr marL="444500" indent="-342900">
              <a:buFont typeface="+mj-lt"/>
              <a:buAutoNum type="arabicPeriod" startAt="4"/>
            </a:pPr>
            <a:r>
              <a:rPr lang="en-US" altLang="en-US" sz="2000" dirty="0">
                <a:latin typeface="Arial (Body)"/>
              </a:rPr>
              <a:t>Empirical support for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 is weak.</a:t>
            </a:r>
            <a:endParaRPr lang="en-US" sz="2000" dirty="0"/>
          </a:p>
        </p:txBody>
      </p:sp>
      <p:sp>
        <p:nvSpPr>
          <p:cNvPr id="8" name="Content Placeholder 7">
            <a:extLst>
              <a:ext uri="{FF2B5EF4-FFF2-40B4-BE49-F238E27FC236}">
                <a16:creationId xmlns:a16="http://schemas.microsoft.com/office/drawing/2014/main" id="{6863FF18-94E7-4AEB-88CE-DEA51A202E27}"/>
              </a:ext>
            </a:extLst>
          </p:cNvPr>
          <p:cNvSpPr>
            <a:spLocks noGrp="1"/>
          </p:cNvSpPr>
          <p:nvPr>
            <p:ph sz="quarter" idx="19"/>
          </p:nvPr>
        </p:nvSpPr>
        <p:spPr>
          <a:xfrm>
            <a:off x="457200" y="4848614"/>
            <a:ext cx="8305800" cy="1097278"/>
          </a:xfrm>
        </p:spPr>
        <p:txBody>
          <a:bodyPr/>
          <a:lstStyle/>
          <a:p>
            <a:pPr marL="741600" indent="-284400">
              <a:spcBef>
                <a:spcPts val="600"/>
              </a:spcBef>
              <a:buFontTx/>
              <a:buChar char="–"/>
            </a:pPr>
            <a:r>
              <a:rPr lang="en-US" altLang="en-US" sz="2000" dirty="0">
                <a:latin typeface="Arial (Body)"/>
              </a:rPr>
              <a:t>Trade barriers, non-tradable products, imperfect competition, and differences in price measures may cause the empirical shortcomings of P</a:t>
            </a:r>
            <a:r>
              <a:rPr lang="en-US" altLang="en-US" sz="100" dirty="0">
                <a:latin typeface="Arial (Body)"/>
              </a:rPr>
              <a:t> </a:t>
            </a:r>
            <a:r>
              <a:rPr lang="en-US" altLang="en-US" sz="2000" dirty="0" err="1">
                <a:latin typeface="Arial (Body)"/>
              </a:rPr>
              <a:t>P</a:t>
            </a:r>
            <a:r>
              <a:rPr lang="en-US" altLang="en-US" sz="100" dirty="0">
                <a:latin typeface="Arial (Body)"/>
              </a:rPr>
              <a:t> </a:t>
            </a:r>
            <a:r>
              <a:rPr lang="en-US" altLang="en-US" sz="2000" dirty="0" err="1">
                <a:latin typeface="Arial (Body)"/>
              </a:rPr>
              <a:t>P</a:t>
            </a:r>
            <a:r>
              <a:rPr lang="en-US" altLang="en-US" sz="2000" dirty="0">
                <a:latin typeface="Arial (Body)"/>
              </a:rPr>
              <a:t>.</a:t>
            </a:r>
            <a:endParaRPr lang="en-US" sz="2000" dirty="0"/>
          </a:p>
        </p:txBody>
      </p:sp>
    </p:spTree>
    <p:extLst>
      <p:ext uri="{BB962C8B-B14F-4D97-AF65-F5344CB8AC3E}">
        <p14:creationId xmlns:p14="http://schemas.microsoft.com/office/powerpoint/2010/main" val="12977386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Summary </a:t>
            </a:r>
            <a:r>
              <a:rPr lang="en-US" altLang="en-US" sz="2000" b="0" dirty="0"/>
              <a:t>(3 of 4)</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7"/>
            <a:ext cx="8229600" cy="824016"/>
          </a:xfrm>
        </p:spPr>
        <p:txBody>
          <a:bodyPr/>
          <a:lstStyle/>
          <a:p>
            <a:pPr marL="432000" indent="-432000" eaLnBrk="1" hangingPunct="1">
              <a:buFont typeface="Times" pitchFamily="-1" charset="0"/>
              <a:buAutoNum type="arabicPeriod" startAt="5"/>
            </a:pPr>
            <a:r>
              <a:rPr lang="en-US" altLang="en-US" sz="2200" dirty="0">
                <a:latin typeface="Arial (Body)"/>
              </a:rPr>
              <a:t>The real exchange rate approach to exchange rates generalizes the monetary approach.</a:t>
            </a:r>
          </a:p>
        </p:txBody>
      </p:sp>
      <p:sp>
        <p:nvSpPr>
          <p:cNvPr id="10" name="Content Placeholder 9">
            <a:extLst>
              <a:ext uri="{FF2B5EF4-FFF2-40B4-BE49-F238E27FC236}">
                <a16:creationId xmlns:a16="http://schemas.microsoft.com/office/drawing/2014/main" id="{F3E24D2E-A129-4B6C-972D-C49493C338E5}"/>
              </a:ext>
            </a:extLst>
          </p:cNvPr>
          <p:cNvSpPr>
            <a:spLocks noGrp="1"/>
          </p:cNvSpPr>
          <p:nvPr>
            <p:ph sz="quarter" idx="14"/>
          </p:nvPr>
        </p:nvSpPr>
        <p:spPr>
          <a:xfrm>
            <a:off x="457200" y="2456131"/>
            <a:ext cx="8229600" cy="3831051"/>
          </a:xfrm>
        </p:spPr>
        <p:txBody>
          <a:bodyPr/>
          <a:lstStyle/>
          <a:p>
            <a:pPr marL="740664" lvl="1" indent="-283464" eaLnBrk="1" hangingPunct="1"/>
            <a:r>
              <a:rPr lang="en-US" altLang="en-US" sz="2200" dirty="0">
                <a:latin typeface="Arial (Body)"/>
              </a:rPr>
              <a:t>It defines the real exchange rate as the value/price/cost of domestic products relative to foreign products.</a:t>
            </a:r>
          </a:p>
          <a:p>
            <a:pPr marL="740664" lvl="1" indent="-283464" eaLnBrk="1" hangingPunct="1"/>
            <a:r>
              <a:rPr lang="en-US" altLang="en-US" sz="2200" dirty="0">
                <a:latin typeface="Arial (Body)"/>
              </a:rPr>
              <a:t>It predicts that changes in relative demand and relative supply of products influence real and nominal exchange rates.</a:t>
            </a:r>
          </a:p>
          <a:p>
            <a:pPr marL="740664" lvl="1" indent="-283464" eaLnBrk="1" hangingPunct="1"/>
            <a:r>
              <a:rPr lang="en-US" altLang="en-US" sz="2200" dirty="0">
                <a:latin typeface="Arial (Body)"/>
              </a:rPr>
              <a:t>Interest rate differences are explained by a more general concept: expected changes in the value of domestic products relative to the value of foreign products plus the difference of inflation rates between the domestic and foreign economies.</a:t>
            </a:r>
          </a:p>
        </p:txBody>
      </p:sp>
    </p:spTree>
    <p:extLst>
      <p:ext uri="{BB962C8B-B14F-4D97-AF65-F5344CB8AC3E}">
        <p14:creationId xmlns:p14="http://schemas.microsoft.com/office/powerpoint/2010/main" val="33271727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Summary </a:t>
            </a:r>
            <a:r>
              <a:rPr lang="en-US" altLang="en-US" sz="2000" b="0" dirty="0"/>
              <a:t>(4 of 4)</a:t>
            </a:r>
            <a:endParaRPr lang="en-US" sz="2000" dirty="0"/>
          </a:p>
        </p:txBody>
      </p:sp>
      <p:sp>
        <p:nvSpPr>
          <p:cNvPr id="5" name="Content Placeholder 4">
            <a:extLst>
              <a:ext uri="{FF2B5EF4-FFF2-40B4-BE49-F238E27FC236}">
                <a16:creationId xmlns:a16="http://schemas.microsoft.com/office/drawing/2014/main" id="{B72FBAD5-2592-4713-8EFB-DB2C5C943D8F}"/>
              </a:ext>
            </a:extLst>
          </p:cNvPr>
          <p:cNvSpPr>
            <a:spLocks noGrp="1"/>
          </p:cNvSpPr>
          <p:nvPr>
            <p:ph sz="quarter" idx="13"/>
          </p:nvPr>
        </p:nvSpPr>
        <p:spPr>
          <a:xfrm>
            <a:off x="457200" y="1556326"/>
            <a:ext cx="8229600" cy="3994241"/>
          </a:xfrm>
        </p:spPr>
        <p:txBody>
          <a:bodyPr/>
          <a:lstStyle/>
          <a:p>
            <a:pPr marL="429768" indent="-429768" eaLnBrk="1" hangingPunct="1">
              <a:buFont typeface="Times" pitchFamily="-1" charset="0"/>
              <a:buAutoNum type="arabicPeriod" startAt="6"/>
            </a:pPr>
            <a:r>
              <a:rPr lang="en-US" altLang="en-US" dirty="0">
                <a:latin typeface="Arial (Body)"/>
              </a:rPr>
              <a:t>Real interest rates are inflation-adjusted interest rates, and show how much purchasing power savers gain and borrowers give up.</a:t>
            </a:r>
          </a:p>
          <a:p>
            <a:pPr marL="429768" indent="-429768" eaLnBrk="1" hangingPunct="1">
              <a:buFont typeface="Times" pitchFamily="-1" charset="0"/>
              <a:buAutoNum type="arabicPeriod" startAt="6"/>
            </a:pPr>
            <a:r>
              <a:rPr lang="en-US" altLang="en-US" dirty="0">
                <a:latin typeface="Arial (Body)"/>
              </a:rPr>
              <a:t>Real interest parity shows that differences in real interest rates between countries equal expected changes in the real value of goods and services between countries.</a:t>
            </a:r>
          </a:p>
        </p:txBody>
      </p:sp>
    </p:spTree>
    <p:extLst>
      <p:ext uri="{BB962C8B-B14F-4D97-AF65-F5344CB8AC3E}">
        <p14:creationId xmlns:p14="http://schemas.microsoft.com/office/powerpoint/2010/main" val="37091155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a:xfrm>
            <a:off x="457200" y="168166"/>
            <a:ext cx="8229600" cy="1144484"/>
          </a:xfrm>
        </p:spPr>
        <p:txBody>
          <a:bodyPr anchor="ctr"/>
          <a:lstStyle/>
          <a:p>
            <a:r>
              <a:rPr lang="en-US" altLang="en-US" sz="2200" dirty="0"/>
              <a:t>Figure 16A.1 How a Rise in U.S. Monetary Growth Affects Dollar Interest Rates and the Dollar/Euro Exchange Rate When Goods Prices Are Flexible</a:t>
            </a:r>
            <a:endParaRPr lang="en-US" sz="2200" dirty="0"/>
          </a:p>
        </p:txBody>
      </p:sp>
      <p:pic>
        <p:nvPicPr>
          <p:cNvPr id="4" name="Content Placeholder 3" descr="A graph divides into 4 quadrants. The upper left quadrant plots dollar to euro exchange rate, E sub dollars to euros, versus dollar to euro exchange rate, E sub dollars to euros. For long description in Notes pane, press F6.">
            <a:extLst>
              <a:ext uri="{FF2B5EF4-FFF2-40B4-BE49-F238E27FC236}">
                <a16:creationId xmlns:a16="http://schemas.microsoft.com/office/drawing/2014/main" id="{D745EBF9-1E4E-4F82-97E1-6D34F2FF5E7F}"/>
              </a:ext>
            </a:extLst>
          </p:cNvPr>
          <p:cNvPicPr>
            <a:picLocks noGrp="1" noChangeAspect="1"/>
          </p:cNvPicPr>
          <p:nvPr>
            <p:ph sz="quarter" idx="13"/>
          </p:nvPr>
        </p:nvPicPr>
        <p:blipFill>
          <a:blip r:embed="rId3"/>
          <a:stretch>
            <a:fillRect/>
          </a:stretch>
        </p:blipFill>
        <p:spPr>
          <a:xfrm>
            <a:off x="2118431" y="1700744"/>
            <a:ext cx="4907137" cy="4463122"/>
          </a:xfrm>
        </p:spPr>
      </p:pic>
    </p:spTree>
    <p:extLst>
      <p:ext uri="{BB962C8B-B14F-4D97-AF65-F5344CB8AC3E}">
        <p14:creationId xmlns:p14="http://schemas.microsoft.com/office/powerpoint/2010/main" val="38390171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150450</TotalTime>
  <Words>5648</Words>
  <Application>Microsoft Office PowerPoint</Application>
  <PresentationFormat>On-screen Show (4:3)</PresentationFormat>
  <Paragraphs>317</Paragraphs>
  <Slides>57</Slides>
  <Notes>18</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57</vt:i4>
      </vt:variant>
    </vt:vector>
  </HeadingPairs>
  <TitlesOfParts>
    <vt:vector size="68" baseType="lpstr">
      <vt:lpstr>Arial</vt:lpstr>
      <vt:lpstr>Times</vt:lpstr>
      <vt:lpstr>Arial (Body)</vt:lpstr>
      <vt:lpstr>Calibri</vt:lpstr>
      <vt:lpstr>ＭＳ Ｐゴシック</vt:lpstr>
      <vt:lpstr>Noto Sans Symbols</vt:lpstr>
      <vt:lpstr>Verdana</vt:lpstr>
      <vt:lpstr>Times New Roman</vt:lpstr>
      <vt:lpstr>USHE</vt:lpstr>
      <vt:lpstr>USHE_slide options</vt:lpstr>
      <vt:lpstr>Equation</vt:lpstr>
      <vt:lpstr>International Economics: Theory and Policy</vt:lpstr>
      <vt:lpstr>Learning Objectives</vt:lpstr>
      <vt:lpstr>Preview</vt:lpstr>
      <vt:lpstr>The Behavior of Exchange Rates (1 of 2)</vt:lpstr>
      <vt:lpstr>The Behavior of Exchange Rates (2 of 2)</vt:lpstr>
      <vt:lpstr>Law of One Price (1 of 3)</vt:lpstr>
      <vt:lpstr>Law of One Price (2 of 3)</vt:lpstr>
      <vt:lpstr>Law of One Price (3 of 3)</vt:lpstr>
      <vt:lpstr>Purchasing Power Parity (1 of 3)</vt:lpstr>
      <vt:lpstr>Purchasing Power Parity (2 of 3)</vt:lpstr>
      <vt:lpstr>Purchasing Power Parity (3 of 3)</vt:lpstr>
      <vt:lpstr>Monetary Approach to Exchange Rates (1 of 5)</vt:lpstr>
      <vt:lpstr>Monetary Approach to Exchange Rates (2 of 5)</vt:lpstr>
      <vt:lpstr>Monetary Approach to Exchange Rates (3 of 5)</vt:lpstr>
      <vt:lpstr>Monetary Approach to Exchange Rates (4 of 5)</vt:lpstr>
      <vt:lpstr>Monetary Approach to Exchange Rates (5 of 5)</vt:lpstr>
      <vt:lpstr>The Fisher Effect (1 of 2)</vt:lpstr>
      <vt:lpstr>The Fisher Effect (2 of 2)</vt:lpstr>
      <vt:lpstr>Monetary Approach to Exchange Rates (1 of 2)</vt:lpstr>
      <vt:lpstr>Figure 16.1 Long-Run Time Paths of U.S. Economic Variables After a Permanent Increase in the Growth Rate of the U.S. Money Supply</vt:lpstr>
      <vt:lpstr>Monetary Approach to Exchange Rates (2 of 2)</vt:lpstr>
      <vt:lpstr>The Role of Inflation and Expectations (1 of 3)</vt:lpstr>
      <vt:lpstr>The Role of Inflation and Expectations (2 of 3)</vt:lpstr>
      <vt:lpstr>The Role of Inflation and Expectations (3 of 3)</vt:lpstr>
      <vt:lpstr>Shortcomings of P P P (1 of 5)</vt:lpstr>
      <vt:lpstr>Figure 16.2 The Yen/Dollar Exchange Rate and Relative Japan–U.S. Price Levels, 1980–2019</vt:lpstr>
      <vt:lpstr>Shortcomings of P P P (2 of 5)</vt:lpstr>
      <vt:lpstr>Shortcomings of P P P (3 of 5)</vt:lpstr>
      <vt:lpstr>Shortcomings of P P P (4 of 5)</vt:lpstr>
      <vt:lpstr>Shortcomings of P P P (5 of 5)</vt:lpstr>
      <vt:lpstr>Law of One Price for Hamburgers?</vt:lpstr>
      <vt:lpstr>Why Price Levels Are Lower in Poorer Countries (1 of 3)</vt:lpstr>
      <vt:lpstr>Why Price Levels Are Lower in Poorer Countries (2 of 3)</vt:lpstr>
      <vt:lpstr>Why Price Levels Are Lower in Poorer Countries (3 of 3)</vt:lpstr>
      <vt:lpstr>Figure 16.3 Price Levels and Real Incomes, 2017</vt:lpstr>
      <vt:lpstr>The Real Exchange Rate Approach to Exchange Rates (1 of 10)</vt:lpstr>
      <vt:lpstr>The Real Exchange Rate Approach to Exchange Rates (2 of 10)</vt:lpstr>
      <vt:lpstr>The Real Exchange Rate Approach to Exchange Rates (3 of 10)</vt:lpstr>
      <vt:lpstr>The Real Exchange Rate Approach to Exchange Rates (4 of 10)</vt:lpstr>
      <vt:lpstr>The Real Exchange Rate Approach to Exchange Rates (5 of 10)</vt:lpstr>
      <vt:lpstr>The Real Exchange Rate Approach to Exchange Rates (6 of 10)</vt:lpstr>
      <vt:lpstr>Figure 16.4 Determination of the Long-Run Real Exchange Rate</vt:lpstr>
      <vt:lpstr>The Real Exchange Rate Approach to Exchange Rates (7 of 10)</vt:lpstr>
      <vt:lpstr>The Real Exchange Rate Approach to Exchange Rates (8 of 10)</vt:lpstr>
      <vt:lpstr>The Real Exchange Rate Approach to Exchange Rates (9 of 10)</vt:lpstr>
      <vt:lpstr>The Real Exchange Rate Approach to Exchange Rates (10 of 10)</vt:lpstr>
      <vt:lpstr>Interest Rate Differences</vt:lpstr>
      <vt:lpstr>Table 16.1 Effects of Money Market and Output Market Changes on the Long-Run Nominal Dollar/Euro Exchange Rate, E sub dollar per euro                                 (1 of 2)</vt:lpstr>
      <vt:lpstr>Table 16.1 Effects of Money Market and Output Market Changes on the Long-Run Nominal Dollar/Euro Exchange Rate, E sub dollar per euro                                 (2 of 2)</vt:lpstr>
      <vt:lpstr>Real Interest Rates (1 of 2)</vt:lpstr>
      <vt:lpstr>Real Interest Rates (2 of 2)</vt:lpstr>
      <vt:lpstr>Summary (1 of 4)</vt:lpstr>
      <vt:lpstr>Summary (2 of 4)</vt:lpstr>
      <vt:lpstr>Summary (3 of 4)</vt:lpstr>
      <vt:lpstr>Summary (4 of 4)</vt:lpstr>
      <vt:lpstr>Figure 16A.1 How a Rise in U.S. Monetary Growth Affects Dollar Interest Rates and the Dollar/Euro Exchange Rate When Goods Prices Are Flexible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16, Price Levels and the Exchange Rate in the Long Run</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 Alt text for math equations within the title have been placed behind the title intentionally to provide a better screen reader user experience.</dc:description>
  <cp:lastModifiedBy>admin</cp:lastModifiedBy>
  <cp:revision>2813</cp:revision>
  <dcterms:modified xsi:type="dcterms:W3CDTF">2021-11-02T06:02:53Z</dcterms:modified>
</cp:coreProperties>
</file>